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8FDD29-BCF2-44A2-BD11-81CC65695FF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61EEAE-04EA-4E1C-A424-57921C916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397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45 seconds. Introduce the team and say: this project is not a magical hiring system; it is a practical bridge that makes real opportunities and support easier to 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7092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85 seconds. This is the central message: the project digitizes and scales connection. It does not replace the candidate, employer, family, association, or inclusion expert.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006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70 seconds. Define functional requirements as actions and non-functional requirements as the quality and engineering constraints applied to those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545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75 seconds. Summarize the platform feature by feature. Emphasize that these workflows are integrated, not isolated mock-up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414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75 seconds. Walk left to right, then explain the security boundary. Frontend route checks improve experience, but backend authorization remains decisive.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94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95 seconds. Explain the formula at a high level. The decision is engineering and governance driven: current expert evidence supports versioned rules; it does not support training a defensible predictive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019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85 seconds. Compare the maintenance cost and language correctness. i18next was selected because it fits React and supports gradual migration without changing business rules or routes.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9859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95 seconds. State the trade-off honestly. Cloud services accelerated delivery and removed local model operations, but introduce network latency, provider cost, and availability concerns. The service boundary keeps future replacement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5131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70 seconds. Use this slide as evidence. Mention route security, profile consent, employer control, and verifier authorization, then read the automated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954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80 seconds. Use the terms stabilization, refinement, and retesting. Catalogue work is semantic validation, not only file upload.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738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90 seconds. This is a planned engineering cycle, not an unsupported speed claim. A cache is one possible optimization after measurement; sensitive candidate or AI output must not be cached casually.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58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80 seconds. Summarize the roadmap, then introduce the demo. The closing statement returns to the project purpose: connection and support, not automatic 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61EEAE-04EA-4E1C-A424-57921C91659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721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9B19D-7685-6C20-EEBC-CD50EA6EDC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9E63A7-74D6-A426-CBAE-8372D45E5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EEC49-233A-4453-2FB6-6A9847113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FF091-F0F7-01F6-8692-41AAD1693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890F40-65C0-6597-195B-92CC70065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57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F1FEC-2270-9466-A257-2EB35B38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771A8-AF2A-AA5C-1809-F4AC09E6A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F2931-5605-1290-1B2C-CBAB472A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A26BD-0087-BACA-2883-309CECF4A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878BE-A76A-72AA-95F8-315F51563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136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7500-5619-8FE8-0371-831505C1D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F24CB1-94BA-7BB7-B3BB-75F796DBA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0939BC-3E18-7B4E-B6A2-A2F1DEE42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F3E8D-2697-DCB8-7C2E-AB65C297C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99F79-6B32-AFFA-70F2-F129B6C6A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5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35A25-9C9E-7CDF-53E0-46FFEAA47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21558-C285-18A1-A6BA-1720BCEAB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52C07-0DE2-0C39-EBD0-2AA279BCF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EE09FE-15EE-4E2C-C82B-AD19BE034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A85C93-A403-225D-EEEB-2C5A5F78E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AB3E45-C75B-1BAC-5C40-63BA07304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03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4B309-DF2C-D054-A4F4-7A7ABB8C4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00211-3215-27F5-35F8-B1B8A65BF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878F0-7384-4511-ED28-CFA873D671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B02D6A-153E-F752-0A9E-4D2AE4173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19E0A4-835C-61D5-1735-C1F95755A2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AEE07F-FD28-4462-284F-992CC133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0F8B88-782C-65A8-228F-14FA7F84A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3CD230-6BF5-8B90-A974-E70DFADF2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22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52D60-EE87-F0A3-5A8F-24D2C38B9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BC42F9-4655-C988-8E05-EF3AE4437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1BBEF7-1279-FDC4-1B9D-D2F733E46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704B5E-D7C5-9E63-7273-8249C0CEE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78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0520-74FF-9B11-6DBD-0B8475964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97814-FC64-5500-C081-74A6616AF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E0891-02D8-4BA6-3014-0D1F0E85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90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BEA65-D3AF-29CF-BB84-2CC70D08E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0CDE9-2F8A-70B2-A7E3-2F708AC72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63188D-A878-8D89-C0FC-D0E968DF8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6CAD7-BF08-C3E7-13C1-08D7668C7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E4E30-F03D-3D18-CD02-5E2662A7E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9860-6298-9E20-BB78-A0C7FF99C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9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32B3F-0D9D-EA40-B06B-D42262F5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2585B5-9710-4864-B7C2-FCA4D142FA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3A7DBF-AC40-B744-D753-635971258A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8FF363-3FB5-C0CF-8139-55BB7B960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527C21-3EA0-4E32-C043-627A5AD5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0D6A9-3E11-F603-FA77-D589651E0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297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E7A6E-1CBA-621A-ADE3-99CA0B288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1681FD-BC72-BBB8-15C6-E141AC40CA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2CC55-9CCF-1729-9787-F6775149A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B36C32-116B-DE40-A4C1-B4F5893AF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84010-BC1E-4327-F5F7-42B317C53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625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904D1-53ED-2C6E-6024-0C7BAEC8D8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F6F97-AB97-D52D-7BFA-C2366961D0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EC3734-1B5B-6117-DD06-4D83EC892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A78C0-00C9-E364-CFA2-E458077D4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A42828-D221-4301-722D-82457EE0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84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4EDF4A-4573-4F12-A23C-7DCFC4EB6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FA5F2-BA5F-90BC-3204-89D59AD22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25143-D8A3-D410-4B25-B7406757EF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09807-0403-42CF-94B3-3FF47C18510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79163-D74B-C70E-69F4-514CB64154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22851-9F97-0166-055B-605DE2FED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7817C3-F155-4CBD-BF86-C0B9B67148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96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EB62BB-5CA3-32DC-CC17-9D45E27BB2A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10160">
            <a:solidFill>
              <a:srgbClr val="FBFA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DDA081-DD7B-9FBC-7199-355C4EC506BB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0A1018-BD62-FBFF-EB9F-323B8D31EEAB}"/>
              </a:ext>
            </a:extLst>
          </p:cNvPr>
          <p:cNvSpPr txBox="1"/>
          <p:nvPr/>
        </p:nvSpPr>
        <p:spPr>
          <a:xfrm>
            <a:off x="812800" y="685800"/>
            <a:ext cx="5461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A64B2A"/>
                </a:solidFill>
                <a:latin typeface="Aptos" panose="020B0004020202020204" pitchFamily="34" charset="0"/>
              </a:rPr>
              <a:t>FINAL YEAR PROJECT | PHASE II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6AD986-4199-9949-5721-C602A6254868}"/>
              </a:ext>
            </a:extLst>
          </p:cNvPr>
          <p:cNvSpPr txBox="1"/>
          <p:nvPr/>
        </p:nvSpPr>
        <p:spPr>
          <a:xfrm>
            <a:off x="812800" y="1371600"/>
            <a:ext cx="8255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800" b="1">
                <a:solidFill>
                  <a:srgbClr val="0B1F49"/>
                </a:solidFill>
                <a:latin typeface="Aptos Display" panose="020B0004020202020204" pitchFamily="34" charset="0"/>
              </a:rPr>
              <a:t>Inclusive Web Platform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A8960A-75C3-DC63-7D47-1C1288FEB97C}"/>
              </a:ext>
            </a:extLst>
          </p:cNvPr>
          <p:cNvSpPr txBox="1"/>
          <p:nvPr/>
        </p:nvSpPr>
        <p:spPr>
          <a:xfrm>
            <a:off x="812800" y="2209800"/>
            <a:ext cx="762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565D8"/>
                </a:solidFill>
                <a:latin typeface="Aptos Display" panose="020B0004020202020204" pitchFamily="34" charset="0"/>
              </a:rPr>
              <a:t>Implementation Progress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D0DA3-0497-C2DC-CB50-1EC999888544}"/>
              </a:ext>
            </a:extLst>
          </p:cNvPr>
          <p:cNvSpPr txBox="1"/>
          <p:nvPr/>
        </p:nvSpPr>
        <p:spPr>
          <a:xfrm>
            <a:off x="812800" y="3175000"/>
            <a:ext cx="8128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>
                <a:solidFill>
                  <a:srgbClr val="17243A"/>
                </a:solidFill>
                <a:latin typeface="Aptos" panose="020B0004020202020204" pitchFamily="34" charset="0"/>
              </a:rPr>
              <a:t>A practical digital bridge connecting persons with disabilities to real hospitality jobs, training, employers, and support.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15BB8F-88E0-52B7-421D-BBE05EA02761}"/>
              </a:ext>
            </a:extLst>
          </p:cNvPr>
          <p:cNvSpPr/>
          <p:nvPr/>
        </p:nvSpPr>
        <p:spPr>
          <a:xfrm>
            <a:off x="812800" y="4394200"/>
            <a:ext cx="9779000" cy="12700"/>
          </a:xfrm>
          <a:prstGeom prst="rect">
            <a:avLst/>
          </a:prstGeom>
          <a:solidFill>
            <a:srgbClr val="CBD5E1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8ADE99-8C03-06A4-337F-673247C20A90}"/>
              </a:ext>
            </a:extLst>
          </p:cNvPr>
          <p:cNvSpPr txBox="1"/>
          <p:nvPr/>
        </p:nvSpPr>
        <p:spPr>
          <a:xfrm>
            <a:off x="812800" y="4800600"/>
            <a:ext cx="6858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17243A"/>
                </a:solidFill>
                <a:latin typeface="Aptos" panose="020B0004020202020204" pitchFamily="34" charset="0"/>
              </a:rPr>
              <a:t>Zaidan Mansour | Charbel Rizk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A7E2F1-8A93-7477-2C77-8DC2B36046B3}"/>
              </a:ext>
            </a:extLst>
          </p:cNvPr>
          <p:cNvSpPr txBox="1"/>
          <p:nvPr/>
        </p:nvSpPr>
        <p:spPr>
          <a:xfrm>
            <a:off x="812800" y="5219700"/>
            <a:ext cx="8890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5D6B80"/>
                </a:solidFill>
                <a:latin typeface="Aptos" panose="020B0004020202020204" pitchFamily="34" charset="0"/>
              </a:rPr>
              <a:t>Supervisors: Dr. Jean Yves Youssef | Dr. Roger Obeid | Dr. Rima Kilany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7FE43-5251-23E5-7AF7-9DD57AA16FF0}"/>
              </a:ext>
            </a:extLst>
          </p:cNvPr>
          <p:cNvSpPr txBox="1"/>
          <p:nvPr/>
        </p:nvSpPr>
        <p:spPr>
          <a:xfrm>
            <a:off x="812800" y="6032500"/>
            <a:ext cx="27940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50" b="1">
                <a:solidFill>
                  <a:srgbClr val="A64B2A"/>
                </a:solidFill>
                <a:latin typeface="Aptos" panose="020B0004020202020204" pitchFamily="34" charset="0"/>
              </a:rPr>
              <a:t>26 August 2026</a:t>
            </a:r>
          </a:p>
        </p:txBody>
      </p:sp>
      <p:pic>
        <p:nvPicPr>
          <p:cNvPr id="13" name="Picture 12" descr="JoIn Hospitality logo">
            <a:extLst>
              <a:ext uri="{FF2B5EF4-FFF2-40B4-BE49-F238E27FC236}">
                <a16:creationId xmlns:a16="http://schemas.microsoft.com/office/drawing/2014/main" id="{4E002CD3-1940-9613-C4AB-C191AFCAAB1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762000"/>
            <a:ext cx="1333500" cy="1333500"/>
          </a:xfrm>
          <a:prstGeom prst="rect">
            <a:avLst/>
          </a:prstGeom>
          <a:ln w="10160">
            <a:solidFill>
              <a:srgbClr val="CBD5E1"/>
            </a:solidFill>
          </a:ln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66C2113-C835-E436-522B-526FC883D042}"/>
              </a:ext>
            </a:extLst>
          </p:cNvPr>
          <p:cNvSpPr/>
          <p:nvPr/>
        </p:nvSpPr>
        <p:spPr>
          <a:xfrm>
            <a:off x="9525000" y="2540000"/>
            <a:ext cx="1778000" cy="3048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FCA3AD-6665-487C-37F7-A88452E3D944}"/>
              </a:ext>
            </a:extLst>
          </p:cNvPr>
          <p:cNvSpPr txBox="1"/>
          <p:nvPr/>
        </p:nvSpPr>
        <p:spPr>
          <a:xfrm>
            <a:off x="9626600" y="2603500"/>
            <a:ext cx="15748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PROGRESS REVIEW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DAD279-C288-8F9C-7644-B4D52C732A76}"/>
              </a:ext>
            </a:extLst>
          </p:cNvPr>
          <p:cNvSpPr txBox="1"/>
          <p:nvPr/>
        </p:nvSpPr>
        <p:spPr>
          <a:xfrm>
            <a:off x="9525000" y="3200400"/>
            <a:ext cx="2032000" cy="66941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50" b="1">
                <a:solidFill>
                  <a:srgbClr val="0B1F49"/>
                </a:solidFill>
                <a:latin typeface="Aptos Display" panose="020B0004020202020204" pitchFamily="34" charset="0"/>
              </a:rPr>
              <a:t>Connect people.
Support decisions.
Keep humans in control.</a:t>
            </a:r>
          </a:p>
        </p:txBody>
      </p:sp>
    </p:spTree>
    <p:extLst>
      <p:ext uri="{BB962C8B-B14F-4D97-AF65-F5344CB8AC3E}">
        <p14:creationId xmlns:p14="http://schemas.microsoft.com/office/powerpoint/2010/main" val="374030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057524-2215-B300-561E-F445B47A4FCF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9C9DCA-7996-0CDA-523D-76BF90A3CDBC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PROJECT PURPOSE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B4093-FC81-EF44-AF9C-9A0E874C467D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A bridge to real opportunities - not a replacement for people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F300C-53D8-92D5-3155-936AF7822AE3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Technology organizes access and communication; employers, candidates, families, and experts make the decisions.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91FBD1C-938F-3639-C0C5-5F71DFC58434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820D2FD-AF40-A964-BDF2-912244FF65FE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31AD1-2385-E6AD-8DD5-25CD32142F43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5AAAD6C-81C1-8AB8-D50E-54C67C11DED7}"/>
              </a:ext>
            </a:extLst>
          </p:cNvPr>
          <p:cNvSpPr/>
          <p:nvPr/>
        </p:nvSpPr>
        <p:spPr>
          <a:xfrm>
            <a:off x="609600" y="1905000"/>
            <a:ext cx="3302000" cy="3632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32F7A11-F124-A3B5-93F0-443D0CEEA62C}"/>
              </a:ext>
            </a:extLst>
          </p:cNvPr>
          <p:cNvSpPr/>
          <p:nvPr/>
        </p:nvSpPr>
        <p:spPr>
          <a:xfrm>
            <a:off x="914400" y="2184400"/>
            <a:ext cx="1397000" cy="304800"/>
          </a:xfrm>
          <a:prstGeom prst="round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B2795-654E-7258-CC32-C9D7883F6853}"/>
              </a:ext>
            </a:extLst>
          </p:cNvPr>
          <p:cNvSpPr txBox="1"/>
          <p:nvPr/>
        </p:nvSpPr>
        <p:spPr>
          <a:xfrm>
            <a:off x="1016000" y="2247900"/>
            <a:ext cx="11938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WHAT EXISTS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2D84E7-C5AA-5FA5-417D-829E7DBE9706}"/>
              </a:ext>
            </a:extLst>
          </p:cNvPr>
          <p:cNvSpPr txBox="1"/>
          <p:nvPr/>
        </p:nvSpPr>
        <p:spPr>
          <a:xfrm>
            <a:off x="914400" y="2768600"/>
            <a:ext cx="2667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0B1F49"/>
                </a:solidFill>
                <a:latin typeface="Aptos Display" panose="020B0004020202020204" pitchFamily="34" charset="0"/>
              </a:rPr>
              <a:t>Real people and real hospitality businesses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72DB9-D412-E94C-EAE6-FB65D4A1670C}"/>
              </a:ext>
            </a:extLst>
          </p:cNvPr>
          <p:cNvSpPr txBox="1"/>
          <p:nvPr/>
        </p:nvSpPr>
        <p:spPr>
          <a:xfrm>
            <a:off x="914400" y="3708400"/>
            <a:ext cx="26670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50">
                <a:solidFill>
                  <a:srgbClr val="17243A"/>
                </a:solidFill>
                <a:latin typeface="Aptos" panose="020B0004020202020204" pitchFamily="34" charset="0"/>
              </a:rPr>
              <a:t>Persons with disabilities
Families and associations
Employers and training providers
JoIn inclusion expertise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D6F410F-D20E-5F90-2F85-A6742204087F}"/>
              </a:ext>
            </a:extLst>
          </p:cNvPr>
          <p:cNvSpPr/>
          <p:nvPr/>
        </p:nvSpPr>
        <p:spPr>
          <a:xfrm>
            <a:off x="4445000" y="1905000"/>
            <a:ext cx="3302000" cy="36322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B23267A-2FC3-1F82-7B9B-2B5BC55E9BDD}"/>
              </a:ext>
            </a:extLst>
          </p:cNvPr>
          <p:cNvSpPr/>
          <p:nvPr/>
        </p:nvSpPr>
        <p:spPr>
          <a:xfrm>
            <a:off x="4749800" y="2184400"/>
            <a:ext cx="1422400" cy="304800"/>
          </a:xfrm>
          <a:prstGeom prst="round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9E6C7B-8E4D-248B-9FEE-5F8142ED4E39}"/>
              </a:ext>
            </a:extLst>
          </p:cNvPr>
          <p:cNvSpPr txBox="1"/>
          <p:nvPr/>
        </p:nvSpPr>
        <p:spPr>
          <a:xfrm>
            <a:off x="4851400" y="2247900"/>
            <a:ext cx="1219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THE PLATFORM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DC781E-7650-4501-4F83-5E24FF14813E}"/>
              </a:ext>
            </a:extLst>
          </p:cNvPr>
          <p:cNvSpPr txBox="1"/>
          <p:nvPr/>
        </p:nvSpPr>
        <p:spPr>
          <a:xfrm>
            <a:off x="4749800" y="2768600"/>
            <a:ext cx="2667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Makes connection easier and clearer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8C60A1-C487-55D8-B12F-F0ADEAD8B348}"/>
              </a:ext>
            </a:extLst>
          </p:cNvPr>
          <p:cNvSpPr txBox="1"/>
          <p:nvPr/>
        </p:nvSpPr>
        <p:spPr>
          <a:xfrm>
            <a:off x="4749800" y="3708400"/>
            <a:ext cx="26670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50">
                <a:solidFill>
                  <a:srgbClr val="FFFFFF"/>
                </a:solidFill>
                <a:latin typeface="Aptos" panose="020B0004020202020204" pitchFamily="34" charset="0"/>
              </a:rPr>
              <a:t>Shows opportunities
Structures abilities and tasks
Explains compatibility
Supports communication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BA29CF9-5282-C78E-CBA7-0FBBFA34689F}"/>
              </a:ext>
            </a:extLst>
          </p:cNvPr>
          <p:cNvSpPr/>
          <p:nvPr/>
        </p:nvSpPr>
        <p:spPr>
          <a:xfrm>
            <a:off x="8280400" y="1905000"/>
            <a:ext cx="3302000" cy="3632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C9FB66D-50A2-3D1D-9A92-198A714C81AD}"/>
              </a:ext>
            </a:extLst>
          </p:cNvPr>
          <p:cNvSpPr/>
          <p:nvPr/>
        </p:nvSpPr>
        <p:spPr>
          <a:xfrm>
            <a:off x="8585200" y="2184400"/>
            <a:ext cx="1524000" cy="304800"/>
          </a:xfrm>
          <a:prstGeom prst="roundRect">
            <a:avLst/>
          </a:prstGeom>
          <a:solidFill>
            <a:srgbClr val="563A4B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6B6211-6AB3-0212-9B83-A4880D15F6DB}"/>
              </a:ext>
            </a:extLst>
          </p:cNvPr>
          <p:cNvSpPr txBox="1"/>
          <p:nvPr/>
        </p:nvSpPr>
        <p:spPr>
          <a:xfrm>
            <a:off x="8686800" y="2247900"/>
            <a:ext cx="13208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HUMAN CONTROL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D21D9B-76CF-418A-0C76-4861DC633774}"/>
              </a:ext>
            </a:extLst>
          </p:cNvPr>
          <p:cNvSpPr txBox="1"/>
          <p:nvPr/>
        </p:nvSpPr>
        <p:spPr>
          <a:xfrm>
            <a:off x="8585200" y="2768600"/>
            <a:ext cx="2667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0B1F49"/>
                </a:solidFill>
                <a:latin typeface="Aptos Display" panose="020B0004020202020204" pitchFamily="34" charset="0"/>
              </a:rPr>
              <a:t>People remain responsible for every outcome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2C692-B64E-671F-E93E-89241E908F07}"/>
              </a:ext>
            </a:extLst>
          </p:cNvPr>
          <p:cNvSpPr txBox="1"/>
          <p:nvPr/>
        </p:nvSpPr>
        <p:spPr>
          <a:xfrm>
            <a:off x="8585200" y="3708400"/>
            <a:ext cx="26670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50">
                <a:solidFill>
                  <a:srgbClr val="17243A"/>
                </a:solidFill>
                <a:latin typeface="Aptos" panose="020B0004020202020204" pitchFamily="34" charset="0"/>
              </a:rPr>
              <a:t>The platform does not invent jobs.
It does not diagnose disability.
It does not automatically hire or reject.
It helps people approach businesses.</a:t>
            </a:r>
          </a:p>
        </p:txBody>
      </p:sp>
    </p:spTree>
    <p:extLst>
      <p:ext uri="{BB962C8B-B14F-4D97-AF65-F5344CB8AC3E}">
        <p14:creationId xmlns:p14="http://schemas.microsoft.com/office/powerpoint/2010/main" val="3973590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349B6-FE62-632B-FC38-44BBC80BB73D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992C6B-7E37-767F-42CF-5C9CB82B8602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PROJECT 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384FC6-835E-C68B-29CD-8281C2DF7EAD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Functional and non-functional requirements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785563-7689-BDBD-2790-F99857DF75DA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engineering scope includes both user capabilities and measurable quality constraints.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091174-29D1-430F-30DA-6BEBBEE6C2EA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0C89C42-F063-5916-216C-C9A3B32FDA03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6921BF-1ABA-A5F4-C3EF-A7DB626EEE39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262163-7FE1-F340-7C69-047989C54B43}"/>
              </a:ext>
            </a:extLst>
          </p:cNvPr>
          <p:cNvSpPr/>
          <p:nvPr/>
        </p:nvSpPr>
        <p:spPr>
          <a:xfrm>
            <a:off x="609600" y="1841500"/>
            <a:ext cx="5232400" cy="4000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F4473-EDC6-F9D2-0FD6-F9F9BEDE5E65}"/>
              </a:ext>
            </a:extLst>
          </p:cNvPr>
          <p:cNvSpPr txBox="1"/>
          <p:nvPr/>
        </p:nvSpPr>
        <p:spPr>
          <a:xfrm>
            <a:off x="939800" y="21590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1565D8"/>
                </a:solidFill>
                <a:latin typeface="Aptos Display" panose="020B0004020202020204" pitchFamily="34" charset="0"/>
              </a:rPr>
              <a:t>Functional requirements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C16A4-3646-3F23-8C9D-D80825FFD15D}"/>
              </a:ext>
            </a:extLst>
          </p:cNvPr>
          <p:cNvSpPr txBox="1"/>
          <p:nvPr/>
        </p:nvSpPr>
        <p:spPr>
          <a:xfrm>
            <a:off x="939800" y="27432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65D8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5C8449-C6ED-8CB3-2904-C781E60F8086}"/>
              </a:ext>
            </a:extLst>
          </p:cNvPr>
          <p:cNvSpPr txBox="1"/>
          <p:nvPr/>
        </p:nvSpPr>
        <p:spPr>
          <a:xfrm>
            <a:off x="1295400" y="27432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Secure accounts and authorized verification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504421-0426-D2BF-E5C0-6964DF7A4F5B}"/>
              </a:ext>
            </a:extLst>
          </p:cNvPr>
          <p:cNvSpPr txBox="1"/>
          <p:nvPr/>
        </p:nvSpPr>
        <p:spPr>
          <a:xfrm>
            <a:off x="939800" y="32385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65D8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2352F7-BBC4-049F-8F2F-68FD47C48941}"/>
              </a:ext>
            </a:extLst>
          </p:cNvPr>
          <p:cNvSpPr txBox="1"/>
          <p:nvPr/>
        </p:nvSpPr>
        <p:spPr>
          <a:xfrm>
            <a:off x="1295400" y="32385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Candidate, company, and employer profiles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8D919C-71F3-0ED8-FF12-6B594BCDCC86}"/>
              </a:ext>
            </a:extLst>
          </p:cNvPr>
          <p:cNvSpPr txBox="1"/>
          <p:nvPr/>
        </p:nvSpPr>
        <p:spPr>
          <a:xfrm>
            <a:off x="939800" y="37338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65D8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21534B-19E3-B221-07BB-C4A01E1A61FB}"/>
              </a:ext>
            </a:extLst>
          </p:cNvPr>
          <p:cNvSpPr txBox="1"/>
          <p:nvPr/>
        </p:nvSpPr>
        <p:spPr>
          <a:xfrm>
            <a:off x="1295400" y="37338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AI-assisted editable profile workflow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3F31F-B699-41E9-1433-2930C5C54D6D}"/>
              </a:ext>
            </a:extLst>
          </p:cNvPr>
          <p:cNvSpPr txBox="1"/>
          <p:nvPr/>
        </p:nvSpPr>
        <p:spPr>
          <a:xfrm>
            <a:off x="939800" y="42291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65D8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377FF4-0403-7681-1C4D-409692AB4BCE}"/>
              </a:ext>
            </a:extLst>
          </p:cNvPr>
          <p:cNvSpPr txBox="1"/>
          <p:nvPr/>
        </p:nvSpPr>
        <p:spPr>
          <a:xfrm>
            <a:off x="1295400" y="42291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Explainable matching and applications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88C380-22BF-72DB-E2B4-E78380D54928}"/>
              </a:ext>
            </a:extLst>
          </p:cNvPr>
          <p:cNvSpPr txBox="1"/>
          <p:nvPr/>
        </p:nvSpPr>
        <p:spPr>
          <a:xfrm>
            <a:off x="939800" y="47244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65D8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784C5D-D1DD-AFC1-6223-E406AFBEB91E}"/>
              </a:ext>
            </a:extLst>
          </p:cNvPr>
          <p:cNvSpPr txBox="1"/>
          <p:nvPr/>
        </p:nvSpPr>
        <p:spPr>
          <a:xfrm>
            <a:off x="1295400" y="47244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Employer, verifier, and admin operations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9F0FFC-337A-EAD7-05B3-BCC1AFE26F89}"/>
              </a:ext>
            </a:extLst>
          </p:cNvPr>
          <p:cNvSpPr txBox="1"/>
          <p:nvPr/>
        </p:nvSpPr>
        <p:spPr>
          <a:xfrm>
            <a:off x="939800" y="52197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65D8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CA0583-232D-0CC3-8E48-68FA2736D48F}"/>
              </a:ext>
            </a:extLst>
          </p:cNvPr>
          <p:cNvSpPr txBox="1"/>
          <p:nvPr/>
        </p:nvSpPr>
        <p:spPr>
          <a:xfrm>
            <a:off x="1295400" y="52197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Keyboard and optional voice navigation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2B69F50-CEB7-A40E-0CB0-46E0DDFA4A88}"/>
              </a:ext>
            </a:extLst>
          </p:cNvPr>
          <p:cNvSpPr/>
          <p:nvPr/>
        </p:nvSpPr>
        <p:spPr>
          <a:xfrm>
            <a:off x="6350000" y="1841500"/>
            <a:ext cx="5232400" cy="4000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8E9D5E-2FA2-21DC-BF77-DA97D7A7AD58}"/>
              </a:ext>
            </a:extLst>
          </p:cNvPr>
          <p:cNvSpPr txBox="1"/>
          <p:nvPr/>
        </p:nvSpPr>
        <p:spPr>
          <a:xfrm>
            <a:off x="6680200" y="2159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157A55"/>
                </a:solidFill>
                <a:latin typeface="Aptos Display" panose="020B0004020202020204" pitchFamily="34" charset="0"/>
              </a:rPr>
              <a:t>Non-functional requirements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3EF2D3-7D0C-59FC-E7E7-98DB22D44CBA}"/>
              </a:ext>
            </a:extLst>
          </p:cNvPr>
          <p:cNvSpPr txBox="1"/>
          <p:nvPr/>
        </p:nvSpPr>
        <p:spPr>
          <a:xfrm>
            <a:off x="6680200" y="27432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7A55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BF9513-FBFE-CC3F-F07E-57788E43B821}"/>
              </a:ext>
            </a:extLst>
          </p:cNvPr>
          <p:cNvSpPr txBox="1"/>
          <p:nvPr/>
        </p:nvSpPr>
        <p:spPr>
          <a:xfrm>
            <a:off x="7035800" y="27432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WCAG 2.1 AA target and responsive design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7D3148-5C11-E9A8-CCE7-652C87771C8F}"/>
              </a:ext>
            </a:extLst>
          </p:cNvPr>
          <p:cNvSpPr txBox="1"/>
          <p:nvPr/>
        </p:nvSpPr>
        <p:spPr>
          <a:xfrm>
            <a:off x="6680200" y="32385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7A55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A44270-F8FB-6160-C5BE-714E88BEBBA2}"/>
              </a:ext>
            </a:extLst>
          </p:cNvPr>
          <p:cNvSpPr txBox="1"/>
          <p:nvPr/>
        </p:nvSpPr>
        <p:spPr>
          <a:xfrm>
            <a:off x="7035800" y="32385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Security, privacy, consent, and role isolation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3FFA18-8BF4-9F95-44CE-894371D94D5B}"/>
              </a:ext>
            </a:extLst>
          </p:cNvPr>
          <p:cNvSpPr txBox="1"/>
          <p:nvPr/>
        </p:nvSpPr>
        <p:spPr>
          <a:xfrm>
            <a:off x="6680200" y="37338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7A55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567411-E2D3-6C75-ABC6-06DF724A64CB}"/>
              </a:ext>
            </a:extLst>
          </p:cNvPr>
          <p:cNvSpPr txBox="1"/>
          <p:nvPr/>
        </p:nvSpPr>
        <p:spPr>
          <a:xfrm>
            <a:off x="7035800" y="37338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English, French, Arabic, and RTL behavior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BD14D5-B4FF-0B57-E44C-A36C2C9DFF55}"/>
              </a:ext>
            </a:extLst>
          </p:cNvPr>
          <p:cNvSpPr txBox="1"/>
          <p:nvPr/>
        </p:nvSpPr>
        <p:spPr>
          <a:xfrm>
            <a:off x="6680200" y="42291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7A55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3A6D2B-30E4-E932-680D-F3A034B3948F}"/>
              </a:ext>
            </a:extLst>
          </p:cNvPr>
          <p:cNvSpPr txBox="1"/>
          <p:nvPr/>
        </p:nvSpPr>
        <p:spPr>
          <a:xfrm>
            <a:off x="7035800" y="42291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Transparent and auditable decisions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5A6C21-48D4-1ECA-080B-3B524E489E3A}"/>
              </a:ext>
            </a:extLst>
          </p:cNvPr>
          <p:cNvSpPr txBox="1"/>
          <p:nvPr/>
        </p:nvSpPr>
        <p:spPr>
          <a:xfrm>
            <a:off x="6680200" y="47244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7A55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C3C754-578A-B2C8-F375-88A3E888F21A}"/>
              </a:ext>
            </a:extLst>
          </p:cNvPr>
          <p:cNvSpPr txBox="1"/>
          <p:nvPr/>
        </p:nvSpPr>
        <p:spPr>
          <a:xfrm>
            <a:off x="7035800" y="47244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Reliability, automated tests, and monitoring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C42784-A605-4AD4-0555-D7EF6078C07D}"/>
              </a:ext>
            </a:extLst>
          </p:cNvPr>
          <p:cNvSpPr txBox="1"/>
          <p:nvPr/>
        </p:nvSpPr>
        <p:spPr>
          <a:xfrm>
            <a:off x="6680200" y="5219700"/>
            <a:ext cx="228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157A55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A1A31F-908E-F5A7-7DF0-74FD8BEA1D83}"/>
              </a:ext>
            </a:extLst>
          </p:cNvPr>
          <p:cNvSpPr txBox="1"/>
          <p:nvPr/>
        </p:nvSpPr>
        <p:spPr>
          <a:xfrm>
            <a:off x="7035800" y="5219700"/>
            <a:ext cx="406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Measured response-time and performance improvement</a:t>
            </a:r>
          </a:p>
        </p:txBody>
      </p:sp>
    </p:spTree>
    <p:extLst>
      <p:ext uri="{BB962C8B-B14F-4D97-AF65-F5344CB8AC3E}">
        <p14:creationId xmlns:p14="http://schemas.microsoft.com/office/powerpoint/2010/main" val="303472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3E3019-C007-3570-BC1F-34EC8DD2C615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1BFDB3-8EF4-5716-DBE4-AA2A154FB266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COMPLETED 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56C60B-29A1-581C-E994-C8ABF3986DE1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Implemented feature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B1835A-F968-F532-4EF4-BB77F2E2E0C6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current prototype already connects the four user roles through protected and accessible workflows.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C73CA4-A7C5-6058-3E4A-44937BB633A2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7E59340-BCA5-F1F2-73FC-CF9ECBF064C1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03CA42-F4CF-66E3-F2B0-DF738AB6E517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852A4A6-B96D-E63D-5334-7956A86CD23D}"/>
              </a:ext>
            </a:extLst>
          </p:cNvPr>
          <p:cNvSpPr/>
          <p:nvPr/>
        </p:nvSpPr>
        <p:spPr>
          <a:xfrm>
            <a:off x="609600" y="18415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AFFBA4-3433-5900-6BD5-E2F221705A8A}"/>
              </a:ext>
            </a:extLst>
          </p:cNvPr>
          <p:cNvSpPr/>
          <p:nvPr/>
        </p:nvSpPr>
        <p:spPr>
          <a:xfrm>
            <a:off x="609600" y="1841500"/>
            <a:ext cx="76200" cy="16002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CE54E-BA7A-2FD4-2F88-39F096562544}"/>
              </a:ext>
            </a:extLst>
          </p:cNvPr>
          <p:cNvSpPr txBox="1"/>
          <p:nvPr/>
        </p:nvSpPr>
        <p:spPr>
          <a:xfrm>
            <a:off x="838200" y="20320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1565D8"/>
                </a:solidFill>
                <a:latin typeface="Aptos Display" panose="020B0004020202020204" pitchFamily="34" charset="0"/>
              </a:rPr>
              <a:t>AI profile builder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1E0FC7-F27D-28EA-5535-225027662F14}"/>
              </a:ext>
            </a:extLst>
          </p:cNvPr>
          <p:cNvSpPr txBox="1"/>
          <p:nvPr/>
        </p:nvSpPr>
        <p:spPr>
          <a:xfrm>
            <a:off x="838200" y="2501900"/>
            <a:ext cx="213360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Voice or text -&gt; editable transcript -&gt; consent -&gt; reviewable suggestions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0F4FCE-FEDE-E202-D72A-03B8EF2CDFC8}"/>
              </a:ext>
            </a:extLst>
          </p:cNvPr>
          <p:cNvSpPr/>
          <p:nvPr/>
        </p:nvSpPr>
        <p:spPr>
          <a:xfrm>
            <a:off x="3378200" y="18415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084478-ECD6-4FA6-C126-322AF6B7AF4A}"/>
              </a:ext>
            </a:extLst>
          </p:cNvPr>
          <p:cNvSpPr/>
          <p:nvPr/>
        </p:nvSpPr>
        <p:spPr>
          <a:xfrm>
            <a:off x="3378200" y="1841500"/>
            <a:ext cx="76200" cy="1600200"/>
          </a:xfrm>
          <a:prstGeom prst="rect">
            <a:avLst/>
          </a:prstGeom>
          <a:solidFill>
            <a:srgbClr val="563A4B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C95ECB-0358-D6D9-F992-4443E4ADD52C}"/>
              </a:ext>
            </a:extLst>
          </p:cNvPr>
          <p:cNvSpPr txBox="1"/>
          <p:nvPr/>
        </p:nvSpPr>
        <p:spPr>
          <a:xfrm>
            <a:off x="3606800" y="20320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563A4B"/>
                </a:solidFill>
                <a:latin typeface="Aptos Display" panose="020B0004020202020204" pitchFamily="34" charset="0"/>
              </a:rPr>
              <a:t>Candidate verification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9CD5CF-8575-7B70-0258-91AEE4A8BBB6}"/>
              </a:ext>
            </a:extLst>
          </p:cNvPr>
          <p:cNvSpPr txBox="1"/>
          <p:nvPr/>
        </p:nvSpPr>
        <p:spPr>
          <a:xfrm>
            <a:off x="3606800" y="2501900"/>
            <a:ext cx="213360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Email confirmation plus private disability-card review by an authorized verifier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DAE112-44ED-A868-5B56-74788BEC866B}"/>
              </a:ext>
            </a:extLst>
          </p:cNvPr>
          <p:cNvSpPr/>
          <p:nvPr/>
        </p:nvSpPr>
        <p:spPr>
          <a:xfrm>
            <a:off x="6146800" y="18415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4095EB-4C61-E5BB-269D-588AB4CD2190}"/>
              </a:ext>
            </a:extLst>
          </p:cNvPr>
          <p:cNvSpPr/>
          <p:nvPr/>
        </p:nvSpPr>
        <p:spPr>
          <a:xfrm>
            <a:off x="6146800" y="1841500"/>
            <a:ext cx="76200" cy="1600200"/>
          </a:xfrm>
          <a:prstGeom prst="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87A79C-60B3-2442-9F81-07FC79E0038C}"/>
              </a:ext>
            </a:extLst>
          </p:cNvPr>
          <p:cNvSpPr txBox="1"/>
          <p:nvPr/>
        </p:nvSpPr>
        <p:spPr>
          <a:xfrm>
            <a:off x="6375400" y="20320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A64B2A"/>
                </a:solidFill>
                <a:latin typeface="Aptos Display" panose="020B0004020202020204" pitchFamily="34" charset="0"/>
              </a:rPr>
              <a:t>Security controls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22C734-4C7A-3D1D-0F83-04B5A2F0226E}"/>
              </a:ext>
            </a:extLst>
          </p:cNvPr>
          <p:cNvSpPr txBox="1"/>
          <p:nvPr/>
        </p:nvSpPr>
        <p:spPr>
          <a:xfrm>
            <a:off x="6375400" y="2501900"/>
            <a:ext cx="2133600" cy="4293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JWT session, server-confirmed role, protected routes and APIs, private storage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AE7C13-BE55-5EC2-0810-F8070211C1A9}"/>
              </a:ext>
            </a:extLst>
          </p:cNvPr>
          <p:cNvSpPr/>
          <p:nvPr/>
        </p:nvSpPr>
        <p:spPr>
          <a:xfrm>
            <a:off x="8915400" y="18415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F2E5AA-5C3C-8343-1554-B83AC4DDD256}"/>
              </a:ext>
            </a:extLst>
          </p:cNvPr>
          <p:cNvSpPr/>
          <p:nvPr/>
        </p:nvSpPr>
        <p:spPr>
          <a:xfrm>
            <a:off x="8915400" y="1841500"/>
            <a:ext cx="76200" cy="16002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F7B765-D3F0-B5C0-6416-32154014C4C8}"/>
              </a:ext>
            </a:extLst>
          </p:cNvPr>
          <p:cNvSpPr txBox="1"/>
          <p:nvPr/>
        </p:nvSpPr>
        <p:spPr>
          <a:xfrm>
            <a:off x="9144000" y="20320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157A55"/>
                </a:solidFill>
                <a:latin typeface="Aptos Display" panose="020B0004020202020204" pitchFamily="34" charset="0"/>
              </a:rPr>
              <a:t>Matching + applications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D5413-B31B-7DC8-765B-EF5661B4B193}"/>
              </a:ext>
            </a:extLst>
          </p:cNvPr>
          <p:cNvSpPr txBox="1"/>
          <p:nvPr/>
        </p:nvSpPr>
        <p:spPr>
          <a:xfrm>
            <a:off x="9144000" y="2501900"/>
            <a:ext cx="213360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Deterministic task score, explanations, applications, and stored outcomes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0ED889F-DC09-D66D-2726-E4A8AF3DF93B}"/>
              </a:ext>
            </a:extLst>
          </p:cNvPr>
          <p:cNvSpPr/>
          <p:nvPr/>
        </p:nvSpPr>
        <p:spPr>
          <a:xfrm>
            <a:off x="609600" y="38100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67A6C7F-A2B4-4292-D171-81DF3E94EEFD}"/>
              </a:ext>
            </a:extLst>
          </p:cNvPr>
          <p:cNvSpPr/>
          <p:nvPr/>
        </p:nvSpPr>
        <p:spPr>
          <a:xfrm>
            <a:off x="609600" y="3810000"/>
            <a:ext cx="76200" cy="16002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0D9F46-A4CA-5F3A-FF06-ED6D18A35BDF}"/>
              </a:ext>
            </a:extLst>
          </p:cNvPr>
          <p:cNvSpPr txBox="1"/>
          <p:nvPr/>
        </p:nvSpPr>
        <p:spPr>
          <a:xfrm>
            <a:off x="838200" y="40005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157A55"/>
                </a:solidFill>
                <a:latin typeface="Aptos Display" panose="020B0004020202020204" pitchFamily="34" charset="0"/>
              </a:rPr>
              <a:t>Employer tools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5CBC81-B988-7072-59C4-FB28515CCEBE}"/>
              </a:ext>
            </a:extLst>
          </p:cNvPr>
          <p:cNvSpPr txBox="1"/>
          <p:nvPr/>
        </p:nvSpPr>
        <p:spPr>
          <a:xfrm>
            <a:off x="838200" y="4470400"/>
            <a:ext cx="2133600" cy="4293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Company profile, vacancy creation, requirements, important tasks, assistance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DB85694-2384-7627-8BEA-2D81BDA2E25A}"/>
              </a:ext>
            </a:extLst>
          </p:cNvPr>
          <p:cNvSpPr/>
          <p:nvPr/>
        </p:nvSpPr>
        <p:spPr>
          <a:xfrm>
            <a:off x="3378200" y="38100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2654D3-83DF-6165-C9FE-B5E061A62CED}"/>
              </a:ext>
            </a:extLst>
          </p:cNvPr>
          <p:cNvSpPr/>
          <p:nvPr/>
        </p:nvSpPr>
        <p:spPr>
          <a:xfrm>
            <a:off x="3378200" y="3810000"/>
            <a:ext cx="76200" cy="1600200"/>
          </a:xfrm>
          <a:prstGeom prst="rect">
            <a:avLst/>
          </a:prstGeom>
          <a:solidFill>
            <a:srgbClr val="563A4B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5B0196-89E9-BCA3-3FF1-47638EB819B8}"/>
              </a:ext>
            </a:extLst>
          </p:cNvPr>
          <p:cNvSpPr txBox="1"/>
          <p:nvPr/>
        </p:nvSpPr>
        <p:spPr>
          <a:xfrm>
            <a:off x="3606800" y="40005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563A4B"/>
                </a:solidFill>
                <a:latin typeface="Aptos Display" panose="020B0004020202020204" pitchFamily="34" charset="0"/>
              </a:rPr>
              <a:t>Admin + verifier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B22E56-5356-E548-C9EB-D0DD7BF04D45}"/>
              </a:ext>
            </a:extLst>
          </p:cNvPr>
          <p:cNvSpPr txBox="1"/>
          <p:nvPr/>
        </p:nvSpPr>
        <p:spPr>
          <a:xfrm>
            <a:off x="3606800" y="4470400"/>
            <a:ext cx="213360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Users, applications, candidate evidence decisions, and dataset catalogue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2799C77-5305-8485-62A0-0F949A2DBD6A}"/>
              </a:ext>
            </a:extLst>
          </p:cNvPr>
          <p:cNvSpPr/>
          <p:nvPr/>
        </p:nvSpPr>
        <p:spPr>
          <a:xfrm>
            <a:off x="6146800" y="38100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D6B58C-F64A-1800-35A2-7013A768FB08}"/>
              </a:ext>
            </a:extLst>
          </p:cNvPr>
          <p:cNvSpPr/>
          <p:nvPr/>
        </p:nvSpPr>
        <p:spPr>
          <a:xfrm>
            <a:off x="6146800" y="3810000"/>
            <a:ext cx="76200" cy="16002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9784A8-8F0B-CEBC-637B-3B5DB3E9AD90}"/>
              </a:ext>
            </a:extLst>
          </p:cNvPr>
          <p:cNvSpPr txBox="1"/>
          <p:nvPr/>
        </p:nvSpPr>
        <p:spPr>
          <a:xfrm>
            <a:off x="6375400" y="40005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1565D8"/>
                </a:solidFill>
                <a:latin typeface="Aptos Display" panose="020B0004020202020204" pitchFamily="34" charset="0"/>
              </a:rPr>
              <a:t>Accessible navigation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7F2DA00-D305-2602-D80F-6D48F83389D8}"/>
              </a:ext>
            </a:extLst>
          </p:cNvPr>
          <p:cNvSpPr txBox="1"/>
          <p:nvPr/>
        </p:nvSpPr>
        <p:spPr>
          <a:xfrm>
            <a:off x="6375400" y="4470400"/>
            <a:ext cx="2133600" cy="4293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Keyboard, arrow-key support, visible focus, status announcements, optional voice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AB6EECD-6374-EC69-0B18-8D295847B89F}"/>
              </a:ext>
            </a:extLst>
          </p:cNvPr>
          <p:cNvSpPr/>
          <p:nvPr/>
        </p:nvSpPr>
        <p:spPr>
          <a:xfrm>
            <a:off x="8915400" y="3810000"/>
            <a:ext cx="25654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5C57D4C-B4CB-2E81-6EF0-171685BC90BF}"/>
              </a:ext>
            </a:extLst>
          </p:cNvPr>
          <p:cNvSpPr/>
          <p:nvPr/>
        </p:nvSpPr>
        <p:spPr>
          <a:xfrm>
            <a:off x="8915400" y="3810000"/>
            <a:ext cx="76200" cy="1600200"/>
          </a:xfrm>
          <a:prstGeom prst="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2EF056-4EF7-AF3A-910F-EB064026B3E0}"/>
              </a:ext>
            </a:extLst>
          </p:cNvPr>
          <p:cNvSpPr txBox="1"/>
          <p:nvPr/>
        </p:nvSpPr>
        <p:spPr>
          <a:xfrm>
            <a:off x="9144000" y="4000500"/>
            <a:ext cx="213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A64B2A"/>
                </a:solidFill>
                <a:latin typeface="Aptos Display" panose="020B0004020202020204" pitchFamily="34" charset="0"/>
              </a:rPr>
              <a:t>Multilingual UI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39120B-0381-E67C-F629-0BB71EB50AD0}"/>
              </a:ext>
            </a:extLst>
          </p:cNvPr>
          <p:cNvSpPr txBox="1"/>
          <p:nvPr/>
        </p:nvSpPr>
        <p:spPr>
          <a:xfrm>
            <a:off x="9144000" y="4470400"/>
            <a:ext cx="213360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>
                <a:solidFill>
                  <a:srgbClr val="17243A"/>
                </a:solidFill>
                <a:latin typeface="Aptos" panose="020B0004020202020204" pitchFamily="34" charset="0"/>
              </a:rPr>
              <a:t>English, French, Arabic, RTL layout, stable codes, and locale tests</a:t>
            </a:r>
          </a:p>
        </p:txBody>
      </p:sp>
    </p:spTree>
    <p:extLst>
      <p:ext uri="{BB962C8B-B14F-4D97-AF65-F5344CB8AC3E}">
        <p14:creationId xmlns:p14="http://schemas.microsoft.com/office/powerpoint/2010/main" val="259380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BBBC62-7627-0F2D-15D6-C7566B63EEA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A3FA57-8134-F73A-3192-6A80DFF9C924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TECHNICAL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847D82-5915-2E7F-FD27-0F6C1D8EB523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Architecture and security boundaries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007F0-D35A-63C5-DA2D-730807B2F1F8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browser never grants authority; Symfony validates identity, role, data, and every protected operation.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04B956-2E98-1C62-40DA-BD8024A01457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E8F4C73-753A-2D9B-1FB7-F67571977DD7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9AE6B8-8197-A7EC-DA3A-DD31C950CA44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C933E39-5E95-59EE-015E-5809E45CB93C}"/>
              </a:ext>
            </a:extLst>
          </p:cNvPr>
          <p:cNvSpPr/>
          <p:nvPr/>
        </p:nvSpPr>
        <p:spPr>
          <a:xfrm>
            <a:off x="762000" y="2667000"/>
            <a:ext cx="2413000" cy="152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65C67B-FA86-9489-23FB-1D03FE1D5C6D}"/>
              </a:ext>
            </a:extLst>
          </p:cNvPr>
          <p:cNvSpPr/>
          <p:nvPr/>
        </p:nvSpPr>
        <p:spPr>
          <a:xfrm>
            <a:off x="762000" y="2667000"/>
            <a:ext cx="88900" cy="15240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F2ECCB-899A-B8DF-38B6-B913D0E2D00D}"/>
              </a:ext>
            </a:extLst>
          </p:cNvPr>
          <p:cNvSpPr txBox="1"/>
          <p:nvPr/>
        </p:nvSpPr>
        <p:spPr>
          <a:xfrm>
            <a:off x="1041400" y="2946400"/>
            <a:ext cx="18415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B1F49"/>
                </a:solidFill>
                <a:latin typeface="Aptos Display" panose="020B0004020202020204" pitchFamily="34" charset="0"/>
              </a:rPr>
              <a:t>React frontend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4EEFD3-4FD6-772A-CFA2-243ABF20AA8D}"/>
              </a:ext>
            </a:extLst>
          </p:cNvPr>
          <p:cNvSpPr txBox="1"/>
          <p:nvPr/>
        </p:nvSpPr>
        <p:spPr>
          <a:xfrm>
            <a:off x="1041400" y="3467100"/>
            <a:ext cx="1841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>
                <a:solidFill>
                  <a:srgbClr val="5D6B80"/>
                </a:solidFill>
                <a:latin typeface="Aptos" panose="020B0004020202020204" pitchFamily="34" charset="0"/>
              </a:rPr>
              <a:t>Accessible screens
English | French | Arabic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73AE40D-A6F3-17CA-906D-45C505DBBED8}"/>
              </a:ext>
            </a:extLst>
          </p:cNvPr>
          <p:cNvSpPr/>
          <p:nvPr/>
        </p:nvSpPr>
        <p:spPr>
          <a:xfrm>
            <a:off x="4191000" y="2667000"/>
            <a:ext cx="2667000" cy="152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A3EF3F-B104-98D4-3300-9CD3E9CEC2FC}"/>
              </a:ext>
            </a:extLst>
          </p:cNvPr>
          <p:cNvSpPr/>
          <p:nvPr/>
        </p:nvSpPr>
        <p:spPr>
          <a:xfrm>
            <a:off x="4191000" y="2667000"/>
            <a:ext cx="88900" cy="1524000"/>
          </a:xfrm>
          <a:prstGeom prst="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AA5699-34F1-18D9-46D9-F9D45FF88A2D}"/>
              </a:ext>
            </a:extLst>
          </p:cNvPr>
          <p:cNvSpPr txBox="1"/>
          <p:nvPr/>
        </p:nvSpPr>
        <p:spPr>
          <a:xfrm>
            <a:off x="4470400" y="2946400"/>
            <a:ext cx="20955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B1F49"/>
                </a:solidFill>
                <a:latin typeface="Aptos Display" panose="020B0004020202020204" pitchFamily="34" charset="0"/>
              </a:rPr>
              <a:t>Symfony backend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BD267-375B-C078-873A-FDB3230DEC56}"/>
              </a:ext>
            </a:extLst>
          </p:cNvPr>
          <p:cNvSpPr txBox="1"/>
          <p:nvPr/>
        </p:nvSpPr>
        <p:spPr>
          <a:xfrm>
            <a:off x="4470400" y="3467100"/>
            <a:ext cx="2095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>
                <a:solidFill>
                  <a:srgbClr val="5D6B80"/>
                </a:solidFill>
                <a:latin typeface="Aptos" panose="020B0004020202020204" pitchFamily="34" charset="0"/>
              </a:rPr>
              <a:t>Security | validation
Business workflows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91AFDCF-3E09-ADC8-5216-31BAE4C83ED8}"/>
              </a:ext>
            </a:extLst>
          </p:cNvPr>
          <p:cNvSpPr/>
          <p:nvPr/>
        </p:nvSpPr>
        <p:spPr>
          <a:xfrm>
            <a:off x="8255000" y="1905000"/>
            <a:ext cx="2921000" cy="127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E30CE8-BE68-C892-49B2-590B4621090B}"/>
              </a:ext>
            </a:extLst>
          </p:cNvPr>
          <p:cNvSpPr/>
          <p:nvPr/>
        </p:nvSpPr>
        <p:spPr>
          <a:xfrm>
            <a:off x="8255000" y="1905000"/>
            <a:ext cx="88900" cy="12700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6638CB-E58C-B0A2-285D-24AD6CEDD371}"/>
              </a:ext>
            </a:extLst>
          </p:cNvPr>
          <p:cNvSpPr txBox="1"/>
          <p:nvPr/>
        </p:nvSpPr>
        <p:spPr>
          <a:xfrm>
            <a:off x="8534400" y="2171700"/>
            <a:ext cx="228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B1F49"/>
                </a:solidFill>
                <a:latin typeface="Aptos Display" panose="020B0004020202020204" pitchFamily="34" charset="0"/>
              </a:rPr>
              <a:t>PostgreSQL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564E55-1B8C-5788-87C8-FDC613D7E714}"/>
              </a:ext>
            </a:extLst>
          </p:cNvPr>
          <p:cNvSpPr txBox="1"/>
          <p:nvPr/>
        </p:nvSpPr>
        <p:spPr>
          <a:xfrm>
            <a:off x="8534400" y="2628900"/>
            <a:ext cx="2286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>
                <a:solidFill>
                  <a:srgbClr val="5D6B80"/>
                </a:solidFill>
                <a:latin typeface="Aptos" panose="020B0004020202020204" pitchFamily="34" charset="0"/>
              </a:rPr>
              <a:t>Users | profiles
Jobs | applications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D91E1C8-AF40-5C4B-22D8-FB42DB938722}"/>
              </a:ext>
            </a:extLst>
          </p:cNvPr>
          <p:cNvSpPr/>
          <p:nvPr/>
        </p:nvSpPr>
        <p:spPr>
          <a:xfrm>
            <a:off x="8255000" y="3810000"/>
            <a:ext cx="2921000" cy="127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9A7E4E-1DE5-3947-B8C4-35D35975D90D}"/>
              </a:ext>
            </a:extLst>
          </p:cNvPr>
          <p:cNvSpPr/>
          <p:nvPr/>
        </p:nvSpPr>
        <p:spPr>
          <a:xfrm>
            <a:off x="8255000" y="3810000"/>
            <a:ext cx="88900" cy="1270000"/>
          </a:xfrm>
          <a:prstGeom prst="rect">
            <a:avLst/>
          </a:prstGeom>
          <a:solidFill>
            <a:srgbClr val="563A4B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CA4997-E60E-2C82-0677-968649348AAE}"/>
              </a:ext>
            </a:extLst>
          </p:cNvPr>
          <p:cNvSpPr txBox="1"/>
          <p:nvPr/>
        </p:nvSpPr>
        <p:spPr>
          <a:xfrm>
            <a:off x="8534400" y="4076700"/>
            <a:ext cx="228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B1F49"/>
                </a:solidFill>
                <a:latin typeface="Aptos Display" panose="020B0004020202020204" pitchFamily="34" charset="0"/>
              </a:rPr>
              <a:t>Python services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3D55F-62E6-558B-0D18-6A4BBCBFAFA4}"/>
              </a:ext>
            </a:extLst>
          </p:cNvPr>
          <p:cNvSpPr txBox="1"/>
          <p:nvPr/>
        </p:nvSpPr>
        <p:spPr>
          <a:xfrm>
            <a:off x="8534400" y="4533900"/>
            <a:ext cx="2286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it-IT" sz="1000">
                <a:solidFill>
                  <a:srgbClr val="5D6B80"/>
                </a:solidFill>
                <a:latin typeface="Aptos" panose="020B0004020202020204" pitchFamily="34" charset="0"/>
              </a:rPr>
              <a:t>AI profile assistance
Deterministic scoring</a:t>
            </a:r>
            <a:endParaRPr lang="en-US" sz="1000">
              <a:solidFill>
                <a:srgbClr val="5D6B80"/>
              </a:solidFill>
              <a:latin typeface="Aptos" panose="020B0004020202020204" pitchFamily="34" charset="0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5E3291B-1260-994D-7051-52E03FE9643B}"/>
              </a:ext>
            </a:extLst>
          </p:cNvPr>
          <p:cNvCxnSpPr/>
          <p:nvPr/>
        </p:nvCxnSpPr>
        <p:spPr>
          <a:xfrm>
            <a:off x="3175000" y="3429000"/>
            <a:ext cx="1016000" cy="0"/>
          </a:xfrm>
          <a:prstGeom prst="line">
            <a:avLst/>
          </a:prstGeom>
          <a:ln w="25400">
            <a:solidFill>
              <a:srgbClr val="1565D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F025189-B516-95B1-7980-4C90C7369AD1}"/>
              </a:ext>
            </a:extLst>
          </p:cNvPr>
          <p:cNvCxnSpPr/>
          <p:nvPr/>
        </p:nvCxnSpPr>
        <p:spPr>
          <a:xfrm flipV="1">
            <a:off x="6858000" y="2540000"/>
            <a:ext cx="1397000" cy="571500"/>
          </a:xfrm>
          <a:prstGeom prst="line">
            <a:avLst/>
          </a:prstGeom>
          <a:ln w="25400">
            <a:solidFill>
              <a:srgbClr val="157A5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FF92B1-42F1-C366-B786-5783D4FCF15E}"/>
              </a:ext>
            </a:extLst>
          </p:cNvPr>
          <p:cNvCxnSpPr/>
          <p:nvPr/>
        </p:nvCxnSpPr>
        <p:spPr>
          <a:xfrm>
            <a:off x="6858000" y="3746500"/>
            <a:ext cx="1397000" cy="698500"/>
          </a:xfrm>
          <a:prstGeom prst="line">
            <a:avLst/>
          </a:prstGeom>
          <a:ln w="25400">
            <a:solidFill>
              <a:srgbClr val="563A4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C45D972-6565-3BA6-23DC-62619CF3FCAD}"/>
              </a:ext>
            </a:extLst>
          </p:cNvPr>
          <p:cNvSpPr txBox="1"/>
          <p:nvPr/>
        </p:nvSpPr>
        <p:spPr>
          <a:xfrm>
            <a:off x="3327400" y="3124200"/>
            <a:ext cx="7366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750" b="1">
                <a:solidFill>
                  <a:srgbClr val="5D6B80"/>
                </a:solidFill>
                <a:latin typeface="Aptos" panose="020B0004020202020204" pitchFamily="34" charset="0"/>
              </a:rPr>
              <a:t>REST / JSON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CD7A201-B7FD-E4A5-F37D-6B8BEEBBFE1E}"/>
              </a:ext>
            </a:extLst>
          </p:cNvPr>
          <p:cNvSpPr/>
          <p:nvPr/>
        </p:nvSpPr>
        <p:spPr>
          <a:xfrm>
            <a:off x="1905000" y="5334000"/>
            <a:ext cx="8382000" cy="8636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514484-F87B-41B4-FB87-7557EBA25856}"/>
              </a:ext>
            </a:extLst>
          </p:cNvPr>
          <p:cNvSpPr txBox="1"/>
          <p:nvPr/>
        </p:nvSpPr>
        <p:spPr>
          <a:xfrm>
            <a:off x="2260600" y="5549900"/>
            <a:ext cx="76708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Trust boundary: Symfony confirms the session and role, protects private evidence, validates input, and controls calls to both Python services.</a:t>
            </a:r>
          </a:p>
        </p:txBody>
      </p:sp>
    </p:spTree>
    <p:extLst>
      <p:ext uri="{BB962C8B-B14F-4D97-AF65-F5344CB8AC3E}">
        <p14:creationId xmlns:p14="http://schemas.microsoft.com/office/powerpoint/2010/main" val="3830530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AA2C2D-E83E-8A9C-F482-AB822583EC5F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AED4DB-FCFA-C3E0-21B8-78F1E2B872FD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ENGINEERING DECISION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2AEC1E-E3F6-A809-0184-F8988561A910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Why deterministic scoring instead of machine learning?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6C699F-92FB-5ACD-FE4A-8D283F7760A8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current evidence is a controlled expert catalogue, not a labelled history of successful and unsuccessful hires.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0620DA6-D15F-C2F3-9101-A7BE615CE536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9796C7C-DE2B-A7E1-00BA-F5EE47D69DEB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02205F-370D-7325-DCCA-FEDFCC64BBD7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EE608A6-CD6F-84BC-C264-5BFF2B4DE83B}"/>
              </a:ext>
            </a:extLst>
          </p:cNvPr>
          <p:cNvSpPr/>
          <p:nvPr/>
        </p:nvSpPr>
        <p:spPr>
          <a:xfrm>
            <a:off x="609600" y="1841500"/>
            <a:ext cx="6350000" cy="40640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EB82C4-511B-3002-76E3-27662E49D468}"/>
              </a:ext>
            </a:extLst>
          </p:cNvPr>
          <p:cNvSpPr/>
          <p:nvPr/>
        </p:nvSpPr>
        <p:spPr>
          <a:xfrm>
            <a:off x="939800" y="2146300"/>
            <a:ext cx="2222500" cy="304800"/>
          </a:xfrm>
          <a:prstGeom prst="round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71F832-7CC8-183B-DB91-5547B3956FD9}"/>
              </a:ext>
            </a:extLst>
          </p:cNvPr>
          <p:cNvSpPr txBox="1"/>
          <p:nvPr/>
        </p:nvSpPr>
        <p:spPr>
          <a:xfrm>
            <a:off x="1041400" y="2209800"/>
            <a:ext cx="20193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CHOSEN: VERSIONED RULES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19423E-B9EF-8DDB-7737-FD3FFE9CA445}"/>
              </a:ext>
            </a:extLst>
          </p:cNvPr>
          <p:cNvSpPr txBox="1"/>
          <p:nvPr/>
        </p:nvSpPr>
        <p:spPr>
          <a:xfrm>
            <a:off x="939800" y="2717800"/>
            <a:ext cx="228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Task score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CF622-4892-A3F8-5CE0-2B236F1DAD9B}"/>
              </a:ext>
            </a:extLst>
          </p:cNvPr>
          <p:cNvSpPr txBox="1"/>
          <p:nvPr/>
        </p:nvSpPr>
        <p:spPr>
          <a:xfrm>
            <a:off x="939800" y="3124200"/>
            <a:ext cx="5334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ptos" panose="020B0004020202020204" pitchFamily="34" charset="0"/>
              </a:rPr>
              <a:t>Sum(adjusted weight x feasibility factor) / Sum(adjusted weight) x 100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86F91B-FA01-F3B6-044A-31EAE450B59F}"/>
              </a:ext>
            </a:extLst>
          </p:cNvPr>
          <p:cNvSpPr txBox="1"/>
          <p:nvPr/>
        </p:nvSpPr>
        <p:spPr>
          <a:xfrm>
            <a:off x="939800" y="3911600"/>
            <a:ext cx="533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DDE7F5"/>
                </a:solidFill>
                <a:latin typeface="Aptos" panose="020B0004020202020204" pitchFamily="34" charset="0"/>
              </a:rPr>
              <a:t>Feasibility factor: 1.00 feasible | 0.75 with offered support | 0.00 avoid
Highlighted task: weight x 1.5
Combined result: tasks + practical abilities (25%) + education (10%) when configured
Required education/ability and mandatory unsafe tasks remain explicit eligibility gates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A955346-293D-E4BA-6064-8F4CE894ED88}"/>
              </a:ext>
            </a:extLst>
          </p:cNvPr>
          <p:cNvSpPr/>
          <p:nvPr/>
        </p:nvSpPr>
        <p:spPr>
          <a:xfrm>
            <a:off x="7493000" y="1841500"/>
            <a:ext cx="4089400" cy="406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8279B3-B74E-66AC-0C37-1675E78DA174}"/>
              </a:ext>
            </a:extLst>
          </p:cNvPr>
          <p:cNvSpPr txBox="1"/>
          <p:nvPr/>
        </p:nvSpPr>
        <p:spPr>
          <a:xfrm>
            <a:off x="7823200" y="2146300"/>
            <a:ext cx="3302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157A55"/>
                </a:solidFill>
                <a:latin typeface="Aptos Display" panose="020B0004020202020204" pitchFamily="34" charset="0"/>
              </a:rPr>
              <a:t>Deterministic rules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4ED22-EF3F-5082-0CB8-3CFAA8E080BA}"/>
              </a:ext>
            </a:extLst>
          </p:cNvPr>
          <p:cNvSpPr txBox="1"/>
          <p:nvPr/>
        </p:nvSpPr>
        <p:spPr>
          <a:xfrm>
            <a:off x="7823200" y="2603500"/>
            <a:ext cx="3302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+ Uses expert task assessments
+ Every factor is visible
+ Reproducible and auditable
+ Works with the current controlled dataset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943F1D1-27D8-3C43-C5AE-E32D268022B2}"/>
              </a:ext>
            </a:extLst>
          </p:cNvPr>
          <p:cNvCxnSpPr/>
          <p:nvPr/>
        </p:nvCxnSpPr>
        <p:spPr>
          <a:xfrm>
            <a:off x="7823200" y="3962400"/>
            <a:ext cx="33274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4F35381-DF63-68DD-525F-E2112C7106EA}"/>
              </a:ext>
            </a:extLst>
          </p:cNvPr>
          <p:cNvSpPr txBox="1"/>
          <p:nvPr/>
        </p:nvSpPr>
        <p:spPr>
          <a:xfrm>
            <a:off x="7823200" y="4191000"/>
            <a:ext cx="3302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563A4B"/>
                </a:solidFill>
                <a:latin typeface="Aptos Display" panose="020B0004020202020204" pitchFamily="34" charset="0"/>
              </a:rPr>
              <a:t>Machine learning now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4B8944-2944-2298-C794-12144173AB7A}"/>
              </a:ext>
            </a:extLst>
          </p:cNvPr>
          <p:cNvSpPr txBox="1"/>
          <p:nvPr/>
        </p:nvSpPr>
        <p:spPr>
          <a:xfrm>
            <a:off x="7823200" y="4648200"/>
            <a:ext cx="3302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+ Needs representative labelled outcomes
+ May reproduce historical hiring bias
+ Harder to explain individual factors
+ No suitable training evidence currently exists</a:t>
            </a:r>
          </a:p>
        </p:txBody>
      </p:sp>
    </p:spTree>
    <p:extLst>
      <p:ext uri="{BB962C8B-B14F-4D97-AF65-F5344CB8AC3E}">
        <p14:creationId xmlns:p14="http://schemas.microsoft.com/office/powerpoint/2010/main" val="2379625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E0BA10-5195-1488-6295-A110087BD34D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4C8677-CFC2-AD07-A0B4-361DCA283AFE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ENGINEERING DECISION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16B08F-E514-D502-E858-64E857D56CC6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Why i18next with react-i18next?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36073F-A2C9-E185-A9EB-7B4FC2C7058F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interface changes language at runtime while IDs, roles, permissions, and scoring inputs remain stable.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6DCC0E-2EA2-86DD-C66D-FDA73E6168E2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F581997-31BC-EE1B-D0EE-56632883D48C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4AC19-1FEB-5D21-75F9-7947574F9770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07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70B5B68-093F-6383-39EA-01D4375E3EEE}"/>
              </a:ext>
            </a:extLst>
          </p:cNvPr>
          <p:cNvSpPr/>
          <p:nvPr/>
        </p:nvSpPr>
        <p:spPr>
          <a:xfrm>
            <a:off x="609600" y="1905000"/>
            <a:ext cx="3429000" cy="3175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2EE1F6-C0EB-C9D3-7C17-92D53E6A3B68}"/>
              </a:ext>
            </a:extLst>
          </p:cNvPr>
          <p:cNvSpPr/>
          <p:nvPr/>
        </p:nvSpPr>
        <p:spPr>
          <a:xfrm>
            <a:off x="609600" y="1905000"/>
            <a:ext cx="3429000" cy="101600"/>
          </a:xfrm>
          <a:prstGeom prst="rect">
            <a:avLst/>
          </a:prstGeom>
          <a:solidFill>
            <a:srgbClr val="563A4B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CE14F1-EFB7-F1DB-A491-150844AE677F}"/>
              </a:ext>
            </a:extLst>
          </p:cNvPr>
          <p:cNvSpPr txBox="1"/>
          <p:nvPr/>
        </p:nvSpPr>
        <p:spPr>
          <a:xfrm>
            <a:off x="889000" y="22606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0B1F49"/>
                </a:solidFill>
                <a:latin typeface="Aptos Display" panose="020B0004020202020204" pitchFamily="34" charset="0"/>
              </a:rPr>
              <a:t>Custom React context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8DD56E-9AEB-295F-9D09-3167BFD91195}"/>
              </a:ext>
            </a:extLst>
          </p:cNvPr>
          <p:cNvSpPr txBox="1"/>
          <p:nvPr/>
        </p:nvSpPr>
        <p:spPr>
          <a:xfrm>
            <a:off x="889000" y="2819400"/>
            <a:ext cx="2857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50" b="1">
                <a:solidFill>
                  <a:srgbClr val="563A4B"/>
                </a:solidFill>
                <a:latin typeface="Aptos" panose="020B0004020202020204" pitchFamily="34" charset="0"/>
              </a:rPr>
              <a:t>NOT SELECTED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99233-A476-E3A3-0F15-F2D70F8B0E98}"/>
              </a:ext>
            </a:extLst>
          </p:cNvPr>
          <p:cNvSpPr txBox="1"/>
          <p:nvPr/>
        </p:nvSpPr>
        <p:spPr>
          <a:xfrm>
            <a:off x="889000" y="3302000"/>
            <a:ext cx="2857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Few dependencies, but we would rebuild fallback, plural rules, namespaces, formatting, and missing-key checks.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2C7FFC-5CB1-3B5D-7FE3-A35A0C7CACB1}"/>
              </a:ext>
            </a:extLst>
          </p:cNvPr>
          <p:cNvSpPr/>
          <p:nvPr/>
        </p:nvSpPr>
        <p:spPr>
          <a:xfrm>
            <a:off x="4381500" y="1905000"/>
            <a:ext cx="3429000" cy="3175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ACFEAD-5038-C952-C6EB-27C32E57CB1A}"/>
              </a:ext>
            </a:extLst>
          </p:cNvPr>
          <p:cNvSpPr/>
          <p:nvPr/>
        </p:nvSpPr>
        <p:spPr>
          <a:xfrm>
            <a:off x="4381500" y="1905000"/>
            <a:ext cx="3429000" cy="101600"/>
          </a:xfrm>
          <a:prstGeom prst="rect">
            <a:avLst/>
          </a:prstGeom>
          <a:solidFill>
            <a:srgbClr val="C27A19"/>
          </a:solidFill>
          <a:ln w="10160">
            <a:solidFill>
              <a:srgbClr val="C27A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B23208-6EF9-5CF6-196A-FBDE65139159}"/>
              </a:ext>
            </a:extLst>
          </p:cNvPr>
          <p:cNvSpPr txBox="1"/>
          <p:nvPr/>
        </p:nvSpPr>
        <p:spPr>
          <a:xfrm>
            <a:off x="4660900" y="22606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0B1F49"/>
                </a:solidFill>
                <a:latin typeface="Aptos Display" panose="020B0004020202020204" pitchFamily="34" charset="0"/>
              </a:rPr>
              <a:t>Duplicated pages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D8A6CF-7BB9-C006-684E-64595BD1A9BF}"/>
              </a:ext>
            </a:extLst>
          </p:cNvPr>
          <p:cNvSpPr txBox="1"/>
          <p:nvPr/>
        </p:nvSpPr>
        <p:spPr>
          <a:xfrm>
            <a:off x="4660900" y="2819400"/>
            <a:ext cx="2857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50" b="1">
                <a:solidFill>
                  <a:srgbClr val="C27A19"/>
                </a:solidFill>
                <a:latin typeface="Aptos" panose="020B0004020202020204" pitchFamily="34" charset="0"/>
              </a:rPr>
              <a:t>NOT SELECTED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C7AD1-6E53-353F-D255-A7D0D0EA2032}"/>
              </a:ext>
            </a:extLst>
          </p:cNvPr>
          <p:cNvSpPr txBox="1"/>
          <p:nvPr/>
        </p:nvSpPr>
        <p:spPr>
          <a:xfrm>
            <a:off x="4660900" y="3302000"/>
            <a:ext cx="2857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Simple for one screen, but triples maintenance, creates translation drift, and complicates routing and testing.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5678CA-ECC1-D036-2ADF-3D05FC801261}"/>
              </a:ext>
            </a:extLst>
          </p:cNvPr>
          <p:cNvSpPr/>
          <p:nvPr/>
        </p:nvSpPr>
        <p:spPr>
          <a:xfrm>
            <a:off x="8153400" y="1905000"/>
            <a:ext cx="3429000" cy="3175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3B5DC2-F323-01F6-B82D-5D223E4FC258}"/>
              </a:ext>
            </a:extLst>
          </p:cNvPr>
          <p:cNvSpPr/>
          <p:nvPr/>
        </p:nvSpPr>
        <p:spPr>
          <a:xfrm>
            <a:off x="8153400" y="1905000"/>
            <a:ext cx="3429000" cy="1016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EC489D-F8A1-3966-6B11-E895E2F3D978}"/>
              </a:ext>
            </a:extLst>
          </p:cNvPr>
          <p:cNvSpPr txBox="1"/>
          <p:nvPr/>
        </p:nvSpPr>
        <p:spPr>
          <a:xfrm>
            <a:off x="8432800" y="22606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0B1F49"/>
                </a:solidFill>
                <a:latin typeface="Aptos Display" panose="020B0004020202020204" pitchFamily="34" charset="0"/>
              </a:rPr>
              <a:t>i18next + React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73EA35-CC47-164D-D9FB-8323C7D92F1B}"/>
              </a:ext>
            </a:extLst>
          </p:cNvPr>
          <p:cNvSpPr txBox="1"/>
          <p:nvPr/>
        </p:nvSpPr>
        <p:spPr>
          <a:xfrm>
            <a:off x="8432800" y="2819400"/>
            <a:ext cx="2857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50" b="1">
                <a:solidFill>
                  <a:srgbClr val="157A55"/>
                </a:solidFill>
                <a:latin typeface="Aptos" panose="020B0004020202020204" pitchFamily="34" charset="0"/>
              </a:rPr>
              <a:t>SELECTED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A02E0F-11B8-6B0D-B983-9F7D3253B1BD}"/>
              </a:ext>
            </a:extLst>
          </p:cNvPr>
          <p:cNvSpPr txBox="1"/>
          <p:nvPr/>
        </p:nvSpPr>
        <p:spPr>
          <a:xfrm>
            <a:off x="8432800" y="3302000"/>
            <a:ext cx="2857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Runtime switching, namespaces, fallback, interpolation, plural rules, React hooks, and gradual route migration.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5F7C64E-E5B0-7B2B-AEEB-C8B590D83B6E}"/>
              </a:ext>
            </a:extLst>
          </p:cNvPr>
          <p:cNvSpPr/>
          <p:nvPr/>
        </p:nvSpPr>
        <p:spPr>
          <a:xfrm>
            <a:off x="1524000" y="5397500"/>
            <a:ext cx="9144000" cy="6096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01C4EC-8597-A553-CA0F-2AAED9E6CF6A}"/>
              </a:ext>
            </a:extLst>
          </p:cNvPr>
          <p:cNvSpPr txBox="1"/>
          <p:nvPr/>
        </p:nvSpPr>
        <p:spPr>
          <a:xfrm>
            <a:off x="1841500" y="5588000"/>
            <a:ext cx="850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Implemented: 3 locales x 7 namespaces | Arabic RTL | English fallback | stable codes/IDs | locale parity tests</a:t>
            </a:r>
          </a:p>
        </p:txBody>
      </p:sp>
    </p:spTree>
    <p:extLst>
      <p:ext uri="{BB962C8B-B14F-4D97-AF65-F5344CB8AC3E}">
        <p14:creationId xmlns:p14="http://schemas.microsoft.com/office/powerpoint/2010/main" val="168420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307753-9A89-D6A8-58BB-260410062859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4B4C45-DB04-287C-17ED-1FD333E902DD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ENGINEERING DECISION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F7BB97-361B-D16B-57EA-9A59A794A594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Why cloud Whisper-1 and OpenAI services?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299BDD-08D9-838A-5D16-DD72BFC21E78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current prototype prioritizes multilingual quality and rapid delivery without maintaining local speech-model infrastructure.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F0B1B6E-AC29-D69B-C299-6209C7370D44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AAB840A-910F-BB68-1873-CC450D126EF9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8D870-18FD-1262-0057-362D49C708D9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DB6C65-295E-706C-86B3-2802E69F1FC3}"/>
              </a:ext>
            </a:extLst>
          </p:cNvPr>
          <p:cNvSpPr/>
          <p:nvPr/>
        </p:nvSpPr>
        <p:spPr>
          <a:xfrm>
            <a:off x="609600" y="1841500"/>
            <a:ext cx="3429000" cy="241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29F75E-C8E0-3857-133E-85E3358E7748}"/>
              </a:ext>
            </a:extLst>
          </p:cNvPr>
          <p:cNvSpPr/>
          <p:nvPr/>
        </p:nvSpPr>
        <p:spPr>
          <a:xfrm>
            <a:off x="609600" y="1841500"/>
            <a:ext cx="3429000" cy="101600"/>
          </a:xfrm>
          <a:prstGeom prst="rect">
            <a:avLst/>
          </a:prstGeom>
          <a:solidFill>
            <a:srgbClr val="C27A19"/>
          </a:solidFill>
          <a:ln w="10160">
            <a:solidFill>
              <a:srgbClr val="C27A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D9B172-B280-7DDB-B754-CAF4E80997C0}"/>
              </a:ext>
            </a:extLst>
          </p:cNvPr>
          <p:cNvSpPr txBox="1"/>
          <p:nvPr/>
        </p:nvSpPr>
        <p:spPr>
          <a:xfrm>
            <a:off x="889000" y="2146300"/>
            <a:ext cx="28575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0B1F49"/>
                </a:solidFill>
                <a:latin typeface="Aptos Display" panose="020B0004020202020204" pitchFamily="34" charset="0"/>
              </a:rPr>
              <a:t>Browser speech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308BDC-35AA-781C-41D8-BF7E8422D7D8}"/>
              </a:ext>
            </a:extLst>
          </p:cNvPr>
          <p:cNvSpPr txBox="1"/>
          <p:nvPr/>
        </p:nvSpPr>
        <p:spPr>
          <a:xfrm>
            <a:off x="889000" y="2641600"/>
            <a:ext cx="2857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50" b="1">
                <a:solidFill>
                  <a:srgbClr val="C27A19"/>
                </a:solidFill>
                <a:latin typeface="Aptos" panose="020B0004020202020204" pitchFamily="34" charset="0"/>
              </a:rPr>
              <a:t>REJECTED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6227B3-05EB-DC54-C18F-0FDA7DA2ADA6}"/>
              </a:ext>
            </a:extLst>
          </p:cNvPr>
          <p:cNvSpPr txBox="1"/>
          <p:nvPr/>
        </p:nvSpPr>
        <p:spPr>
          <a:xfrm>
            <a:off x="889000" y="3060700"/>
            <a:ext cx="28575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80">
                <a:solidFill>
                  <a:srgbClr val="17243A"/>
                </a:solidFill>
                <a:latin typeface="Aptos" panose="020B0004020202020204" pitchFamily="34" charset="0"/>
              </a:rPr>
              <a:t>Low backend work, but browser support, language quality, behavior, and availability vary by device.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AA8782B-E468-9C80-D3FF-8BC806D20BC4}"/>
              </a:ext>
            </a:extLst>
          </p:cNvPr>
          <p:cNvSpPr/>
          <p:nvPr/>
        </p:nvSpPr>
        <p:spPr>
          <a:xfrm>
            <a:off x="4381500" y="1841500"/>
            <a:ext cx="3429000" cy="241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DE69AD-8DE2-A516-D9C0-3C5DA379C84B}"/>
              </a:ext>
            </a:extLst>
          </p:cNvPr>
          <p:cNvSpPr/>
          <p:nvPr/>
        </p:nvSpPr>
        <p:spPr>
          <a:xfrm>
            <a:off x="4381500" y="1841500"/>
            <a:ext cx="3429000" cy="101600"/>
          </a:xfrm>
          <a:prstGeom prst="rect">
            <a:avLst/>
          </a:prstGeom>
          <a:solidFill>
            <a:srgbClr val="563A4B"/>
          </a:solidFill>
          <a:ln w="10160">
            <a:solidFill>
              <a:srgbClr val="563A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7A533E-BCEA-9479-63FF-EB97D6A8FD63}"/>
              </a:ext>
            </a:extLst>
          </p:cNvPr>
          <p:cNvSpPr txBox="1"/>
          <p:nvPr/>
        </p:nvSpPr>
        <p:spPr>
          <a:xfrm>
            <a:off x="4660900" y="2146300"/>
            <a:ext cx="28575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0B1F49"/>
                </a:solidFill>
                <a:latin typeface="Aptos Display" panose="020B0004020202020204" pitchFamily="34" charset="0"/>
              </a:rPr>
              <a:t>Self-hosted Whisper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1A3FCC-ECA8-12BA-9D91-BA5451A11537}"/>
              </a:ext>
            </a:extLst>
          </p:cNvPr>
          <p:cNvSpPr txBox="1"/>
          <p:nvPr/>
        </p:nvSpPr>
        <p:spPr>
          <a:xfrm>
            <a:off x="4660900" y="2641600"/>
            <a:ext cx="2857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50" b="1">
                <a:solidFill>
                  <a:srgbClr val="563A4B"/>
                </a:solidFill>
                <a:latin typeface="Aptos" panose="020B0004020202020204" pitchFamily="34" charset="0"/>
              </a:rPr>
              <a:t>DEFERRED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65CB1-DC04-DB19-9534-E2F2225CE4B5}"/>
              </a:ext>
            </a:extLst>
          </p:cNvPr>
          <p:cNvSpPr txBox="1"/>
          <p:nvPr/>
        </p:nvSpPr>
        <p:spPr>
          <a:xfrm>
            <a:off x="4660900" y="3060700"/>
            <a:ext cx="2857500" cy="4524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80">
                <a:solidFill>
                  <a:srgbClr val="17243A"/>
                </a:solidFill>
                <a:latin typeface="Aptos" panose="020B0004020202020204" pitchFamily="34" charset="0"/>
              </a:rPr>
              <a:t>More infrastructure control and offline potential, but requires CPU/GPU capacity, model operations, updates, and load testing.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B0A274-4EC3-9F5C-AA42-56CB54A12CDD}"/>
              </a:ext>
            </a:extLst>
          </p:cNvPr>
          <p:cNvSpPr/>
          <p:nvPr/>
        </p:nvSpPr>
        <p:spPr>
          <a:xfrm>
            <a:off x="8153400" y="1841500"/>
            <a:ext cx="3429000" cy="241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C8C6C3-98BB-23AB-221F-3841FAA432D1}"/>
              </a:ext>
            </a:extLst>
          </p:cNvPr>
          <p:cNvSpPr/>
          <p:nvPr/>
        </p:nvSpPr>
        <p:spPr>
          <a:xfrm>
            <a:off x="8153400" y="1841500"/>
            <a:ext cx="3429000" cy="1016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B1BE59-294F-C204-7FD2-3BF1DC59BDB4}"/>
              </a:ext>
            </a:extLst>
          </p:cNvPr>
          <p:cNvSpPr txBox="1"/>
          <p:nvPr/>
        </p:nvSpPr>
        <p:spPr>
          <a:xfrm>
            <a:off x="8432800" y="2146300"/>
            <a:ext cx="28575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0B1F49"/>
                </a:solidFill>
                <a:latin typeface="Aptos Display" panose="020B0004020202020204" pitchFamily="34" charset="0"/>
              </a:rPr>
              <a:t>OpenAI whisper-1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BA6664-2BB3-CBAA-1B0A-374D809600DA}"/>
              </a:ext>
            </a:extLst>
          </p:cNvPr>
          <p:cNvSpPr txBox="1"/>
          <p:nvPr/>
        </p:nvSpPr>
        <p:spPr>
          <a:xfrm>
            <a:off x="8432800" y="2641600"/>
            <a:ext cx="2857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50" b="1">
                <a:solidFill>
                  <a:srgbClr val="157A55"/>
                </a:solidFill>
                <a:latin typeface="Aptos" panose="020B0004020202020204" pitchFamily="34" charset="0"/>
              </a:rPr>
              <a:t>SELECTED NOW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BE8F1F-3622-6DAC-CD7B-AD721938F50C}"/>
              </a:ext>
            </a:extLst>
          </p:cNvPr>
          <p:cNvSpPr txBox="1"/>
          <p:nvPr/>
        </p:nvSpPr>
        <p:spPr>
          <a:xfrm>
            <a:off x="8432800" y="3060700"/>
            <a:ext cx="2857500" cy="4524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80">
                <a:solidFill>
                  <a:srgbClr val="17243A"/>
                </a:solidFill>
                <a:latin typeface="Aptos" panose="020B0004020202020204" pitchFamily="34" charset="0"/>
              </a:rPr>
              <a:t>Multilingual transcription, consistent API, no model hosting, and a replaceable service boundary. Trade-offs: network, cost, and latency.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EADFC6-139A-AA18-4B87-AEEF0FAB2EE7}"/>
              </a:ext>
            </a:extLst>
          </p:cNvPr>
          <p:cNvSpPr/>
          <p:nvPr/>
        </p:nvSpPr>
        <p:spPr>
          <a:xfrm>
            <a:off x="609600" y="4572000"/>
            <a:ext cx="10972800" cy="12065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942D51-67DA-F144-5512-375C76DCB8C5}"/>
              </a:ext>
            </a:extLst>
          </p:cNvPr>
          <p:cNvSpPr txBox="1"/>
          <p:nvPr/>
        </p:nvSpPr>
        <p:spPr>
          <a:xfrm>
            <a:off x="914400" y="4800600"/>
            <a:ext cx="2286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Current controlled flow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8FD911-8F67-3D16-18B8-FAEBDD0BA74A}"/>
              </a:ext>
            </a:extLst>
          </p:cNvPr>
          <p:cNvSpPr txBox="1"/>
          <p:nvPr/>
        </p:nvSpPr>
        <p:spPr>
          <a:xfrm>
            <a:off x="914400" y="5181600"/>
            <a:ext cx="10350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Audio -&gt; whisper-1 transcript -&gt; schema-constrained interpretation -&gt; deterministic registry authorization -&gt; permitted UI action -&gt; cloud TTS or browser fallback</a:t>
            </a:r>
          </a:p>
        </p:txBody>
      </p:sp>
    </p:spTree>
    <p:extLst>
      <p:ext uri="{BB962C8B-B14F-4D97-AF65-F5344CB8AC3E}">
        <p14:creationId xmlns:p14="http://schemas.microsoft.com/office/powerpoint/2010/main" val="380250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12D636-F136-98F5-F7DF-DACED70275A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A4C22C-9634-D30B-2F15-CB87665068F2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COMPLETED EVIDENCE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2AA10-E896-EACD-8122-603930497415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Running workflows and automated verification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E82BB5-275B-F6BE-868B-DBA444ECC632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screens are connected to protected backend services and supported by repeatable tests.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4F44BE9-A601-BB22-11E3-095C61B1C8A1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303F3AA-52B9-DEBD-7D31-D5822D091702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C8BAF-57DA-89E3-99BC-8CB90B6AB3DB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09</a:t>
            </a:r>
          </a:p>
        </p:txBody>
      </p:sp>
      <p:pic>
        <p:nvPicPr>
          <p:cNvPr id="10" name="Picture 9" descr="Candidate profile with editable AI-assisted transcript">
            <a:extLst>
              <a:ext uri="{FF2B5EF4-FFF2-40B4-BE49-F238E27FC236}">
                <a16:creationId xmlns:a16="http://schemas.microsoft.com/office/drawing/2014/main" id="{3E3573C1-FB9E-DA97-1D07-14EDD82999C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41500"/>
            <a:ext cx="3429000" cy="2095500"/>
          </a:xfrm>
          <a:prstGeom prst="rect">
            <a:avLst/>
          </a:prstGeom>
          <a:ln w="10160">
            <a:solidFill>
              <a:srgbClr val="CBD5E1"/>
            </a:solidFill>
          </a:ln>
        </p:spPr>
      </p:pic>
      <p:pic>
        <p:nvPicPr>
          <p:cNvPr id="12" name="Picture 11" descr="Employer vacancy requirements form">
            <a:extLst>
              <a:ext uri="{FF2B5EF4-FFF2-40B4-BE49-F238E27FC236}">
                <a16:creationId xmlns:a16="http://schemas.microsoft.com/office/drawing/2014/main" id="{CE794F54-18BA-9A98-6794-F61215A058E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1841500"/>
            <a:ext cx="3429000" cy="2095500"/>
          </a:xfrm>
          <a:prstGeom prst="rect">
            <a:avLst/>
          </a:prstGeom>
          <a:ln w="10160">
            <a:solidFill>
              <a:srgbClr val="CBD5E1"/>
            </a:solidFill>
          </a:ln>
        </p:spPr>
      </p:pic>
      <p:pic>
        <p:nvPicPr>
          <p:cNvPr id="14" name="Picture 13" descr="Authorized verifier dashboard">
            <a:extLst>
              <a:ext uri="{FF2B5EF4-FFF2-40B4-BE49-F238E27FC236}">
                <a16:creationId xmlns:a16="http://schemas.microsoft.com/office/drawing/2014/main" id="{8500B03A-9BE1-F043-0DE7-55556C8E1C3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1841500"/>
            <a:ext cx="3429000" cy="2095500"/>
          </a:xfrm>
          <a:prstGeom prst="rect">
            <a:avLst/>
          </a:prstGeom>
          <a:ln w="10160">
            <a:solidFill>
              <a:srgbClr val="CBD5E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0C4B62D-3997-F163-3A9D-5E9A75B63A95}"/>
              </a:ext>
            </a:extLst>
          </p:cNvPr>
          <p:cNvSpPr txBox="1"/>
          <p:nvPr/>
        </p:nvSpPr>
        <p:spPr>
          <a:xfrm>
            <a:off x="609600" y="4127500"/>
            <a:ext cx="3429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300" b="1">
                <a:solidFill>
                  <a:srgbClr val="0B1F49"/>
                </a:solidFill>
                <a:latin typeface="Aptos Display" panose="020B0004020202020204" pitchFamily="34" charset="0"/>
              </a:rPr>
              <a:t>AI profile + consent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042660-956E-A392-50FB-C42751DEC277}"/>
              </a:ext>
            </a:extLst>
          </p:cNvPr>
          <p:cNvSpPr txBox="1"/>
          <p:nvPr/>
        </p:nvSpPr>
        <p:spPr>
          <a:xfrm>
            <a:off x="4381500" y="4127500"/>
            <a:ext cx="3429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300" b="1">
                <a:solidFill>
                  <a:srgbClr val="0B1F49"/>
                </a:solidFill>
                <a:latin typeface="Aptos Display" panose="020B0004020202020204" pitchFamily="34" charset="0"/>
              </a:rPr>
              <a:t>Employer requirements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A5038E-7A76-6980-B927-F4E1B31C37AB}"/>
              </a:ext>
            </a:extLst>
          </p:cNvPr>
          <p:cNvSpPr txBox="1"/>
          <p:nvPr/>
        </p:nvSpPr>
        <p:spPr>
          <a:xfrm>
            <a:off x="8153400" y="4127500"/>
            <a:ext cx="3429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300" b="1">
                <a:solidFill>
                  <a:srgbClr val="0B1F49"/>
                </a:solidFill>
                <a:latin typeface="Aptos Display" panose="020B0004020202020204" pitchFamily="34" charset="0"/>
              </a:rPr>
              <a:t>Authorized verification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6D5F57F-C5C8-B2C7-BC6A-8E3922A4E6D2}"/>
              </a:ext>
            </a:extLst>
          </p:cNvPr>
          <p:cNvSpPr/>
          <p:nvPr/>
        </p:nvSpPr>
        <p:spPr>
          <a:xfrm>
            <a:off x="609600" y="4762500"/>
            <a:ext cx="247650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EAB52A-6FED-3603-991F-CC31D0E2E503}"/>
              </a:ext>
            </a:extLst>
          </p:cNvPr>
          <p:cNvSpPr/>
          <p:nvPr/>
        </p:nvSpPr>
        <p:spPr>
          <a:xfrm>
            <a:off x="609600" y="4762500"/>
            <a:ext cx="63500" cy="9144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D49367-B773-817F-F74D-443142FCB90D}"/>
              </a:ext>
            </a:extLst>
          </p:cNvPr>
          <p:cNvSpPr txBox="1"/>
          <p:nvPr/>
        </p:nvSpPr>
        <p:spPr>
          <a:xfrm>
            <a:off x="812800" y="4902200"/>
            <a:ext cx="21717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200" b="1">
                <a:solidFill>
                  <a:srgbClr val="0B1F49"/>
                </a:solidFill>
                <a:latin typeface="Aptos Display" panose="020B0004020202020204" pitchFamily="34" charset="0"/>
              </a:rPr>
              <a:t>23 / 23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6CB1CD-54BA-EE4F-EC18-094D577086CC}"/>
              </a:ext>
            </a:extLst>
          </p:cNvPr>
          <p:cNvSpPr txBox="1"/>
          <p:nvPr/>
        </p:nvSpPr>
        <p:spPr>
          <a:xfrm>
            <a:off x="812800" y="5308600"/>
            <a:ext cx="21717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5D6B80"/>
                </a:solidFill>
                <a:latin typeface="Aptos" panose="020B0004020202020204" pitchFamily="34" charset="0"/>
              </a:rPr>
              <a:t>API integration checks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34047CD-7111-2657-7282-731E396850C3}"/>
              </a:ext>
            </a:extLst>
          </p:cNvPr>
          <p:cNvSpPr/>
          <p:nvPr/>
        </p:nvSpPr>
        <p:spPr>
          <a:xfrm>
            <a:off x="3429000" y="4762500"/>
            <a:ext cx="247650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90E1F8-3F48-3301-2DD1-F586C038E583}"/>
              </a:ext>
            </a:extLst>
          </p:cNvPr>
          <p:cNvSpPr/>
          <p:nvPr/>
        </p:nvSpPr>
        <p:spPr>
          <a:xfrm>
            <a:off x="3429000" y="4762500"/>
            <a:ext cx="63500" cy="9144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BB327F-E838-2065-6CE3-C2FC80F51DC0}"/>
              </a:ext>
            </a:extLst>
          </p:cNvPr>
          <p:cNvSpPr txBox="1"/>
          <p:nvPr/>
        </p:nvSpPr>
        <p:spPr>
          <a:xfrm>
            <a:off x="3632200" y="4902200"/>
            <a:ext cx="21717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200" b="1">
                <a:solidFill>
                  <a:srgbClr val="0B1F49"/>
                </a:solidFill>
                <a:latin typeface="Aptos Display" panose="020B0004020202020204" pitchFamily="34" charset="0"/>
              </a:rPr>
              <a:t>26 / 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C1C86C-734B-43C8-8098-24EE2D2F83C4}"/>
              </a:ext>
            </a:extLst>
          </p:cNvPr>
          <p:cNvSpPr txBox="1"/>
          <p:nvPr/>
        </p:nvSpPr>
        <p:spPr>
          <a:xfrm>
            <a:off x="3632200" y="5308600"/>
            <a:ext cx="21717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5D6B80"/>
                </a:solidFill>
                <a:latin typeface="Aptos" panose="020B0004020202020204" pitchFamily="34" charset="0"/>
              </a:rPr>
              <a:t>Browser E2E scenarios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9399170-969C-651F-05B0-17F0CB46355B}"/>
              </a:ext>
            </a:extLst>
          </p:cNvPr>
          <p:cNvSpPr/>
          <p:nvPr/>
        </p:nvSpPr>
        <p:spPr>
          <a:xfrm>
            <a:off x="6248400" y="4762500"/>
            <a:ext cx="247650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8C0F43-E914-9116-0E05-409397ECCE66}"/>
              </a:ext>
            </a:extLst>
          </p:cNvPr>
          <p:cNvSpPr/>
          <p:nvPr/>
        </p:nvSpPr>
        <p:spPr>
          <a:xfrm>
            <a:off x="6248400" y="4762500"/>
            <a:ext cx="63500" cy="9144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11B77-7670-AECE-85F1-02F23580407C}"/>
              </a:ext>
            </a:extLst>
          </p:cNvPr>
          <p:cNvSpPr txBox="1"/>
          <p:nvPr/>
        </p:nvSpPr>
        <p:spPr>
          <a:xfrm>
            <a:off x="6451600" y="4902200"/>
            <a:ext cx="21717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200" b="1">
                <a:solidFill>
                  <a:srgbClr val="0B1F49"/>
                </a:solidFill>
                <a:latin typeface="Aptos Display" panose="020B0004020202020204" pitchFamily="34" charset="0"/>
              </a:rPr>
              <a:t>17 / 17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AF109F-2B46-9904-9FC1-334DEBCFDA6E}"/>
              </a:ext>
            </a:extLst>
          </p:cNvPr>
          <p:cNvSpPr txBox="1"/>
          <p:nvPr/>
        </p:nvSpPr>
        <p:spPr>
          <a:xfrm>
            <a:off x="6451600" y="5308600"/>
            <a:ext cx="21717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5D6B80"/>
                </a:solidFill>
                <a:latin typeface="Aptos" panose="020B0004020202020204" pitchFamily="34" charset="0"/>
              </a:rPr>
              <a:t>Scoring unit tests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77FE732-C88A-9191-9001-EE9CC096F945}"/>
              </a:ext>
            </a:extLst>
          </p:cNvPr>
          <p:cNvSpPr/>
          <p:nvPr/>
        </p:nvSpPr>
        <p:spPr>
          <a:xfrm>
            <a:off x="9067800" y="4762500"/>
            <a:ext cx="251460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69EE69-781A-29FE-DF51-72F5DCBB90ED}"/>
              </a:ext>
            </a:extLst>
          </p:cNvPr>
          <p:cNvSpPr/>
          <p:nvPr/>
        </p:nvSpPr>
        <p:spPr>
          <a:xfrm>
            <a:off x="9067800" y="4762500"/>
            <a:ext cx="63500" cy="9144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D88B52-D5F6-5036-EB5A-0620C3C544B5}"/>
              </a:ext>
            </a:extLst>
          </p:cNvPr>
          <p:cNvSpPr txBox="1"/>
          <p:nvPr/>
        </p:nvSpPr>
        <p:spPr>
          <a:xfrm>
            <a:off x="9271000" y="4902200"/>
            <a:ext cx="22098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200" b="1">
                <a:solidFill>
                  <a:srgbClr val="0B1F49"/>
                </a:solidFill>
                <a:latin typeface="Aptos Display" panose="020B0004020202020204" pitchFamily="34" charset="0"/>
              </a:rPr>
              <a:t>3 x 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D712FE-A314-A94C-3556-21014FB713E5}"/>
              </a:ext>
            </a:extLst>
          </p:cNvPr>
          <p:cNvSpPr txBox="1"/>
          <p:nvPr/>
        </p:nvSpPr>
        <p:spPr>
          <a:xfrm>
            <a:off x="9271000" y="5308600"/>
            <a:ext cx="22098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5D6B80"/>
                </a:solidFill>
                <a:latin typeface="Aptos" panose="020B0004020202020204" pitchFamily="34" charset="0"/>
              </a:rPr>
              <a:t>Locales x namespaces</a:t>
            </a:r>
          </a:p>
        </p:txBody>
      </p:sp>
    </p:spTree>
    <p:extLst>
      <p:ext uri="{BB962C8B-B14F-4D97-AF65-F5344CB8AC3E}">
        <p14:creationId xmlns:p14="http://schemas.microsoft.com/office/powerpoint/2010/main" val="998730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05325C-CE99-DFF2-A1F3-966DD9F80E1E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43DAE6-C552-6A88-8C28-A6081285C8E4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IN PROGRESS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6C1BB5-7C2B-658C-F3E4-0857FFC7C50C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What we are improving 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84E136-43DF-F01B-A754-4F65EAD8A035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Current work focuses on stabilization, interface quality, accessibility retesting, catalogue semantics, and richer profiles.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1A11E3-B72B-5B9B-8A68-20E2E71F356B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4CA29AA-72DD-911F-0A03-640406A2B574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2911B-8AA9-9561-2932-D37182038836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57BDB26-3D72-D77D-53E8-1BF3F950E3D5}"/>
              </a:ext>
            </a:extLst>
          </p:cNvPr>
          <p:cNvSpPr/>
          <p:nvPr/>
        </p:nvSpPr>
        <p:spPr>
          <a:xfrm>
            <a:off x="609600" y="1905000"/>
            <a:ext cx="3429000" cy="2857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83E53D-94F8-7897-E60D-C1430558B088}"/>
              </a:ext>
            </a:extLst>
          </p:cNvPr>
          <p:cNvSpPr/>
          <p:nvPr/>
        </p:nvSpPr>
        <p:spPr>
          <a:xfrm>
            <a:off x="609600" y="1905000"/>
            <a:ext cx="3429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48CEF6-DC73-0EC5-AB8F-83B40CF64944}"/>
              </a:ext>
            </a:extLst>
          </p:cNvPr>
          <p:cNvSpPr txBox="1"/>
          <p:nvPr/>
        </p:nvSpPr>
        <p:spPr>
          <a:xfrm>
            <a:off x="889000" y="22860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565D8"/>
                </a:solidFill>
                <a:latin typeface="Aptos Display" panose="020B0004020202020204" pitchFamily="34" charset="0"/>
              </a:rPr>
              <a:t>Stability + security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12F16C-6277-7E5D-A249-68615F5E5019}"/>
              </a:ext>
            </a:extLst>
          </p:cNvPr>
          <p:cNvSpPr txBox="1"/>
          <p:nvPr/>
        </p:nvSpPr>
        <p:spPr>
          <a:xfrm>
            <a:off x="889000" y="2984500"/>
            <a:ext cx="2857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Resolve workflow and API issues
Retest wrong-role and anonymous access
Improve validation, errors, and notifications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0D97D7-4863-FA02-AA46-DB5E8E823784}"/>
              </a:ext>
            </a:extLst>
          </p:cNvPr>
          <p:cNvSpPr/>
          <p:nvPr/>
        </p:nvSpPr>
        <p:spPr>
          <a:xfrm>
            <a:off x="4381500" y="1905000"/>
            <a:ext cx="3429000" cy="2857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15126B-29C8-3D33-932B-5AC28D2F26EB}"/>
              </a:ext>
            </a:extLst>
          </p:cNvPr>
          <p:cNvSpPr/>
          <p:nvPr/>
        </p:nvSpPr>
        <p:spPr>
          <a:xfrm>
            <a:off x="4381500" y="1905000"/>
            <a:ext cx="3429000" cy="101600"/>
          </a:xfrm>
          <a:prstGeom prst="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B184C1-658F-ECDC-4092-D601E4C3098A}"/>
              </a:ext>
            </a:extLst>
          </p:cNvPr>
          <p:cNvSpPr txBox="1"/>
          <p:nvPr/>
        </p:nvSpPr>
        <p:spPr>
          <a:xfrm>
            <a:off x="4660900" y="22860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A64B2A"/>
                </a:solidFill>
                <a:latin typeface="Aptos Display" panose="020B0004020202020204" pitchFamily="34" charset="0"/>
              </a:rPr>
              <a:t>Design + accessibility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583146-B411-6BF0-2D0D-32871D93DA94}"/>
              </a:ext>
            </a:extLst>
          </p:cNvPr>
          <p:cNvSpPr txBox="1"/>
          <p:nvPr/>
        </p:nvSpPr>
        <p:spPr>
          <a:xfrm>
            <a:off x="4660900" y="2984500"/>
            <a:ext cx="2857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Modernize role dashboards
Improve responsive flow and visual hierarchy
Retest keyboard, zoom, screen reader, and RTL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E690917-C1D8-A23E-E4C6-5E62E3DB5F19}"/>
              </a:ext>
            </a:extLst>
          </p:cNvPr>
          <p:cNvSpPr/>
          <p:nvPr/>
        </p:nvSpPr>
        <p:spPr>
          <a:xfrm>
            <a:off x="8153400" y="1905000"/>
            <a:ext cx="3429000" cy="2857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60B77-A5C6-81A0-A96F-D6D1A9E389D9}"/>
              </a:ext>
            </a:extLst>
          </p:cNvPr>
          <p:cNvSpPr/>
          <p:nvPr/>
        </p:nvSpPr>
        <p:spPr>
          <a:xfrm>
            <a:off x="8153400" y="1905000"/>
            <a:ext cx="3429000" cy="1016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E807E0-9363-A720-8495-9327F6045183}"/>
              </a:ext>
            </a:extLst>
          </p:cNvPr>
          <p:cNvSpPr txBox="1"/>
          <p:nvPr/>
        </p:nvSpPr>
        <p:spPr>
          <a:xfrm>
            <a:off x="8432800" y="22860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57A55"/>
                </a:solidFill>
                <a:latin typeface="Aptos Display" panose="020B0004020202020204" pitchFamily="34" charset="0"/>
              </a:rPr>
              <a:t>Catalogue + profiles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F5813D-D5CC-1568-C3D2-A4F2D842C191}"/>
              </a:ext>
            </a:extLst>
          </p:cNvPr>
          <p:cNvSpPr txBox="1"/>
          <p:nvPr/>
        </p:nvSpPr>
        <p:spPr>
          <a:xfrm>
            <a:off x="8432800" y="2984500"/>
            <a:ext cx="2857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Validate 7 active -&gt; 15 expected roles
Preserve Personal Education hierarchy
Improve candidate and company information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3EB8A0-D2EB-BF6E-4CFA-4DC112B86D95}"/>
              </a:ext>
            </a:extLst>
          </p:cNvPr>
          <p:cNvSpPr txBox="1"/>
          <p:nvPr/>
        </p:nvSpPr>
        <p:spPr>
          <a:xfrm>
            <a:off x="1524000" y="5207000"/>
            <a:ext cx="9144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050" b="1">
                <a:solidFill>
                  <a:srgbClr val="A64B2A"/>
                </a:solidFill>
                <a:latin typeface="Aptos" panose="020B0004020202020204" pitchFamily="34" charset="0"/>
              </a:rPr>
              <a:t>Manual evidence still required: native 200% zoom, documented NVDA/browser pairing, and representative-user validation.</a:t>
            </a:r>
          </a:p>
        </p:txBody>
      </p:sp>
    </p:spTree>
    <p:extLst>
      <p:ext uri="{BB962C8B-B14F-4D97-AF65-F5344CB8AC3E}">
        <p14:creationId xmlns:p14="http://schemas.microsoft.com/office/powerpoint/2010/main" val="944240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C8CBFE-C3D6-3DEE-075E-3238213D84E0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1227D5-AAF5-9E92-C012-EAF2A60ED68D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PERFORMANCE OBJECTIVE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773BD1-89B3-19F4-79AD-31CEDA3C5C3F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Reduce AI, voice-navigation, and page response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AF5A50-3B40-3CF3-E0AF-5B90F334E5C3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objective is measurable improvement in both actual latency and the waiting experienced by the user.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F4C5054-578D-043E-C589-DFD6E5667460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A999E48-163E-80C3-7E69-801C5EC0B995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A456BE-4729-16CB-BBEE-1D97B03ECD9A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BC61F52-D150-DC1F-244C-4A908DCC3F69}"/>
              </a:ext>
            </a:extLst>
          </p:cNvPr>
          <p:cNvSpPr/>
          <p:nvPr/>
        </p:nvSpPr>
        <p:spPr>
          <a:xfrm>
            <a:off x="609600" y="1905000"/>
            <a:ext cx="3429000" cy="3302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7EC6D-64CC-3A01-102C-3D17065D2C66}"/>
              </a:ext>
            </a:extLst>
          </p:cNvPr>
          <p:cNvSpPr/>
          <p:nvPr/>
        </p:nvSpPr>
        <p:spPr>
          <a:xfrm>
            <a:off x="609600" y="1905000"/>
            <a:ext cx="3429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3B789D-5D8A-B341-9AE2-5CB968419611}"/>
              </a:ext>
            </a:extLst>
          </p:cNvPr>
          <p:cNvSpPr txBox="1"/>
          <p:nvPr/>
        </p:nvSpPr>
        <p:spPr>
          <a:xfrm>
            <a:off x="889000" y="22860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565D8"/>
                </a:solidFill>
                <a:latin typeface="Aptos Display" panose="020B0004020202020204" pitchFamily="34" charset="0"/>
              </a:rPr>
              <a:t>1. Measure first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8DA799-9ACF-A2A3-50A7-D068727A5447}"/>
              </a:ext>
            </a:extLst>
          </p:cNvPr>
          <p:cNvSpPr txBox="1"/>
          <p:nvPr/>
        </p:nvSpPr>
        <p:spPr>
          <a:xfrm>
            <a:off x="889000" y="2984500"/>
            <a:ext cx="28575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Timestamp recording, upload, transcription, classification, registry/action, TTS, API, query, and render stages. Report p50 and p95 before/after.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B7084F4-3A19-25CA-BCDE-6CBCA61D240E}"/>
              </a:ext>
            </a:extLst>
          </p:cNvPr>
          <p:cNvSpPr/>
          <p:nvPr/>
        </p:nvSpPr>
        <p:spPr>
          <a:xfrm>
            <a:off x="4381500" y="1905000"/>
            <a:ext cx="3429000" cy="3302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E99925-0A82-39D9-5BE5-C5986F02C240}"/>
              </a:ext>
            </a:extLst>
          </p:cNvPr>
          <p:cNvSpPr/>
          <p:nvPr/>
        </p:nvSpPr>
        <p:spPr>
          <a:xfrm>
            <a:off x="4381500" y="1905000"/>
            <a:ext cx="3429000" cy="101600"/>
          </a:xfrm>
          <a:prstGeom prst="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F984DB-A11E-DD23-26D1-8E69BC040126}"/>
              </a:ext>
            </a:extLst>
          </p:cNvPr>
          <p:cNvSpPr txBox="1"/>
          <p:nvPr/>
        </p:nvSpPr>
        <p:spPr>
          <a:xfrm>
            <a:off x="4660900" y="22860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A64B2A"/>
                </a:solidFill>
                <a:latin typeface="Aptos Display" panose="020B0004020202020204" pitchFamily="34" charset="0"/>
              </a:rPr>
              <a:t>2. Optimize AI path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17CF8-FF0C-9D30-075B-4F4409057A75}"/>
              </a:ext>
            </a:extLst>
          </p:cNvPr>
          <p:cNvSpPr txBox="1"/>
          <p:nvPr/>
        </p:nvSpPr>
        <p:spPr>
          <a:xfrm>
            <a:off x="4660900" y="2984500"/>
            <a:ext cx="28575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Trim silence and payloads, bound page context/history, cancel stale requests, keep clients warm, use deterministic shortcuts safely, and keep speech fallback.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CC70901-C2D1-12BB-9397-28C8854D9C29}"/>
              </a:ext>
            </a:extLst>
          </p:cNvPr>
          <p:cNvSpPr/>
          <p:nvPr/>
        </p:nvSpPr>
        <p:spPr>
          <a:xfrm>
            <a:off x="8153400" y="1905000"/>
            <a:ext cx="3429000" cy="3302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06278D-17CE-F2E9-1E86-3C0FFDA6E421}"/>
              </a:ext>
            </a:extLst>
          </p:cNvPr>
          <p:cNvSpPr/>
          <p:nvPr/>
        </p:nvSpPr>
        <p:spPr>
          <a:xfrm>
            <a:off x="8153400" y="1905000"/>
            <a:ext cx="3429000" cy="101600"/>
          </a:xfrm>
          <a:prstGeom prst="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35238A-7C43-35B2-B4B6-2CA056F6C864}"/>
              </a:ext>
            </a:extLst>
          </p:cNvPr>
          <p:cNvSpPr txBox="1"/>
          <p:nvPr/>
        </p:nvSpPr>
        <p:spPr>
          <a:xfrm>
            <a:off x="8432800" y="2286000"/>
            <a:ext cx="2857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57A55"/>
                </a:solidFill>
                <a:latin typeface="Aptos Display" panose="020B0004020202020204" pitchFamily="34" charset="0"/>
              </a:rPr>
              <a:t>3. Optimize platform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EAC250-FB6F-5D71-987A-D78BE77848D1}"/>
              </a:ext>
            </a:extLst>
          </p:cNvPr>
          <p:cNvSpPr txBox="1"/>
          <p:nvPr/>
        </p:nvSpPr>
        <p:spPr>
          <a:xfrm>
            <a:off x="8432800" y="2984500"/>
            <a:ext cx="28575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>
                <a:solidFill>
                  <a:srgbClr val="17243A"/>
                </a:solidFill>
                <a:latin typeface="Aptos" panose="020B0004020202020204" pitchFamily="34" charset="0"/>
              </a:rPr>
              <a:t>Profile database queries, paginate large data, keep route splitting, optimize assets, add indexes, and cache only safe repeated data when measurements justify it.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93CB15F-9D3D-81AA-CEF2-A4B3EE0FD341}"/>
              </a:ext>
            </a:extLst>
          </p:cNvPr>
          <p:cNvSpPr/>
          <p:nvPr/>
        </p:nvSpPr>
        <p:spPr>
          <a:xfrm>
            <a:off x="2032000" y="5524500"/>
            <a:ext cx="8128000" cy="5334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ACE8E3-9454-0BFD-B835-05E0EB045CFB}"/>
              </a:ext>
            </a:extLst>
          </p:cNvPr>
          <p:cNvSpPr txBox="1"/>
          <p:nvPr/>
        </p:nvSpPr>
        <p:spPr>
          <a:xfrm>
            <a:off x="2349500" y="5676900"/>
            <a:ext cx="7493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050" b="1">
                <a:solidFill>
                  <a:srgbClr val="FFFFFF"/>
                </a:solidFill>
                <a:latin typeface="Aptos" panose="020B0004020202020204" pitchFamily="34" charset="0"/>
              </a:rPr>
              <a:t>Performance claim only after repeatable baseline, change, retest, and documented result.</a:t>
            </a:r>
          </a:p>
        </p:txBody>
      </p:sp>
    </p:spTree>
    <p:extLst>
      <p:ext uri="{BB962C8B-B14F-4D97-AF65-F5344CB8AC3E}">
        <p14:creationId xmlns:p14="http://schemas.microsoft.com/office/powerpoint/2010/main" val="2368090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80CBF6-C3E0-6D1D-58AB-2B85749C3B81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565D8"/>
          </a:solidFill>
          <a:ln w="10160">
            <a:solidFill>
              <a:srgbClr val="156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EAB2EE-61C4-4E52-1176-FD86BF9F5BA8}"/>
              </a:ext>
            </a:extLst>
          </p:cNvPr>
          <p:cNvSpPr txBox="1"/>
          <p:nvPr/>
        </p:nvSpPr>
        <p:spPr>
          <a:xfrm>
            <a:off x="609600" y="355600"/>
            <a:ext cx="508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64B2A"/>
                </a:solidFill>
                <a:latin typeface="Aptos" panose="020B0004020202020204" pitchFamily="34" charset="0"/>
              </a:rPr>
              <a:t>NEXT PHASE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17966-9049-9F91-5A54-BA1DE5254B0E}"/>
              </a:ext>
            </a:extLst>
          </p:cNvPr>
          <p:cNvSpPr txBox="1"/>
          <p:nvPr/>
        </p:nvSpPr>
        <p:spPr>
          <a:xfrm>
            <a:off x="609600" y="660400"/>
            <a:ext cx="10795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0B1F49"/>
                </a:solidFill>
                <a:latin typeface="Aptos Display" panose="020B0004020202020204" pitchFamily="34" charset="0"/>
              </a:rPr>
              <a:t>Remaining product work and demonstration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F7868F-0329-D880-228B-8D59CE46BD64}"/>
              </a:ext>
            </a:extLst>
          </p:cNvPr>
          <p:cNvSpPr txBox="1"/>
          <p:nvPr/>
        </p:nvSpPr>
        <p:spPr>
          <a:xfrm>
            <a:off x="609600" y="1219200"/>
            <a:ext cx="10795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5D6B80"/>
                </a:solidFill>
                <a:latin typeface="Aptos" panose="020B0004020202020204" pitchFamily="34" charset="0"/>
              </a:rPr>
              <a:t>The operational core remains; the next phase broadens access, improves employer support, and prepares validated delivery.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D234C96-F2FB-EC6D-CD86-BB6927E8CD5E}"/>
              </a:ext>
            </a:extLst>
          </p:cNvPr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EBD2CA1-6B2F-0397-F4D9-04C008A317D0}"/>
              </a:ext>
            </a:extLst>
          </p:cNvPr>
          <p:cNvSpPr txBox="1"/>
          <p:nvPr/>
        </p:nvSpPr>
        <p:spPr>
          <a:xfrm>
            <a:off x="609600" y="6540500"/>
            <a:ext cx="889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750">
                <a:solidFill>
                  <a:srgbClr val="5D6B80"/>
                </a:solidFill>
                <a:latin typeface="Aptos" panose="020B0004020202020204" pitchFamily="34" charset="0"/>
              </a:rPr>
              <a:t>INCLUSIVE WEB PLATFORM | PROGRESS PRESENTATION | 26 AUG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022ED-44AE-07C8-EADE-8CDBCA4A2FCA}"/>
              </a:ext>
            </a:extLst>
          </p:cNvPr>
          <p:cNvSpPr txBox="1"/>
          <p:nvPr/>
        </p:nvSpPr>
        <p:spPr>
          <a:xfrm>
            <a:off x="11099800" y="6527800"/>
            <a:ext cx="482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sz="800" b="1">
                <a:solidFill>
                  <a:srgbClr val="A64B2A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A32F155-74DD-B486-CB8A-65CE5F49CFBC}"/>
              </a:ext>
            </a:extLst>
          </p:cNvPr>
          <p:cNvSpPr/>
          <p:nvPr/>
        </p:nvSpPr>
        <p:spPr>
          <a:xfrm>
            <a:off x="609600" y="1841500"/>
            <a:ext cx="6350000" cy="406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431F19-7D29-52DD-E261-B00A7C0F7664}"/>
              </a:ext>
            </a:extLst>
          </p:cNvPr>
          <p:cNvSpPr/>
          <p:nvPr/>
        </p:nvSpPr>
        <p:spPr>
          <a:xfrm>
            <a:off x="939800" y="2146300"/>
            <a:ext cx="2133600" cy="304800"/>
          </a:xfrm>
          <a:prstGeom prst="roundRect">
            <a:avLst/>
          </a:prstGeom>
          <a:solidFill>
            <a:srgbClr val="A64B2A"/>
          </a:solidFill>
          <a:ln w="10160">
            <a:solidFill>
              <a:srgbClr val="A64B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B60F38-2EFC-F80D-825B-0D79F7F2F0DE}"/>
              </a:ext>
            </a:extLst>
          </p:cNvPr>
          <p:cNvSpPr txBox="1"/>
          <p:nvPr/>
        </p:nvSpPr>
        <p:spPr>
          <a:xfrm>
            <a:off x="1041400" y="2209800"/>
            <a:ext cx="1930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REMAINING PRODUCT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179516-3BA5-D359-9E70-5F2DCA6CFCFA}"/>
              </a:ext>
            </a:extLst>
          </p:cNvPr>
          <p:cNvSpPr txBox="1"/>
          <p:nvPr/>
        </p:nvSpPr>
        <p:spPr>
          <a:xfrm>
            <a:off x="939800" y="2768600"/>
            <a:ext cx="5461000" cy="18620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17243A"/>
                </a:solidFill>
                <a:latin typeface="Aptos" panose="020B0004020202020204" pitchFamily="34" charset="0"/>
              </a:rPr>
              <a:t>1  Candidate chooses Job, Training, or Both
2  Visitors browse jobs, training, and companies safely
3  Employer records adaptation / assistance for each task
4  Upgrade company, candidate, and employer profiles
5  Complete and validate the 15-role catalogue
6  Finish accessibility evidence, monitoring, capacity tests, and deployment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99A385-5843-D0F8-BC4D-63A6349E77A5}"/>
              </a:ext>
            </a:extLst>
          </p:cNvPr>
          <p:cNvSpPr/>
          <p:nvPr/>
        </p:nvSpPr>
        <p:spPr>
          <a:xfrm>
            <a:off x="7493000" y="1841500"/>
            <a:ext cx="4089400" cy="4064000"/>
          </a:xfrm>
          <a:prstGeom prst="roundRect">
            <a:avLst/>
          </a:prstGeom>
          <a:solidFill>
            <a:srgbClr val="0B1F49"/>
          </a:solidFill>
          <a:ln w="10160">
            <a:solidFill>
              <a:srgbClr val="0B1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5B2AA59-009C-314E-7377-2A2A07C25C27}"/>
              </a:ext>
            </a:extLst>
          </p:cNvPr>
          <p:cNvSpPr/>
          <p:nvPr/>
        </p:nvSpPr>
        <p:spPr>
          <a:xfrm>
            <a:off x="7823200" y="2146300"/>
            <a:ext cx="1498600" cy="304800"/>
          </a:xfrm>
          <a:prstGeom prst="roundRect">
            <a:avLst/>
          </a:prstGeom>
          <a:solidFill>
            <a:srgbClr val="157A55"/>
          </a:solidFill>
          <a:ln w="10160">
            <a:solidFill>
              <a:srgbClr val="157A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2741C8-DB1D-A69C-BB6A-C0FDB7ED71F4}"/>
              </a:ext>
            </a:extLst>
          </p:cNvPr>
          <p:cNvSpPr txBox="1"/>
          <p:nvPr/>
        </p:nvSpPr>
        <p:spPr>
          <a:xfrm>
            <a:off x="7924800" y="2209800"/>
            <a:ext cx="1295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ptos" panose="020B0004020202020204" pitchFamily="34" charset="0"/>
              </a:rPr>
              <a:t>5-MINUTE DEMO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3BE525-F715-9AB0-408E-A0AB3B922987}"/>
              </a:ext>
            </a:extLst>
          </p:cNvPr>
          <p:cNvSpPr txBox="1"/>
          <p:nvPr/>
        </p:nvSpPr>
        <p:spPr>
          <a:xfrm>
            <a:off x="7823200" y="2794000"/>
            <a:ext cx="3302000" cy="88485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50">
                <a:solidFill>
                  <a:srgbClr val="FFFFFF"/>
                </a:solidFill>
                <a:latin typeface="Aptos" panose="020B0004020202020204" pitchFamily="34" charset="0"/>
              </a:rPr>
              <a:t>00:00  Candidate profile + consent
01:00  Match score + explanation
02:00  Employer requirements + assistance
03:00  Admin catalogue
04:00  Language + keyboard + protected route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B9598B-5390-3498-6B1A-B5B6A730F0E6}"/>
              </a:ext>
            </a:extLst>
          </p:cNvPr>
          <p:cNvSpPr txBox="1"/>
          <p:nvPr/>
        </p:nvSpPr>
        <p:spPr>
          <a:xfrm>
            <a:off x="7823200" y="4775200"/>
            <a:ext cx="33020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ptos Display" panose="020B0004020202020204" pitchFamily="34" charset="0"/>
              </a:rPr>
              <a:t>The platform connects people to real businesses and supports human decisions instead of replacing them.</a:t>
            </a:r>
          </a:p>
        </p:txBody>
      </p:sp>
    </p:spTree>
    <p:extLst>
      <p:ext uri="{BB962C8B-B14F-4D97-AF65-F5344CB8AC3E}">
        <p14:creationId xmlns:p14="http://schemas.microsoft.com/office/powerpoint/2010/main" val="2293238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1864</Words>
  <Application>Microsoft Office PowerPoint</Application>
  <PresentationFormat>Widescreen</PresentationFormat>
  <Paragraphs>208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Zaidan Mansour</dc:creator>
  <cp:lastModifiedBy>Zaidan Mansour</cp:lastModifiedBy>
  <cp:revision>1</cp:revision>
  <dcterms:created xsi:type="dcterms:W3CDTF">2026-08-26T15:10:00Z</dcterms:created>
  <dcterms:modified xsi:type="dcterms:W3CDTF">2026-08-26T15:29:35Z</dcterms:modified>
</cp:coreProperties>
</file>