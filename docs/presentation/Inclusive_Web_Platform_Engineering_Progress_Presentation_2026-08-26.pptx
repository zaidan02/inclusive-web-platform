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8" r:id="rId2"/>
    <p:sldId id="257" r:id="rId3"/>
    <p:sldId id="258" r:id="rId4"/>
    <p:sldId id="259" r:id="rId5"/>
    <p:sldId id="260" r:id="rId6"/>
    <p:sldId id="261" r:id="rId7"/>
    <p:sldId id="262" r:id="rId8"/>
    <p:sldId id="263" r:id="rId9"/>
    <p:sldId id="264" r:id="rId10"/>
    <p:sldId id="271" r:id="rId11"/>
    <p:sldId id="269" r:id="rId12"/>
    <p:sldId id="272" r:id="rId13"/>
    <p:sldId id="270" r:id="rId14"/>
    <p:sldId id="265" r:id="rId15"/>
    <p:sldId id="266" r:id="rId16"/>
    <p:sldId id="267"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64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ltNode1NoLn">
    <dgm:fillClrLst meth="repeat">
      <a:schemeClr val="lt1">
        <a:tint val="75000"/>
      </a:schemeClr>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meth="repeat">
      <a:schemeClr val="dk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ltNode1NoLn">
    <dgm:fillClrLst meth="repeat">
      <a:schemeClr val="lt1">
        <a:tint val="75000"/>
      </a:schemeClr>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meth="repeat">
      <a:schemeClr val="dk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ltNode1NoLn">
    <dgm:fillClrLst meth="repeat">
      <a:schemeClr val="lt1">
        <a:tint val="75000"/>
      </a:schemeClr>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meth="repeat">
      <a:schemeClr val="dk1"/>
    </dgm:txFillClrLst>
    <dgm:txEffectClrLst/>
  </dgm:styleLbl>
</dgm:colorsDef>
</file>

<file path=ppt/diagrams/data1.xml><?xml version="1.0" encoding="utf-8"?>
<dgm:dataModel xmlns:dgm="http://schemas.openxmlformats.org/drawingml/2006/diagram" xmlns:a="http://schemas.openxmlformats.org/drawingml/2006/main">
  <dgm:ptLst>
    <dgm:pt modelId="{691E5DF2-AEB7-4546-A636-A4F2E544BE2F}" type="doc">
      <dgm:prSet loTypeId="urn:microsoft.com/office/officeart/2005/8/layout/process1" loCatId="process" qsTypeId="urn:microsoft.com/office/officeart/2005/8/quickstyle/simple1" qsCatId="simple" csTypeId="urn:microsoft.com/office/officeart/2005/8/colors/accent0_1" csCatId="mainScheme" phldr="1"/>
      <dgm:spPr/>
      <dgm:t>
        <a:bodyPr/>
        <a:lstStyle/>
        <a:p>
          <a:endParaRPr lang="en-US"/>
        </a:p>
      </dgm:t>
    </dgm:pt>
    <dgm:pt modelId="{A8901667-57A7-4D5D-BF92-D4F5FE163CDF}">
      <dgm:prSet custT="1"/>
      <dgm:spPr/>
      <dgm:t>
        <a:bodyPr/>
        <a:lstStyle/>
        <a:p>
          <a:pPr>
            <a:buFont typeface="Arial" panose="020B0604020202020204" pitchFamily="34" charset="0"/>
            <a:buChar char="•"/>
          </a:pPr>
          <a:r>
            <a:rPr lang="en-US" sz="1400" b="1" dirty="0"/>
            <a:t>Choose language and describe</a:t>
          </a:r>
        </a:p>
        <a:p>
          <a:pPr>
            <a:buFont typeface="Arial" panose="020B0604020202020204" pitchFamily="34" charset="0"/>
            <a:buChar char="•"/>
          </a:pPr>
          <a:br>
            <a:rPr lang="en-US" sz="1500" dirty="0"/>
          </a:br>
          <a:r>
            <a:rPr lang="en-US" sz="1200" dirty="0"/>
            <a:t>Select English, French, or Arabic, then speak or type.</a:t>
          </a:r>
          <a:endParaRPr lang="en-US" sz="1500" dirty="0"/>
        </a:p>
      </dgm:t>
    </dgm:pt>
    <dgm:pt modelId="{0764EFCB-0489-4686-A2AE-6FB0361FA65D}" type="parTrans" cxnId="{9B9C180A-178C-4DA1-A75C-518EE1EE637D}">
      <dgm:prSet/>
      <dgm:spPr/>
      <dgm:t>
        <a:bodyPr/>
        <a:lstStyle/>
        <a:p>
          <a:endParaRPr lang="en-US"/>
        </a:p>
      </dgm:t>
    </dgm:pt>
    <dgm:pt modelId="{65688902-88FC-459B-A6D7-FBABFAFDD0F4}" type="sibTrans" cxnId="{9B9C180A-178C-4DA1-A75C-518EE1EE637D}">
      <dgm:prSet/>
      <dgm:spPr/>
      <dgm:t>
        <a:bodyPr/>
        <a:lstStyle/>
        <a:p>
          <a:endParaRPr lang="en-US"/>
        </a:p>
      </dgm:t>
    </dgm:pt>
    <dgm:pt modelId="{1D66097E-F8A0-401C-93C7-3282CE2B0ECF}">
      <dgm:prSet/>
      <dgm:spPr/>
      <dgm:t>
        <a:bodyPr/>
        <a:lstStyle/>
        <a:p>
          <a:pPr>
            <a:buFont typeface="Arial" panose="020B0604020202020204" pitchFamily="34" charset="0"/>
            <a:buChar char="•"/>
          </a:pPr>
          <a:r>
            <a:rPr lang="en-US" b="1" dirty="0"/>
            <a:t>Create an editable transcript</a:t>
          </a:r>
        </a:p>
        <a:p>
          <a:pPr>
            <a:buFont typeface="Arial" panose="020B0604020202020204" pitchFamily="34" charset="0"/>
            <a:buChar char="•"/>
          </a:pPr>
          <a:br>
            <a:rPr lang="en-US" dirty="0"/>
          </a:br>
          <a:r>
            <a:rPr lang="en-US" dirty="0"/>
            <a:t>Voice is converted into text, and the audio is discarded.</a:t>
          </a:r>
        </a:p>
      </dgm:t>
    </dgm:pt>
    <dgm:pt modelId="{2D1FCD60-35AC-454A-9515-DE591E27FD44}" type="parTrans" cxnId="{987A9651-79EA-412B-9334-CAC7FD959767}">
      <dgm:prSet/>
      <dgm:spPr/>
      <dgm:t>
        <a:bodyPr/>
        <a:lstStyle/>
        <a:p>
          <a:endParaRPr lang="en-US"/>
        </a:p>
      </dgm:t>
    </dgm:pt>
    <dgm:pt modelId="{CE7DEF00-AB40-4615-AE78-75D102263DBA}" type="sibTrans" cxnId="{987A9651-79EA-412B-9334-CAC7FD959767}">
      <dgm:prSet/>
      <dgm:spPr/>
      <dgm:t>
        <a:bodyPr/>
        <a:lstStyle/>
        <a:p>
          <a:endParaRPr lang="en-US"/>
        </a:p>
      </dgm:t>
    </dgm:pt>
    <dgm:pt modelId="{AB597A4C-C111-4D03-8C76-9DE0E4C5E425}">
      <dgm:prSet/>
      <dgm:spPr/>
      <dgm:t>
        <a:bodyPr/>
        <a:lstStyle/>
        <a:p>
          <a:pPr>
            <a:buFont typeface="Arial" panose="020B0604020202020204" pitchFamily="34" charset="0"/>
            <a:buChar char="•"/>
          </a:pPr>
          <a:r>
            <a:rPr lang="en-US" b="1" dirty="0"/>
            <a:t>Review and give consent</a:t>
          </a:r>
        </a:p>
        <a:p>
          <a:pPr>
            <a:buFont typeface="Arial" panose="020B0604020202020204" pitchFamily="34" charset="0"/>
            <a:buChar char="•"/>
          </a:pPr>
          <a:br>
            <a:rPr lang="en-US" dirty="0"/>
          </a:br>
          <a:r>
            <a:rPr lang="en-US" dirty="0"/>
            <a:t>Correct the transcript and approve sending it to the AI.</a:t>
          </a:r>
        </a:p>
      </dgm:t>
    </dgm:pt>
    <dgm:pt modelId="{5E974436-0569-4FE5-83A2-FECA226A3E6F}" type="parTrans" cxnId="{4E347F1F-425A-466A-8337-0710427723EA}">
      <dgm:prSet/>
      <dgm:spPr/>
      <dgm:t>
        <a:bodyPr/>
        <a:lstStyle/>
        <a:p>
          <a:endParaRPr lang="en-US"/>
        </a:p>
      </dgm:t>
    </dgm:pt>
    <dgm:pt modelId="{6656CD1A-698E-48F8-8129-34AA3FF9DAD9}" type="sibTrans" cxnId="{4E347F1F-425A-466A-8337-0710427723EA}">
      <dgm:prSet/>
      <dgm:spPr/>
      <dgm:t>
        <a:bodyPr/>
        <a:lstStyle/>
        <a:p>
          <a:endParaRPr lang="en-US"/>
        </a:p>
      </dgm:t>
    </dgm:pt>
    <dgm:pt modelId="{F85BC0C3-EFB6-4A24-AC0B-38764D528F80}">
      <dgm:prSet/>
      <dgm:spPr/>
      <dgm:t>
        <a:bodyPr/>
        <a:lstStyle/>
        <a:p>
          <a:pPr>
            <a:buFont typeface="Arial" panose="020B0604020202020204" pitchFamily="34" charset="0"/>
            <a:buChar char="•"/>
          </a:pPr>
          <a:r>
            <a:rPr lang="en-US" b="1" dirty="0"/>
            <a:t>Generate profile suggestions</a:t>
          </a:r>
        </a:p>
        <a:p>
          <a:pPr>
            <a:buFont typeface="Arial" panose="020B0604020202020204" pitchFamily="34" charset="0"/>
            <a:buChar char="•"/>
          </a:pPr>
          <a:br>
            <a:rPr lang="en-US" dirty="0"/>
          </a:br>
          <a:r>
            <a:rPr lang="en-US" dirty="0"/>
            <a:t>The AI converts the description into structured profile information.</a:t>
          </a:r>
        </a:p>
      </dgm:t>
    </dgm:pt>
    <dgm:pt modelId="{FD51CD93-DCD9-4CA7-80BD-0CE279C5DB2F}" type="parTrans" cxnId="{E7808B4B-D76B-42E7-B43D-030546426E3E}">
      <dgm:prSet/>
      <dgm:spPr/>
      <dgm:t>
        <a:bodyPr/>
        <a:lstStyle/>
        <a:p>
          <a:endParaRPr lang="en-US"/>
        </a:p>
      </dgm:t>
    </dgm:pt>
    <dgm:pt modelId="{C5A5AF8D-5EE5-4B9A-B5AB-15D0DBBDDC2C}" type="sibTrans" cxnId="{E7808B4B-D76B-42E7-B43D-030546426E3E}">
      <dgm:prSet/>
      <dgm:spPr/>
      <dgm:t>
        <a:bodyPr/>
        <a:lstStyle/>
        <a:p>
          <a:endParaRPr lang="en-US"/>
        </a:p>
      </dgm:t>
    </dgm:pt>
    <dgm:pt modelId="{669F6727-BD59-4F5C-86A9-C2B523DF8470}">
      <dgm:prSet/>
      <dgm:spPr/>
      <dgm:t>
        <a:bodyPr/>
        <a:lstStyle/>
        <a:p>
          <a:pPr>
            <a:buFont typeface="Arial" panose="020B0604020202020204" pitchFamily="34" charset="0"/>
            <a:buChar char="•"/>
          </a:pPr>
          <a:r>
            <a:rPr lang="en-US" b="1" dirty="0"/>
            <a:t>Review every suggestion</a:t>
          </a:r>
        </a:p>
        <a:p>
          <a:pPr>
            <a:buFont typeface="Arial" panose="020B0604020202020204" pitchFamily="34" charset="0"/>
            <a:buChar char="•"/>
          </a:pPr>
          <a:br>
            <a:rPr lang="en-US" dirty="0"/>
          </a:br>
          <a:r>
            <a:rPr lang="en-US" dirty="0"/>
            <a:t>Edit, accept, or reject each suggested item.</a:t>
          </a:r>
        </a:p>
      </dgm:t>
    </dgm:pt>
    <dgm:pt modelId="{15511EF1-B739-4383-950B-8A06890E568B}" type="parTrans" cxnId="{8AAA1E93-69D8-49AE-B04F-62744132A4C8}">
      <dgm:prSet/>
      <dgm:spPr/>
      <dgm:t>
        <a:bodyPr/>
        <a:lstStyle/>
        <a:p>
          <a:endParaRPr lang="en-US"/>
        </a:p>
      </dgm:t>
    </dgm:pt>
    <dgm:pt modelId="{98A1A0BC-8E38-49B6-83B0-F5493DE86FD0}" type="sibTrans" cxnId="{8AAA1E93-69D8-49AE-B04F-62744132A4C8}">
      <dgm:prSet/>
      <dgm:spPr/>
      <dgm:t>
        <a:bodyPr/>
        <a:lstStyle/>
        <a:p>
          <a:endParaRPr lang="en-US"/>
        </a:p>
      </dgm:t>
    </dgm:pt>
    <dgm:pt modelId="{D0D85717-782E-4653-BEF5-4F4B622E4CAF}">
      <dgm:prSet/>
      <dgm:spPr/>
      <dgm:t>
        <a:bodyPr/>
        <a:lstStyle/>
        <a:p>
          <a:pPr>
            <a:buFont typeface="Arial" panose="020B0604020202020204" pitchFamily="34" charset="0"/>
            <a:buChar char="•"/>
          </a:pPr>
          <a:r>
            <a:rPr lang="en-US" b="1" dirty="0"/>
            <a:t>Confirm and save</a:t>
          </a:r>
        </a:p>
        <a:p>
          <a:pPr>
            <a:buFont typeface="Arial" panose="020B0604020202020204" pitchFamily="34" charset="0"/>
            <a:buChar char="•"/>
          </a:pPr>
          <a:br>
            <a:rPr lang="en-US" dirty="0"/>
          </a:br>
          <a:r>
            <a:rPr lang="en-US" dirty="0"/>
            <a:t>Only the information selected by the candidate is added to the profile.</a:t>
          </a:r>
        </a:p>
      </dgm:t>
    </dgm:pt>
    <dgm:pt modelId="{5EE2E91C-FF84-4F57-B30D-A63E94123A50}" type="parTrans" cxnId="{3ABDBE40-768E-43BF-AA0E-052345A2F326}">
      <dgm:prSet/>
      <dgm:spPr/>
      <dgm:t>
        <a:bodyPr/>
        <a:lstStyle/>
        <a:p>
          <a:endParaRPr lang="en-US"/>
        </a:p>
      </dgm:t>
    </dgm:pt>
    <dgm:pt modelId="{0E369A87-865C-4149-BACC-BF192674D3C4}" type="sibTrans" cxnId="{3ABDBE40-768E-43BF-AA0E-052345A2F326}">
      <dgm:prSet/>
      <dgm:spPr/>
      <dgm:t>
        <a:bodyPr/>
        <a:lstStyle/>
        <a:p>
          <a:endParaRPr lang="en-US"/>
        </a:p>
      </dgm:t>
    </dgm:pt>
    <dgm:pt modelId="{0C457930-7CBE-40BF-AEE3-F9FFA3D0619F}" type="pres">
      <dgm:prSet presAssocID="{691E5DF2-AEB7-4546-A636-A4F2E544BE2F}" presName="Name0" presStyleCnt="0">
        <dgm:presLayoutVars>
          <dgm:dir/>
          <dgm:resizeHandles val="exact"/>
        </dgm:presLayoutVars>
      </dgm:prSet>
      <dgm:spPr/>
    </dgm:pt>
    <dgm:pt modelId="{F48F0B78-4CEE-4738-ABB7-68E91360A368}" type="pres">
      <dgm:prSet presAssocID="{A8901667-57A7-4D5D-BF92-D4F5FE163CDF}" presName="node" presStyleLbl="node1" presStyleIdx="0" presStyleCnt="6">
        <dgm:presLayoutVars>
          <dgm:bulletEnabled val="1"/>
        </dgm:presLayoutVars>
      </dgm:prSet>
      <dgm:spPr/>
    </dgm:pt>
    <dgm:pt modelId="{2EEE63A6-CDF3-4783-B819-D329CE02AFD0}" type="pres">
      <dgm:prSet presAssocID="{65688902-88FC-459B-A6D7-FBABFAFDD0F4}" presName="sibTrans" presStyleLbl="sibTrans2D1" presStyleIdx="0" presStyleCnt="5"/>
      <dgm:spPr/>
    </dgm:pt>
    <dgm:pt modelId="{00C2B7CA-AB98-46C1-97BD-06477CC2F33E}" type="pres">
      <dgm:prSet presAssocID="{65688902-88FC-459B-A6D7-FBABFAFDD0F4}" presName="connectorText" presStyleLbl="sibTrans2D1" presStyleIdx="0" presStyleCnt="5"/>
      <dgm:spPr/>
    </dgm:pt>
    <dgm:pt modelId="{1E371B06-D03D-4ECC-B6AA-0E33EC711FD5}" type="pres">
      <dgm:prSet presAssocID="{1D66097E-F8A0-401C-93C7-3282CE2B0ECF}" presName="node" presStyleLbl="node1" presStyleIdx="1" presStyleCnt="6">
        <dgm:presLayoutVars>
          <dgm:bulletEnabled val="1"/>
        </dgm:presLayoutVars>
      </dgm:prSet>
      <dgm:spPr/>
    </dgm:pt>
    <dgm:pt modelId="{8031317A-6087-4F3F-B8A9-5FC5313D1D73}" type="pres">
      <dgm:prSet presAssocID="{CE7DEF00-AB40-4615-AE78-75D102263DBA}" presName="sibTrans" presStyleLbl="sibTrans2D1" presStyleIdx="1" presStyleCnt="5"/>
      <dgm:spPr/>
    </dgm:pt>
    <dgm:pt modelId="{1733AACF-B488-4AC8-8974-706AB633398A}" type="pres">
      <dgm:prSet presAssocID="{CE7DEF00-AB40-4615-AE78-75D102263DBA}" presName="connectorText" presStyleLbl="sibTrans2D1" presStyleIdx="1" presStyleCnt="5"/>
      <dgm:spPr/>
    </dgm:pt>
    <dgm:pt modelId="{42E8C6C0-13DA-4754-90AB-9D1905175DD3}" type="pres">
      <dgm:prSet presAssocID="{AB597A4C-C111-4D03-8C76-9DE0E4C5E425}" presName="node" presStyleLbl="node1" presStyleIdx="2" presStyleCnt="6">
        <dgm:presLayoutVars>
          <dgm:bulletEnabled val="1"/>
        </dgm:presLayoutVars>
      </dgm:prSet>
      <dgm:spPr/>
    </dgm:pt>
    <dgm:pt modelId="{7D4D7E7E-AD85-4170-A076-744BF23F1593}" type="pres">
      <dgm:prSet presAssocID="{6656CD1A-698E-48F8-8129-34AA3FF9DAD9}" presName="sibTrans" presStyleLbl="sibTrans2D1" presStyleIdx="2" presStyleCnt="5"/>
      <dgm:spPr/>
    </dgm:pt>
    <dgm:pt modelId="{9C935CF4-6AB4-4E19-A4F9-472E6143C1A1}" type="pres">
      <dgm:prSet presAssocID="{6656CD1A-698E-48F8-8129-34AA3FF9DAD9}" presName="connectorText" presStyleLbl="sibTrans2D1" presStyleIdx="2" presStyleCnt="5"/>
      <dgm:spPr/>
    </dgm:pt>
    <dgm:pt modelId="{8685871F-1B78-4A98-827F-3AB0D19824CB}" type="pres">
      <dgm:prSet presAssocID="{F85BC0C3-EFB6-4A24-AC0B-38764D528F80}" presName="node" presStyleLbl="node1" presStyleIdx="3" presStyleCnt="6">
        <dgm:presLayoutVars>
          <dgm:bulletEnabled val="1"/>
        </dgm:presLayoutVars>
      </dgm:prSet>
      <dgm:spPr/>
    </dgm:pt>
    <dgm:pt modelId="{6754D4BF-98E3-4904-8853-8D16ADADE9BB}" type="pres">
      <dgm:prSet presAssocID="{C5A5AF8D-5EE5-4B9A-B5AB-15D0DBBDDC2C}" presName="sibTrans" presStyleLbl="sibTrans2D1" presStyleIdx="3" presStyleCnt="5"/>
      <dgm:spPr/>
    </dgm:pt>
    <dgm:pt modelId="{4FF7C4DF-D6BA-46F0-A207-A4AC10BC9896}" type="pres">
      <dgm:prSet presAssocID="{C5A5AF8D-5EE5-4B9A-B5AB-15D0DBBDDC2C}" presName="connectorText" presStyleLbl="sibTrans2D1" presStyleIdx="3" presStyleCnt="5"/>
      <dgm:spPr/>
    </dgm:pt>
    <dgm:pt modelId="{15E9111B-52E2-4C08-A1A7-DE57CC3262ED}" type="pres">
      <dgm:prSet presAssocID="{669F6727-BD59-4F5C-86A9-C2B523DF8470}" presName="node" presStyleLbl="node1" presStyleIdx="4" presStyleCnt="6">
        <dgm:presLayoutVars>
          <dgm:bulletEnabled val="1"/>
        </dgm:presLayoutVars>
      </dgm:prSet>
      <dgm:spPr/>
    </dgm:pt>
    <dgm:pt modelId="{8AD1400D-E017-4CA5-ACF2-B7CB94F976DE}" type="pres">
      <dgm:prSet presAssocID="{98A1A0BC-8E38-49B6-83B0-F5493DE86FD0}" presName="sibTrans" presStyleLbl="sibTrans2D1" presStyleIdx="4" presStyleCnt="5"/>
      <dgm:spPr/>
    </dgm:pt>
    <dgm:pt modelId="{B68ACA87-71E3-4220-A3D9-864F83C50B0E}" type="pres">
      <dgm:prSet presAssocID="{98A1A0BC-8E38-49B6-83B0-F5493DE86FD0}" presName="connectorText" presStyleLbl="sibTrans2D1" presStyleIdx="4" presStyleCnt="5"/>
      <dgm:spPr/>
    </dgm:pt>
    <dgm:pt modelId="{8BAB0997-909F-41AC-936C-324B24025E31}" type="pres">
      <dgm:prSet presAssocID="{D0D85717-782E-4653-BEF5-4F4B622E4CAF}" presName="node" presStyleLbl="node1" presStyleIdx="5" presStyleCnt="6">
        <dgm:presLayoutVars>
          <dgm:bulletEnabled val="1"/>
        </dgm:presLayoutVars>
      </dgm:prSet>
      <dgm:spPr/>
    </dgm:pt>
  </dgm:ptLst>
  <dgm:cxnLst>
    <dgm:cxn modelId="{9B9C180A-178C-4DA1-A75C-518EE1EE637D}" srcId="{691E5DF2-AEB7-4546-A636-A4F2E544BE2F}" destId="{A8901667-57A7-4D5D-BF92-D4F5FE163CDF}" srcOrd="0" destOrd="0" parTransId="{0764EFCB-0489-4686-A2AE-6FB0361FA65D}" sibTransId="{65688902-88FC-459B-A6D7-FBABFAFDD0F4}"/>
    <dgm:cxn modelId="{8745FE0B-83BA-4DAD-9135-4286FBF00E70}" type="presOf" srcId="{65688902-88FC-459B-A6D7-FBABFAFDD0F4}" destId="{00C2B7CA-AB98-46C1-97BD-06477CC2F33E}" srcOrd="1" destOrd="0" presId="urn:microsoft.com/office/officeart/2005/8/layout/process1"/>
    <dgm:cxn modelId="{715C6910-CD05-4BA0-AC0C-DF4EA94B1C38}" type="presOf" srcId="{669F6727-BD59-4F5C-86A9-C2B523DF8470}" destId="{15E9111B-52E2-4C08-A1A7-DE57CC3262ED}" srcOrd="0" destOrd="0" presId="urn:microsoft.com/office/officeart/2005/8/layout/process1"/>
    <dgm:cxn modelId="{FBF92F1F-ED19-4F66-B3FF-9389156F10D4}" type="presOf" srcId="{C5A5AF8D-5EE5-4B9A-B5AB-15D0DBBDDC2C}" destId="{4FF7C4DF-D6BA-46F0-A207-A4AC10BC9896}" srcOrd="1" destOrd="0" presId="urn:microsoft.com/office/officeart/2005/8/layout/process1"/>
    <dgm:cxn modelId="{4E347F1F-425A-466A-8337-0710427723EA}" srcId="{691E5DF2-AEB7-4546-A636-A4F2E544BE2F}" destId="{AB597A4C-C111-4D03-8C76-9DE0E4C5E425}" srcOrd="2" destOrd="0" parTransId="{5E974436-0569-4FE5-83A2-FECA226A3E6F}" sibTransId="{6656CD1A-698E-48F8-8129-34AA3FF9DAD9}"/>
    <dgm:cxn modelId="{3ABDBE40-768E-43BF-AA0E-052345A2F326}" srcId="{691E5DF2-AEB7-4546-A636-A4F2E544BE2F}" destId="{D0D85717-782E-4653-BEF5-4F4B622E4CAF}" srcOrd="5" destOrd="0" parTransId="{5EE2E91C-FF84-4F57-B30D-A63E94123A50}" sibTransId="{0E369A87-865C-4149-BACC-BF192674D3C4}"/>
    <dgm:cxn modelId="{46B08A60-BDC0-45C9-A4C5-1BFC32D07DC1}" type="presOf" srcId="{F85BC0C3-EFB6-4A24-AC0B-38764D528F80}" destId="{8685871F-1B78-4A98-827F-3AB0D19824CB}" srcOrd="0" destOrd="0" presId="urn:microsoft.com/office/officeart/2005/8/layout/process1"/>
    <dgm:cxn modelId="{E3743641-2615-434D-9088-33A89342FE70}" type="presOf" srcId="{691E5DF2-AEB7-4546-A636-A4F2E544BE2F}" destId="{0C457930-7CBE-40BF-AEE3-F9FFA3D0619F}" srcOrd="0" destOrd="0" presId="urn:microsoft.com/office/officeart/2005/8/layout/process1"/>
    <dgm:cxn modelId="{1B59CC42-8FB7-4AB9-83BC-13BD3E6596BD}" type="presOf" srcId="{6656CD1A-698E-48F8-8129-34AA3FF9DAD9}" destId="{9C935CF4-6AB4-4E19-A4F9-472E6143C1A1}" srcOrd="1" destOrd="0" presId="urn:microsoft.com/office/officeart/2005/8/layout/process1"/>
    <dgm:cxn modelId="{E7808B4B-D76B-42E7-B43D-030546426E3E}" srcId="{691E5DF2-AEB7-4546-A636-A4F2E544BE2F}" destId="{F85BC0C3-EFB6-4A24-AC0B-38764D528F80}" srcOrd="3" destOrd="0" parTransId="{FD51CD93-DCD9-4CA7-80BD-0CE279C5DB2F}" sibTransId="{C5A5AF8D-5EE5-4B9A-B5AB-15D0DBBDDC2C}"/>
    <dgm:cxn modelId="{987A9651-79EA-412B-9334-CAC7FD959767}" srcId="{691E5DF2-AEB7-4546-A636-A4F2E544BE2F}" destId="{1D66097E-F8A0-401C-93C7-3282CE2B0ECF}" srcOrd="1" destOrd="0" parTransId="{2D1FCD60-35AC-454A-9515-DE591E27FD44}" sibTransId="{CE7DEF00-AB40-4615-AE78-75D102263DBA}"/>
    <dgm:cxn modelId="{493AB851-AF50-4C13-9F3A-5D7633054F5D}" type="presOf" srcId="{98A1A0BC-8E38-49B6-83B0-F5493DE86FD0}" destId="{8AD1400D-E017-4CA5-ACF2-B7CB94F976DE}" srcOrd="0" destOrd="0" presId="urn:microsoft.com/office/officeart/2005/8/layout/process1"/>
    <dgm:cxn modelId="{80561176-3C99-4E62-9871-122C0EA9182E}" type="presOf" srcId="{98A1A0BC-8E38-49B6-83B0-F5493DE86FD0}" destId="{B68ACA87-71E3-4220-A3D9-864F83C50B0E}" srcOrd="1" destOrd="0" presId="urn:microsoft.com/office/officeart/2005/8/layout/process1"/>
    <dgm:cxn modelId="{CFF3A177-C303-43FD-8333-AEC67D217667}" type="presOf" srcId="{6656CD1A-698E-48F8-8129-34AA3FF9DAD9}" destId="{7D4D7E7E-AD85-4170-A076-744BF23F1593}" srcOrd="0" destOrd="0" presId="urn:microsoft.com/office/officeart/2005/8/layout/process1"/>
    <dgm:cxn modelId="{34812589-C83D-4556-AE9B-C8D3B5456155}" type="presOf" srcId="{A8901667-57A7-4D5D-BF92-D4F5FE163CDF}" destId="{F48F0B78-4CEE-4738-ABB7-68E91360A368}" srcOrd="0" destOrd="0" presId="urn:microsoft.com/office/officeart/2005/8/layout/process1"/>
    <dgm:cxn modelId="{8AAA1E93-69D8-49AE-B04F-62744132A4C8}" srcId="{691E5DF2-AEB7-4546-A636-A4F2E544BE2F}" destId="{669F6727-BD59-4F5C-86A9-C2B523DF8470}" srcOrd="4" destOrd="0" parTransId="{15511EF1-B739-4383-950B-8A06890E568B}" sibTransId="{98A1A0BC-8E38-49B6-83B0-F5493DE86FD0}"/>
    <dgm:cxn modelId="{44423FB8-CC36-4AB2-93DA-5B18824F56C2}" type="presOf" srcId="{C5A5AF8D-5EE5-4B9A-B5AB-15D0DBBDDC2C}" destId="{6754D4BF-98E3-4904-8853-8D16ADADE9BB}" srcOrd="0" destOrd="0" presId="urn:microsoft.com/office/officeart/2005/8/layout/process1"/>
    <dgm:cxn modelId="{515F4CC7-B28C-47C5-943A-13309D1642AD}" type="presOf" srcId="{65688902-88FC-459B-A6D7-FBABFAFDD0F4}" destId="{2EEE63A6-CDF3-4783-B819-D329CE02AFD0}" srcOrd="0" destOrd="0" presId="urn:microsoft.com/office/officeart/2005/8/layout/process1"/>
    <dgm:cxn modelId="{44DB60DE-B5C4-462C-8857-E9B622C7921B}" type="presOf" srcId="{D0D85717-782E-4653-BEF5-4F4B622E4CAF}" destId="{8BAB0997-909F-41AC-936C-324B24025E31}" srcOrd="0" destOrd="0" presId="urn:microsoft.com/office/officeart/2005/8/layout/process1"/>
    <dgm:cxn modelId="{B1E5F0E7-34FC-4D4C-B6E3-99ECA437966E}" type="presOf" srcId="{CE7DEF00-AB40-4615-AE78-75D102263DBA}" destId="{8031317A-6087-4F3F-B8A9-5FC5313D1D73}" srcOrd="0" destOrd="0" presId="urn:microsoft.com/office/officeart/2005/8/layout/process1"/>
    <dgm:cxn modelId="{701A6DF0-9B84-4D48-B371-6BAF6E5CB5CD}" type="presOf" srcId="{1D66097E-F8A0-401C-93C7-3282CE2B0ECF}" destId="{1E371B06-D03D-4ECC-B6AA-0E33EC711FD5}" srcOrd="0" destOrd="0" presId="urn:microsoft.com/office/officeart/2005/8/layout/process1"/>
    <dgm:cxn modelId="{58F568F1-6E90-4D99-A6EA-F03A6FC4FB78}" type="presOf" srcId="{CE7DEF00-AB40-4615-AE78-75D102263DBA}" destId="{1733AACF-B488-4AC8-8974-706AB633398A}" srcOrd="1" destOrd="0" presId="urn:microsoft.com/office/officeart/2005/8/layout/process1"/>
    <dgm:cxn modelId="{7BE71DF8-7A42-40AD-B607-020527C840DF}" type="presOf" srcId="{AB597A4C-C111-4D03-8C76-9DE0E4C5E425}" destId="{42E8C6C0-13DA-4754-90AB-9D1905175DD3}" srcOrd="0" destOrd="0" presId="urn:microsoft.com/office/officeart/2005/8/layout/process1"/>
    <dgm:cxn modelId="{626CF2C7-EB15-4849-9222-ADF7313168E7}" type="presParOf" srcId="{0C457930-7CBE-40BF-AEE3-F9FFA3D0619F}" destId="{F48F0B78-4CEE-4738-ABB7-68E91360A368}" srcOrd="0" destOrd="0" presId="urn:microsoft.com/office/officeart/2005/8/layout/process1"/>
    <dgm:cxn modelId="{860886EC-37E9-40D1-B24F-F4983CBDD76B}" type="presParOf" srcId="{0C457930-7CBE-40BF-AEE3-F9FFA3D0619F}" destId="{2EEE63A6-CDF3-4783-B819-D329CE02AFD0}" srcOrd="1" destOrd="0" presId="urn:microsoft.com/office/officeart/2005/8/layout/process1"/>
    <dgm:cxn modelId="{AFCFB9D3-362F-4EBB-8FBA-C6D48A971B77}" type="presParOf" srcId="{2EEE63A6-CDF3-4783-B819-D329CE02AFD0}" destId="{00C2B7CA-AB98-46C1-97BD-06477CC2F33E}" srcOrd="0" destOrd="0" presId="urn:microsoft.com/office/officeart/2005/8/layout/process1"/>
    <dgm:cxn modelId="{A344091C-C937-424B-A5D7-F7A7755DE53E}" type="presParOf" srcId="{0C457930-7CBE-40BF-AEE3-F9FFA3D0619F}" destId="{1E371B06-D03D-4ECC-B6AA-0E33EC711FD5}" srcOrd="2" destOrd="0" presId="urn:microsoft.com/office/officeart/2005/8/layout/process1"/>
    <dgm:cxn modelId="{9C71D21A-50AD-4C78-8CBE-9FCAA178DFD5}" type="presParOf" srcId="{0C457930-7CBE-40BF-AEE3-F9FFA3D0619F}" destId="{8031317A-6087-4F3F-B8A9-5FC5313D1D73}" srcOrd="3" destOrd="0" presId="urn:microsoft.com/office/officeart/2005/8/layout/process1"/>
    <dgm:cxn modelId="{E56ADCF3-8F28-4B0B-AE09-1C2A0DC9A289}" type="presParOf" srcId="{8031317A-6087-4F3F-B8A9-5FC5313D1D73}" destId="{1733AACF-B488-4AC8-8974-706AB633398A}" srcOrd="0" destOrd="0" presId="urn:microsoft.com/office/officeart/2005/8/layout/process1"/>
    <dgm:cxn modelId="{CEBB4988-21CE-474D-A9B7-A71BFF0DFE07}" type="presParOf" srcId="{0C457930-7CBE-40BF-AEE3-F9FFA3D0619F}" destId="{42E8C6C0-13DA-4754-90AB-9D1905175DD3}" srcOrd="4" destOrd="0" presId="urn:microsoft.com/office/officeart/2005/8/layout/process1"/>
    <dgm:cxn modelId="{6566AA44-25F8-4035-9D1C-23A42C321788}" type="presParOf" srcId="{0C457930-7CBE-40BF-AEE3-F9FFA3D0619F}" destId="{7D4D7E7E-AD85-4170-A076-744BF23F1593}" srcOrd="5" destOrd="0" presId="urn:microsoft.com/office/officeart/2005/8/layout/process1"/>
    <dgm:cxn modelId="{12CCB505-1242-4A5A-95DD-C1DD9C54D135}" type="presParOf" srcId="{7D4D7E7E-AD85-4170-A076-744BF23F1593}" destId="{9C935CF4-6AB4-4E19-A4F9-472E6143C1A1}" srcOrd="0" destOrd="0" presId="urn:microsoft.com/office/officeart/2005/8/layout/process1"/>
    <dgm:cxn modelId="{659ECF2C-F5AE-4122-9BFF-78CA0D63E0D1}" type="presParOf" srcId="{0C457930-7CBE-40BF-AEE3-F9FFA3D0619F}" destId="{8685871F-1B78-4A98-827F-3AB0D19824CB}" srcOrd="6" destOrd="0" presId="urn:microsoft.com/office/officeart/2005/8/layout/process1"/>
    <dgm:cxn modelId="{A045582C-85A3-4E10-AD3C-A746062525BC}" type="presParOf" srcId="{0C457930-7CBE-40BF-AEE3-F9FFA3D0619F}" destId="{6754D4BF-98E3-4904-8853-8D16ADADE9BB}" srcOrd="7" destOrd="0" presId="urn:microsoft.com/office/officeart/2005/8/layout/process1"/>
    <dgm:cxn modelId="{250FD1BE-A905-4859-851B-157E10953DF3}" type="presParOf" srcId="{6754D4BF-98E3-4904-8853-8D16ADADE9BB}" destId="{4FF7C4DF-D6BA-46F0-A207-A4AC10BC9896}" srcOrd="0" destOrd="0" presId="urn:microsoft.com/office/officeart/2005/8/layout/process1"/>
    <dgm:cxn modelId="{C79E80D8-1919-497C-80DD-E7B12E5C659C}" type="presParOf" srcId="{0C457930-7CBE-40BF-AEE3-F9FFA3D0619F}" destId="{15E9111B-52E2-4C08-A1A7-DE57CC3262ED}" srcOrd="8" destOrd="0" presId="urn:microsoft.com/office/officeart/2005/8/layout/process1"/>
    <dgm:cxn modelId="{37580BE6-AD61-45BB-8038-DC93E43D0052}" type="presParOf" srcId="{0C457930-7CBE-40BF-AEE3-F9FFA3D0619F}" destId="{8AD1400D-E017-4CA5-ACF2-B7CB94F976DE}" srcOrd="9" destOrd="0" presId="urn:microsoft.com/office/officeart/2005/8/layout/process1"/>
    <dgm:cxn modelId="{0BABAF0B-08A3-44C0-8F7C-9FCF998E5FBC}" type="presParOf" srcId="{8AD1400D-E017-4CA5-ACF2-B7CB94F976DE}" destId="{B68ACA87-71E3-4220-A3D9-864F83C50B0E}" srcOrd="0" destOrd="0" presId="urn:microsoft.com/office/officeart/2005/8/layout/process1"/>
    <dgm:cxn modelId="{00174DD7-5695-408F-B5A0-B77B7F66E2DB}" type="presParOf" srcId="{0C457930-7CBE-40BF-AEE3-F9FFA3D0619F}" destId="{8BAB0997-909F-41AC-936C-324B24025E31}"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BE1F4E-2592-4328-9314-AE32CB7F9B8C}" type="doc">
      <dgm:prSet loTypeId="urn:microsoft.com/office/officeart/2005/8/layout/process1" loCatId="process" qsTypeId="urn:microsoft.com/office/officeart/2005/8/quickstyle/simple1" qsCatId="simple" csTypeId="urn:microsoft.com/office/officeart/2005/8/colors/accent0_1" csCatId="mainScheme" phldr="1"/>
      <dgm:spPr/>
      <dgm:t>
        <a:bodyPr/>
        <a:lstStyle/>
        <a:p>
          <a:endParaRPr lang="en-US"/>
        </a:p>
      </dgm:t>
    </dgm:pt>
    <dgm:pt modelId="{3AA3E013-B13C-4443-AE5E-843B5F4A2062}">
      <dgm:prSet phldrT="[Text]" custT="1"/>
      <dgm:spPr/>
      <dgm:t>
        <a:bodyPr/>
        <a:lstStyle/>
        <a:p>
          <a:pPr>
            <a:buFont typeface="Arial" panose="020B0604020202020204" pitchFamily="34" charset="0"/>
            <a:buChar char="•"/>
          </a:pPr>
          <a:r>
            <a:rPr lang="en-US" sz="1200" b="1" dirty="0"/>
            <a:t>Select a position</a:t>
          </a:r>
        </a:p>
        <a:p>
          <a:pPr>
            <a:buFont typeface="Arial" panose="020B0604020202020204" pitchFamily="34" charset="0"/>
            <a:buChar char="•"/>
          </a:pPr>
          <a:br>
            <a:rPr lang="en-US" sz="1200" dirty="0"/>
          </a:br>
          <a:r>
            <a:rPr lang="en-US" sz="1100" dirty="0"/>
            <a:t>Choose a controlled hospitality role from the catalogue.</a:t>
          </a:r>
          <a:endParaRPr lang="en-US" sz="1200" dirty="0"/>
        </a:p>
      </dgm:t>
    </dgm:pt>
    <dgm:pt modelId="{2985DC34-C7EA-437E-BDE8-F592DA9FC7B6}" type="parTrans" cxnId="{7C810FA0-29E9-4E61-AEA9-E2B6CE7AA02B}">
      <dgm:prSet/>
      <dgm:spPr/>
      <dgm:t>
        <a:bodyPr/>
        <a:lstStyle/>
        <a:p>
          <a:endParaRPr lang="en-US"/>
        </a:p>
      </dgm:t>
    </dgm:pt>
    <dgm:pt modelId="{E226EE42-1CE8-4510-8000-3942A71BFB33}" type="sibTrans" cxnId="{7C810FA0-29E9-4E61-AEA9-E2B6CE7AA02B}">
      <dgm:prSet/>
      <dgm:spPr/>
      <dgm:t>
        <a:bodyPr/>
        <a:lstStyle/>
        <a:p>
          <a:endParaRPr lang="en-US"/>
        </a:p>
      </dgm:t>
    </dgm:pt>
    <dgm:pt modelId="{8CDF9D6A-A068-43ED-BB4D-482D3248F0EC}">
      <dgm:prSet custT="1"/>
      <dgm:spPr/>
      <dgm:t>
        <a:bodyPr/>
        <a:lstStyle/>
        <a:p>
          <a:pPr>
            <a:buFont typeface="Arial" panose="020B0604020202020204" pitchFamily="34" charset="0"/>
            <a:buChar char="•"/>
          </a:pPr>
          <a:r>
            <a:rPr lang="en-US" sz="1200" b="1" dirty="0"/>
            <a:t>Load catalogue tasks</a:t>
          </a:r>
        </a:p>
        <a:p>
          <a:pPr>
            <a:buFont typeface="Arial" panose="020B0604020202020204" pitchFamily="34" charset="0"/>
            <a:buChar char="•"/>
          </a:pPr>
          <a:br>
            <a:rPr lang="en-US" sz="1200" dirty="0"/>
          </a:br>
          <a:r>
            <a:rPr lang="en-US" sz="1100" dirty="0"/>
            <a:t>The platform loads the role’s approved tasks automatically.</a:t>
          </a:r>
          <a:endParaRPr lang="en-US" sz="1200" dirty="0"/>
        </a:p>
      </dgm:t>
    </dgm:pt>
    <dgm:pt modelId="{821B6BDA-D425-4839-9A6C-73AEEE4FF8D6}" type="parTrans" cxnId="{F3EA20C5-4D7B-42AF-82EB-ABD7F6ABC20A}">
      <dgm:prSet/>
      <dgm:spPr/>
      <dgm:t>
        <a:bodyPr/>
        <a:lstStyle/>
        <a:p>
          <a:endParaRPr lang="en-US"/>
        </a:p>
      </dgm:t>
    </dgm:pt>
    <dgm:pt modelId="{7D6FFF02-8540-4BA9-9D05-E763CDAABE9D}" type="sibTrans" cxnId="{F3EA20C5-4D7B-42AF-82EB-ABD7F6ABC20A}">
      <dgm:prSet/>
      <dgm:spPr/>
      <dgm:t>
        <a:bodyPr/>
        <a:lstStyle/>
        <a:p>
          <a:endParaRPr lang="en-US"/>
        </a:p>
      </dgm:t>
    </dgm:pt>
    <dgm:pt modelId="{AB8E3D99-BF83-44B4-A6F9-4755D73825B8}">
      <dgm:prSet custT="1"/>
      <dgm:spPr/>
      <dgm:t>
        <a:bodyPr/>
        <a:lstStyle/>
        <a:p>
          <a:pPr>
            <a:buFont typeface="Arial" panose="020B0604020202020204" pitchFamily="34" charset="0"/>
            <a:buChar char="•"/>
          </a:pPr>
          <a:r>
            <a:rPr lang="en-US" sz="1200" b="1" dirty="0"/>
            <a:t>Enter vacancy details</a:t>
          </a:r>
        </a:p>
        <a:p>
          <a:pPr>
            <a:buFont typeface="Arial" panose="020B0604020202020204" pitchFamily="34" charset="0"/>
            <a:buChar char="•"/>
          </a:pPr>
          <a:br>
            <a:rPr lang="en-US" sz="1200" dirty="0"/>
          </a:br>
          <a:r>
            <a:rPr lang="en-US" sz="1100" dirty="0"/>
            <a:t>Add location, job type, work mode, deadline, and description.</a:t>
          </a:r>
          <a:endParaRPr lang="en-US" sz="1200" dirty="0"/>
        </a:p>
      </dgm:t>
    </dgm:pt>
    <dgm:pt modelId="{EF993C63-A908-42DA-9877-6F25C693098C}" type="parTrans" cxnId="{9B0EE6C7-C02D-4651-8C68-98EE150B37DC}">
      <dgm:prSet/>
      <dgm:spPr/>
      <dgm:t>
        <a:bodyPr/>
        <a:lstStyle/>
        <a:p>
          <a:endParaRPr lang="en-US"/>
        </a:p>
      </dgm:t>
    </dgm:pt>
    <dgm:pt modelId="{84BC8BD3-EA45-4D78-B50A-55BF721183C4}" type="sibTrans" cxnId="{9B0EE6C7-C02D-4651-8C68-98EE150B37DC}">
      <dgm:prSet/>
      <dgm:spPr/>
      <dgm:t>
        <a:bodyPr/>
        <a:lstStyle/>
        <a:p>
          <a:endParaRPr lang="en-US"/>
        </a:p>
      </dgm:t>
    </dgm:pt>
    <dgm:pt modelId="{8BA4EBA3-495D-41B7-8E09-C636D8C403A5}">
      <dgm:prSet custT="1"/>
      <dgm:spPr/>
      <dgm:t>
        <a:bodyPr/>
        <a:lstStyle/>
        <a:p>
          <a:pPr>
            <a:buFont typeface="Arial" panose="020B0604020202020204" pitchFamily="34" charset="0"/>
            <a:buChar char="•"/>
          </a:pPr>
          <a:r>
            <a:rPr lang="en-US" sz="1200" b="1" dirty="0"/>
            <a:t>Define requirements</a:t>
          </a:r>
        </a:p>
        <a:p>
          <a:pPr>
            <a:buFont typeface="Arial" panose="020B0604020202020204" pitchFamily="34" charset="0"/>
            <a:buChar char="•"/>
          </a:pPr>
          <a:br>
            <a:rPr lang="en-US" sz="1200" dirty="0"/>
          </a:br>
          <a:r>
            <a:rPr lang="en-US" sz="1100" dirty="0"/>
            <a:t>Set education, reading, writing, counting, and position knowledge as required, preferred, or not required.</a:t>
          </a:r>
          <a:endParaRPr lang="en-US" sz="1200" dirty="0"/>
        </a:p>
      </dgm:t>
    </dgm:pt>
    <dgm:pt modelId="{F6BF6BAB-D700-430F-AC7F-F1379F59F19B}" type="parTrans" cxnId="{C421A603-92F3-4273-8154-E85C121430DE}">
      <dgm:prSet/>
      <dgm:spPr/>
      <dgm:t>
        <a:bodyPr/>
        <a:lstStyle/>
        <a:p>
          <a:endParaRPr lang="en-US"/>
        </a:p>
      </dgm:t>
    </dgm:pt>
    <dgm:pt modelId="{9CACA134-F4B9-4853-90EF-86C586AE73CB}" type="sibTrans" cxnId="{C421A603-92F3-4273-8154-E85C121430DE}">
      <dgm:prSet/>
      <dgm:spPr/>
      <dgm:t>
        <a:bodyPr/>
        <a:lstStyle/>
        <a:p>
          <a:endParaRPr lang="en-US"/>
        </a:p>
      </dgm:t>
    </dgm:pt>
    <dgm:pt modelId="{DB694E4F-6496-43F7-946D-7B2B663B5AC1}">
      <dgm:prSet custT="1"/>
      <dgm:spPr/>
      <dgm:t>
        <a:bodyPr/>
        <a:lstStyle/>
        <a:p>
          <a:pPr>
            <a:buFont typeface="Arial" panose="020B0604020202020204" pitchFamily="34" charset="0"/>
            <a:buChar char="•"/>
          </a:pPr>
          <a:r>
            <a:rPr lang="en-US" sz="1200" b="1" dirty="0"/>
            <a:t>Set priorities and support</a:t>
          </a:r>
        </a:p>
        <a:p>
          <a:pPr>
            <a:buFont typeface="Arial" panose="020B0604020202020204" pitchFamily="34" charset="0"/>
            <a:buChar char="•"/>
          </a:pPr>
          <a:br>
            <a:rPr lang="en-US" sz="1200" dirty="0"/>
          </a:br>
          <a:r>
            <a:rPr lang="en-US" sz="1100" dirty="0"/>
            <a:t>Highlight important tasks and record whether workplace assistance is available.</a:t>
          </a:r>
          <a:endParaRPr lang="en-US" sz="1200" dirty="0"/>
        </a:p>
      </dgm:t>
    </dgm:pt>
    <dgm:pt modelId="{1BC523A1-CC61-4BF6-8DFD-EEA4D053A603}" type="parTrans" cxnId="{AF3118E4-9ABE-4471-AB5F-3B4CEAC62CED}">
      <dgm:prSet/>
      <dgm:spPr/>
      <dgm:t>
        <a:bodyPr/>
        <a:lstStyle/>
        <a:p>
          <a:endParaRPr lang="en-US"/>
        </a:p>
      </dgm:t>
    </dgm:pt>
    <dgm:pt modelId="{8344D45A-9363-4786-BF87-E2607D7CA26F}" type="sibTrans" cxnId="{AF3118E4-9ABE-4471-AB5F-3B4CEAC62CED}">
      <dgm:prSet/>
      <dgm:spPr/>
      <dgm:t>
        <a:bodyPr/>
        <a:lstStyle/>
        <a:p>
          <a:endParaRPr lang="en-US"/>
        </a:p>
      </dgm:t>
    </dgm:pt>
    <dgm:pt modelId="{E1311D42-0736-4DDC-98F2-10CFB9053EC7}">
      <dgm:prSet custT="1"/>
      <dgm:spPr/>
      <dgm:t>
        <a:bodyPr/>
        <a:lstStyle/>
        <a:p>
          <a:pPr>
            <a:buFont typeface="Arial" panose="020B0604020202020204" pitchFamily="34" charset="0"/>
            <a:buChar char="•"/>
          </a:pPr>
          <a:r>
            <a:rPr lang="en-US" sz="1200" b="1" dirty="0"/>
            <a:t>Validate and publish</a:t>
          </a:r>
        </a:p>
        <a:p>
          <a:pPr>
            <a:buFont typeface="Arial" panose="020B0604020202020204" pitchFamily="34" charset="0"/>
            <a:buChar char="•"/>
          </a:pPr>
          <a:br>
            <a:rPr lang="en-US" sz="1200" dirty="0"/>
          </a:br>
          <a:r>
            <a:rPr lang="en-US" sz="1100" dirty="0"/>
            <a:t>The backend verifies the information, publishes the vacancy, and sends its requirements to the matching engine.</a:t>
          </a:r>
          <a:endParaRPr lang="en-US" sz="1200" dirty="0"/>
        </a:p>
      </dgm:t>
    </dgm:pt>
    <dgm:pt modelId="{16426D1B-2911-4C0E-B37B-549D7C35FC6F}" type="parTrans" cxnId="{64D61FD7-02BC-41E8-A041-8E508792F8C4}">
      <dgm:prSet/>
      <dgm:spPr/>
      <dgm:t>
        <a:bodyPr/>
        <a:lstStyle/>
        <a:p>
          <a:endParaRPr lang="en-US"/>
        </a:p>
      </dgm:t>
    </dgm:pt>
    <dgm:pt modelId="{ABE38FDA-F1D7-4978-A852-34712F724F98}" type="sibTrans" cxnId="{64D61FD7-02BC-41E8-A041-8E508792F8C4}">
      <dgm:prSet/>
      <dgm:spPr/>
      <dgm:t>
        <a:bodyPr/>
        <a:lstStyle/>
        <a:p>
          <a:endParaRPr lang="en-US"/>
        </a:p>
      </dgm:t>
    </dgm:pt>
    <dgm:pt modelId="{75F83BB5-4D1B-440E-A062-1BBB3506676F}" type="pres">
      <dgm:prSet presAssocID="{30BE1F4E-2592-4328-9314-AE32CB7F9B8C}" presName="Name0" presStyleCnt="0">
        <dgm:presLayoutVars>
          <dgm:dir/>
          <dgm:resizeHandles val="exact"/>
        </dgm:presLayoutVars>
      </dgm:prSet>
      <dgm:spPr/>
    </dgm:pt>
    <dgm:pt modelId="{B39682B9-1141-43A1-A247-75F7315711FD}" type="pres">
      <dgm:prSet presAssocID="{3AA3E013-B13C-4443-AE5E-843B5F4A2062}" presName="node" presStyleLbl="node1" presStyleIdx="0" presStyleCnt="6">
        <dgm:presLayoutVars>
          <dgm:bulletEnabled val="1"/>
        </dgm:presLayoutVars>
      </dgm:prSet>
      <dgm:spPr/>
    </dgm:pt>
    <dgm:pt modelId="{3EDC0133-0A27-4AC9-B323-3903CFA1BD19}" type="pres">
      <dgm:prSet presAssocID="{E226EE42-1CE8-4510-8000-3942A71BFB33}" presName="sibTrans" presStyleLbl="sibTrans2D1" presStyleIdx="0" presStyleCnt="5"/>
      <dgm:spPr/>
    </dgm:pt>
    <dgm:pt modelId="{01E47861-A7F6-4E20-B3EA-469CE2363D50}" type="pres">
      <dgm:prSet presAssocID="{E226EE42-1CE8-4510-8000-3942A71BFB33}" presName="connectorText" presStyleLbl="sibTrans2D1" presStyleIdx="0" presStyleCnt="5"/>
      <dgm:spPr/>
    </dgm:pt>
    <dgm:pt modelId="{94224887-68C9-4217-B10F-4ECA57388D67}" type="pres">
      <dgm:prSet presAssocID="{8CDF9D6A-A068-43ED-BB4D-482D3248F0EC}" presName="node" presStyleLbl="node1" presStyleIdx="1" presStyleCnt="6">
        <dgm:presLayoutVars>
          <dgm:bulletEnabled val="1"/>
        </dgm:presLayoutVars>
      </dgm:prSet>
      <dgm:spPr/>
    </dgm:pt>
    <dgm:pt modelId="{1D9FC036-EFE0-41A0-9505-5B369F54ACDF}" type="pres">
      <dgm:prSet presAssocID="{7D6FFF02-8540-4BA9-9D05-E763CDAABE9D}" presName="sibTrans" presStyleLbl="sibTrans2D1" presStyleIdx="1" presStyleCnt="5"/>
      <dgm:spPr/>
    </dgm:pt>
    <dgm:pt modelId="{1761299A-2A08-48B5-9CA8-4CCCB3D82D19}" type="pres">
      <dgm:prSet presAssocID="{7D6FFF02-8540-4BA9-9D05-E763CDAABE9D}" presName="connectorText" presStyleLbl="sibTrans2D1" presStyleIdx="1" presStyleCnt="5"/>
      <dgm:spPr/>
    </dgm:pt>
    <dgm:pt modelId="{CFD6A060-10CE-4428-A5F1-B9E9C461BDDC}" type="pres">
      <dgm:prSet presAssocID="{AB8E3D99-BF83-44B4-A6F9-4755D73825B8}" presName="node" presStyleLbl="node1" presStyleIdx="2" presStyleCnt="6">
        <dgm:presLayoutVars>
          <dgm:bulletEnabled val="1"/>
        </dgm:presLayoutVars>
      </dgm:prSet>
      <dgm:spPr/>
    </dgm:pt>
    <dgm:pt modelId="{90FEA1A8-3146-480A-BDD9-3869A4729ACE}" type="pres">
      <dgm:prSet presAssocID="{84BC8BD3-EA45-4D78-B50A-55BF721183C4}" presName="sibTrans" presStyleLbl="sibTrans2D1" presStyleIdx="2" presStyleCnt="5"/>
      <dgm:spPr/>
    </dgm:pt>
    <dgm:pt modelId="{032C6061-5735-43CA-B02A-5E47536F0A5D}" type="pres">
      <dgm:prSet presAssocID="{84BC8BD3-EA45-4D78-B50A-55BF721183C4}" presName="connectorText" presStyleLbl="sibTrans2D1" presStyleIdx="2" presStyleCnt="5"/>
      <dgm:spPr/>
    </dgm:pt>
    <dgm:pt modelId="{C57D1B6A-C848-4D29-83BF-265DF4F5A1CD}" type="pres">
      <dgm:prSet presAssocID="{8BA4EBA3-495D-41B7-8E09-C636D8C403A5}" presName="node" presStyleLbl="node1" presStyleIdx="3" presStyleCnt="6">
        <dgm:presLayoutVars>
          <dgm:bulletEnabled val="1"/>
        </dgm:presLayoutVars>
      </dgm:prSet>
      <dgm:spPr/>
    </dgm:pt>
    <dgm:pt modelId="{079882AD-7913-460F-B4B1-EABA1A00068C}" type="pres">
      <dgm:prSet presAssocID="{9CACA134-F4B9-4853-90EF-86C586AE73CB}" presName="sibTrans" presStyleLbl="sibTrans2D1" presStyleIdx="3" presStyleCnt="5"/>
      <dgm:spPr/>
    </dgm:pt>
    <dgm:pt modelId="{CE193570-CA7D-4765-8C2B-EEF0755A43E3}" type="pres">
      <dgm:prSet presAssocID="{9CACA134-F4B9-4853-90EF-86C586AE73CB}" presName="connectorText" presStyleLbl="sibTrans2D1" presStyleIdx="3" presStyleCnt="5"/>
      <dgm:spPr/>
    </dgm:pt>
    <dgm:pt modelId="{2B716865-2608-4A29-B32D-FA176BEFEC81}" type="pres">
      <dgm:prSet presAssocID="{DB694E4F-6496-43F7-946D-7B2B663B5AC1}" presName="node" presStyleLbl="node1" presStyleIdx="4" presStyleCnt="6">
        <dgm:presLayoutVars>
          <dgm:bulletEnabled val="1"/>
        </dgm:presLayoutVars>
      </dgm:prSet>
      <dgm:spPr/>
    </dgm:pt>
    <dgm:pt modelId="{3091FDC2-B681-4C16-9B15-C7343395FF43}" type="pres">
      <dgm:prSet presAssocID="{8344D45A-9363-4786-BF87-E2607D7CA26F}" presName="sibTrans" presStyleLbl="sibTrans2D1" presStyleIdx="4" presStyleCnt="5"/>
      <dgm:spPr/>
    </dgm:pt>
    <dgm:pt modelId="{94EBFCD8-DF89-40C7-8239-2E8C87099878}" type="pres">
      <dgm:prSet presAssocID="{8344D45A-9363-4786-BF87-E2607D7CA26F}" presName="connectorText" presStyleLbl="sibTrans2D1" presStyleIdx="4" presStyleCnt="5"/>
      <dgm:spPr/>
    </dgm:pt>
    <dgm:pt modelId="{CB155C7D-E6DB-48B5-BB82-20FB54001D55}" type="pres">
      <dgm:prSet presAssocID="{E1311D42-0736-4DDC-98F2-10CFB9053EC7}" presName="node" presStyleLbl="node1" presStyleIdx="5" presStyleCnt="6">
        <dgm:presLayoutVars>
          <dgm:bulletEnabled val="1"/>
        </dgm:presLayoutVars>
      </dgm:prSet>
      <dgm:spPr/>
    </dgm:pt>
  </dgm:ptLst>
  <dgm:cxnLst>
    <dgm:cxn modelId="{C421A603-92F3-4273-8154-E85C121430DE}" srcId="{30BE1F4E-2592-4328-9314-AE32CB7F9B8C}" destId="{8BA4EBA3-495D-41B7-8E09-C636D8C403A5}" srcOrd="3" destOrd="0" parTransId="{F6BF6BAB-D700-430F-AC7F-F1379F59F19B}" sibTransId="{9CACA134-F4B9-4853-90EF-86C586AE73CB}"/>
    <dgm:cxn modelId="{F16CB205-E05B-463C-B5CA-F3D0126A434D}" type="presOf" srcId="{7D6FFF02-8540-4BA9-9D05-E763CDAABE9D}" destId="{1D9FC036-EFE0-41A0-9505-5B369F54ACDF}" srcOrd="0" destOrd="0" presId="urn:microsoft.com/office/officeart/2005/8/layout/process1"/>
    <dgm:cxn modelId="{2C18320B-DA06-43ED-ABB8-637B01D62BBC}" type="presOf" srcId="{E1311D42-0736-4DDC-98F2-10CFB9053EC7}" destId="{CB155C7D-E6DB-48B5-BB82-20FB54001D55}" srcOrd="0" destOrd="0" presId="urn:microsoft.com/office/officeart/2005/8/layout/process1"/>
    <dgm:cxn modelId="{907D4813-E3BF-4443-9F10-056E72B36BD7}" type="presOf" srcId="{9CACA134-F4B9-4853-90EF-86C586AE73CB}" destId="{CE193570-CA7D-4765-8C2B-EEF0755A43E3}" srcOrd="1" destOrd="0" presId="urn:microsoft.com/office/officeart/2005/8/layout/process1"/>
    <dgm:cxn modelId="{42F3F516-CDDB-427C-9F4B-F16BAD935C00}" type="presOf" srcId="{8344D45A-9363-4786-BF87-E2607D7CA26F}" destId="{94EBFCD8-DF89-40C7-8239-2E8C87099878}" srcOrd="1" destOrd="0" presId="urn:microsoft.com/office/officeart/2005/8/layout/process1"/>
    <dgm:cxn modelId="{D1EB971E-6D43-47DC-9651-48AF0E53E2F7}" type="presOf" srcId="{3AA3E013-B13C-4443-AE5E-843B5F4A2062}" destId="{B39682B9-1141-43A1-A247-75F7315711FD}" srcOrd="0" destOrd="0" presId="urn:microsoft.com/office/officeart/2005/8/layout/process1"/>
    <dgm:cxn modelId="{BC23D55E-10B7-4B65-9736-1A6BB9CF4125}" type="presOf" srcId="{8BA4EBA3-495D-41B7-8E09-C636D8C403A5}" destId="{C57D1B6A-C848-4D29-83BF-265DF4F5A1CD}" srcOrd="0" destOrd="0" presId="urn:microsoft.com/office/officeart/2005/8/layout/process1"/>
    <dgm:cxn modelId="{8619FC64-407E-40AE-BCA8-492C4F321B6F}" type="presOf" srcId="{84BC8BD3-EA45-4D78-B50A-55BF721183C4}" destId="{90FEA1A8-3146-480A-BDD9-3869A4729ACE}" srcOrd="0" destOrd="0" presId="urn:microsoft.com/office/officeart/2005/8/layout/process1"/>
    <dgm:cxn modelId="{7D010146-44BF-49DB-833A-73A7DE80E54F}" type="presOf" srcId="{E226EE42-1CE8-4510-8000-3942A71BFB33}" destId="{01E47861-A7F6-4E20-B3EA-469CE2363D50}" srcOrd="1" destOrd="0" presId="urn:microsoft.com/office/officeart/2005/8/layout/process1"/>
    <dgm:cxn modelId="{1D480A55-69AF-4D09-9DBA-5B04AD066A0D}" type="presOf" srcId="{8CDF9D6A-A068-43ED-BB4D-482D3248F0EC}" destId="{94224887-68C9-4217-B10F-4ECA57388D67}" srcOrd="0" destOrd="0" presId="urn:microsoft.com/office/officeart/2005/8/layout/process1"/>
    <dgm:cxn modelId="{BDF8EC84-F837-48B0-ADBB-C0664BCA1211}" type="presOf" srcId="{30BE1F4E-2592-4328-9314-AE32CB7F9B8C}" destId="{75F83BB5-4D1B-440E-A062-1BBB3506676F}" srcOrd="0" destOrd="0" presId="urn:microsoft.com/office/officeart/2005/8/layout/process1"/>
    <dgm:cxn modelId="{D38A5085-1E16-4EA3-8E8D-AB651AD5EA9F}" type="presOf" srcId="{E226EE42-1CE8-4510-8000-3942A71BFB33}" destId="{3EDC0133-0A27-4AC9-B323-3903CFA1BD19}" srcOrd="0" destOrd="0" presId="urn:microsoft.com/office/officeart/2005/8/layout/process1"/>
    <dgm:cxn modelId="{ED65328D-4E74-4E74-ACF1-5E607F858A36}" type="presOf" srcId="{7D6FFF02-8540-4BA9-9D05-E763CDAABE9D}" destId="{1761299A-2A08-48B5-9CA8-4CCCB3D82D19}" srcOrd="1" destOrd="0" presId="urn:microsoft.com/office/officeart/2005/8/layout/process1"/>
    <dgm:cxn modelId="{011F859B-0CC9-4EEB-9099-BD935FFCF929}" type="presOf" srcId="{DB694E4F-6496-43F7-946D-7B2B663B5AC1}" destId="{2B716865-2608-4A29-B32D-FA176BEFEC81}" srcOrd="0" destOrd="0" presId="urn:microsoft.com/office/officeart/2005/8/layout/process1"/>
    <dgm:cxn modelId="{7C810FA0-29E9-4E61-AEA9-E2B6CE7AA02B}" srcId="{30BE1F4E-2592-4328-9314-AE32CB7F9B8C}" destId="{3AA3E013-B13C-4443-AE5E-843B5F4A2062}" srcOrd="0" destOrd="0" parTransId="{2985DC34-C7EA-437E-BDE8-F592DA9FC7B6}" sibTransId="{E226EE42-1CE8-4510-8000-3942A71BFB33}"/>
    <dgm:cxn modelId="{7B1B2AB4-3230-4963-AFC4-2FFF275525D1}" type="presOf" srcId="{9CACA134-F4B9-4853-90EF-86C586AE73CB}" destId="{079882AD-7913-460F-B4B1-EABA1A00068C}" srcOrd="0" destOrd="0" presId="urn:microsoft.com/office/officeart/2005/8/layout/process1"/>
    <dgm:cxn modelId="{BBC090B5-D69D-4D84-8B00-5F12E4B23803}" type="presOf" srcId="{AB8E3D99-BF83-44B4-A6F9-4755D73825B8}" destId="{CFD6A060-10CE-4428-A5F1-B9E9C461BDDC}" srcOrd="0" destOrd="0" presId="urn:microsoft.com/office/officeart/2005/8/layout/process1"/>
    <dgm:cxn modelId="{F3EA20C5-4D7B-42AF-82EB-ABD7F6ABC20A}" srcId="{30BE1F4E-2592-4328-9314-AE32CB7F9B8C}" destId="{8CDF9D6A-A068-43ED-BB4D-482D3248F0EC}" srcOrd="1" destOrd="0" parTransId="{821B6BDA-D425-4839-9A6C-73AEEE4FF8D6}" sibTransId="{7D6FFF02-8540-4BA9-9D05-E763CDAABE9D}"/>
    <dgm:cxn modelId="{9B0EE6C7-C02D-4651-8C68-98EE150B37DC}" srcId="{30BE1F4E-2592-4328-9314-AE32CB7F9B8C}" destId="{AB8E3D99-BF83-44B4-A6F9-4755D73825B8}" srcOrd="2" destOrd="0" parTransId="{EF993C63-A908-42DA-9877-6F25C693098C}" sibTransId="{84BC8BD3-EA45-4D78-B50A-55BF721183C4}"/>
    <dgm:cxn modelId="{E8A479CC-ADF0-4FCD-A588-41E3F9102BFA}" type="presOf" srcId="{84BC8BD3-EA45-4D78-B50A-55BF721183C4}" destId="{032C6061-5735-43CA-B02A-5E47536F0A5D}" srcOrd="1" destOrd="0" presId="urn:microsoft.com/office/officeart/2005/8/layout/process1"/>
    <dgm:cxn modelId="{64D61FD7-02BC-41E8-A041-8E508792F8C4}" srcId="{30BE1F4E-2592-4328-9314-AE32CB7F9B8C}" destId="{E1311D42-0736-4DDC-98F2-10CFB9053EC7}" srcOrd="5" destOrd="0" parTransId="{16426D1B-2911-4C0E-B37B-549D7C35FC6F}" sibTransId="{ABE38FDA-F1D7-4978-A852-34712F724F98}"/>
    <dgm:cxn modelId="{AF3118E4-9ABE-4471-AB5F-3B4CEAC62CED}" srcId="{30BE1F4E-2592-4328-9314-AE32CB7F9B8C}" destId="{DB694E4F-6496-43F7-946D-7B2B663B5AC1}" srcOrd="4" destOrd="0" parTransId="{1BC523A1-CC61-4BF6-8DFD-EEA4D053A603}" sibTransId="{8344D45A-9363-4786-BF87-E2607D7CA26F}"/>
    <dgm:cxn modelId="{B2EFE3FF-855A-4C0C-9363-C18535044299}" type="presOf" srcId="{8344D45A-9363-4786-BF87-E2607D7CA26F}" destId="{3091FDC2-B681-4C16-9B15-C7343395FF43}" srcOrd="0" destOrd="0" presId="urn:microsoft.com/office/officeart/2005/8/layout/process1"/>
    <dgm:cxn modelId="{6C14DA9D-AE68-400A-84C8-4710F290763A}" type="presParOf" srcId="{75F83BB5-4D1B-440E-A062-1BBB3506676F}" destId="{B39682B9-1141-43A1-A247-75F7315711FD}" srcOrd="0" destOrd="0" presId="urn:microsoft.com/office/officeart/2005/8/layout/process1"/>
    <dgm:cxn modelId="{BF0E3311-127C-4CC4-908B-C85C23D56B4B}" type="presParOf" srcId="{75F83BB5-4D1B-440E-A062-1BBB3506676F}" destId="{3EDC0133-0A27-4AC9-B323-3903CFA1BD19}" srcOrd="1" destOrd="0" presId="urn:microsoft.com/office/officeart/2005/8/layout/process1"/>
    <dgm:cxn modelId="{B9DA2D9B-7240-4294-85E7-D519E91358E5}" type="presParOf" srcId="{3EDC0133-0A27-4AC9-B323-3903CFA1BD19}" destId="{01E47861-A7F6-4E20-B3EA-469CE2363D50}" srcOrd="0" destOrd="0" presId="urn:microsoft.com/office/officeart/2005/8/layout/process1"/>
    <dgm:cxn modelId="{183A940D-56AE-43C3-A38A-1EC604FFB71F}" type="presParOf" srcId="{75F83BB5-4D1B-440E-A062-1BBB3506676F}" destId="{94224887-68C9-4217-B10F-4ECA57388D67}" srcOrd="2" destOrd="0" presId="urn:microsoft.com/office/officeart/2005/8/layout/process1"/>
    <dgm:cxn modelId="{20941583-B1CC-4966-8A8A-17AEA2376B68}" type="presParOf" srcId="{75F83BB5-4D1B-440E-A062-1BBB3506676F}" destId="{1D9FC036-EFE0-41A0-9505-5B369F54ACDF}" srcOrd="3" destOrd="0" presId="urn:microsoft.com/office/officeart/2005/8/layout/process1"/>
    <dgm:cxn modelId="{66E8D4D9-88F6-44D1-8259-7C549C1F3437}" type="presParOf" srcId="{1D9FC036-EFE0-41A0-9505-5B369F54ACDF}" destId="{1761299A-2A08-48B5-9CA8-4CCCB3D82D19}" srcOrd="0" destOrd="0" presId="urn:microsoft.com/office/officeart/2005/8/layout/process1"/>
    <dgm:cxn modelId="{7F6F55C5-AD8B-49A1-939E-7F60F0B66C3F}" type="presParOf" srcId="{75F83BB5-4D1B-440E-A062-1BBB3506676F}" destId="{CFD6A060-10CE-4428-A5F1-B9E9C461BDDC}" srcOrd="4" destOrd="0" presId="urn:microsoft.com/office/officeart/2005/8/layout/process1"/>
    <dgm:cxn modelId="{86D936B0-EC89-477F-B999-6260C05DB008}" type="presParOf" srcId="{75F83BB5-4D1B-440E-A062-1BBB3506676F}" destId="{90FEA1A8-3146-480A-BDD9-3869A4729ACE}" srcOrd="5" destOrd="0" presId="urn:microsoft.com/office/officeart/2005/8/layout/process1"/>
    <dgm:cxn modelId="{79E7BED0-7C21-4CC3-8E53-E10D87EE5E2B}" type="presParOf" srcId="{90FEA1A8-3146-480A-BDD9-3869A4729ACE}" destId="{032C6061-5735-43CA-B02A-5E47536F0A5D}" srcOrd="0" destOrd="0" presId="urn:microsoft.com/office/officeart/2005/8/layout/process1"/>
    <dgm:cxn modelId="{801B234D-C612-40D3-B3DF-A0109A6710A7}" type="presParOf" srcId="{75F83BB5-4D1B-440E-A062-1BBB3506676F}" destId="{C57D1B6A-C848-4D29-83BF-265DF4F5A1CD}" srcOrd="6" destOrd="0" presId="urn:microsoft.com/office/officeart/2005/8/layout/process1"/>
    <dgm:cxn modelId="{25CBE453-4468-4C08-B532-9C2151D03E2B}" type="presParOf" srcId="{75F83BB5-4D1B-440E-A062-1BBB3506676F}" destId="{079882AD-7913-460F-B4B1-EABA1A00068C}" srcOrd="7" destOrd="0" presId="urn:microsoft.com/office/officeart/2005/8/layout/process1"/>
    <dgm:cxn modelId="{B5CCE1E7-B47C-422B-B4F0-B7B598A1E833}" type="presParOf" srcId="{079882AD-7913-460F-B4B1-EABA1A00068C}" destId="{CE193570-CA7D-4765-8C2B-EEF0755A43E3}" srcOrd="0" destOrd="0" presId="urn:microsoft.com/office/officeart/2005/8/layout/process1"/>
    <dgm:cxn modelId="{5A02861F-C2E5-4C72-AD33-2C6E8CDA6A98}" type="presParOf" srcId="{75F83BB5-4D1B-440E-A062-1BBB3506676F}" destId="{2B716865-2608-4A29-B32D-FA176BEFEC81}" srcOrd="8" destOrd="0" presId="urn:microsoft.com/office/officeart/2005/8/layout/process1"/>
    <dgm:cxn modelId="{97E9D4B8-4730-4B99-A31A-F6A5B1CF1165}" type="presParOf" srcId="{75F83BB5-4D1B-440E-A062-1BBB3506676F}" destId="{3091FDC2-B681-4C16-9B15-C7343395FF43}" srcOrd="9" destOrd="0" presId="urn:microsoft.com/office/officeart/2005/8/layout/process1"/>
    <dgm:cxn modelId="{D2AF781B-87B0-4E38-B3E1-C23CBC10E59D}" type="presParOf" srcId="{3091FDC2-B681-4C16-9B15-C7343395FF43}" destId="{94EBFCD8-DF89-40C7-8239-2E8C87099878}" srcOrd="0" destOrd="0" presId="urn:microsoft.com/office/officeart/2005/8/layout/process1"/>
    <dgm:cxn modelId="{E3D167AB-B5F8-4C83-BB6E-A8827983CD4C}" type="presParOf" srcId="{75F83BB5-4D1B-440E-A062-1BBB3506676F}" destId="{CB155C7D-E6DB-48B5-BB82-20FB54001D55}"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1D7018-79A5-425E-A70D-E9AA11DB3FDE}" type="doc">
      <dgm:prSet loTypeId="urn:microsoft.com/office/officeart/2005/8/layout/process1" loCatId="process" qsTypeId="urn:microsoft.com/office/officeart/2005/8/quickstyle/simple1" qsCatId="simple" csTypeId="urn:microsoft.com/office/officeart/2005/8/colors/accent0_1" csCatId="mainScheme" phldr="1"/>
      <dgm:spPr/>
      <dgm:t>
        <a:bodyPr/>
        <a:lstStyle/>
        <a:p>
          <a:endParaRPr lang="en-US"/>
        </a:p>
      </dgm:t>
    </dgm:pt>
    <dgm:pt modelId="{64D41440-F578-44C6-94BD-F0E28A574923}">
      <dgm:prSet phldrT="[Text]" custT="1"/>
      <dgm:spPr/>
      <dgm:t>
        <a:bodyPr/>
        <a:lstStyle/>
        <a:p>
          <a:pPr>
            <a:buFont typeface="Arial" panose="020B0604020202020204" pitchFamily="34" charset="0"/>
            <a:buChar char="•"/>
          </a:pPr>
          <a:r>
            <a:rPr lang="en-US" sz="1200" b="1" dirty="0"/>
            <a:t>Capture candidate speech</a:t>
          </a:r>
        </a:p>
        <a:p>
          <a:pPr>
            <a:buFont typeface="Arial" panose="020B0604020202020204" pitchFamily="34" charset="0"/>
            <a:buChar char="•"/>
          </a:pPr>
          <a:br>
            <a:rPr lang="en-US" sz="1200" dirty="0"/>
          </a:br>
          <a:r>
            <a:rPr lang="en-US" sz="1100" dirty="0"/>
            <a:t>The browser records the candidate’s voice as </a:t>
          </a:r>
          <a:r>
            <a:rPr lang="en-US" sz="1100" dirty="0" err="1"/>
            <a:t>WebM</a:t>
          </a:r>
          <a:r>
            <a:rPr lang="en-US" sz="1100" dirty="0"/>
            <a:t>/Opus audio.</a:t>
          </a:r>
          <a:endParaRPr lang="en-US" sz="1200" dirty="0"/>
        </a:p>
      </dgm:t>
    </dgm:pt>
    <dgm:pt modelId="{6E9DA887-0AB2-4ED7-9C12-3F4A0D89DA8D}" type="parTrans" cxnId="{61BBBFED-7A15-4320-AD3C-E09CD1B2DA39}">
      <dgm:prSet/>
      <dgm:spPr/>
      <dgm:t>
        <a:bodyPr/>
        <a:lstStyle/>
        <a:p>
          <a:endParaRPr lang="en-US"/>
        </a:p>
      </dgm:t>
    </dgm:pt>
    <dgm:pt modelId="{143CB31F-5D01-418F-AC1E-A0542D553530}" type="sibTrans" cxnId="{61BBBFED-7A15-4320-AD3C-E09CD1B2DA39}">
      <dgm:prSet/>
      <dgm:spPr/>
      <dgm:t>
        <a:bodyPr/>
        <a:lstStyle/>
        <a:p>
          <a:endParaRPr lang="en-US"/>
        </a:p>
      </dgm:t>
    </dgm:pt>
    <dgm:pt modelId="{08E8130B-3D5C-4935-8E6A-463ACEADCD11}">
      <dgm:prSet custT="1"/>
      <dgm:spPr/>
      <dgm:t>
        <a:bodyPr/>
        <a:lstStyle/>
        <a:p>
          <a:pPr>
            <a:buFont typeface="Arial" panose="020B0604020202020204" pitchFamily="34" charset="0"/>
            <a:buChar char="•"/>
          </a:pPr>
          <a:r>
            <a:rPr lang="en-US" sz="1200" b="1" dirty="0"/>
            <a:t>Send audio for processing</a:t>
          </a:r>
        </a:p>
        <a:p>
          <a:pPr>
            <a:buFont typeface="Arial" panose="020B0604020202020204" pitchFamily="34" charset="0"/>
            <a:buChar char="•"/>
          </a:pPr>
          <a:br>
            <a:rPr lang="en-US" sz="1200" dirty="0"/>
          </a:br>
          <a:r>
            <a:rPr lang="en-US" sz="1100" dirty="0"/>
            <a:t>The recording is uploaded to the Python voice service.</a:t>
          </a:r>
          <a:endParaRPr lang="en-US" sz="1200" dirty="0"/>
        </a:p>
      </dgm:t>
    </dgm:pt>
    <dgm:pt modelId="{A005C736-D567-469B-B2CD-9F8D5DAC1E83}" type="parTrans" cxnId="{13323621-591D-44A8-9864-436CD2315A31}">
      <dgm:prSet/>
      <dgm:spPr/>
      <dgm:t>
        <a:bodyPr/>
        <a:lstStyle/>
        <a:p>
          <a:endParaRPr lang="en-US"/>
        </a:p>
      </dgm:t>
    </dgm:pt>
    <dgm:pt modelId="{28AB60F6-F06D-4B94-AD9F-BF0FF7056002}" type="sibTrans" cxnId="{13323621-591D-44A8-9864-436CD2315A31}">
      <dgm:prSet/>
      <dgm:spPr/>
      <dgm:t>
        <a:bodyPr/>
        <a:lstStyle/>
        <a:p>
          <a:endParaRPr lang="en-US"/>
        </a:p>
      </dgm:t>
    </dgm:pt>
    <dgm:pt modelId="{FA3B827A-1E2A-4220-A6ED-0B1ECE0F5A71}">
      <dgm:prSet custT="1"/>
      <dgm:spPr/>
      <dgm:t>
        <a:bodyPr/>
        <a:lstStyle/>
        <a:p>
          <a:pPr>
            <a:buFont typeface="Arial" panose="020B0604020202020204" pitchFamily="34" charset="0"/>
            <a:buNone/>
          </a:pPr>
          <a:r>
            <a:rPr lang="en-US" sz="1200" b="1" dirty="0"/>
            <a:t>Convert speech to text</a:t>
          </a:r>
        </a:p>
        <a:p>
          <a:pPr>
            <a:buFont typeface="Arial" panose="020B0604020202020204" pitchFamily="34" charset="0"/>
            <a:buNone/>
          </a:pPr>
          <a:br>
            <a:rPr lang="en-US" sz="1200" dirty="0"/>
          </a:br>
          <a:r>
            <a:rPr lang="en-US" sz="1100" dirty="0"/>
            <a:t>Whisper-1 produces a written transcript of the command.</a:t>
          </a:r>
          <a:endParaRPr lang="en-US" sz="1200" dirty="0"/>
        </a:p>
      </dgm:t>
    </dgm:pt>
    <dgm:pt modelId="{09818345-4608-40CD-97F9-39F11FC1C9F7}" type="parTrans" cxnId="{28CE8E8E-7C41-47F4-AF40-846DAFB668C4}">
      <dgm:prSet/>
      <dgm:spPr/>
      <dgm:t>
        <a:bodyPr/>
        <a:lstStyle/>
        <a:p>
          <a:endParaRPr lang="en-US"/>
        </a:p>
      </dgm:t>
    </dgm:pt>
    <dgm:pt modelId="{7F1A2E74-94C9-4F96-BB46-CEF39F6B4860}" type="sibTrans" cxnId="{28CE8E8E-7C41-47F4-AF40-846DAFB668C4}">
      <dgm:prSet/>
      <dgm:spPr/>
      <dgm:t>
        <a:bodyPr/>
        <a:lstStyle/>
        <a:p>
          <a:endParaRPr lang="en-US"/>
        </a:p>
      </dgm:t>
    </dgm:pt>
    <dgm:pt modelId="{A4DFD599-AA70-4651-8302-626FE02E288D}">
      <dgm:prSet custT="1"/>
      <dgm:spPr/>
      <dgm:t>
        <a:bodyPr/>
        <a:lstStyle/>
        <a:p>
          <a:pPr>
            <a:buFont typeface="Arial" panose="020B0604020202020204" pitchFamily="34" charset="0"/>
            <a:buChar char="•"/>
          </a:pPr>
          <a:r>
            <a:rPr lang="en-US" sz="1200" b="1" dirty="0"/>
            <a:t>Classify the request</a:t>
          </a:r>
        </a:p>
        <a:p>
          <a:pPr>
            <a:buFont typeface="Arial" panose="020B0604020202020204" pitchFamily="34" charset="0"/>
            <a:buChar char="•"/>
          </a:pPr>
          <a:br>
            <a:rPr lang="en-US" sz="1200" dirty="0"/>
          </a:br>
          <a:r>
            <a:rPr lang="en-US" sz="1100" dirty="0"/>
            <a:t>Identify it as navigation, an interface action, or a page question.</a:t>
          </a:r>
          <a:endParaRPr lang="en-US" sz="1200" dirty="0"/>
        </a:p>
      </dgm:t>
    </dgm:pt>
    <dgm:pt modelId="{76D210F3-E110-4220-89CB-18862575C04B}" type="parTrans" cxnId="{261E12E1-47AF-471B-898D-2761F984C070}">
      <dgm:prSet/>
      <dgm:spPr/>
      <dgm:t>
        <a:bodyPr/>
        <a:lstStyle/>
        <a:p>
          <a:endParaRPr lang="en-US"/>
        </a:p>
      </dgm:t>
    </dgm:pt>
    <dgm:pt modelId="{1F41AC04-959B-46CF-8F89-A2E24435B759}" type="sibTrans" cxnId="{261E12E1-47AF-471B-898D-2761F984C070}">
      <dgm:prSet/>
      <dgm:spPr/>
      <dgm:t>
        <a:bodyPr/>
        <a:lstStyle/>
        <a:p>
          <a:endParaRPr lang="en-US"/>
        </a:p>
      </dgm:t>
    </dgm:pt>
    <dgm:pt modelId="{AACC4319-6307-444F-BD0F-D46F51B7455E}">
      <dgm:prSet custT="1"/>
      <dgm:spPr/>
      <dgm:t>
        <a:bodyPr/>
        <a:lstStyle/>
        <a:p>
          <a:pPr>
            <a:buFont typeface="Arial" panose="020B0604020202020204" pitchFamily="34" charset="0"/>
            <a:buChar char="•"/>
          </a:pPr>
          <a:r>
            <a:rPr lang="en-US" sz="1200" b="1" dirty="0"/>
            <a:t>Validate the command</a:t>
          </a:r>
        </a:p>
        <a:p>
          <a:pPr>
            <a:buFont typeface="Arial" panose="020B0604020202020204" pitchFamily="34" charset="0"/>
            <a:buChar char="•"/>
          </a:pPr>
          <a:br>
            <a:rPr lang="en-US" sz="1200" dirty="0"/>
          </a:br>
          <a:r>
            <a:rPr lang="en-US" sz="1100" dirty="0"/>
            <a:t>Check the requested operation against the current page and allowed registry.</a:t>
          </a:r>
          <a:endParaRPr lang="en-US" sz="1200" dirty="0"/>
        </a:p>
      </dgm:t>
    </dgm:pt>
    <dgm:pt modelId="{04DB4487-5CDE-4EC3-AFE8-64936FC59020}" type="parTrans" cxnId="{56DD3C0C-3EAF-44E9-B360-827494A7F7C4}">
      <dgm:prSet/>
      <dgm:spPr/>
      <dgm:t>
        <a:bodyPr/>
        <a:lstStyle/>
        <a:p>
          <a:endParaRPr lang="en-US"/>
        </a:p>
      </dgm:t>
    </dgm:pt>
    <dgm:pt modelId="{B4BDB8EF-6191-41DF-83E8-EDE4AC1B5280}" type="sibTrans" cxnId="{56DD3C0C-3EAF-44E9-B360-827494A7F7C4}">
      <dgm:prSet/>
      <dgm:spPr/>
      <dgm:t>
        <a:bodyPr/>
        <a:lstStyle/>
        <a:p>
          <a:endParaRPr lang="en-US"/>
        </a:p>
      </dgm:t>
    </dgm:pt>
    <dgm:pt modelId="{E3E0C2DA-3248-4690-A609-E608CAA179A6}">
      <dgm:prSet custT="1"/>
      <dgm:spPr/>
      <dgm:t>
        <a:bodyPr/>
        <a:lstStyle/>
        <a:p>
          <a:pPr>
            <a:buFont typeface="Arial" panose="020B0604020202020204" pitchFamily="34" charset="0"/>
            <a:buChar char="•"/>
          </a:pPr>
          <a:r>
            <a:rPr lang="en-US" sz="1200" b="1" dirty="0"/>
            <a:t>Execute or answer</a:t>
          </a:r>
        </a:p>
        <a:p>
          <a:pPr>
            <a:buFont typeface="Arial" panose="020B0604020202020204" pitchFamily="34" charset="0"/>
            <a:buChar char="•"/>
          </a:pPr>
          <a:br>
            <a:rPr lang="en-US" sz="1200" dirty="0"/>
          </a:br>
          <a:r>
            <a:rPr lang="en-US" sz="1100" dirty="0"/>
            <a:t>Perform the permitted action or answer the candidate’s question.</a:t>
          </a:r>
          <a:endParaRPr lang="en-US" sz="1200" dirty="0"/>
        </a:p>
      </dgm:t>
    </dgm:pt>
    <dgm:pt modelId="{7B1E7D0A-AABA-4746-936A-E453FC799FC0}" type="parTrans" cxnId="{BE3AE05B-CE8C-468A-BEC8-6A744797E997}">
      <dgm:prSet/>
      <dgm:spPr/>
      <dgm:t>
        <a:bodyPr/>
        <a:lstStyle/>
        <a:p>
          <a:endParaRPr lang="en-US"/>
        </a:p>
      </dgm:t>
    </dgm:pt>
    <dgm:pt modelId="{359835B6-8274-4B55-BB30-0C130C04DE45}" type="sibTrans" cxnId="{BE3AE05B-CE8C-468A-BEC8-6A744797E997}">
      <dgm:prSet/>
      <dgm:spPr/>
      <dgm:t>
        <a:bodyPr/>
        <a:lstStyle/>
        <a:p>
          <a:endParaRPr lang="en-US"/>
        </a:p>
      </dgm:t>
    </dgm:pt>
    <dgm:pt modelId="{C0D596E1-EBD9-42ED-B19D-01FFA636AA64}">
      <dgm:prSet custT="1"/>
      <dgm:spPr/>
      <dgm:t>
        <a:bodyPr/>
        <a:lstStyle/>
        <a:p>
          <a:pPr>
            <a:buFont typeface="Arial" panose="020B0604020202020204" pitchFamily="34" charset="0"/>
            <a:buChar char="•"/>
          </a:pPr>
          <a:r>
            <a:rPr lang="en-US" sz="1200" b="1" dirty="0"/>
            <a:t>Provide accessible feedback</a:t>
          </a:r>
        </a:p>
        <a:p>
          <a:pPr>
            <a:buFont typeface="Arial" panose="020B0604020202020204" pitchFamily="34" charset="0"/>
            <a:buChar char="•"/>
          </a:pPr>
          <a:br>
            <a:rPr lang="en-US" sz="1200" dirty="0"/>
          </a:br>
          <a:r>
            <a:rPr lang="en-US" sz="1100" dirty="0"/>
            <a:t>Display the result visually and read it aloud; sensitive actions require confirmation.</a:t>
          </a:r>
          <a:endParaRPr lang="en-US" sz="1200" dirty="0"/>
        </a:p>
      </dgm:t>
    </dgm:pt>
    <dgm:pt modelId="{9F734494-0689-4926-81A0-920C6A0F2BD7}" type="parTrans" cxnId="{077D4CFD-1068-45B3-9B64-AB87978A3087}">
      <dgm:prSet/>
      <dgm:spPr/>
      <dgm:t>
        <a:bodyPr/>
        <a:lstStyle/>
        <a:p>
          <a:endParaRPr lang="en-US"/>
        </a:p>
      </dgm:t>
    </dgm:pt>
    <dgm:pt modelId="{965F2FDA-3416-4B5E-8CB8-805F82567957}" type="sibTrans" cxnId="{077D4CFD-1068-45B3-9B64-AB87978A3087}">
      <dgm:prSet/>
      <dgm:spPr/>
      <dgm:t>
        <a:bodyPr/>
        <a:lstStyle/>
        <a:p>
          <a:endParaRPr lang="en-US"/>
        </a:p>
      </dgm:t>
    </dgm:pt>
    <dgm:pt modelId="{6CC9E81B-984C-43CD-B6D7-1B4E99BCD5C2}" type="pres">
      <dgm:prSet presAssocID="{A81D7018-79A5-425E-A70D-E9AA11DB3FDE}" presName="Name0" presStyleCnt="0">
        <dgm:presLayoutVars>
          <dgm:dir/>
          <dgm:resizeHandles val="exact"/>
        </dgm:presLayoutVars>
      </dgm:prSet>
      <dgm:spPr/>
    </dgm:pt>
    <dgm:pt modelId="{B9834D01-2F70-4123-9688-7D4ED574778A}" type="pres">
      <dgm:prSet presAssocID="{64D41440-F578-44C6-94BD-F0E28A574923}" presName="node" presStyleLbl="node1" presStyleIdx="0" presStyleCnt="7">
        <dgm:presLayoutVars>
          <dgm:bulletEnabled val="1"/>
        </dgm:presLayoutVars>
      </dgm:prSet>
      <dgm:spPr/>
    </dgm:pt>
    <dgm:pt modelId="{BCE8D401-0BFA-40F7-A84D-471E3A189CFA}" type="pres">
      <dgm:prSet presAssocID="{143CB31F-5D01-418F-AC1E-A0542D553530}" presName="sibTrans" presStyleLbl="sibTrans2D1" presStyleIdx="0" presStyleCnt="6"/>
      <dgm:spPr/>
    </dgm:pt>
    <dgm:pt modelId="{3BB1143B-804E-4E45-9C97-D3FD8F9C84AD}" type="pres">
      <dgm:prSet presAssocID="{143CB31F-5D01-418F-AC1E-A0542D553530}" presName="connectorText" presStyleLbl="sibTrans2D1" presStyleIdx="0" presStyleCnt="6"/>
      <dgm:spPr/>
    </dgm:pt>
    <dgm:pt modelId="{18030355-8A45-4291-BE04-9011C4E03A77}" type="pres">
      <dgm:prSet presAssocID="{08E8130B-3D5C-4935-8E6A-463ACEADCD11}" presName="node" presStyleLbl="node1" presStyleIdx="1" presStyleCnt="7">
        <dgm:presLayoutVars>
          <dgm:bulletEnabled val="1"/>
        </dgm:presLayoutVars>
      </dgm:prSet>
      <dgm:spPr/>
    </dgm:pt>
    <dgm:pt modelId="{D27105D3-CA6E-44BC-8AB3-F1C76938A21C}" type="pres">
      <dgm:prSet presAssocID="{28AB60F6-F06D-4B94-AD9F-BF0FF7056002}" presName="sibTrans" presStyleLbl="sibTrans2D1" presStyleIdx="1" presStyleCnt="6"/>
      <dgm:spPr/>
    </dgm:pt>
    <dgm:pt modelId="{F57C8E81-68B7-4838-869B-40635A60F97A}" type="pres">
      <dgm:prSet presAssocID="{28AB60F6-F06D-4B94-AD9F-BF0FF7056002}" presName="connectorText" presStyleLbl="sibTrans2D1" presStyleIdx="1" presStyleCnt="6"/>
      <dgm:spPr/>
    </dgm:pt>
    <dgm:pt modelId="{97C1A45B-2520-423F-9665-03C350941C59}" type="pres">
      <dgm:prSet presAssocID="{FA3B827A-1E2A-4220-A6ED-0B1ECE0F5A71}" presName="node" presStyleLbl="node1" presStyleIdx="2" presStyleCnt="7">
        <dgm:presLayoutVars>
          <dgm:bulletEnabled val="1"/>
        </dgm:presLayoutVars>
      </dgm:prSet>
      <dgm:spPr/>
    </dgm:pt>
    <dgm:pt modelId="{E3D8488D-2827-4EBE-AB13-C99AAB81ADFC}" type="pres">
      <dgm:prSet presAssocID="{7F1A2E74-94C9-4F96-BB46-CEF39F6B4860}" presName="sibTrans" presStyleLbl="sibTrans2D1" presStyleIdx="2" presStyleCnt="6"/>
      <dgm:spPr/>
    </dgm:pt>
    <dgm:pt modelId="{693430A9-F8AF-4872-B3AE-84CE3D9FE6ED}" type="pres">
      <dgm:prSet presAssocID="{7F1A2E74-94C9-4F96-BB46-CEF39F6B4860}" presName="connectorText" presStyleLbl="sibTrans2D1" presStyleIdx="2" presStyleCnt="6"/>
      <dgm:spPr/>
    </dgm:pt>
    <dgm:pt modelId="{46D75146-C4CD-4427-8FB7-020EB60083B8}" type="pres">
      <dgm:prSet presAssocID="{A4DFD599-AA70-4651-8302-626FE02E288D}" presName="node" presStyleLbl="node1" presStyleIdx="3" presStyleCnt="7">
        <dgm:presLayoutVars>
          <dgm:bulletEnabled val="1"/>
        </dgm:presLayoutVars>
      </dgm:prSet>
      <dgm:spPr/>
    </dgm:pt>
    <dgm:pt modelId="{865F6DA3-BD3B-47F5-9494-40564A10EBCE}" type="pres">
      <dgm:prSet presAssocID="{1F41AC04-959B-46CF-8F89-A2E24435B759}" presName="sibTrans" presStyleLbl="sibTrans2D1" presStyleIdx="3" presStyleCnt="6"/>
      <dgm:spPr/>
    </dgm:pt>
    <dgm:pt modelId="{DD03692B-8A4E-4025-AAF2-BE3960D2F250}" type="pres">
      <dgm:prSet presAssocID="{1F41AC04-959B-46CF-8F89-A2E24435B759}" presName="connectorText" presStyleLbl="sibTrans2D1" presStyleIdx="3" presStyleCnt="6"/>
      <dgm:spPr/>
    </dgm:pt>
    <dgm:pt modelId="{BBBB3F98-1883-44C4-B9F4-8BB844BA97E9}" type="pres">
      <dgm:prSet presAssocID="{AACC4319-6307-444F-BD0F-D46F51B7455E}" presName="node" presStyleLbl="node1" presStyleIdx="4" presStyleCnt="7">
        <dgm:presLayoutVars>
          <dgm:bulletEnabled val="1"/>
        </dgm:presLayoutVars>
      </dgm:prSet>
      <dgm:spPr/>
    </dgm:pt>
    <dgm:pt modelId="{B3EDF01F-86D3-4714-A808-4091B9A99A1F}" type="pres">
      <dgm:prSet presAssocID="{B4BDB8EF-6191-41DF-83E8-EDE4AC1B5280}" presName="sibTrans" presStyleLbl="sibTrans2D1" presStyleIdx="4" presStyleCnt="6"/>
      <dgm:spPr/>
    </dgm:pt>
    <dgm:pt modelId="{4C01A305-63A3-4ABE-A5D0-1F26439AF5DF}" type="pres">
      <dgm:prSet presAssocID="{B4BDB8EF-6191-41DF-83E8-EDE4AC1B5280}" presName="connectorText" presStyleLbl="sibTrans2D1" presStyleIdx="4" presStyleCnt="6"/>
      <dgm:spPr/>
    </dgm:pt>
    <dgm:pt modelId="{FB0B3B7C-5164-4EE6-916D-16964C74B257}" type="pres">
      <dgm:prSet presAssocID="{E3E0C2DA-3248-4690-A609-E608CAA179A6}" presName="node" presStyleLbl="node1" presStyleIdx="5" presStyleCnt="7">
        <dgm:presLayoutVars>
          <dgm:bulletEnabled val="1"/>
        </dgm:presLayoutVars>
      </dgm:prSet>
      <dgm:spPr/>
    </dgm:pt>
    <dgm:pt modelId="{9272A5CF-3DC0-448F-8299-B7CB6336C940}" type="pres">
      <dgm:prSet presAssocID="{359835B6-8274-4B55-BB30-0C130C04DE45}" presName="sibTrans" presStyleLbl="sibTrans2D1" presStyleIdx="5" presStyleCnt="6"/>
      <dgm:spPr/>
    </dgm:pt>
    <dgm:pt modelId="{22D7B58C-9B78-4C0E-B2EF-179E3A5C559E}" type="pres">
      <dgm:prSet presAssocID="{359835B6-8274-4B55-BB30-0C130C04DE45}" presName="connectorText" presStyleLbl="sibTrans2D1" presStyleIdx="5" presStyleCnt="6"/>
      <dgm:spPr/>
    </dgm:pt>
    <dgm:pt modelId="{A056299B-BFEF-451E-A9A0-2549D754B228}" type="pres">
      <dgm:prSet presAssocID="{C0D596E1-EBD9-42ED-B19D-01FFA636AA64}" presName="node" presStyleLbl="node1" presStyleIdx="6" presStyleCnt="7">
        <dgm:presLayoutVars>
          <dgm:bulletEnabled val="1"/>
        </dgm:presLayoutVars>
      </dgm:prSet>
      <dgm:spPr/>
    </dgm:pt>
  </dgm:ptLst>
  <dgm:cxnLst>
    <dgm:cxn modelId="{0A322507-5111-4CFA-A435-5771BA993CC1}" type="presOf" srcId="{AACC4319-6307-444F-BD0F-D46F51B7455E}" destId="{BBBB3F98-1883-44C4-B9F4-8BB844BA97E9}" srcOrd="0" destOrd="0" presId="urn:microsoft.com/office/officeart/2005/8/layout/process1"/>
    <dgm:cxn modelId="{56DD3C0C-3EAF-44E9-B360-827494A7F7C4}" srcId="{A81D7018-79A5-425E-A70D-E9AA11DB3FDE}" destId="{AACC4319-6307-444F-BD0F-D46F51B7455E}" srcOrd="4" destOrd="0" parTransId="{04DB4487-5CDE-4EC3-AFE8-64936FC59020}" sibTransId="{B4BDB8EF-6191-41DF-83E8-EDE4AC1B5280}"/>
    <dgm:cxn modelId="{C926D70E-38DC-43D6-975E-85622C39697F}" type="presOf" srcId="{FA3B827A-1E2A-4220-A6ED-0B1ECE0F5A71}" destId="{97C1A45B-2520-423F-9665-03C350941C59}" srcOrd="0" destOrd="0" presId="urn:microsoft.com/office/officeart/2005/8/layout/process1"/>
    <dgm:cxn modelId="{EE1F120F-8A59-4226-BDC9-C38CC39F049F}" type="presOf" srcId="{28AB60F6-F06D-4B94-AD9F-BF0FF7056002}" destId="{D27105D3-CA6E-44BC-8AB3-F1C76938A21C}" srcOrd="0" destOrd="0" presId="urn:microsoft.com/office/officeart/2005/8/layout/process1"/>
    <dgm:cxn modelId="{13323621-591D-44A8-9864-436CD2315A31}" srcId="{A81D7018-79A5-425E-A70D-E9AA11DB3FDE}" destId="{08E8130B-3D5C-4935-8E6A-463ACEADCD11}" srcOrd="1" destOrd="0" parTransId="{A005C736-D567-469B-B2CD-9F8D5DAC1E83}" sibTransId="{28AB60F6-F06D-4B94-AD9F-BF0FF7056002}"/>
    <dgm:cxn modelId="{6D537A28-67D9-4436-966F-23FB4675200E}" type="presOf" srcId="{C0D596E1-EBD9-42ED-B19D-01FFA636AA64}" destId="{A056299B-BFEF-451E-A9A0-2549D754B228}" srcOrd="0" destOrd="0" presId="urn:microsoft.com/office/officeart/2005/8/layout/process1"/>
    <dgm:cxn modelId="{54A3A82C-EB00-42E2-A800-C68099D0B8A6}" type="presOf" srcId="{143CB31F-5D01-418F-AC1E-A0542D553530}" destId="{3BB1143B-804E-4E45-9C97-D3FD8F9C84AD}" srcOrd="1" destOrd="0" presId="urn:microsoft.com/office/officeart/2005/8/layout/process1"/>
    <dgm:cxn modelId="{46899831-DD92-4C0F-AFCA-D3F7BAAE1B3D}" type="presOf" srcId="{143CB31F-5D01-418F-AC1E-A0542D553530}" destId="{BCE8D401-0BFA-40F7-A84D-471E3A189CFA}" srcOrd="0" destOrd="0" presId="urn:microsoft.com/office/officeart/2005/8/layout/process1"/>
    <dgm:cxn modelId="{BE3AE05B-CE8C-468A-BEC8-6A744797E997}" srcId="{A81D7018-79A5-425E-A70D-E9AA11DB3FDE}" destId="{E3E0C2DA-3248-4690-A609-E608CAA179A6}" srcOrd="5" destOrd="0" parTransId="{7B1E7D0A-AABA-4746-936A-E453FC799FC0}" sibTransId="{359835B6-8274-4B55-BB30-0C130C04DE45}"/>
    <dgm:cxn modelId="{4F4E6142-B550-4939-8262-AF4AA8509B22}" type="presOf" srcId="{7F1A2E74-94C9-4F96-BB46-CEF39F6B4860}" destId="{693430A9-F8AF-4872-B3AE-84CE3D9FE6ED}" srcOrd="1" destOrd="0" presId="urn:microsoft.com/office/officeart/2005/8/layout/process1"/>
    <dgm:cxn modelId="{4280066A-D1A6-4789-8ECB-22966BD1F09F}" type="presOf" srcId="{08E8130B-3D5C-4935-8E6A-463ACEADCD11}" destId="{18030355-8A45-4291-BE04-9011C4E03A77}" srcOrd="0" destOrd="0" presId="urn:microsoft.com/office/officeart/2005/8/layout/process1"/>
    <dgm:cxn modelId="{B7B42E74-515A-45CB-8DC1-10BA42371C07}" type="presOf" srcId="{E3E0C2DA-3248-4690-A609-E608CAA179A6}" destId="{FB0B3B7C-5164-4EE6-916D-16964C74B257}" srcOrd="0" destOrd="0" presId="urn:microsoft.com/office/officeart/2005/8/layout/process1"/>
    <dgm:cxn modelId="{CEBA5D78-213E-4656-BC73-2C937038335A}" type="presOf" srcId="{1F41AC04-959B-46CF-8F89-A2E24435B759}" destId="{DD03692B-8A4E-4025-AAF2-BE3960D2F250}" srcOrd="1" destOrd="0" presId="urn:microsoft.com/office/officeart/2005/8/layout/process1"/>
    <dgm:cxn modelId="{28CE8E8E-7C41-47F4-AF40-846DAFB668C4}" srcId="{A81D7018-79A5-425E-A70D-E9AA11DB3FDE}" destId="{FA3B827A-1E2A-4220-A6ED-0B1ECE0F5A71}" srcOrd="2" destOrd="0" parTransId="{09818345-4608-40CD-97F9-39F11FC1C9F7}" sibTransId="{7F1A2E74-94C9-4F96-BB46-CEF39F6B4860}"/>
    <dgm:cxn modelId="{5A669990-735C-4538-BEFF-A50B4590E1F8}" type="presOf" srcId="{B4BDB8EF-6191-41DF-83E8-EDE4AC1B5280}" destId="{B3EDF01F-86D3-4714-A808-4091B9A99A1F}" srcOrd="0" destOrd="0" presId="urn:microsoft.com/office/officeart/2005/8/layout/process1"/>
    <dgm:cxn modelId="{50AF6FA4-496F-4350-BD8A-AC7E420CE997}" type="presOf" srcId="{7F1A2E74-94C9-4F96-BB46-CEF39F6B4860}" destId="{E3D8488D-2827-4EBE-AB13-C99AAB81ADFC}" srcOrd="0" destOrd="0" presId="urn:microsoft.com/office/officeart/2005/8/layout/process1"/>
    <dgm:cxn modelId="{36C55DB1-0142-473E-8844-F8C9EABEFF8D}" type="presOf" srcId="{A81D7018-79A5-425E-A70D-E9AA11DB3FDE}" destId="{6CC9E81B-984C-43CD-B6D7-1B4E99BCD5C2}" srcOrd="0" destOrd="0" presId="urn:microsoft.com/office/officeart/2005/8/layout/process1"/>
    <dgm:cxn modelId="{532C41B5-9D3B-4636-ABE2-4CDFA7561BCF}" type="presOf" srcId="{B4BDB8EF-6191-41DF-83E8-EDE4AC1B5280}" destId="{4C01A305-63A3-4ABE-A5D0-1F26439AF5DF}" srcOrd="1" destOrd="0" presId="urn:microsoft.com/office/officeart/2005/8/layout/process1"/>
    <dgm:cxn modelId="{3E5F84C9-C03E-4898-8ACE-EE50CB722292}" type="presOf" srcId="{359835B6-8274-4B55-BB30-0C130C04DE45}" destId="{9272A5CF-3DC0-448F-8299-B7CB6336C940}" srcOrd="0" destOrd="0" presId="urn:microsoft.com/office/officeart/2005/8/layout/process1"/>
    <dgm:cxn modelId="{02FBF3CE-85D6-4C0B-8FC9-0D799D1D368B}" type="presOf" srcId="{1F41AC04-959B-46CF-8F89-A2E24435B759}" destId="{865F6DA3-BD3B-47F5-9494-40564A10EBCE}" srcOrd="0" destOrd="0" presId="urn:microsoft.com/office/officeart/2005/8/layout/process1"/>
    <dgm:cxn modelId="{7738D2D1-9057-4729-91F2-92336578A63E}" type="presOf" srcId="{28AB60F6-F06D-4B94-AD9F-BF0FF7056002}" destId="{F57C8E81-68B7-4838-869B-40635A60F97A}" srcOrd="1" destOrd="0" presId="urn:microsoft.com/office/officeart/2005/8/layout/process1"/>
    <dgm:cxn modelId="{C56980D7-F036-4DFF-9C7E-0A26E0999C7F}" type="presOf" srcId="{A4DFD599-AA70-4651-8302-626FE02E288D}" destId="{46D75146-C4CD-4427-8FB7-020EB60083B8}" srcOrd="0" destOrd="0" presId="urn:microsoft.com/office/officeart/2005/8/layout/process1"/>
    <dgm:cxn modelId="{261E12E1-47AF-471B-898D-2761F984C070}" srcId="{A81D7018-79A5-425E-A70D-E9AA11DB3FDE}" destId="{A4DFD599-AA70-4651-8302-626FE02E288D}" srcOrd="3" destOrd="0" parTransId="{76D210F3-E110-4220-89CB-18862575C04B}" sibTransId="{1F41AC04-959B-46CF-8F89-A2E24435B759}"/>
    <dgm:cxn modelId="{34477AEA-5EED-43A6-B60E-D53038968379}" type="presOf" srcId="{359835B6-8274-4B55-BB30-0C130C04DE45}" destId="{22D7B58C-9B78-4C0E-B2EF-179E3A5C559E}" srcOrd="1" destOrd="0" presId="urn:microsoft.com/office/officeart/2005/8/layout/process1"/>
    <dgm:cxn modelId="{61BBBFED-7A15-4320-AD3C-E09CD1B2DA39}" srcId="{A81D7018-79A5-425E-A70D-E9AA11DB3FDE}" destId="{64D41440-F578-44C6-94BD-F0E28A574923}" srcOrd="0" destOrd="0" parTransId="{6E9DA887-0AB2-4ED7-9C12-3F4A0D89DA8D}" sibTransId="{143CB31F-5D01-418F-AC1E-A0542D553530}"/>
    <dgm:cxn modelId="{7C9353F1-94F5-4369-B7CB-D1ED987726E5}" type="presOf" srcId="{64D41440-F578-44C6-94BD-F0E28A574923}" destId="{B9834D01-2F70-4123-9688-7D4ED574778A}" srcOrd="0" destOrd="0" presId="urn:microsoft.com/office/officeart/2005/8/layout/process1"/>
    <dgm:cxn modelId="{077D4CFD-1068-45B3-9B64-AB87978A3087}" srcId="{A81D7018-79A5-425E-A70D-E9AA11DB3FDE}" destId="{C0D596E1-EBD9-42ED-B19D-01FFA636AA64}" srcOrd="6" destOrd="0" parTransId="{9F734494-0689-4926-81A0-920C6A0F2BD7}" sibTransId="{965F2FDA-3416-4B5E-8CB8-805F82567957}"/>
    <dgm:cxn modelId="{DDDFF74B-92E7-41DB-AC85-B26E3F6F224E}" type="presParOf" srcId="{6CC9E81B-984C-43CD-B6D7-1B4E99BCD5C2}" destId="{B9834D01-2F70-4123-9688-7D4ED574778A}" srcOrd="0" destOrd="0" presId="urn:microsoft.com/office/officeart/2005/8/layout/process1"/>
    <dgm:cxn modelId="{FE3BB031-F55D-451F-AAC6-9168017747DF}" type="presParOf" srcId="{6CC9E81B-984C-43CD-B6D7-1B4E99BCD5C2}" destId="{BCE8D401-0BFA-40F7-A84D-471E3A189CFA}" srcOrd="1" destOrd="0" presId="urn:microsoft.com/office/officeart/2005/8/layout/process1"/>
    <dgm:cxn modelId="{BF16E571-3498-4E90-B223-F924FED39E13}" type="presParOf" srcId="{BCE8D401-0BFA-40F7-A84D-471E3A189CFA}" destId="{3BB1143B-804E-4E45-9C97-D3FD8F9C84AD}" srcOrd="0" destOrd="0" presId="urn:microsoft.com/office/officeart/2005/8/layout/process1"/>
    <dgm:cxn modelId="{4C79F678-DE69-430A-963C-34C05A2F99AD}" type="presParOf" srcId="{6CC9E81B-984C-43CD-B6D7-1B4E99BCD5C2}" destId="{18030355-8A45-4291-BE04-9011C4E03A77}" srcOrd="2" destOrd="0" presId="urn:microsoft.com/office/officeart/2005/8/layout/process1"/>
    <dgm:cxn modelId="{8B7FB4B0-2513-4B0B-937B-F8230BA2E056}" type="presParOf" srcId="{6CC9E81B-984C-43CD-B6D7-1B4E99BCD5C2}" destId="{D27105D3-CA6E-44BC-8AB3-F1C76938A21C}" srcOrd="3" destOrd="0" presId="urn:microsoft.com/office/officeart/2005/8/layout/process1"/>
    <dgm:cxn modelId="{564D9F39-407C-4CA9-923B-1EC8BD5EE991}" type="presParOf" srcId="{D27105D3-CA6E-44BC-8AB3-F1C76938A21C}" destId="{F57C8E81-68B7-4838-869B-40635A60F97A}" srcOrd="0" destOrd="0" presId="urn:microsoft.com/office/officeart/2005/8/layout/process1"/>
    <dgm:cxn modelId="{21871F9F-F4C4-402E-8A17-70A2E6DC2E03}" type="presParOf" srcId="{6CC9E81B-984C-43CD-B6D7-1B4E99BCD5C2}" destId="{97C1A45B-2520-423F-9665-03C350941C59}" srcOrd="4" destOrd="0" presId="urn:microsoft.com/office/officeart/2005/8/layout/process1"/>
    <dgm:cxn modelId="{36135567-F64B-4663-A043-AD4C649C3A3B}" type="presParOf" srcId="{6CC9E81B-984C-43CD-B6D7-1B4E99BCD5C2}" destId="{E3D8488D-2827-4EBE-AB13-C99AAB81ADFC}" srcOrd="5" destOrd="0" presId="urn:microsoft.com/office/officeart/2005/8/layout/process1"/>
    <dgm:cxn modelId="{68599E92-B44D-4672-8FF9-DF3EBAC09988}" type="presParOf" srcId="{E3D8488D-2827-4EBE-AB13-C99AAB81ADFC}" destId="{693430A9-F8AF-4872-B3AE-84CE3D9FE6ED}" srcOrd="0" destOrd="0" presId="urn:microsoft.com/office/officeart/2005/8/layout/process1"/>
    <dgm:cxn modelId="{D75D07D2-D074-4F51-9ED7-897BF2B0A42C}" type="presParOf" srcId="{6CC9E81B-984C-43CD-B6D7-1B4E99BCD5C2}" destId="{46D75146-C4CD-4427-8FB7-020EB60083B8}" srcOrd="6" destOrd="0" presId="urn:microsoft.com/office/officeart/2005/8/layout/process1"/>
    <dgm:cxn modelId="{539C8CE8-09B6-46B0-9FB5-3017231D0CB4}" type="presParOf" srcId="{6CC9E81B-984C-43CD-B6D7-1B4E99BCD5C2}" destId="{865F6DA3-BD3B-47F5-9494-40564A10EBCE}" srcOrd="7" destOrd="0" presId="urn:microsoft.com/office/officeart/2005/8/layout/process1"/>
    <dgm:cxn modelId="{B735BCAF-6C0D-4EF7-91CB-12E6CB26137F}" type="presParOf" srcId="{865F6DA3-BD3B-47F5-9494-40564A10EBCE}" destId="{DD03692B-8A4E-4025-AAF2-BE3960D2F250}" srcOrd="0" destOrd="0" presId="urn:microsoft.com/office/officeart/2005/8/layout/process1"/>
    <dgm:cxn modelId="{80C6D9AD-8662-40DD-AFD6-6A291F18FAED}" type="presParOf" srcId="{6CC9E81B-984C-43CD-B6D7-1B4E99BCD5C2}" destId="{BBBB3F98-1883-44C4-B9F4-8BB844BA97E9}" srcOrd="8" destOrd="0" presId="urn:microsoft.com/office/officeart/2005/8/layout/process1"/>
    <dgm:cxn modelId="{3A6E1A88-3193-492F-A40F-810BA5E95553}" type="presParOf" srcId="{6CC9E81B-984C-43CD-B6D7-1B4E99BCD5C2}" destId="{B3EDF01F-86D3-4714-A808-4091B9A99A1F}" srcOrd="9" destOrd="0" presId="urn:microsoft.com/office/officeart/2005/8/layout/process1"/>
    <dgm:cxn modelId="{216816BC-857C-41BA-9174-427D2CB7CAC2}" type="presParOf" srcId="{B3EDF01F-86D3-4714-A808-4091B9A99A1F}" destId="{4C01A305-63A3-4ABE-A5D0-1F26439AF5DF}" srcOrd="0" destOrd="0" presId="urn:microsoft.com/office/officeart/2005/8/layout/process1"/>
    <dgm:cxn modelId="{756D6B46-7307-4D07-86C4-3DE7BAE7D733}" type="presParOf" srcId="{6CC9E81B-984C-43CD-B6D7-1B4E99BCD5C2}" destId="{FB0B3B7C-5164-4EE6-916D-16964C74B257}" srcOrd="10" destOrd="0" presId="urn:microsoft.com/office/officeart/2005/8/layout/process1"/>
    <dgm:cxn modelId="{22AC68D9-9FF9-4411-9CB8-A4A85E6167B5}" type="presParOf" srcId="{6CC9E81B-984C-43CD-B6D7-1B4E99BCD5C2}" destId="{9272A5CF-3DC0-448F-8299-B7CB6336C940}" srcOrd="11" destOrd="0" presId="urn:microsoft.com/office/officeart/2005/8/layout/process1"/>
    <dgm:cxn modelId="{2999087D-9699-4442-9F4E-CAF23C6F86FF}" type="presParOf" srcId="{9272A5CF-3DC0-448F-8299-B7CB6336C940}" destId="{22D7B58C-9B78-4C0E-B2EF-179E3A5C559E}" srcOrd="0" destOrd="0" presId="urn:microsoft.com/office/officeart/2005/8/layout/process1"/>
    <dgm:cxn modelId="{7AE08489-7222-4EDC-BE6F-49A469F2AE7B}" type="presParOf" srcId="{6CC9E81B-984C-43CD-B6D7-1B4E99BCD5C2}" destId="{A056299B-BFEF-451E-A9A0-2549D754B228}" srcOrd="1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8F0B78-4CEE-4738-ABB7-68E91360A368}">
      <dsp:nvSpPr>
        <dsp:cNvPr id="0" name=""/>
        <dsp:cNvSpPr/>
      </dsp:nvSpPr>
      <dsp:spPr>
        <a:xfrm>
          <a:off x="0" y="1665463"/>
          <a:ext cx="1423458" cy="2035100"/>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1" kern="1200" dirty="0"/>
            <a:t>Choose language and describe</a:t>
          </a:r>
        </a:p>
        <a:p>
          <a:pPr marL="0" lvl="0" indent="0" algn="ctr" defTabSz="622300">
            <a:lnSpc>
              <a:spcPct val="90000"/>
            </a:lnSpc>
            <a:spcBef>
              <a:spcPct val="0"/>
            </a:spcBef>
            <a:spcAft>
              <a:spcPct val="35000"/>
            </a:spcAft>
            <a:buFont typeface="Arial" panose="020B0604020202020204" pitchFamily="34" charset="0"/>
            <a:buNone/>
          </a:pPr>
          <a:br>
            <a:rPr lang="en-US" sz="1500" kern="1200" dirty="0"/>
          </a:br>
          <a:r>
            <a:rPr lang="en-US" sz="1200" kern="1200" dirty="0"/>
            <a:t>Select English, French, or Arabic, then speak or type.</a:t>
          </a:r>
          <a:endParaRPr lang="en-US" sz="1500" kern="1200" dirty="0"/>
        </a:p>
      </dsp:txBody>
      <dsp:txXfrm>
        <a:off x="41692" y="1707155"/>
        <a:ext cx="1340074" cy="1951716"/>
      </dsp:txXfrm>
    </dsp:sp>
    <dsp:sp modelId="{2EEE63A6-CDF3-4783-B819-D329CE02AFD0}">
      <dsp:nvSpPr>
        <dsp:cNvPr id="0" name=""/>
        <dsp:cNvSpPr/>
      </dsp:nvSpPr>
      <dsp:spPr>
        <a:xfrm>
          <a:off x="1565804" y="2506505"/>
          <a:ext cx="301773" cy="3530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565804" y="2577108"/>
        <a:ext cx="211241" cy="211811"/>
      </dsp:txXfrm>
    </dsp:sp>
    <dsp:sp modelId="{1E371B06-D03D-4ECC-B6AA-0E33EC711FD5}">
      <dsp:nvSpPr>
        <dsp:cNvPr id="0" name=""/>
        <dsp:cNvSpPr/>
      </dsp:nvSpPr>
      <dsp:spPr>
        <a:xfrm>
          <a:off x="1992841" y="1665463"/>
          <a:ext cx="1423458" cy="2035100"/>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1" kern="1200" dirty="0"/>
            <a:t>Create an editable transcript</a:t>
          </a:r>
        </a:p>
        <a:p>
          <a:pPr marL="0" lvl="0" indent="0" algn="ctr" defTabSz="622300">
            <a:lnSpc>
              <a:spcPct val="90000"/>
            </a:lnSpc>
            <a:spcBef>
              <a:spcPct val="0"/>
            </a:spcBef>
            <a:spcAft>
              <a:spcPct val="35000"/>
            </a:spcAft>
            <a:buFont typeface="Arial" panose="020B0604020202020204" pitchFamily="34" charset="0"/>
            <a:buNone/>
          </a:pPr>
          <a:br>
            <a:rPr lang="en-US" sz="1400" kern="1200" dirty="0"/>
          </a:br>
          <a:r>
            <a:rPr lang="en-US" sz="1400" kern="1200" dirty="0"/>
            <a:t>Voice is converted into text, and the audio is discarded.</a:t>
          </a:r>
        </a:p>
      </dsp:txBody>
      <dsp:txXfrm>
        <a:off x="2034533" y="1707155"/>
        <a:ext cx="1340074" cy="1951716"/>
      </dsp:txXfrm>
    </dsp:sp>
    <dsp:sp modelId="{8031317A-6087-4F3F-B8A9-5FC5313D1D73}">
      <dsp:nvSpPr>
        <dsp:cNvPr id="0" name=""/>
        <dsp:cNvSpPr/>
      </dsp:nvSpPr>
      <dsp:spPr>
        <a:xfrm>
          <a:off x="3558645" y="2506505"/>
          <a:ext cx="301773" cy="3530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558645" y="2577108"/>
        <a:ext cx="211241" cy="211811"/>
      </dsp:txXfrm>
    </dsp:sp>
    <dsp:sp modelId="{42E8C6C0-13DA-4754-90AB-9D1905175DD3}">
      <dsp:nvSpPr>
        <dsp:cNvPr id="0" name=""/>
        <dsp:cNvSpPr/>
      </dsp:nvSpPr>
      <dsp:spPr>
        <a:xfrm>
          <a:off x="3985683" y="1665463"/>
          <a:ext cx="1423458" cy="2035100"/>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1" kern="1200" dirty="0"/>
            <a:t>Review and give consent</a:t>
          </a:r>
        </a:p>
        <a:p>
          <a:pPr marL="0" lvl="0" indent="0" algn="ctr" defTabSz="622300">
            <a:lnSpc>
              <a:spcPct val="90000"/>
            </a:lnSpc>
            <a:spcBef>
              <a:spcPct val="0"/>
            </a:spcBef>
            <a:spcAft>
              <a:spcPct val="35000"/>
            </a:spcAft>
            <a:buFont typeface="Arial" panose="020B0604020202020204" pitchFamily="34" charset="0"/>
            <a:buNone/>
          </a:pPr>
          <a:br>
            <a:rPr lang="en-US" sz="1400" kern="1200" dirty="0"/>
          </a:br>
          <a:r>
            <a:rPr lang="en-US" sz="1400" kern="1200" dirty="0"/>
            <a:t>Correct the transcript and approve sending it to the AI.</a:t>
          </a:r>
        </a:p>
      </dsp:txBody>
      <dsp:txXfrm>
        <a:off x="4027375" y="1707155"/>
        <a:ext cx="1340074" cy="1951716"/>
      </dsp:txXfrm>
    </dsp:sp>
    <dsp:sp modelId="{7D4D7E7E-AD85-4170-A076-744BF23F1593}">
      <dsp:nvSpPr>
        <dsp:cNvPr id="0" name=""/>
        <dsp:cNvSpPr/>
      </dsp:nvSpPr>
      <dsp:spPr>
        <a:xfrm>
          <a:off x="5551487" y="2506505"/>
          <a:ext cx="301773" cy="3530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551487" y="2577108"/>
        <a:ext cx="211241" cy="211811"/>
      </dsp:txXfrm>
    </dsp:sp>
    <dsp:sp modelId="{8685871F-1B78-4A98-827F-3AB0D19824CB}">
      <dsp:nvSpPr>
        <dsp:cNvPr id="0" name=""/>
        <dsp:cNvSpPr/>
      </dsp:nvSpPr>
      <dsp:spPr>
        <a:xfrm>
          <a:off x="5978525" y="1665463"/>
          <a:ext cx="1423458" cy="2035100"/>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1" kern="1200" dirty="0"/>
            <a:t>Generate profile suggestions</a:t>
          </a:r>
        </a:p>
        <a:p>
          <a:pPr marL="0" lvl="0" indent="0" algn="ctr" defTabSz="622300">
            <a:lnSpc>
              <a:spcPct val="90000"/>
            </a:lnSpc>
            <a:spcBef>
              <a:spcPct val="0"/>
            </a:spcBef>
            <a:spcAft>
              <a:spcPct val="35000"/>
            </a:spcAft>
            <a:buFont typeface="Arial" panose="020B0604020202020204" pitchFamily="34" charset="0"/>
            <a:buNone/>
          </a:pPr>
          <a:br>
            <a:rPr lang="en-US" sz="1400" kern="1200" dirty="0"/>
          </a:br>
          <a:r>
            <a:rPr lang="en-US" sz="1400" kern="1200" dirty="0"/>
            <a:t>The AI converts the description into structured profile information.</a:t>
          </a:r>
        </a:p>
      </dsp:txBody>
      <dsp:txXfrm>
        <a:off x="6020217" y="1707155"/>
        <a:ext cx="1340074" cy="1951716"/>
      </dsp:txXfrm>
    </dsp:sp>
    <dsp:sp modelId="{6754D4BF-98E3-4904-8853-8D16ADADE9BB}">
      <dsp:nvSpPr>
        <dsp:cNvPr id="0" name=""/>
        <dsp:cNvSpPr/>
      </dsp:nvSpPr>
      <dsp:spPr>
        <a:xfrm>
          <a:off x="7544329" y="2506505"/>
          <a:ext cx="301773" cy="3530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7544329" y="2577108"/>
        <a:ext cx="211241" cy="211811"/>
      </dsp:txXfrm>
    </dsp:sp>
    <dsp:sp modelId="{15E9111B-52E2-4C08-A1A7-DE57CC3262ED}">
      <dsp:nvSpPr>
        <dsp:cNvPr id="0" name=""/>
        <dsp:cNvSpPr/>
      </dsp:nvSpPr>
      <dsp:spPr>
        <a:xfrm>
          <a:off x="7971366" y="1665463"/>
          <a:ext cx="1423458" cy="2035100"/>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1" kern="1200" dirty="0"/>
            <a:t>Review every suggestion</a:t>
          </a:r>
        </a:p>
        <a:p>
          <a:pPr marL="0" lvl="0" indent="0" algn="ctr" defTabSz="622300">
            <a:lnSpc>
              <a:spcPct val="90000"/>
            </a:lnSpc>
            <a:spcBef>
              <a:spcPct val="0"/>
            </a:spcBef>
            <a:spcAft>
              <a:spcPct val="35000"/>
            </a:spcAft>
            <a:buFont typeface="Arial" panose="020B0604020202020204" pitchFamily="34" charset="0"/>
            <a:buNone/>
          </a:pPr>
          <a:br>
            <a:rPr lang="en-US" sz="1400" kern="1200" dirty="0"/>
          </a:br>
          <a:r>
            <a:rPr lang="en-US" sz="1400" kern="1200" dirty="0"/>
            <a:t>Edit, accept, or reject each suggested item.</a:t>
          </a:r>
        </a:p>
      </dsp:txBody>
      <dsp:txXfrm>
        <a:off x="8013058" y="1707155"/>
        <a:ext cx="1340074" cy="1951716"/>
      </dsp:txXfrm>
    </dsp:sp>
    <dsp:sp modelId="{8AD1400D-E017-4CA5-ACF2-B7CB94F976DE}">
      <dsp:nvSpPr>
        <dsp:cNvPr id="0" name=""/>
        <dsp:cNvSpPr/>
      </dsp:nvSpPr>
      <dsp:spPr>
        <a:xfrm>
          <a:off x="9537171" y="2506505"/>
          <a:ext cx="301773" cy="3530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9537171" y="2577108"/>
        <a:ext cx="211241" cy="211811"/>
      </dsp:txXfrm>
    </dsp:sp>
    <dsp:sp modelId="{8BAB0997-909F-41AC-936C-324B24025E31}">
      <dsp:nvSpPr>
        <dsp:cNvPr id="0" name=""/>
        <dsp:cNvSpPr/>
      </dsp:nvSpPr>
      <dsp:spPr>
        <a:xfrm>
          <a:off x="9964208" y="1665463"/>
          <a:ext cx="1423458" cy="2035100"/>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1" kern="1200" dirty="0"/>
            <a:t>Confirm and save</a:t>
          </a:r>
        </a:p>
        <a:p>
          <a:pPr marL="0" lvl="0" indent="0" algn="ctr" defTabSz="622300">
            <a:lnSpc>
              <a:spcPct val="90000"/>
            </a:lnSpc>
            <a:spcBef>
              <a:spcPct val="0"/>
            </a:spcBef>
            <a:spcAft>
              <a:spcPct val="35000"/>
            </a:spcAft>
            <a:buFont typeface="Arial" panose="020B0604020202020204" pitchFamily="34" charset="0"/>
            <a:buNone/>
          </a:pPr>
          <a:br>
            <a:rPr lang="en-US" sz="1400" kern="1200" dirty="0"/>
          </a:br>
          <a:r>
            <a:rPr lang="en-US" sz="1400" kern="1200" dirty="0"/>
            <a:t>Only the information selected by the candidate is added to the profile.</a:t>
          </a:r>
        </a:p>
      </dsp:txBody>
      <dsp:txXfrm>
        <a:off x="10005900" y="1707155"/>
        <a:ext cx="1340074" cy="19517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9682B9-1141-43A1-A247-75F7315711FD}">
      <dsp:nvSpPr>
        <dsp:cNvPr id="0" name=""/>
        <dsp:cNvSpPr/>
      </dsp:nvSpPr>
      <dsp:spPr>
        <a:xfrm>
          <a:off x="0" y="1788773"/>
          <a:ext cx="1419224" cy="184111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Select a position</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Choose a controlled hospitality role from the catalogue.</a:t>
          </a:r>
          <a:endParaRPr lang="en-US" sz="1200" kern="1200" dirty="0"/>
        </a:p>
      </dsp:txBody>
      <dsp:txXfrm>
        <a:off x="41568" y="1830341"/>
        <a:ext cx="1336088" cy="1757983"/>
      </dsp:txXfrm>
    </dsp:sp>
    <dsp:sp modelId="{3EDC0133-0A27-4AC9-B323-3903CFA1BD19}">
      <dsp:nvSpPr>
        <dsp:cNvPr id="0" name=""/>
        <dsp:cNvSpPr/>
      </dsp:nvSpPr>
      <dsp:spPr>
        <a:xfrm>
          <a:off x="1561147" y="2533349"/>
          <a:ext cx="300875" cy="35196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561147" y="2603742"/>
        <a:ext cx="210613" cy="211181"/>
      </dsp:txXfrm>
    </dsp:sp>
    <dsp:sp modelId="{94224887-68C9-4217-B10F-4ECA57388D67}">
      <dsp:nvSpPr>
        <dsp:cNvPr id="0" name=""/>
        <dsp:cNvSpPr/>
      </dsp:nvSpPr>
      <dsp:spPr>
        <a:xfrm>
          <a:off x="1986914" y="1788773"/>
          <a:ext cx="1419224" cy="184111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Load catalogue tasks</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The platform loads the role’s approved tasks automatically.</a:t>
          </a:r>
          <a:endParaRPr lang="en-US" sz="1200" kern="1200" dirty="0"/>
        </a:p>
      </dsp:txBody>
      <dsp:txXfrm>
        <a:off x="2028482" y="1830341"/>
        <a:ext cx="1336088" cy="1757983"/>
      </dsp:txXfrm>
    </dsp:sp>
    <dsp:sp modelId="{1D9FC036-EFE0-41A0-9505-5B369F54ACDF}">
      <dsp:nvSpPr>
        <dsp:cNvPr id="0" name=""/>
        <dsp:cNvSpPr/>
      </dsp:nvSpPr>
      <dsp:spPr>
        <a:xfrm>
          <a:off x="3548062" y="2533349"/>
          <a:ext cx="300875" cy="35196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548062" y="2603742"/>
        <a:ext cx="210613" cy="211181"/>
      </dsp:txXfrm>
    </dsp:sp>
    <dsp:sp modelId="{CFD6A060-10CE-4428-A5F1-B9E9C461BDDC}">
      <dsp:nvSpPr>
        <dsp:cNvPr id="0" name=""/>
        <dsp:cNvSpPr/>
      </dsp:nvSpPr>
      <dsp:spPr>
        <a:xfrm>
          <a:off x="3973829" y="1788773"/>
          <a:ext cx="1419224" cy="184111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Enter vacancy details</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Add location, job type, work mode, deadline, and description.</a:t>
          </a:r>
          <a:endParaRPr lang="en-US" sz="1200" kern="1200" dirty="0"/>
        </a:p>
      </dsp:txBody>
      <dsp:txXfrm>
        <a:off x="4015397" y="1830341"/>
        <a:ext cx="1336088" cy="1757983"/>
      </dsp:txXfrm>
    </dsp:sp>
    <dsp:sp modelId="{90FEA1A8-3146-480A-BDD9-3869A4729ACE}">
      <dsp:nvSpPr>
        <dsp:cNvPr id="0" name=""/>
        <dsp:cNvSpPr/>
      </dsp:nvSpPr>
      <dsp:spPr>
        <a:xfrm>
          <a:off x="5534977" y="2533349"/>
          <a:ext cx="300875" cy="35196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5534977" y="2603742"/>
        <a:ext cx="210613" cy="211181"/>
      </dsp:txXfrm>
    </dsp:sp>
    <dsp:sp modelId="{C57D1B6A-C848-4D29-83BF-265DF4F5A1CD}">
      <dsp:nvSpPr>
        <dsp:cNvPr id="0" name=""/>
        <dsp:cNvSpPr/>
      </dsp:nvSpPr>
      <dsp:spPr>
        <a:xfrm>
          <a:off x="5960744" y="1788773"/>
          <a:ext cx="1419224" cy="184111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Define requirements</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Set education, reading, writing, counting, and position knowledge as required, preferred, or not required.</a:t>
          </a:r>
          <a:endParaRPr lang="en-US" sz="1200" kern="1200" dirty="0"/>
        </a:p>
      </dsp:txBody>
      <dsp:txXfrm>
        <a:off x="6002312" y="1830341"/>
        <a:ext cx="1336088" cy="1757983"/>
      </dsp:txXfrm>
    </dsp:sp>
    <dsp:sp modelId="{079882AD-7913-460F-B4B1-EABA1A00068C}">
      <dsp:nvSpPr>
        <dsp:cNvPr id="0" name=""/>
        <dsp:cNvSpPr/>
      </dsp:nvSpPr>
      <dsp:spPr>
        <a:xfrm>
          <a:off x="7521891" y="2533349"/>
          <a:ext cx="300875" cy="35196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7521891" y="2603742"/>
        <a:ext cx="210613" cy="211181"/>
      </dsp:txXfrm>
    </dsp:sp>
    <dsp:sp modelId="{2B716865-2608-4A29-B32D-FA176BEFEC81}">
      <dsp:nvSpPr>
        <dsp:cNvPr id="0" name=""/>
        <dsp:cNvSpPr/>
      </dsp:nvSpPr>
      <dsp:spPr>
        <a:xfrm>
          <a:off x="7947659" y="1788773"/>
          <a:ext cx="1419224" cy="184111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Set priorities and support</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Highlight important tasks and record whether workplace assistance is available.</a:t>
          </a:r>
          <a:endParaRPr lang="en-US" sz="1200" kern="1200" dirty="0"/>
        </a:p>
      </dsp:txBody>
      <dsp:txXfrm>
        <a:off x="7989227" y="1830341"/>
        <a:ext cx="1336088" cy="1757983"/>
      </dsp:txXfrm>
    </dsp:sp>
    <dsp:sp modelId="{3091FDC2-B681-4C16-9B15-C7343395FF43}">
      <dsp:nvSpPr>
        <dsp:cNvPr id="0" name=""/>
        <dsp:cNvSpPr/>
      </dsp:nvSpPr>
      <dsp:spPr>
        <a:xfrm>
          <a:off x="9508806" y="2533349"/>
          <a:ext cx="300875" cy="35196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9508806" y="2603742"/>
        <a:ext cx="210613" cy="211181"/>
      </dsp:txXfrm>
    </dsp:sp>
    <dsp:sp modelId="{CB155C7D-E6DB-48B5-BB82-20FB54001D55}">
      <dsp:nvSpPr>
        <dsp:cNvPr id="0" name=""/>
        <dsp:cNvSpPr/>
      </dsp:nvSpPr>
      <dsp:spPr>
        <a:xfrm>
          <a:off x="9934574" y="1788773"/>
          <a:ext cx="1419224" cy="184111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Validate and publish</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The backend verifies the information, publishes the vacancy, and sends its requirements to the matching engine.</a:t>
          </a:r>
          <a:endParaRPr lang="en-US" sz="1200" kern="1200" dirty="0"/>
        </a:p>
      </dsp:txBody>
      <dsp:txXfrm>
        <a:off x="9976142" y="1830341"/>
        <a:ext cx="1336088" cy="17579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834D01-2F70-4123-9688-7D4ED574778A}">
      <dsp:nvSpPr>
        <dsp:cNvPr id="0" name=""/>
        <dsp:cNvSpPr/>
      </dsp:nvSpPr>
      <dsp:spPr>
        <a:xfrm>
          <a:off x="3263" y="1753425"/>
          <a:ext cx="1235979" cy="168015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Capture candidate speech</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The browser records the candidate’s voice as </a:t>
          </a:r>
          <a:r>
            <a:rPr lang="en-US" sz="1100" kern="1200" dirty="0" err="1"/>
            <a:t>WebM</a:t>
          </a:r>
          <a:r>
            <a:rPr lang="en-US" sz="1100" kern="1200" dirty="0"/>
            <a:t>/Opus audio.</a:t>
          </a:r>
          <a:endParaRPr lang="en-US" sz="1200" kern="1200" dirty="0"/>
        </a:p>
      </dsp:txBody>
      <dsp:txXfrm>
        <a:off x="39464" y="1789626"/>
        <a:ext cx="1163577" cy="1607757"/>
      </dsp:txXfrm>
    </dsp:sp>
    <dsp:sp modelId="{BCE8D401-0BFA-40F7-A84D-471E3A189CFA}">
      <dsp:nvSpPr>
        <dsp:cNvPr id="0" name=""/>
        <dsp:cNvSpPr/>
      </dsp:nvSpPr>
      <dsp:spPr>
        <a:xfrm>
          <a:off x="1362841" y="2440244"/>
          <a:ext cx="262027" cy="30652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362841" y="2501548"/>
        <a:ext cx="183419" cy="183914"/>
      </dsp:txXfrm>
    </dsp:sp>
    <dsp:sp modelId="{18030355-8A45-4291-BE04-9011C4E03A77}">
      <dsp:nvSpPr>
        <dsp:cNvPr id="0" name=""/>
        <dsp:cNvSpPr/>
      </dsp:nvSpPr>
      <dsp:spPr>
        <a:xfrm>
          <a:off x="1733634" y="1753425"/>
          <a:ext cx="1235979" cy="168015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Send audio for processing</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The recording is uploaded to the Python voice service.</a:t>
          </a:r>
          <a:endParaRPr lang="en-US" sz="1200" kern="1200" dirty="0"/>
        </a:p>
      </dsp:txBody>
      <dsp:txXfrm>
        <a:off x="1769835" y="1789626"/>
        <a:ext cx="1163577" cy="1607757"/>
      </dsp:txXfrm>
    </dsp:sp>
    <dsp:sp modelId="{D27105D3-CA6E-44BC-8AB3-F1C76938A21C}">
      <dsp:nvSpPr>
        <dsp:cNvPr id="0" name=""/>
        <dsp:cNvSpPr/>
      </dsp:nvSpPr>
      <dsp:spPr>
        <a:xfrm>
          <a:off x="3093212" y="2440244"/>
          <a:ext cx="262027" cy="30652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093212" y="2501548"/>
        <a:ext cx="183419" cy="183914"/>
      </dsp:txXfrm>
    </dsp:sp>
    <dsp:sp modelId="{97C1A45B-2520-423F-9665-03C350941C59}">
      <dsp:nvSpPr>
        <dsp:cNvPr id="0" name=""/>
        <dsp:cNvSpPr/>
      </dsp:nvSpPr>
      <dsp:spPr>
        <a:xfrm>
          <a:off x="3464005" y="1753425"/>
          <a:ext cx="1235979" cy="168015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Convert speech to text</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Whisper-1 produces a written transcript of the command.</a:t>
          </a:r>
          <a:endParaRPr lang="en-US" sz="1200" kern="1200" dirty="0"/>
        </a:p>
      </dsp:txBody>
      <dsp:txXfrm>
        <a:off x="3500206" y="1789626"/>
        <a:ext cx="1163577" cy="1607757"/>
      </dsp:txXfrm>
    </dsp:sp>
    <dsp:sp modelId="{E3D8488D-2827-4EBE-AB13-C99AAB81ADFC}">
      <dsp:nvSpPr>
        <dsp:cNvPr id="0" name=""/>
        <dsp:cNvSpPr/>
      </dsp:nvSpPr>
      <dsp:spPr>
        <a:xfrm>
          <a:off x="4823583" y="2440244"/>
          <a:ext cx="262027" cy="30652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823583" y="2501548"/>
        <a:ext cx="183419" cy="183914"/>
      </dsp:txXfrm>
    </dsp:sp>
    <dsp:sp modelId="{46D75146-C4CD-4427-8FB7-020EB60083B8}">
      <dsp:nvSpPr>
        <dsp:cNvPr id="0" name=""/>
        <dsp:cNvSpPr/>
      </dsp:nvSpPr>
      <dsp:spPr>
        <a:xfrm>
          <a:off x="5194376" y="1753425"/>
          <a:ext cx="1235979" cy="168015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Classify the request</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Identify it as navigation, an interface action, or a page question.</a:t>
          </a:r>
          <a:endParaRPr lang="en-US" sz="1200" kern="1200" dirty="0"/>
        </a:p>
      </dsp:txBody>
      <dsp:txXfrm>
        <a:off x="5230577" y="1789626"/>
        <a:ext cx="1163577" cy="1607757"/>
      </dsp:txXfrm>
    </dsp:sp>
    <dsp:sp modelId="{865F6DA3-BD3B-47F5-9494-40564A10EBCE}">
      <dsp:nvSpPr>
        <dsp:cNvPr id="0" name=""/>
        <dsp:cNvSpPr/>
      </dsp:nvSpPr>
      <dsp:spPr>
        <a:xfrm>
          <a:off x="6553954" y="2440244"/>
          <a:ext cx="262027" cy="30652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553954" y="2501548"/>
        <a:ext cx="183419" cy="183914"/>
      </dsp:txXfrm>
    </dsp:sp>
    <dsp:sp modelId="{BBBB3F98-1883-44C4-B9F4-8BB844BA97E9}">
      <dsp:nvSpPr>
        <dsp:cNvPr id="0" name=""/>
        <dsp:cNvSpPr/>
      </dsp:nvSpPr>
      <dsp:spPr>
        <a:xfrm>
          <a:off x="6924747" y="1753425"/>
          <a:ext cx="1235979" cy="168015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Validate the command</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Check the requested operation against the current page and allowed registry.</a:t>
          </a:r>
          <a:endParaRPr lang="en-US" sz="1200" kern="1200" dirty="0"/>
        </a:p>
      </dsp:txBody>
      <dsp:txXfrm>
        <a:off x="6960948" y="1789626"/>
        <a:ext cx="1163577" cy="1607757"/>
      </dsp:txXfrm>
    </dsp:sp>
    <dsp:sp modelId="{B3EDF01F-86D3-4714-A808-4091B9A99A1F}">
      <dsp:nvSpPr>
        <dsp:cNvPr id="0" name=""/>
        <dsp:cNvSpPr/>
      </dsp:nvSpPr>
      <dsp:spPr>
        <a:xfrm>
          <a:off x="8284325" y="2440244"/>
          <a:ext cx="262027" cy="30652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284325" y="2501548"/>
        <a:ext cx="183419" cy="183914"/>
      </dsp:txXfrm>
    </dsp:sp>
    <dsp:sp modelId="{FB0B3B7C-5164-4EE6-916D-16964C74B257}">
      <dsp:nvSpPr>
        <dsp:cNvPr id="0" name=""/>
        <dsp:cNvSpPr/>
      </dsp:nvSpPr>
      <dsp:spPr>
        <a:xfrm>
          <a:off x="8655118" y="1753425"/>
          <a:ext cx="1235979" cy="168015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Execute or answer</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Perform the permitted action or answer the candidate’s question.</a:t>
          </a:r>
          <a:endParaRPr lang="en-US" sz="1200" kern="1200" dirty="0"/>
        </a:p>
      </dsp:txBody>
      <dsp:txXfrm>
        <a:off x="8691319" y="1789626"/>
        <a:ext cx="1163577" cy="1607757"/>
      </dsp:txXfrm>
    </dsp:sp>
    <dsp:sp modelId="{9272A5CF-3DC0-448F-8299-B7CB6336C940}">
      <dsp:nvSpPr>
        <dsp:cNvPr id="0" name=""/>
        <dsp:cNvSpPr/>
      </dsp:nvSpPr>
      <dsp:spPr>
        <a:xfrm>
          <a:off x="10014696" y="2440244"/>
          <a:ext cx="262027" cy="30652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0014696" y="2501548"/>
        <a:ext cx="183419" cy="183914"/>
      </dsp:txXfrm>
    </dsp:sp>
    <dsp:sp modelId="{A056299B-BFEF-451E-A9A0-2549D754B228}">
      <dsp:nvSpPr>
        <dsp:cNvPr id="0" name=""/>
        <dsp:cNvSpPr/>
      </dsp:nvSpPr>
      <dsp:spPr>
        <a:xfrm>
          <a:off x="10385489" y="1753425"/>
          <a:ext cx="1235979" cy="168015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1" kern="1200" dirty="0"/>
            <a:t>Provide accessible feedback</a:t>
          </a:r>
        </a:p>
        <a:p>
          <a:pPr marL="0" lvl="0" indent="0" algn="ctr" defTabSz="533400">
            <a:lnSpc>
              <a:spcPct val="90000"/>
            </a:lnSpc>
            <a:spcBef>
              <a:spcPct val="0"/>
            </a:spcBef>
            <a:spcAft>
              <a:spcPct val="35000"/>
            </a:spcAft>
            <a:buFont typeface="Arial" panose="020B0604020202020204" pitchFamily="34" charset="0"/>
            <a:buNone/>
          </a:pPr>
          <a:br>
            <a:rPr lang="en-US" sz="1200" kern="1200" dirty="0"/>
          </a:br>
          <a:r>
            <a:rPr lang="en-US" sz="1100" kern="1200" dirty="0"/>
            <a:t>Display the result visually and read it aloud; sensitive actions require confirmation.</a:t>
          </a:r>
          <a:endParaRPr lang="en-US" sz="1200" kern="1200" dirty="0"/>
        </a:p>
      </dsp:txBody>
      <dsp:txXfrm>
        <a:off x="10421690" y="1789626"/>
        <a:ext cx="1163577" cy="160775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8FDD29-BCF2-44A2-BD11-81CC65695FF8}"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61EEAE-04EA-4E1C-A424-57921C916597}" type="slidenum">
              <a:rPr lang="en-US" smtClean="0"/>
              <a:t>‹#›</a:t>
            </a:fld>
            <a:endParaRPr lang="en-US"/>
          </a:p>
        </p:txBody>
      </p:sp>
    </p:spTree>
    <p:extLst>
      <p:ext uri="{BB962C8B-B14F-4D97-AF65-F5344CB8AC3E}">
        <p14:creationId xmlns:p14="http://schemas.microsoft.com/office/powerpoint/2010/main" val="1069397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85 seconds. This is the central message: the project digitizes and scales connection. It does not replace the candidate, employer, family, association, or inclusion expert.</a:t>
            </a:r>
          </a:p>
        </p:txBody>
      </p:sp>
      <p:sp>
        <p:nvSpPr>
          <p:cNvPr id="4" name="Slide Number Placeholder 3"/>
          <p:cNvSpPr>
            <a:spLocks noGrp="1"/>
          </p:cNvSpPr>
          <p:nvPr>
            <p:ph type="sldNum" sz="quarter" idx="5"/>
          </p:nvPr>
        </p:nvSpPr>
        <p:spPr/>
        <p:txBody>
          <a:bodyPr/>
          <a:lstStyle/>
          <a:p>
            <a:fld id="{5D61EEAE-04EA-4E1C-A424-57921C916597}" type="slidenum">
              <a:rPr lang="en-US" smtClean="0"/>
              <a:t>2</a:t>
            </a:fld>
            <a:endParaRPr lang="en-US"/>
          </a:p>
        </p:txBody>
      </p:sp>
    </p:spTree>
    <p:extLst>
      <p:ext uri="{BB962C8B-B14F-4D97-AF65-F5344CB8AC3E}">
        <p14:creationId xmlns:p14="http://schemas.microsoft.com/office/powerpoint/2010/main" val="3321006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70 seconds. Define functional requirements as actions and non-functional requirements as the quality and engineering constraints applied to those actions.</a:t>
            </a:r>
          </a:p>
        </p:txBody>
      </p:sp>
      <p:sp>
        <p:nvSpPr>
          <p:cNvPr id="4" name="Slide Number Placeholder 3"/>
          <p:cNvSpPr>
            <a:spLocks noGrp="1"/>
          </p:cNvSpPr>
          <p:nvPr>
            <p:ph type="sldNum" sz="quarter" idx="5"/>
          </p:nvPr>
        </p:nvSpPr>
        <p:spPr/>
        <p:txBody>
          <a:bodyPr/>
          <a:lstStyle/>
          <a:p>
            <a:fld id="{5D61EEAE-04EA-4E1C-A424-57921C916597}" type="slidenum">
              <a:rPr lang="en-US" smtClean="0"/>
              <a:t>3</a:t>
            </a:fld>
            <a:endParaRPr lang="en-US"/>
          </a:p>
        </p:txBody>
      </p:sp>
    </p:spTree>
    <p:extLst>
      <p:ext uri="{BB962C8B-B14F-4D97-AF65-F5344CB8AC3E}">
        <p14:creationId xmlns:p14="http://schemas.microsoft.com/office/powerpoint/2010/main" val="3991545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75 seconds. Summarize the platform feature by feature. Emphasize that these workflows are integrated, not isolated mock-up pages.</a:t>
            </a:r>
          </a:p>
        </p:txBody>
      </p:sp>
      <p:sp>
        <p:nvSpPr>
          <p:cNvPr id="4" name="Slide Number Placeholder 3"/>
          <p:cNvSpPr>
            <a:spLocks noGrp="1"/>
          </p:cNvSpPr>
          <p:nvPr>
            <p:ph type="sldNum" sz="quarter" idx="5"/>
          </p:nvPr>
        </p:nvSpPr>
        <p:spPr/>
        <p:txBody>
          <a:bodyPr/>
          <a:lstStyle/>
          <a:p>
            <a:fld id="{5D61EEAE-04EA-4E1C-A424-57921C916597}" type="slidenum">
              <a:rPr lang="en-US" smtClean="0"/>
              <a:t>4</a:t>
            </a:fld>
            <a:endParaRPr lang="en-US"/>
          </a:p>
        </p:txBody>
      </p:sp>
    </p:spTree>
    <p:extLst>
      <p:ext uri="{BB962C8B-B14F-4D97-AF65-F5344CB8AC3E}">
        <p14:creationId xmlns:p14="http://schemas.microsoft.com/office/powerpoint/2010/main" val="1843414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75 seconds. Walk left to right, then explain the security boundary. Frontend route checks improve experience, but backend authorization remains decisive.</a:t>
            </a:r>
          </a:p>
        </p:txBody>
      </p:sp>
      <p:sp>
        <p:nvSpPr>
          <p:cNvPr id="4" name="Slide Number Placeholder 3"/>
          <p:cNvSpPr>
            <a:spLocks noGrp="1"/>
          </p:cNvSpPr>
          <p:nvPr>
            <p:ph type="sldNum" sz="quarter" idx="5"/>
          </p:nvPr>
        </p:nvSpPr>
        <p:spPr/>
        <p:txBody>
          <a:bodyPr/>
          <a:lstStyle/>
          <a:p>
            <a:fld id="{5D61EEAE-04EA-4E1C-A424-57921C916597}" type="slidenum">
              <a:rPr lang="en-US" smtClean="0"/>
              <a:t>5</a:t>
            </a:fld>
            <a:endParaRPr lang="en-US"/>
          </a:p>
        </p:txBody>
      </p:sp>
    </p:spTree>
    <p:extLst>
      <p:ext uri="{BB962C8B-B14F-4D97-AF65-F5344CB8AC3E}">
        <p14:creationId xmlns:p14="http://schemas.microsoft.com/office/powerpoint/2010/main" val="1117294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95 seconds. Explain the formula at a high level. The decision is engineering and governance driven: current expert evidence supports versioned rules; it does not support training a defensible predictive model.</a:t>
            </a:r>
          </a:p>
        </p:txBody>
      </p:sp>
      <p:sp>
        <p:nvSpPr>
          <p:cNvPr id="4" name="Slide Number Placeholder 3"/>
          <p:cNvSpPr>
            <a:spLocks noGrp="1"/>
          </p:cNvSpPr>
          <p:nvPr>
            <p:ph type="sldNum" sz="quarter" idx="5"/>
          </p:nvPr>
        </p:nvSpPr>
        <p:spPr/>
        <p:txBody>
          <a:bodyPr/>
          <a:lstStyle/>
          <a:p>
            <a:fld id="{5D61EEAE-04EA-4E1C-A424-57921C916597}" type="slidenum">
              <a:rPr lang="en-US" smtClean="0"/>
              <a:t>6</a:t>
            </a:fld>
            <a:endParaRPr lang="en-US"/>
          </a:p>
        </p:txBody>
      </p:sp>
    </p:spTree>
    <p:extLst>
      <p:ext uri="{BB962C8B-B14F-4D97-AF65-F5344CB8AC3E}">
        <p14:creationId xmlns:p14="http://schemas.microsoft.com/office/powerpoint/2010/main" val="1601019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85 seconds. Compare the maintenance cost and language correctness. i18next was selected because it fits React and supports gradual migration without changing business rules or routes.</a:t>
            </a:r>
          </a:p>
        </p:txBody>
      </p:sp>
      <p:sp>
        <p:nvSpPr>
          <p:cNvPr id="4" name="Slide Number Placeholder 3"/>
          <p:cNvSpPr>
            <a:spLocks noGrp="1"/>
          </p:cNvSpPr>
          <p:nvPr>
            <p:ph type="sldNum" sz="quarter" idx="5"/>
          </p:nvPr>
        </p:nvSpPr>
        <p:spPr/>
        <p:txBody>
          <a:bodyPr/>
          <a:lstStyle/>
          <a:p>
            <a:fld id="{5D61EEAE-04EA-4E1C-A424-57921C916597}" type="slidenum">
              <a:rPr lang="en-US" smtClean="0"/>
              <a:t>7</a:t>
            </a:fld>
            <a:endParaRPr lang="en-US"/>
          </a:p>
        </p:txBody>
      </p:sp>
    </p:spTree>
    <p:extLst>
      <p:ext uri="{BB962C8B-B14F-4D97-AF65-F5344CB8AC3E}">
        <p14:creationId xmlns:p14="http://schemas.microsoft.com/office/powerpoint/2010/main" val="1779985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95 seconds. State the trade-off honestly. Cloud services accelerated delivery and removed local model operations, but introduce network latency, provider cost, and availability concerns. The service boundary keeps future replacement possible.</a:t>
            </a:r>
          </a:p>
        </p:txBody>
      </p:sp>
      <p:sp>
        <p:nvSpPr>
          <p:cNvPr id="4" name="Slide Number Placeholder 3"/>
          <p:cNvSpPr>
            <a:spLocks noGrp="1"/>
          </p:cNvSpPr>
          <p:nvPr>
            <p:ph type="sldNum" sz="quarter" idx="5"/>
          </p:nvPr>
        </p:nvSpPr>
        <p:spPr/>
        <p:txBody>
          <a:bodyPr/>
          <a:lstStyle/>
          <a:p>
            <a:fld id="{5D61EEAE-04EA-4E1C-A424-57921C916597}" type="slidenum">
              <a:rPr lang="en-US" smtClean="0"/>
              <a:t>8</a:t>
            </a:fld>
            <a:endParaRPr lang="en-US"/>
          </a:p>
        </p:txBody>
      </p:sp>
    </p:spTree>
    <p:extLst>
      <p:ext uri="{BB962C8B-B14F-4D97-AF65-F5344CB8AC3E}">
        <p14:creationId xmlns:p14="http://schemas.microsoft.com/office/powerpoint/2010/main" val="3659513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70 seconds. Use this slide as evidence. Mention route security, profile consent, employer control, and verifier authorization, then read the automated totals.</a:t>
            </a:r>
          </a:p>
        </p:txBody>
      </p:sp>
      <p:sp>
        <p:nvSpPr>
          <p:cNvPr id="4" name="Slide Number Placeholder 3"/>
          <p:cNvSpPr>
            <a:spLocks noGrp="1"/>
          </p:cNvSpPr>
          <p:nvPr>
            <p:ph type="sldNum" sz="quarter" idx="5"/>
          </p:nvPr>
        </p:nvSpPr>
        <p:spPr/>
        <p:txBody>
          <a:bodyPr/>
          <a:lstStyle/>
          <a:p>
            <a:fld id="{5D61EEAE-04EA-4E1C-A424-57921C916597}" type="slidenum">
              <a:rPr lang="en-US" smtClean="0"/>
              <a:t>9</a:t>
            </a:fld>
            <a:endParaRPr lang="en-US"/>
          </a:p>
        </p:txBody>
      </p:sp>
    </p:spTree>
    <p:extLst>
      <p:ext uri="{BB962C8B-B14F-4D97-AF65-F5344CB8AC3E}">
        <p14:creationId xmlns:p14="http://schemas.microsoft.com/office/powerpoint/2010/main" val="3444954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DD729-42F9-2D0D-E8A7-10CEF4816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16D92-BC65-C063-F408-668E723065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C26C4-2E68-E0A1-276F-97CA5B9AF274}"/>
              </a:ext>
            </a:extLst>
          </p:cNvPr>
          <p:cNvSpPr>
            <a:spLocks noGrp="1"/>
          </p:cNvSpPr>
          <p:nvPr>
            <p:ph type="body" idx="1"/>
          </p:nvPr>
        </p:nvSpPr>
        <p:spPr/>
        <p:txBody>
          <a:bodyPr/>
          <a:lstStyle/>
          <a:p>
            <a:r>
              <a:rPr lang="en-US"/>
              <a:t>70 seconds. Use this slide as evidence. Mention route security, profile consent, employer control, and verifier authorization, then read the automated totals.</a:t>
            </a:r>
          </a:p>
        </p:txBody>
      </p:sp>
      <p:sp>
        <p:nvSpPr>
          <p:cNvPr id="4" name="Slide Number Placeholder 3">
            <a:extLst>
              <a:ext uri="{FF2B5EF4-FFF2-40B4-BE49-F238E27FC236}">
                <a16:creationId xmlns:a16="http://schemas.microsoft.com/office/drawing/2014/main" id="{F8351B5D-4731-6859-61EB-B5556A58C351}"/>
              </a:ext>
            </a:extLst>
          </p:cNvPr>
          <p:cNvSpPr>
            <a:spLocks noGrp="1"/>
          </p:cNvSpPr>
          <p:nvPr>
            <p:ph type="sldNum" sz="quarter" idx="5"/>
          </p:nvPr>
        </p:nvSpPr>
        <p:spPr/>
        <p:txBody>
          <a:bodyPr/>
          <a:lstStyle/>
          <a:p>
            <a:fld id="{5D61EEAE-04EA-4E1C-A424-57921C916597}" type="slidenum">
              <a:rPr lang="en-US" smtClean="0"/>
              <a:t>10</a:t>
            </a:fld>
            <a:endParaRPr lang="en-US"/>
          </a:p>
        </p:txBody>
      </p:sp>
    </p:spTree>
    <p:extLst>
      <p:ext uri="{BB962C8B-B14F-4D97-AF65-F5344CB8AC3E}">
        <p14:creationId xmlns:p14="http://schemas.microsoft.com/office/powerpoint/2010/main" val="3138278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BA77A-DD30-8A3B-C453-714FD6041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ADA7E-2CEC-AF58-D29F-FDB74FDB3A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A8CA2-3991-9B03-B955-FBE1C6F300BE}"/>
              </a:ext>
            </a:extLst>
          </p:cNvPr>
          <p:cNvSpPr>
            <a:spLocks noGrp="1"/>
          </p:cNvSpPr>
          <p:nvPr>
            <p:ph type="body" idx="1"/>
          </p:nvPr>
        </p:nvSpPr>
        <p:spPr/>
        <p:txBody>
          <a:bodyPr/>
          <a:lstStyle/>
          <a:p>
            <a:r>
              <a:rPr lang="en-US"/>
              <a:t>70 seconds. Use this slide as evidence. Mention route security, profile consent, employer control, and verifier authorization, then read the automated totals.</a:t>
            </a:r>
          </a:p>
        </p:txBody>
      </p:sp>
      <p:sp>
        <p:nvSpPr>
          <p:cNvPr id="4" name="Slide Number Placeholder 3">
            <a:extLst>
              <a:ext uri="{FF2B5EF4-FFF2-40B4-BE49-F238E27FC236}">
                <a16:creationId xmlns:a16="http://schemas.microsoft.com/office/drawing/2014/main" id="{ECD225CB-B46C-DD50-9381-723633AD5BDF}"/>
              </a:ext>
            </a:extLst>
          </p:cNvPr>
          <p:cNvSpPr>
            <a:spLocks noGrp="1"/>
          </p:cNvSpPr>
          <p:nvPr>
            <p:ph type="sldNum" sz="quarter" idx="5"/>
          </p:nvPr>
        </p:nvSpPr>
        <p:spPr/>
        <p:txBody>
          <a:bodyPr/>
          <a:lstStyle/>
          <a:p>
            <a:fld id="{5D61EEAE-04EA-4E1C-A424-57921C916597}" type="slidenum">
              <a:rPr lang="en-US" smtClean="0"/>
              <a:t>11</a:t>
            </a:fld>
            <a:endParaRPr lang="en-US"/>
          </a:p>
        </p:txBody>
      </p:sp>
    </p:spTree>
    <p:extLst>
      <p:ext uri="{BB962C8B-B14F-4D97-AF65-F5344CB8AC3E}">
        <p14:creationId xmlns:p14="http://schemas.microsoft.com/office/powerpoint/2010/main" val="2868462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D3E9D-8DE6-AD3F-8FB6-CD883A5B35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F3EAED-9483-D991-A388-5B471DF00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6CE21-931E-0A38-4CD4-9EF6EBBCA3CA}"/>
              </a:ext>
            </a:extLst>
          </p:cNvPr>
          <p:cNvSpPr>
            <a:spLocks noGrp="1"/>
          </p:cNvSpPr>
          <p:nvPr>
            <p:ph type="body" idx="1"/>
          </p:nvPr>
        </p:nvSpPr>
        <p:spPr/>
        <p:txBody>
          <a:bodyPr/>
          <a:lstStyle/>
          <a:p>
            <a:r>
              <a:rPr lang="en-US"/>
              <a:t>70 seconds. Use this slide as evidence. Mention route security, profile consent, employer control, and verifier authorization, then read the automated totals.</a:t>
            </a:r>
          </a:p>
        </p:txBody>
      </p:sp>
      <p:sp>
        <p:nvSpPr>
          <p:cNvPr id="4" name="Slide Number Placeholder 3">
            <a:extLst>
              <a:ext uri="{FF2B5EF4-FFF2-40B4-BE49-F238E27FC236}">
                <a16:creationId xmlns:a16="http://schemas.microsoft.com/office/drawing/2014/main" id="{77CFB7C1-4764-73BC-6EBA-565622BA2D21}"/>
              </a:ext>
            </a:extLst>
          </p:cNvPr>
          <p:cNvSpPr>
            <a:spLocks noGrp="1"/>
          </p:cNvSpPr>
          <p:nvPr>
            <p:ph type="sldNum" sz="quarter" idx="5"/>
          </p:nvPr>
        </p:nvSpPr>
        <p:spPr/>
        <p:txBody>
          <a:bodyPr/>
          <a:lstStyle/>
          <a:p>
            <a:fld id="{5D61EEAE-04EA-4E1C-A424-57921C916597}" type="slidenum">
              <a:rPr lang="en-US" smtClean="0"/>
              <a:t>12</a:t>
            </a:fld>
            <a:endParaRPr lang="en-US"/>
          </a:p>
        </p:txBody>
      </p:sp>
    </p:spTree>
    <p:extLst>
      <p:ext uri="{BB962C8B-B14F-4D97-AF65-F5344CB8AC3E}">
        <p14:creationId xmlns:p14="http://schemas.microsoft.com/office/powerpoint/2010/main" val="3649588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8BF6C-A99A-E2A6-B930-CEB3C5B88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C39B4-B06C-B227-0084-5E019D8FE5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641FC-CE22-910A-41FC-AD211E8ECB60}"/>
              </a:ext>
            </a:extLst>
          </p:cNvPr>
          <p:cNvSpPr>
            <a:spLocks noGrp="1"/>
          </p:cNvSpPr>
          <p:nvPr>
            <p:ph type="body" idx="1"/>
          </p:nvPr>
        </p:nvSpPr>
        <p:spPr/>
        <p:txBody>
          <a:bodyPr/>
          <a:lstStyle/>
          <a:p>
            <a:r>
              <a:rPr lang="en-US"/>
              <a:t>70 seconds. Use this slide as evidence. Mention route security, profile consent, employer control, and verifier authorization, then read the automated totals.</a:t>
            </a:r>
          </a:p>
        </p:txBody>
      </p:sp>
      <p:sp>
        <p:nvSpPr>
          <p:cNvPr id="4" name="Slide Number Placeholder 3">
            <a:extLst>
              <a:ext uri="{FF2B5EF4-FFF2-40B4-BE49-F238E27FC236}">
                <a16:creationId xmlns:a16="http://schemas.microsoft.com/office/drawing/2014/main" id="{6BB854CF-1984-05B9-BB87-8D04555E2217}"/>
              </a:ext>
            </a:extLst>
          </p:cNvPr>
          <p:cNvSpPr>
            <a:spLocks noGrp="1"/>
          </p:cNvSpPr>
          <p:nvPr>
            <p:ph type="sldNum" sz="quarter" idx="5"/>
          </p:nvPr>
        </p:nvSpPr>
        <p:spPr/>
        <p:txBody>
          <a:bodyPr/>
          <a:lstStyle/>
          <a:p>
            <a:fld id="{5D61EEAE-04EA-4E1C-A424-57921C916597}" type="slidenum">
              <a:rPr lang="en-US" smtClean="0"/>
              <a:t>13</a:t>
            </a:fld>
            <a:endParaRPr lang="en-US"/>
          </a:p>
        </p:txBody>
      </p:sp>
    </p:spTree>
    <p:extLst>
      <p:ext uri="{BB962C8B-B14F-4D97-AF65-F5344CB8AC3E}">
        <p14:creationId xmlns:p14="http://schemas.microsoft.com/office/powerpoint/2010/main" val="32321000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80 seconds. Use the terms stabilization, refinement, and retesting. Catalogue work is semantic validation, not only file upload.</a:t>
            </a:r>
          </a:p>
        </p:txBody>
      </p:sp>
      <p:sp>
        <p:nvSpPr>
          <p:cNvPr id="4" name="Slide Number Placeholder 3"/>
          <p:cNvSpPr>
            <a:spLocks noGrp="1"/>
          </p:cNvSpPr>
          <p:nvPr>
            <p:ph type="sldNum" sz="quarter" idx="5"/>
          </p:nvPr>
        </p:nvSpPr>
        <p:spPr/>
        <p:txBody>
          <a:bodyPr/>
          <a:lstStyle/>
          <a:p>
            <a:fld id="{5D61EEAE-04EA-4E1C-A424-57921C916597}" type="slidenum">
              <a:rPr lang="en-US" smtClean="0"/>
              <a:t>14</a:t>
            </a:fld>
            <a:endParaRPr lang="en-US"/>
          </a:p>
        </p:txBody>
      </p:sp>
    </p:spTree>
    <p:extLst>
      <p:ext uri="{BB962C8B-B14F-4D97-AF65-F5344CB8AC3E}">
        <p14:creationId xmlns:p14="http://schemas.microsoft.com/office/powerpoint/2010/main" val="531473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90 seconds. This is a planned engineering cycle, not an unsupported speed claim. A cache is one possible optimization after measurement; sensitive candidate or AI output must not be cached casually.</a:t>
            </a:r>
          </a:p>
        </p:txBody>
      </p:sp>
      <p:sp>
        <p:nvSpPr>
          <p:cNvPr id="4" name="Slide Number Placeholder 3"/>
          <p:cNvSpPr>
            <a:spLocks noGrp="1"/>
          </p:cNvSpPr>
          <p:nvPr>
            <p:ph type="sldNum" sz="quarter" idx="5"/>
          </p:nvPr>
        </p:nvSpPr>
        <p:spPr/>
        <p:txBody>
          <a:bodyPr/>
          <a:lstStyle/>
          <a:p>
            <a:fld id="{5D61EEAE-04EA-4E1C-A424-57921C916597}" type="slidenum">
              <a:rPr lang="en-US" smtClean="0"/>
              <a:t>15</a:t>
            </a:fld>
            <a:endParaRPr lang="en-US"/>
          </a:p>
        </p:txBody>
      </p:sp>
    </p:spTree>
    <p:extLst>
      <p:ext uri="{BB962C8B-B14F-4D97-AF65-F5344CB8AC3E}">
        <p14:creationId xmlns:p14="http://schemas.microsoft.com/office/powerpoint/2010/main" val="41115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80 seconds. Summarize the roadmap, then introduce the demo. The closing statement returns to the project purpose: connection and support, not automatic hiring.</a:t>
            </a:r>
          </a:p>
        </p:txBody>
      </p:sp>
      <p:sp>
        <p:nvSpPr>
          <p:cNvPr id="4" name="Slide Number Placeholder 3"/>
          <p:cNvSpPr>
            <a:spLocks noGrp="1"/>
          </p:cNvSpPr>
          <p:nvPr>
            <p:ph type="sldNum" sz="quarter" idx="5"/>
          </p:nvPr>
        </p:nvSpPr>
        <p:spPr/>
        <p:txBody>
          <a:bodyPr/>
          <a:lstStyle/>
          <a:p>
            <a:fld id="{5D61EEAE-04EA-4E1C-A424-57921C916597}" type="slidenum">
              <a:rPr lang="en-US" smtClean="0"/>
              <a:t>16</a:t>
            </a:fld>
            <a:endParaRPr lang="en-US"/>
          </a:p>
        </p:txBody>
      </p:sp>
    </p:spTree>
    <p:extLst>
      <p:ext uri="{BB962C8B-B14F-4D97-AF65-F5344CB8AC3E}">
        <p14:creationId xmlns:p14="http://schemas.microsoft.com/office/powerpoint/2010/main" val="2146721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9B19D-7685-6C20-EEBC-CD50EA6EDC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9E63A7-74D6-A426-CBAE-8372D45E5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CEEC49-233A-4453-2FB6-6A984711326E}"/>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5" name="Footer Placeholder 4">
            <a:extLst>
              <a:ext uri="{FF2B5EF4-FFF2-40B4-BE49-F238E27FC236}">
                <a16:creationId xmlns:a16="http://schemas.microsoft.com/office/drawing/2014/main" id="{F36FF091-F0F7-01F6-8692-41AAD1693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890F40-65C0-6597-195B-92CC70065AEA}"/>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1727257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F1FEC-2270-9466-A257-2EB35B3863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771A8-AF2A-AA5C-1809-F4AC09E6A7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EF2931-5605-1290-1B2C-CBAB472A03B5}"/>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5" name="Footer Placeholder 4">
            <a:extLst>
              <a:ext uri="{FF2B5EF4-FFF2-40B4-BE49-F238E27FC236}">
                <a16:creationId xmlns:a16="http://schemas.microsoft.com/office/drawing/2014/main" id="{F2FA26BD-0087-BACA-2883-309CECF4A8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878BE-A76A-72AA-95F8-315F51563948}"/>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2822136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E7500-5619-8FE8-0371-831505C1D9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F24CB1-94BA-7BB7-B3BB-75F796DBA5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0939BC-3E18-7B4E-B6A2-A2F1DEE42208}"/>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5" name="Footer Placeholder 4">
            <a:extLst>
              <a:ext uri="{FF2B5EF4-FFF2-40B4-BE49-F238E27FC236}">
                <a16:creationId xmlns:a16="http://schemas.microsoft.com/office/drawing/2014/main" id="{98FF3E8D-2697-DCB8-7C2E-AB65C297C5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099F79-6B32-AFFA-70F2-F129B6C6AFDB}"/>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166851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35A25-9C9E-7CDF-53E0-46FFEAA47E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321558-C285-18A1-A6BA-1720BCEAB8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752C07-0DE2-0C39-EBD0-2AA279BCFA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EE09FE-15EE-4E2C-C82B-AD19BE0343F5}"/>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6" name="Footer Placeholder 5">
            <a:extLst>
              <a:ext uri="{FF2B5EF4-FFF2-40B4-BE49-F238E27FC236}">
                <a16:creationId xmlns:a16="http://schemas.microsoft.com/office/drawing/2014/main" id="{D4A85C93-A403-225D-EEEB-2C5A5F78E6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AB3E45-C75B-1BAC-5C40-63BA07304598}"/>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3266103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4B309-DF2C-D054-A4F4-7A7ABB8C49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300211-3215-27F5-35F8-B1B8A65BF7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9878F0-7384-4511-ED28-CFA873D671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B02D6A-153E-F752-0A9E-4D2AE41732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19E0A4-835C-61D5-1735-C1F95755A2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AEE07F-FD28-4462-284F-992CC1336A11}"/>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8" name="Footer Placeholder 7">
            <a:extLst>
              <a:ext uri="{FF2B5EF4-FFF2-40B4-BE49-F238E27FC236}">
                <a16:creationId xmlns:a16="http://schemas.microsoft.com/office/drawing/2014/main" id="{B80F8B88-782C-65A8-228F-14FA7F84A8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3CD230-6BF5-8B90-A974-E70DFADF2334}"/>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461822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52D60-EE87-F0A3-5A8F-24D2C38B9A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BC42F9-4655-C988-8E05-EF3AE4437343}"/>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4" name="Footer Placeholder 3">
            <a:extLst>
              <a:ext uri="{FF2B5EF4-FFF2-40B4-BE49-F238E27FC236}">
                <a16:creationId xmlns:a16="http://schemas.microsoft.com/office/drawing/2014/main" id="{BA1BBEF7-1279-FDC4-1B9D-D2F733E46B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704B5E-D7C5-9E63-7273-8249C0CEED9A}"/>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2296878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A80520-74FF-9B11-6DBD-0B8475964D24}"/>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3" name="Footer Placeholder 2">
            <a:extLst>
              <a:ext uri="{FF2B5EF4-FFF2-40B4-BE49-F238E27FC236}">
                <a16:creationId xmlns:a16="http://schemas.microsoft.com/office/drawing/2014/main" id="{7BB97814-FC64-5500-C081-74A6616AFE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CE0891-02D8-4BA6-3014-0D1F0E85C634}"/>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2199907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BEA65-D3AF-29CF-BB84-2CC70D08E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40CDE9-2F8A-70B2-A7E3-2F708AC721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63188D-A878-8D89-C0FC-D0E968DF8C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06CAD7-BF08-C3E7-13C1-08D7668C7CA5}"/>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6" name="Footer Placeholder 5">
            <a:extLst>
              <a:ext uri="{FF2B5EF4-FFF2-40B4-BE49-F238E27FC236}">
                <a16:creationId xmlns:a16="http://schemas.microsoft.com/office/drawing/2014/main" id="{50DE4E30-F03D-3D18-CD02-5E2662A7E0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9A9860-6298-9E20-BB78-A0C7FF99C44D}"/>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297639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32B3F-0D9D-EA40-B06B-D42262F51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2585B5-9710-4864-B7C2-FCA4D142FA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3A7DBF-AC40-B744-D753-635971258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8FF363-3FB5-C0CF-8139-55BB7B960693}"/>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6" name="Footer Placeholder 5">
            <a:extLst>
              <a:ext uri="{FF2B5EF4-FFF2-40B4-BE49-F238E27FC236}">
                <a16:creationId xmlns:a16="http://schemas.microsoft.com/office/drawing/2014/main" id="{45527C21-3EA0-4E32-C043-627A5AD5F1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0D6A9-3E11-F603-FA77-D589651E08BA}"/>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2481297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E7A6E-1CBA-621A-ADE3-99CA0B2881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61681FD-BC72-BBB8-15C6-E141AC40CA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42CC55-9CCF-1729-9787-F6775149A6AB}"/>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5" name="Footer Placeholder 4">
            <a:extLst>
              <a:ext uri="{FF2B5EF4-FFF2-40B4-BE49-F238E27FC236}">
                <a16:creationId xmlns:a16="http://schemas.microsoft.com/office/drawing/2014/main" id="{4DB36C32-116B-DE40-A4C1-B4F5893AFB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D84010-BC1E-4327-F5F7-42B317C5367C}"/>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3032625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5904D1-53ED-2C6E-6024-0C7BAEC8D8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5F6F97-AB97-D52D-7BFA-C2366961D0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EC3734-1B5B-6117-DD06-4D83EC892D83}"/>
              </a:ext>
            </a:extLst>
          </p:cNvPr>
          <p:cNvSpPr>
            <a:spLocks noGrp="1"/>
          </p:cNvSpPr>
          <p:nvPr>
            <p:ph type="dt" sz="half" idx="10"/>
          </p:nvPr>
        </p:nvSpPr>
        <p:spPr/>
        <p:txBody>
          <a:bodyPr/>
          <a:lstStyle/>
          <a:p>
            <a:fld id="{E3709807-0403-42CF-94B3-3FF47C185104}" type="datetimeFigureOut">
              <a:rPr lang="en-US" smtClean="0"/>
              <a:t>9/1/2026</a:t>
            </a:fld>
            <a:endParaRPr lang="en-US"/>
          </a:p>
        </p:txBody>
      </p:sp>
      <p:sp>
        <p:nvSpPr>
          <p:cNvPr id="5" name="Footer Placeholder 4">
            <a:extLst>
              <a:ext uri="{FF2B5EF4-FFF2-40B4-BE49-F238E27FC236}">
                <a16:creationId xmlns:a16="http://schemas.microsoft.com/office/drawing/2014/main" id="{7EBA78C0-00C9-E364-CFA2-E458077D4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A42828-D221-4301-722D-82457EE017CB}"/>
              </a:ext>
            </a:extLst>
          </p:cNvPr>
          <p:cNvSpPr>
            <a:spLocks noGrp="1"/>
          </p:cNvSpPr>
          <p:nvPr>
            <p:ph type="sldNum" sz="quarter" idx="12"/>
          </p:nvPr>
        </p:nvSpPr>
        <p:spPr/>
        <p:txBody>
          <a:bodyPr/>
          <a:lstStyle/>
          <a:p>
            <a:fld id="{6C7817C3-F155-4CBD-BF86-C0B9B67148FA}" type="slidenum">
              <a:rPr lang="en-US" smtClean="0"/>
              <a:t>‹#›</a:t>
            </a:fld>
            <a:endParaRPr lang="en-US"/>
          </a:p>
        </p:txBody>
      </p:sp>
    </p:spTree>
    <p:extLst>
      <p:ext uri="{BB962C8B-B14F-4D97-AF65-F5344CB8AC3E}">
        <p14:creationId xmlns:p14="http://schemas.microsoft.com/office/powerpoint/2010/main" val="103784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EDF4A-4573-4F12-A23C-7DCFC4EB60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BFA5F2-BA5F-90BC-3204-89D59AD227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25143-D8A3-D410-4B25-B7406757EF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709807-0403-42CF-94B3-3FF47C185104}" type="datetimeFigureOut">
              <a:rPr lang="en-US" smtClean="0"/>
              <a:t>9/1/2026</a:t>
            </a:fld>
            <a:endParaRPr lang="en-US"/>
          </a:p>
        </p:txBody>
      </p:sp>
      <p:sp>
        <p:nvSpPr>
          <p:cNvPr id="5" name="Footer Placeholder 4">
            <a:extLst>
              <a:ext uri="{FF2B5EF4-FFF2-40B4-BE49-F238E27FC236}">
                <a16:creationId xmlns:a16="http://schemas.microsoft.com/office/drawing/2014/main" id="{87579163-D74B-C70E-69F4-514CB64154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E22851-9F97-0166-055B-605DE2FED9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7817C3-F155-4CBD-BF86-C0B9B67148FA}" type="slidenum">
              <a:rPr lang="en-US" smtClean="0"/>
              <a:t>‹#›</a:t>
            </a:fld>
            <a:endParaRPr lang="en-US"/>
          </a:p>
        </p:txBody>
      </p:sp>
    </p:spTree>
    <p:extLst>
      <p:ext uri="{BB962C8B-B14F-4D97-AF65-F5344CB8AC3E}">
        <p14:creationId xmlns:p14="http://schemas.microsoft.com/office/powerpoint/2010/main" val="1843968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916" y="137450"/>
            <a:ext cx="2905125" cy="954405"/>
          </a:xfrm>
          <a:prstGeom prst="rect">
            <a:avLst/>
          </a:prstGeom>
          <a:noFill/>
          <a:ln>
            <a:noFill/>
          </a:ln>
        </p:spPr>
      </p:pic>
      <p:sp>
        <p:nvSpPr>
          <p:cNvPr id="8" name="Rectangle 7"/>
          <p:cNvSpPr/>
          <p:nvPr/>
        </p:nvSpPr>
        <p:spPr>
          <a:xfrm>
            <a:off x="83663" y="1187548"/>
            <a:ext cx="4719633" cy="923330"/>
          </a:xfrm>
          <a:prstGeom prst="rect">
            <a:avLst/>
          </a:prstGeom>
        </p:spPr>
        <p:txBody>
          <a:bodyPr wrap="square">
            <a:spAutoFit/>
          </a:bodyPr>
          <a:lstStyle/>
          <a:p>
            <a:pPr algn="ctr"/>
            <a:r>
              <a:rPr lang="fr-FR" b="1" kern="1400" spc="25" dirty="0">
                <a:latin typeface="Times New Roman" panose="02020603050405020304" pitchFamily="18" charset="0"/>
                <a:ea typeface="Times New Roman" panose="02020603050405020304" pitchFamily="18" charset="0"/>
                <a:cs typeface="Times New Roman" panose="02020603050405020304" pitchFamily="18" charset="0"/>
              </a:rPr>
              <a:t>Université Saint-Joseph de Beyrouth</a:t>
            </a:r>
            <a:endParaRPr lang="fr-FR" sz="2000" kern="1400" spc="25" dirty="0">
              <a:effectLst/>
              <a:latin typeface="Times New Roman" panose="02020603050405020304" pitchFamily="18" charset="0"/>
              <a:ea typeface="Times New Roman" panose="02020603050405020304" pitchFamily="18" charset="0"/>
              <a:cs typeface="Arial" panose="020B0604020202020204" pitchFamily="34" charset="0"/>
            </a:endParaRPr>
          </a:p>
          <a:p>
            <a:pPr algn="ctr">
              <a:spcAft>
                <a:spcPts val="0"/>
              </a:spcAft>
            </a:pPr>
            <a:r>
              <a:rPr lang="fr-FR" b="1" kern="1400" spc="25" dirty="0">
                <a:latin typeface="Times New Roman" panose="02020603050405020304" pitchFamily="18" charset="0"/>
                <a:ea typeface="Times New Roman" panose="02020603050405020304" pitchFamily="18" charset="0"/>
                <a:cs typeface="Times New Roman" panose="02020603050405020304" pitchFamily="18" charset="0"/>
              </a:rPr>
              <a:t>Faculté d’Ingénierie et d’Architecture</a:t>
            </a:r>
          </a:p>
          <a:p>
            <a:pPr algn="ctr">
              <a:spcAft>
                <a:spcPts val="0"/>
              </a:spcAft>
            </a:pPr>
            <a:r>
              <a:rPr lang="fr-FR" b="1" kern="1400" spc="25" dirty="0">
                <a:latin typeface="Times New Roman" panose="02020603050405020304" pitchFamily="18" charset="0"/>
                <a:ea typeface="Times New Roman" panose="02020603050405020304" pitchFamily="18" charset="0"/>
                <a:cs typeface="Times New Roman" panose="02020603050405020304" pitchFamily="18" charset="0"/>
              </a:rPr>
              <a:t>École Supérieure d’Ingénieurs de Beyrouth</a:t>
            </a:r>
            <a:endParaRPr lang="fr-FR" sz="2000" kern="1400" spc="25" dirty="0">
              <a:effectLst/>
              <a:latin typeface="Times New Roman" panose="02020603050405020304" pitchFamily="18" charset="0"/>
              <a:ea typeface="Times New Roman" panose="02020603050405020304" pitchFamily="18" charset="0"/>
              <a:cs typeface="Arial" panose="020B0604020202020204" pitchFamily="34" charset="0"/>
            </a:endParaRPr>
          </a:p>
        </p:txBody>
      </p:sp>
      <p:sp>
        <p:nvSpPr>
          <p:cNvPr id="9" name="Rectangle 8"/>
          <p:cNvSpPr/>
          <p:nvPr/>
        </p:nvSpPr>
        <p:spPr>
          <a:xfrm>
            <a:off x="633012" y="2598752"/>
            <a:ext cx="11558988" cy="1569660"/>
          </a:xfrm>
          <a:prstGeom prst="rect">
            <a:avLst/>
          </a:prstGeom>
        </p:spPr>
        <p:txBody>
          <a:bodyPr wrap="square">
            <a:spAutoFit/>
          </a:bodyPr>
          <a:lstStyle/>
          <a:p>
            <a:r>
              <a:rPr lang="en-LB" sz="3200" b="1" dirty="0"/>
              <a:t>Inclusive Employment Platform: AI-Powered Accessible Recruitment Platform for Persons with Physical Disabilities</a:t>
            </a:r>
          </a:p>
          <a:p>
            <a:endParaRPr lang="en-LB" sz="3200" dirty="0"/>
          </a:p>
        </p:txBody>
      </p:sp>
      <p:sp>
        <p:nvSpPr>
          <p:cNvPr id="10" name="Rectangle 9"/>
          <p:cNvSpPr/>
          <p:nvPr/>
        </p:nvSpPr>
        <p:spPr>
          <a:xfrm>
            <a:off x="3249549" y="3923376"/>
            <a:ext cx="5692896" cy="1415772"/>
          </a:xfrm>
          <a:prstGeom prst="rect">
            <a:avLst/>
          </a:prstGeom>
        </p:spPr>
        <p:txBody>
          <a:bodyPr wrap="square">
            <a:spAutoFit/>
          </a:bodyPr>
          <a:lstStyle/>
          <a:p>
            <a:pPr algn="ctr">
              <a:spcAft>
                <a:spcPts val="0"/>
              </a:spcAft>
            </a:pPr>
            <a:r>
              <a:rPr lang="fr-FR" sz="2000" b="1" kern="1400" spc="25" dirty="0">
                <a:latin typeface="Times New Roman" panose="02020603050405020304" pitchFamily="18" charset="0"/>
                <a:ea typeface="Times New Roman" panose="02020603050405020304" pitchFamily="18" charset="0"/>
                <a:cs typeface="Times New Roman" panose="02020603050405020304" pitchFamily="18" charset="0"/>
              </a:rPr>
              <a:t>Soutenu par :</a:t>
            </a:r>
          </a:p>
          <a:p>
            <a:pPr algn="ctr">
              <a:spcAft>
                <a:spcPts val="0"/>
              </a:spcAft>
            </a:pPr>
            <a:r>
              <a:rPr lang="fr-FR" sz="1600" b="1" kern="1400" spc="25" dirty="0">
                <a:latin typeface="Times New Roman" panose="02020603050405020304" pitchFamily="18" charset="0"/>
                <a:ea typeface="Times New Roman" panose="02020603050405020304" pitchFamily="18" charset="0"/>
                <a:cs typeface="Times New Roman" panose="02020603050405020304" pitchFamily="18" charset="0"/>
              </a:rPr>
              <a:t>Zaidan MANSOUR</a:t>
            </a:r>
          </a:p>
          <a:p>
            <a:pPr algn="ctr">
              <a:spcAft>
                <a:spcPts val="0"/>
              </a:spcAft>
            </a:pPr>
            <a:r>
              <a:rPr lang="fr-FR" b="1" kern="1400" spc="25" dirty="0">
                <a:effectLst/>
                <a:latin typeface="Times New Roman" panose="02020603050405020304" pitchFamily="18" charset="0"/>
                <a:ea typeface="Times New Roman" panose="02020603050405020304" pitchFamily="18" charset="0"/>
                <a:cs typeface="Times New Roman" panose="02020603050405020304" pitchFamily="18" charset="0"/>
              </a:rPr>
              <a:t>Char</a:t>
            </a:r>
            <a:r>
              <a:rPr lang="fr-FR" b="1" kern="1400" spc="25" dirty="0">
                <a:latin typeface="Times New Roman" panose="02020603050405020304" pitchFamily="18" charset="0"/>
                <a:ea typeface="Times New Roman" panose="02020603050405020304" pitchFamily="18" charset="0"/>
                <a:cs typeface="Times New Roman" panose="02020603050405020304" pitchFamily="18" charset="0"/>
              </a:rPr>
              <a:t>bel RIZK</a:t>
            </a:r>
            <a:endParaRPr lang="fr-FR" kern="1400" spc="25" dirty="0">
              <a:effectLst/>
              <a:latin typeface="Times New Roman" panose="02020603050405020304" pitchFamily="18" charset="0"/>
              <a:ea typeface="Times New Roman" panose="02020603050405020304" pitchFamily="18" charset="0"/>
              <a:cs typeface="Arial" panose="020B0604020202020204" pitchFamily="34" charset="0"/>
            </a:endParaRPr>
          </a:p>
          <a:p>
            <a:pPr algn="ctr"/>
            <a:r>
              <a:rPr lang="fr-FR" sz="1600" b="1" dirty="0"/>
              <a:t>Département de génie informatique et communications </a:t>
            </a:r>
          </a:p>
          <a:p>
            <a:pPr algn="ctr"/>
            <a:r>
              <a:rPr lang="fr-FR" sz="1600" b="1" dirty="0"/>
              <a:t>Génie logiciel</a:t>
            </a:r>
            <a:endParaRPr lang="en-LB" sz="1600" dirty="0"/>
          </a:p>
        </p:txBody>
      </p:sp>
      <p:sp>
        <p:nvSpPr>
          <p:cNvPr id="2" name="Rectangle 1"/>
          <p:cNvSpPr/>
          <p:nvPr/>
        </p:nvSpPr>
        <p:spPr>
          <a:xfrm>
            <a:off x="5359257" y="5505931"/>
            <a:ext cx="1473481" cy="369332"/>
          </a:xfrm>
          <a:prstGeom prst="rect">
            <a:avLst/>
          </a:prstGeom>
        </p:spPr>
        <p:txBody>
          <a:bodyPr wrap="none">
            <a:spAutoFit/>
          </a:bodyPr>
          <a:lstStyle/>
          <a:p>
            <a:pPr algn="ctr"/>
            <a:r>
              <a:rPr lang="en-GB" b="1" kern="1400" spc="25" dirty="0">
                <a:latin typeface="Times New Roman" panose="02020603050405020304" pitchFamily="18" charset="0"/>
                <a:ea typeface="Times New Roman" panose="02020603050405020304" pitchFamily="18" charset="0"/>
                <a:cs typeface="Times New Roman" panose="02020603050405020304" pitchFamily="18" charset="0"/>
              </a:rPr>
              <a:t>Le 28/8/2026</a:t>
            </a:r>
          </a:p>
        </p:txBody>
      </p:sp>
      <p:sp>
        <p:nvSpPr>
          <p:cNvPr id="5" name="TextBox 4">
            <a:extLst>
              <a:ext uri="{FF2B5EF4-FFF2-40B4-BE49-F238E27FC236}">
                <a16:creationId xmlns:a16="http://schemas.microsoft.com/office/drawing/2014/main" id="{DC20EB1C-E2AA-7422-A9C0-FC48129AE763}"/>
              </a:ext>
            </a:extLst>
          </p:cNvPr>
          <p:cNvSpPr txBox="1"/>
          <p:nvPr/>
        </p:nvSpPr>
        <p:spPr>
          <a:xfrm>
            <a:off x="-1294476" y="4631262"/>
            <a:ext cx="6097772" cy="1725088"/>
          </a:xfrm>
          <a:prstGeom prst="rect">
            <a:avLst/>
          </a:prstGeom>
          <a:noFill/>
        </p:spPr>
        <p:txBody>
          <a:bodyPr wrap="square">
            <a:spAutoFit/>
          </a:bodyPr>
          <a:lstStyle/>
          <a:p>
            <a:pPr>
              <a:lnSpc>
                <a:spcPct val="107000"/>
              </a:lnSpc>
              <a:spcAft>
                <a:spcPts val="1260"/>
              </a:spcAft>
              <a:buNone/>
            </a:pPr>
            <a:r>
              <a:rPr lang="en-LB" sz="1200" dirty="0">
                <a:effectLst/>
                <a:latin typeface="Times New Roman" panose="02020603050405020304" pitchFamily="18" charset="0"/>
                <a:ea typeface="Times New Roman" panose="02020603050405020304" pitchFamily="18" charset="0"/>
              </a:rPr>
              <a:t> </a:t>
            </a:r>
            <a:endParaRPr lang="en-LB" sz="1000" b="1" dirty="0">
              <a:effectLst/>
              <a:latin typeface="Times New Roman" panose="02020603050405020304" pitchFamily="18" charset="0"/>
              <a:ea typeface="Times New Roman" panose="02020603050405020304" pitchFamily="18" charset="0"/>
            </a:endParaRPr>
          </a:p>
          <a:p>
            <a:pPr marR="1905" algn="ctr">
              <a:lnSpc>
                <a:spcPct val="107000"/>
              </a:lnSpc>
              <a:spcAft>
                <a:spcPts val="1090"/>
              </a:spcAft>
              <a:buNone/>
            </a:pPr>
            <a:r>
              <a:rPr lang="en-LB" b="1" dirty="0">
                <a:effectLst/>
                <a:ea typeface="Times New Roman" panose="02020603050405020304" pitchFamily="18" charset="0"/>
              </a:rPr>
              <a:t>Supervisor(</a:t>
            </a:r>
            <a:r>
              <a:rPr lang="en-LB" b="1" dirty="0">
                <a:ea typeface="Times New Roman" panose="02020603050405020304" pitchFamily="18" charset="0"/>
              </a:rPr>
              <a:t>s)</a:t>
            </a:r>
            <a:r>
              <a:rPr lang="en-LB" b="1" dirty="0">
                <a:effectLst/>
                <a:ea typeface="Times New Roman" panose="02020603050405020304" pitchFamily="18" charset="0"/>
              </a:rPr>
              <a:t>: </a:t>
            </a:r>
          </a:p>
          <a:p>
            <a:pPr algn="ctr">
              <a:buNone/>
            </a:pPr>
            <a:r>
              <a:rPr lang="en-LB" b="1" dirty="0">
                <a:solidFill>
                  <a:srgbClr val="000000"/>
                </a:solidFill>
                <a:effectLst/>
                <a:ea typeface="Times New Roman" panose="02020603050405020304" pitchFamily="18" charset="0"/>
              </a:rPr>
              <a:t>Dr. Jean Yves Youssef</a:t>
            </a:r>
          </a:p>
          <a:p>
            <a:pPr algn="ctr">
              <a:buNone/>
            </a:pPr>
            <a:r>
              <a:rPr lang="en-LB" b="1" dirty="0">
                <a:solidFill>
                  <a:srgbClr val="000000"/>
                </a:solidFill>
                <a:effectLst/>
                <a:ea typeface="Times New Roman" panose="02020603050405020304" pitchFamily="18" charset="0"/>
              </a:rPr>
              <a:t>Dr. Roger Obeid</a:t>
            </a:r>
          </a:p>
          <a:p>
            <a:pPr algn="ctr">
              <a:buNone/>
            </a:pPr>
            <a:r>
              <a:rPr lang="en-LB" b="1" dirty="0">
                <a:effectLst/>
                <a:ea typeface="Times New Roman" panose="02020603050405020304" pitchFamily="18" charset="0"/>
              </a:rPr>
              <a:t>    Dr. Rima Kilany</a:t>
            </a:r>
            <a:r>
              <a:rPr lang="en-LB" b="1" dirty="0">
                <a:effectLst/>
              </a:rPr>
              <a:t> </a:t>
            </a:r>
            <a:endParaRPr lang="en-LB" b="1" dirty="0"/>
          </a:p>
        </p:txBody>
      </p:sp>
      <p:sp>
        <p:nvSpPr>
          <p:cNvPr id="3" name="Footer Placeholder 2">
            <a:extLst>
              <a:ext uri="{FF2B5EF4-FFF2-40B4-BE49-F238E27FC236}">
                <a16:creationId xmlns:a16="http://schemas.microsoft.com/office/drawing/2014/main" id="{3089A2F9-A876-2011-A033-CB63BA3AFEE4}"/>
              </a:ext>
            </a:extLst>
          </p:cNvPr>
          <p:cNvSpPr>
            <a:spLocks noGrp="1"/>
          </p:cNvSpPr>
          <p:nvPr>
            <p:ph type="ftr" sz="quarter" idx="11"/>
          </p:nvPr>
        </p:nvSpPr>
        <p:spPr>
          <a:xfrm>
            <a:off x="4038597" y="6675437"/>
            <a:ext cx="4114800" cy="365125"/>
          </a:xfrm>
        </p:spPr>
        <p:txBody>
          <a:bodyPr/>
          <a:lstStyle/>
          <a:p>
            <a:r>
              <a:rPr lang="en-US" dirty="0">
                <a:solidFill>
                  <a:srgbClr val="5D6B80"/>
                </a:solidFill>
                <a:latin typeface="Aptos" panose="020B0004020202020204" pitchFamily="34" charset="0"/>
              </a:rPr>
              <a:t>INCLUSIVE WEB PLATFORM | PROGRESS PRESENTATION </a:t>
            </a:r>
          </a:p>
          <a:p>
            <a:endParaRPr lang="en-LB" sz="3200" dirty="0"/>
          </a:p>
        </p:txBody>
      </p:sp>
      <p:pic>
        <p:nvPicPr>
          <p:cNvPr id="12" name="Picture 11">
            <a:extLst>
              <a:ext uri="{FF2B5EF4-FFF2-40B4-BE49-F238E27FC236}">
                <a16:creationId xmlns:a16="http://schemas.microsoft.com/office/drawing/2014/main" id="{F616F868-330C-7DEE-3CE9-EACF14C20D66}"/>
              </a:ext>
            </a:extLst>
          </p:cNvPr>
          <p:cNvPicPr>
            <a:picLocks noChangeAspect="1"/>
          </p:cNvPicPr>
          <p:nvPr/>
        </p:nvPicPr>
        <p:blipFill>
          <a:blip r:embed="rId3"/>
          <a:stretch>
            <a:fillRect/>
          </a:stretch>
        </p:blipFill>
        <p:spPr>
          <a:xfrm>
            <a:off x="9511058" y="111668"/>
            <a:ext cx="2597279" cy="2151760"/>
          </a:xfrm>
          <a:prstGeom prst="rect">
            <a:avLst/>
          </a:prstGeom>
        </p:spPr>
      </p:pic>
    </p:spTree>
    <p:extLst>
      <p:ext uri="{BB962C8B-B14F-4D97-AF65-F5344CB8AC3E}">
        <p14:creationId xmlns:p14="http://schemas.microsoft.com/office/powerpoint/2010/main" val="498642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057524-2215-B300-561E-F445B47A4FCF}"/>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29C9DCA-7996-0CDA-523D-76BF90A3CDBC}"/>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PROJECT PURPOSE</a:t>
            </a:r>
          </a:p>
        </p:txBody>
      </p:sp>
      <p:sp>
        <p:nvSpPr>
          <p:cNvPr id="4" name="TextBox 3">
            <a:extLst>
              <a:ext uri="{FF2B5EF4-FFF2-40B4-BE49-F238E27FC236}">
                <a16:creationId xmlns:a16="http://schemas.microsoft.com/office/drawing/2014/main" id="{68BB4093-FC81-EF44-AF9C-9A0E874C467D}"/>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A bridge to real opportunities - not a replacement for people</a:t>
            </a:r>
          </a:p>
        </p:txBody>
      </p:sp>
      <p:cxnSp>
        <p:nvCxnSpPr>
          <p:cNvPr id="6" name="Straight Connector 5">
            <a:extLst>
              <a:ext uri="{FF2B5EF4-FFF2-40B4-BE49-F238E27FC236}">
                <a16:creationId xmlns:a16="http://schemas.microsoft.com/office/drawing/2014/main" id="{F91FBD1C-938F-3639-C0C5-5F71DFC58434}"/>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820D2FD-AF40-A964-BDF2-912244FF65FE}"/>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63731AD1-2385-E6AD-8DD5-25CD32142F43}"/>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02</a:t>
            </a:r>
          </a:p>
        </p:txBody>
      </p:sp>
      <p:sp>
        <p:nvSpPr>
          <p:cNvPr id="9" name="Rectangle: Rounded Corners 8">
            <a:extLst>
              <a:ext uri="{FF2B5EF4-FFF2-40B4-BE49-F238E27FC236}">
                <a16:creationId xmlns:a16="http://schemas.microsoft.com/office/drawing/2014/main" id="{15AAAD6C-81C1-8AB8-D50E-54C67C11DED7}"/>
              </a:ext>
            </a:extLst>
          </p:cNvPr>
          <p:cNvSpPr/>
          <p:nvPr/>
        </p:nvSpPr>
        <p:spPr>
          <a:xfrm>
            <a:off x="609600" y="1905000"/>
            <a:ext cx="3302000" cy="36322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432F7A11-F124-A3B5-93F0-443D0CEEA62C}"/>
              </a:ext>
            </a:extLst>
          </p:cNvPr>
          <p:cNvSpPr/>
          <p:nvPr/>
        </p:nvSpPr>
        <p:spPr>
          <a:xfrm>
            <a:off x="914400" y="2184400"/>
            <a:ext cx="1397000" cy="304800"/>
          </a:xfrm>
          <a:prstGeom prst="round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D7B2795-654E-7258-CC32-C9D7883F6853}"/>
              </a:ext>
            </a:extLst>
          </p:cNvPr>
          <p:cNvSpPr txBox="1"/>
          <p:nvPr/>
        </p:nvSpPr>
        <p:spPr>
          <a:xfrm>
            <a:off x="1016000" y="2247900"/>
            <a:ext cx="1193800" cy="138499"/>
          </a:xfrm>
          <a:prstGeom prst="rect">
            <a:avLst/>
          </a:prstGeom>
          <a:noFill/>
        </p:spPr>
        <p:txBody>
          <a:bodyPr vert="horz" wrap="square" lIns="0" tIns="0" rIns="0" bIns="0" rtlCol="0">
            <a:spAutoFit/>
          </a:bodyPr>
          <a:lstStyle/>
          <a:p>
            <a:pPr algn="ctr"/>
            <a:r>
              <a:rPr lang="en-US" sz="900" b="1">
                <a:solidFill>
                  <a:srgbClr val="FFFFFF"/>
                </a:solidFill>
                <a:latin typeface="Aptos" panose="020B0004020202020204" pitchFamily="34" charset="0"/>
              </a:rPr>
              <a:t>WHAT EXISTS</a:t>
            </a:r>
          </a:p>
        </p:txBody>
      </p:sp>
      <p:sp>
        <p:nvSpPr>
          <p:cNvPr id="12" name="TextBox 11">
            <a:extLst>
              <a:ext uri="{FF2B5EF4-FFF2-40B4-BE49-F238E27FC236}">
                <a16:creationId xmlns:a16="http://schemas.microsoft.com/office/drawing/2014/main" id="{D72D84E7-C5AA-5FA5-417D-829E7DBE9706}"/>
              </a:ext>
            </a:extLst>
          </p:cNvPr>
          <p:cNvSpPr txBox="1"/>
          <p:nvPr/>
        </p:nvSpPr>
        <p:spPr>
          <a:xfrm>
            <a:off x="914400" y="2768600"/>
            <a:ext cx="2667000" cy="523220"/>
          </a:xfrm>
          <a:prstGeom prst="rect">
            <a:avLst/>
          </a:prstGeom>
          <a:noFill/>
        </p:spPr>
        <p:txBody>
          <a:bodyPr vert="horz" wrap="square" lIns="0" tIns="0" rIns="0" bIns="0" rtlCol="0">
            <a:spAutoFit/>
          </a:bodyPr>
          <a:lstStyle/>
          <a:p>
            <a:r>
              <a:rPr lang="en-US" sz="1700" b="1">
                <a:solidFill>
                  <a:srgbClr val="0B1F49"/>
                </a:solidFill>
                <a:latin typeface="Aptos Display" panose="020B0004020202020204" pitchFamily="34" charset="0"/>
              </a:rPr>
              <a:t>Real people and real hospitality businesses</a:t>
            </a:r>
          </a:p>
        </p:txBody>
      </p:sp>
      <p:sp>
        <p:nvSpPr>
          <p:cNvPr id="13" name="TextBox 12">
            <a:extLst>
              <a:ext uri="{FF2B5EF4-FFF2-40B4-BE49-F238E27FC236}">
                <a16:creationId xmlns:a16="http://schemas.microsoft.com/office/drawing/2014/main" id="{97272DB9-D412-E94C-EAE6-FB65D4A1670C}"/>
              </a:ext>
            </a:extLst>
          </p:cNvPr>
          <p:cNvSpPr txBox="1"/>
          <p:nvPr/>
        </p:nvSpPr>
        <p:spPr>
          <a:xfrm>
            <a:off x="914400" y="3708400"/>
            <a:ext cx="2667000" cy="707886"/>
          </a:xfrm>
          <a:prstGeom prst="rect">
            <a:avLst/>
          </a:prstGeom>
          <a:noFill/>
        </p:spPr>
        <p:txBody>
          <a:bodyPr vert="horz" wrap="square" lIns="0" tIns="0" rIns="0" bIns="0" rtlCol="0">
            <a:spAutoFit/>
          </a:bodyPr>
          <a:lstStyle/>
          <a:p>
            <a:r>
              <a:rPr lang="en-US" sz="1150" dirty="0">
                <a:latin typeface="Aptos" panose="020B0004020202020204" pitchFamily="34" charset="0"/>
              </a:rPr>
              <a:t>Persons with disabilities
Families and associations
Employers and training providers
</a:t>
            </a:r>
            <a:r>
              <a:rPr lang="en-US" sz="1150" dirty="0" err="1">
                <a:latin typeface="Aptos" panose="020B0004020202020204" pitchFamily="34" charset="0"/>
              </a:rPr>
              <a:t>JoIn</a:t>
            </a:r>
            <a:r>
              <a:rPr lang="en-US" sz="1150" dirty="0">
                <a:latin typeface="Aptos" panose="020B0004020202020204" pitchFamily="34" charset="0"/>
              </a:rPr>
              <a:t> inclusion expertise</a:t>
            </a:r>
          </a:p>
        </p:txBody>
      </p:sp>
      <p:sp>
        <p:nvSpPr>
          <p:cNvPr id="14" name="Rectangle: Rounded Corners 13">
            <a:extLst>
              <a:ext uri="{FF2B5EF4-FFF2-40B4-BE49-F238E27FC236}">
                <a16:creationId xmlns:a16="http://schemas.microsoft.com/office/drawing/2014/main" id="{6D6F410F-D20E-5F90-2F85-A6742204087F}"/>
              </a:ext>
            </a:extLst>
          </p:cNvPr>
          <p:cNvSpPr/>
          <p:nvPr/>
        </p:nvSpPr>
        <p:spPr>
          <a:xfrm>
            <a:off x="4445000" y="1905000"/>
            <a:ext cx="3302000" cy="36322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bg1"/>
              </a:solidFill>
            </a:endParaRPr>
          </a:p>
        </p:txBody>
      </p:sp>
      <p:sp>
        <p:nvSpPr>
          <p:cNvPr id="15" name="Rectangle: Rounded Corners 14">
            <a:extLst>
              <a:ext uri="{FF2B5EF4-FFF2-40B4-BE49-F238E27FC236}">
                <a16:creationId xmlns:a16="http://schemas.microsoft.com/office/drawing/2014/main" id="{DB23267A-2FC3-1F82-7B9B-2B5BC55E9BDD}"/>
              </a:ext>
            </a:extLst>
          </p:cNvPr>
          <p:cNvSpPr/>
          <p:nvPr/>
        </p:nvSpPr>
        <p:spPr>
          <a:xfrm>
            <a:off x="4749800" y="2184400"/>
            <a:ext cx="1422400" cy="304800"/>
          </a:xfrm>
          <a:prstGeom prst="round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B9E6C7B-8E4D-248B-9FEE-5F8142ED4E39}"/>
              </a:ext>
            </a:extLst>
          </p:cNvPr>
          <p:cNvSpPr txBox="1"/>
          <p:nvPr/>
        </p:nvSpPr>
        <p:spPr>
          <a:xfrm>
            <a:off x="4851400" y="2247900"/>
            <a:ext cx="1219200" cy="138499"/>
          </a:xfrm>
          <a:prstGeom prst="rect">
            <a:avLst/>
          </a:prstGeom>
          <a:noFill/>
        </p:spPr>
        <p:txBody>
          <a:bodyPr vert="horz" wrap="square" lIns="0" tIns="0" rIns="0" bIns="0" rtlCol="0">
            <a:spAutoFit/>
          </a:bodyPr>
          <a:lstStyle/>
          <a:p>
            <a:pPr algn="ctr"/>
            <a:r>
              <a:rPr lang="en-US" sz="900" b="1">
                <a:solidFill>
                  <a:srgbClr val="FFFFFF"/>
                </a:solidFill>
                <a:latin typeface="Aptos" panose="020B0004020202020204" pitchFamily="34" charset="0"/>
              </a:rPr>
              <a:t>THE PLATFORM</a:t>
            </a:r>
          </a:p>
        </p:txBody>
      </p:sp>
      <p:sp>
        <p:nvSpPr>
          <p:cNvPr id="17" name="TextBox 16">
            <a:extLst>
              <a:ext uri="{FF2B5EF4-FFF2-40B4-BE49-F238E27FC236}">
                <a16:creationId xmlns:a16="http://schemas.microsoft.com/office/drawing/2014/main" id="{4DDC781E-7650-4501-4F83-5E24FF14813E}"/>
              </a:ext>
            </a:extLst>
          </p:cNvPr>
          <p:cNvSpPr txBox="1"/>
          <p:nvPr/>
        </p:nvSpPr>
        <p:spPr>
          <a:xfrm>
            <a:off x="4749800" y="2768600"/>
            <a:ext cx="2667000" cy="523220"/>
          </a:xfrm>
          <a:prstGeom prst="rect">
            <a:avLst/>
          </a:prstGeom>
          <a:noFill/>
        </p:spPr>
        <p:txBody>
          <a:bodyPr vert="horz" wrap="square" lIns="0" tIns="0" rIns="0" bIns="0" rtlCol="0">
            <a:spAutoFit/>
          </a:bodyPr>
          <a:lstStyle/>
          <a:p>
            <a:r>
              <a:rPr lang="en-US" sz="1700" b="1" dirty="0">
                <a:latin typeface="Aptos Display" panose="020B0004020202020204" pitchFamily="34" charset="0"/>
              </a:rPr>
              <a:t>Makes connection easier and clearer</a:t>
            </a:r>
          </a:p>
        </p:txBody>
      </p:sp>
      <p:sp>
        <p:nvSpPr>
          <p:cNvPr id="18" name="TextBox 17">
            <a:extLst>
              <a:ext uri="{FF2B5EF4-FFF2-40B4-BE49-F238E27FC236}">
                <a16:creationId xmlns:a16="http://schemas.microsoft.com/office/drawing/2014/main" id="{F38C60A1-C487-55D8-B12F-F0ADEAD8B348}"/>
              </a:ext>
            </a:extLst>
          </p:cNvPr>
          <p:cNvSpPr txBox="1"/>
          <p:nvPr/>
        </p:nvSpPr>
        <p:spPr>
          <a:xfrm>
            <a:off x="4749800" y="3708400"/>
            <a:ext cx="2667000" cy="707886"/>
          </a:xfrm>
          <a:prstGeom prst="rect">
            <a:avLst/>
          </a:prstGeom>
          <a:noFill/>
        </p:spPr>
        <p:txBody>
          <a:bodyPr vert="horz" wrap="square" lIns="0" tIns="0" rIns="0" bIns="0" rtlCol="0">
            <a:spAutoFit/>
          </a:bodyPr>
          <a:lstStyle/>
          <a:p>
            <a:r>
              <a:rPr lang="en-US" sz="1150" dirty="0">
                <a:latin typeface="Aptos" panose="020B0004020202020204" pitchFamily="34" charset="0"/>
              </a:rPr>
              <a:t>Shows opportunities
Structures abilities and tasks
Explains compatibility
Supports communication</a:t>
            </a:r>
          </a:p>
        </p:txBody>
      </p:sp>
      <p:sp>
        <p:nvSpPr>
          <p:cNvPr id="19" name="Rectangle: Rounded Corners 18">
            <a:extLst>
              <a:ext uri="{FF2B5EF4-FFF2-40B4-BE49-F238E27FC236}">
                <a16:creationId xmlns:a16="http://schemas.microsoft.com/office/drawing/2014/main" id="{3BA29CF9-5282-C78E-CBA7-0FBBFA34689F}"/>
              </a:ext>
            </a:extLst>
          </p:cNvPr>
          <p:cNvSpPr/>
          <p:nvPr/>
        </p:nvSpPr>
        <p:spPr>
          <a:xfrm>
            <a:off x="8280400" y="1905000"/>
            <a:ext cx="3302000" cy="36322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CC9FB66D-50A2-3D1D-9A92-198A714C81AD}"/>
              </a:ext>
            </a:extLst>
          </p:cNvPr>
          <p:cNvSpPr/>
          <p:nvPr/>
        </p:nvSpPr>
        <p:spPr>
          <a:xfrm>
            <a:off x="8585200" y="2184400"/>
            <a:ext cx="1524000" cy="304800"/>
          </a:xfrm>
          <a:prstGeom prst="round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26B6211-6AB3-0212-9B83-A4880D15F6DB}"/>
              </a:ext>
            </a:extLst>
          </p:cNvPr>
          <p:cNvSpPr txBox="1"/>
          <p:nvPr/>
        </p:nvSpPr>
        <p:spPr>
          <a:xfrm>
            <a:off x="8686800" y="2247900"/>
            <a:ext cx="1320800" cy="138499"/>
          </a:xfrm>
          <a:prstGeom prst="rect">
            <a:avLst/>
          </a:prstGeom>
          <a:noFill/>
        </p:spPr>
        <p:txBody>
          <a:bodyPr vert="horz" wrap="square" lIns="0" tIns="0" rIns="0" bIns="0" rtlCol="0">
            <a:spAutoFit/>
          </a:bodyPr>
          <a:lstStyle/>
          <a:p>
            <a:pPr algn="ctr"/>
            <a:r>
              <a:rPr lang="en-US" sz="900" b="1">
                <a:solidFill>
                  <a:srgbClr val="FFFFFF"/>
                </a:solidFill>
                <a:latin typeface="Aptos" panose="020B0004020202020204" pitchFamily="34" charset="0"/>
              </a:rPr>
              <a:t>HUMAN CONTROL</a:t>
            </a:r>
          </a:p>
        </p:txBody>
      </p:sp>
      <p:sp>
        <p:nvSpPr>
          <p:cNvPr id="22" name="TextBox 21">
            <a:extLst>
              <a:ext uri="{FF2B5EF4-FFF2-40B4-BE49-F238E27FC236}">
                <a16:creationId xmlns:a16="http://schemas.microsoft.com/office/drawing/2014/main" id="{96D21D9B-76CF-418A-0C76-4861DC633774}"/>
              </a:ext>
            </a:extLst>
          </p:cNvPr>
          <p:cNvSpPr txBox="1"/>
          <p:nvPr/>
        </p:nvSpPr>
        <p:spPr>
          <a:xfrm>
            <a:off x="8585200" y="2768600"/>
            <a:ext cx="2667000" cy="523220"/>
          </a:xfrm>
          <a:prstGeom prst="rect">
            <a:avLst/>
          </a:prstGeom>
          <a:noFill/>
        </p:spPr>
        <p:txBody>
          <a:bodyPr vert="horz" wrap="square" lIns="0" tIns="0" rIns="0" bIns="0" rtlCol="0">
            <a:spAutoFit/>
          </a:bodyPr>
          <a:lstStyle/>
          <a:p>
            <a:r>
              <a:rPr lang="en-US" sz="1700" b="1">
                <a:solidFill>
                  <a:srgbClr val="0B1F49"/>
                </a:solidFill>
                <a:latin typeface="Aptos Display" panose="020B0004020202020204" pitchFamily="34" charset="0"/>
              </a:rPr>
              <a:t>People remain responsible for every outcome</a:t>
            </a:r>
          </a:p>
        </p:txBody>
      </p:sp>
      <p:sp>
        <p:nvSpPr>
          <p:cNvPr id="23" name="TextBox 22">
            <a:extLst>
              <a:ext uri="{FF2B5EF4-FFF2-40B4-BE49-F238E27FC236}">
                <a16:creationId xmlns:a16="http://schemas.microsoft.com/office/drawing/2014/main" id="{3962C692-B64E-671F-E93E-89241E908F07}"/>
              </a:ext>
            </a:extLst>
          </p:cNvPr>
          <p:cNvSpPr txBox="1"/>
          <p:nvPr/>
        </p:nvSpPr>
        <p:spPr>
          <a:xfrm>
            <a:off x="8585200" y="3708400"/>
            <a:ext cx="2667000" cy="707886"/>
          </a:xfrm>
          <a:prstGeom prst="rect">
            <a:avLst/>
          </a:prstGeom>
          <a:noFill/>
        </p:spPr>
        <p:txBody>
          <a:bodyPr vert="horz" wrap="square" lIns="0" tIns="0" rIns="0" bIns="0" rtlCol="0">
            <a:spAutoFit/>
          </a:bodyPr>
          <a:lstStyle/>
          <a:p>
            <a:r>
              <a:rPr lang="en-US" sz="1150" dirty="0">
                <a:latin typeface="Aptos" panose="020B0004020202020204" pitchFamily="34" charset="0"/>
              </a:rPr>
              <a:t>The platform does not invent jobs.
It does not diagnose disability.
It does not automatically hire or reject.
It helps people approach businesses.</a:t>
            </a:r>
          </a:p>
        </p:txBody>
      </p:sp>
    </p:spTree>
    <p:extLst>
      <p:ext uri="{BB962C8B-B14F-4D97-AF65-F5344CB8AC3E}">
        <p14:creationId xmlns:p14="http://schemas.microsoft.com/office/powerpoint/2010/main" val="3973590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1349B6-FE62-632B-FC38-44BBC80BB73D}"/>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992C6B-7E37-767F-42CF-5C9CB82B8602}"/>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PROJECT SCOPE</a:t>
            </a:r>
          </a:p>
        </p:txBody>
      </p:sp>
      <p:sp>
        <p:nvSpPr>
          <p:cNvPr id="4" name="TextBox 3">
            <a:extLst>
              <a:ext uri="{FF2B5EF4-FFF2-40B4-BE49-F238E27FC236}">
                <a16:creationId xmlns:a16="http://schemas.microsoft.com/office/drawing/2014/main" id="{27384FC6-835E-C68B-29CD-8281C2DF7EAD}"/>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dirty="0">
                <a:solidFill>
                  <a:srgbClr val="0B1F49"/>
                </a:solidFill>
                <a:latin typeface="Aptos Display" panose="020B0004020202020204" pitchFamily="34" charset="0"/>
              </a:rPr>
              <a:t>Functional and non-functional requirements</a:t>
            </a:r>
          </a:p>
        </p:txBody>
      </p:sp>
      <p:cxnSp>
        <p:nvCxnSpPr>
          <p:cNvPr id="6" name="Straight Connector 5">
            <a:extLst>
              <a:ext uri="{FF2B5EF4-FFF2-40B4-BE49-F238E27FC236}">
                <a16:creationId xmlns:a16="http://schemas.microsoft.com/office/drawing/2014/main" id="{ED091174-29D1-430F-30DA-6BEBBEE6C2EA}"/>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0C89C42-F063-5916-216C-C9A3B32FDA03}"/>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746921BF-1ABA-A5F4-C3EF-A7DB626EEE39}"/>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03</a:t>
            </a:r>
          </a:p>
        </p:txBody>
      </p:sp>
      <p:sp>
        <p:nvSpPr>
          <p:cNvPr id="9" name="Rectangle: Rounded Corners 8">
            <a:extLst>
              <a:ext uri="{FF2B5EF4-FFF2-40B4-BE49-F238E27FC236}">
                <a16:creationId xmlns:a16="http://schemas.microsoft.com/office/drawing/2014/main" id="{0F262163-7FE1-F340-7C69-047989C54B43}"/>
              </a:ext>
            </a:extLst>
          </p:cNvPr>
          <p:cNvSpPr/>
          <p:nvPr/>
        </p:nvSpPr>
        <p:spPr>
          <a:xfrm>
            <a:off x="609600" y="1841500"/>
            <a:ext cx="5232400" cy="4000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F7F4473-EDC6-F9D2-0FD6-F9F9BEDE5E65}"/>
              </a:ext>
            </a:extLst>
          </p:cNvPr>
          <p:cNvSpPr txBox="1"/>
          <p:nvPr/>
        </p:nvSpPr>
        <p:spPr>
          <a:xfrm>
            <a:off x="939800" y="2159000"/>
            <a:ext cx="3556000" cy="276999"/>
          </a:xfrm>
          <a:prstGeom prst="rect">
            <a:avLst/>
          </a:prstGeom>
          <a:noFill/>
        </p:spPr>
        <p:txBody>
          <a:bodyPr vert="horz" wrap="square" lIns="0" tIns="0" rIns="0" bIns="0" rtlCol="0">
            <a:spAutoFit/>
          </a:bodyPr>
          <a:lstStyle/>
          <a:p>
            <a:r>
              <a:rPr lang="en-US" b="1">
                <a:solidFill>
                  <a:srgbClr val="1565D8"/>
                </a:solidFill>
                <a:latin typeface="Aptos Display" panose="020B0004020202020204" pitchFamily="34" charset="0"/>
              </a:rPr>
              <a:t>Functional requirements</a:t>
            </a:r>
          </a:p>
        </p:txBody>
      </p:sp>
      <p:sp>
        <p:nvSpPr>
          <p:cNvPr id="11" name="TextBox 10">
            <a:extLst>
              <a:ext uri="{FF2B5EF4-FFF2-40B4-BE49-F238E27FC236}">
                <a16:creationId xmlns:a16="http://schemas.microsoft.com/office/drawing/2014/main" id="{5A6C16A4-3646-3F23-8C9D-D80825FFD15D}"/>
              </a:ext>
            </a:extLst>
          </p:cNvPr>
          <p:cNvSpPr txBox="1"/>
          <p:nvPr/>
        </p:nvSpPr>
        <p:spPr>
          <a:xfrm>
            <a:off x="939800" y="2743200"/>
            <a:ext cx="228600" cy="184666"/>
          </a:xfrm>
          <a:prstGeom prst="rect">
            <a:avLst/>
          </a:prstGeom>
          <a:noFill/>
        </p:spPr>
        <p:txBody>
          <a:bodyPr vert="horz" wrap="square" lIns="0" tIns="0" rIns="0" bIns="0" rtlCol="0">
            <a:spAutoFit/>
          </a:bodyPr>
          <a:lstStyle/>
          <a:p>
            <a:r>
              <a:rPr lang="en-US" sz="1200" b="1">
                <a:solidFill>
                  <a:srgbClr val="1565D8"/>
                </a:solidFill>
                <a:latin typeface="Aptos" panose="020B0004020202020204" pitchFamily="34" charset="0"/>
              </a:rPr>
              <a:t>+</a:t>
            </a:r>
          </a:p>
        </p:txBody>
      </p:sp>
      <p:sp>
        <p:nvSpPr>
          <p:cNvPr id="12" name="TextBox 11">
            <a:extLst>
              <a:ext uri="{FF2B5EF4-FFF2-40B4-BE49-F238E27FC236}">
                <a16:creationId xmlns:a16="http://schemas.microsoft.com/office/drawing/2014/main" id="{4C5C8449-C6ED-8CB3-2904-C781E60F8086}"/>
              </a:ext>
            </a:extLst>
          </p:cNvPr>
          <p:cNvSpPr txBox="1"/>
          <p:nvPr/>
        </p:nvSpPr>
        <p:spPr>
          <a:xfrm>
            <a:off x="1295400" y="27432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Secure accounts and authorized verification</a:t>
            </a:r>
          </a:p>
        </p:txBody>
      </p:sp>
      <p:sp>
        <p:nvSpPr>
          <p:cNvPr id="13" name="TextBox 12">
            <a:extLst>
              <a:ext uri="{FF2B5EF4-FFF2-40B4-BE49-F238E27FC236}">
                <a16:creationId xmlns:a16="http://schemas.microsoft.com/office/drawing/2014/main" id="{C0504421-0426-D2BF-E5C0-6964DF7A4F5B}"/>
              </a:ext>
            </a:extLst>
          </p:cNvPr>
          <p:cNvSpPr txBox="1"/>
          <p:nvPr/>
        </p:nvSpPr>
        <p:spPr>
          <a:xfrm>
            <a:off x="939800" y="3238500"/>
            <a:ext cx="228600" cy="184666"/>
          </a:xfrm>
          <a:prstGeom prst="rect">
            <a:avLst/>
          </a:prstGeom>
          <a:noFill/>
        </p:spPr>
        <p:txBody>
          <a:bodyPr vert="horz" wrap="square" lIns="0" tIns="0" rIns="0" bIns="0" rtlCol="0">
            <a:spAutoFit/>
          </a:bodyPr>
          <a:lstStyle/>
          <a:p>
            <a:r>
              <a:rPr lang="en-US" sz="1200" b="1">
                <a:solidFill>
                  <a:srgbClr val="1565D8"/>
                </a:solidFill>
                <a:latin typeface="Aptos" panose="020B0004020202020204" pitchFamily="34" charset="0"/>
              </a:rPr>
              <a:t>+</a:t>
            </a:r>
          </a:p>
        </p:txBody>
      </p:sp>
      <p:sp>
        <p:nvSpPr>
          <p:cNvPr id="14" name="TextBox 13">
            <a:extLst>
              <a:ext uri="{FF2B5EF4-FFF2-40B4-BE49-F238E27FC236}">
                <a16:creationId xmlns:a16="http://schemas.microsoft.com/office/drawing/2014/main" id="{D62352F7-BBC4-049F-8F2F-68FD47C48941}"/>
              </a:ext>
            </a:extLst>
          </p:cNvPr>
          <p:cNvSpPr txBox="1"/>
          <p:nvPr/>
        </p:nvSpPr>
        <p:spPr>
          <a:xfrm>
            <a:off x="1295400" y="32385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Candidate, company, and employer profiles</a:t>
            </a:r>
          </a:p>
        </p:txBody>
      </p:sp>
      <p:sp>
        <p:nvSpPr>
          <p:cNvPr id="15" name="TextBox 14">
            <a:extLst>
              <a:ext uri="{FF2B5EF4-FFF2-40B4-BE49-F238E27FC236}">
                <a16:creationId xmlns:a16="http://schemas.microsoft.com/office/drawing/2014/main" id="{618D919C-71F3-0ED8-FF12-6B594BCDCC86}"/>
              </a:ext>
            </a:extLst>
          </p:cNvPr>
          <p:cNvSpPr txBox="1"/>
          <p:nvPr/>
        </p:nvSpPr>
        <p:spPr>
          <a:xfrm>
            <a:off x="939800" y="3733800"/>
            <a:ext cx="228600" cy="184666"/>
          </a:xfrm>
          <a:prstGeom prst="rect">
            <a:avLst/>
          </a:prstGeom>
          <a:noFill/>
        </p:spPr>
        <p:txBody>
          <a:bodyPr vert="horz" wrap="square" lIns="0" tIns="0" rIns="0" bIns="0" rtlCol="0">
            <a:spAutoFit/>
          </a:bodyPr>
          <a:lstStyle/>
          <a:p>
            <a:r>
              <a:rPr lang="en-US" sz="1200" b="1">
                <a:solidFill>
                  <a:srgbClr val="1565D8"/>
                </a:solidFill>
                <a:latin typeface="Aptos" panose="020B0004020202020204" pitchFamily="34" charset="0"/>
              </a:rPr>
              <a:t>+</a:t>
            </a:r>
          </a:p>
        </p:txBody>
      </p:sp>
      <p:sp>
        <p:nvSpPr>
          <p:cNvPr id="16" name="TextBox 15">
            <a:extLst>
              <a:ext uri="{FF2B5EF4-FFF2-40B4-BE49-F238E27FC236}">
                <a16:creationId xmlns:a16="http://schemas.microsoft.com/office/drawing/2014/main" id="{3921534B-19E3-B221-07BB-C4A01E1A61FB}"/>
              </a:ext>
            </a:extLst>
          </p:cNvPr>
          <p:cNvSpPr txBox="1"/>
          <p:nvPr/>
        </p:nvSpPr>
        <p:spPr>
          <a:xfrm>
            <a:off x="1295400" y="37338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AI-assisted editable profile workflow</a:t>
            </a:r>
          </a:p>
        </p:txBody>
      </p:sp>
      <p:sp>
        <p:nvSpPr>
          <p:cNvPr id="17" name="TextBox 16">
            <a:extLst>
              <a:ext uri="{FF2B5EF4-FFF2-40B4-BE49-F238E27FC236}">
                <a16:creationId xmlns:a16="http://schemas.microsoft.com/office/drawing/2014/main" id="{8733F31F-B699-41E9-1433-2930C5C54D6D}"/>
              </a:ext>
            </a:extLst>
          </p:cNvPr>
          <p:cNvSpPr txBox="1"/>
          <p:nvPr/>
        </p:nvSpPr>
        <p:spPr>
          <a:xfrm>
            <a:off x="939800" y="4229100"/>
            <a:ext cx="228600" cy="184666"/>
          </a:xfrm>
          <a:prstGeom prst="rect">
            <a:avLst/>
          </a:prstGeom>
          <a:noFill/>
        </p:spPr>
        <p:txBody>
          <a:bodyPr vert="horz" wrap="square" lIns="0" tIns="0" rIns="0" bIns="0" rtlCol="0">
            <a:spAutoFit/>
          </a:bodyPr>
          <a:lstStyle/>
          <a:p>
            <a:r>
              <a:rPr lang="en-US" sz="1200" b="1">
                <a:solidFill>
                  <a:srgbClr val="1565D8"/>
                </a:solidFill>
                <a:latin typeface="Aptos" panose="020B0004020202020204" pitchFamily="34" charset="0"/>
              </a:rPr>
              <a:t>+</a:t>
            </a:r>
          </a:p>
        </p:txBody>
      </p:sp>
      <p:sp>
        <p:nvSpPr>
          <p:cNvPr id="18" name="TextBox 17">
            <a:extLst>
              <a:ext uri="{FF2B5EF4-FFF2-40B4-BE49-F238E27FC236}">
                <a16:creationId xmlns:a16="http://schemas.microsoft.com/office/drawing/2014/main" id="{76377FF4-0403-7681-1C4D-409692AB4BCE}"/>
              </a:ext>
            </a:extLst>
          </p:cNvPr>
          <p:cNvSpPr txBox="1"/>
          <p:nvPr/>
        </p:nvSpPr>
        <p:spPr>
          <a:xfrm>
            <a:off x="1295400" y="42291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Explainable matching and applications</a:t>
            </a:r>
          </a:p>
        </p:txBody>
      </p:sp>
      <p:sp>
        <p:nvSpPr>
          <p:cNvPr id="19" name="TextBox 18">
            <a:extLst>
              <a:ext uri="{FF2B5EF4-FFF2-40B4-BE49-F238E27FC236}">
                <a16:creationId xmlns:a16="http://schemas.microsoft.com/office/drawing/2014/main" id="{A288C380-22BF-72DB-E2B4-E78380D54928}"/>
              </a:ext>
            </a:extLst>
          </p:cNvPr>
          <p:cNvSpPr txBox="1"/>
          <p:nvPr/>
        </p:nvSpPr>
        <p:spPr>
          <a:xfrm>
            <a:off x="939800" y="4724400"/>
            <a:ext cx="228600" cy="184666"/>
          </a:xfrm>
          <a:prstGeom prst="rect">
            <a:avLst/>
          </a:prstGeom>
          <a:noFill/>
        </p:spPr>
        <p:txBody>
          <a:bodyPr vert="horz" wrap="square" lIns="0" tIns="0" rIns="0" bIns="0" rtlCol="0">
            <a:spAutoFit/>
          </a:bodyPr>
          <a:lstStyle/>
          <a:p>
            <a:r>
              <a:rPr lang="en-US" sz="1200" b="1">
                <a:solidFill>
                  <a:srgbClr val="1565D8"/>
                </a:solidFill>
                <a:latin typeface="Aptos" panose="020B0004020202020204" pitchFamily="34" charset="0"/>
              </a:rPr>
              <a:t>+</a:t>
            </a:r>
          </a:p>
        </p:txBody>
      </p:sp>
      <p:sp>
        <p:nvSpPr>
          <p:cNvPr id="20" name="TextBox 19">
            <a:extLst>
              <a:ext uri="{FF2B5EF4-FFF2-40B4-BE49-F238E27FC236}">
                <a16:creationId xmlns:a16="http://schemas.microsoft.com/office/drawing/2014/main" id="{B3784C5D-D1DD-AFC1-6223-E406AFBEB91E}"/>
              </a:ext>
            </a:extLst>
          </p:cNvPr>
          <p:cNvSpPr txBox="1"/>
          <p:nvPr/>
        </p:nvSpPr>
        <p:spPr>
          <a:xfrm>
            <a:off x="1295400" y="47244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Employer, verifier, and admin operations</a:t>
            </a:r>
          </a:p>
        </p:txBody>
      </p:sp>
      <p:sp>
        <p:nvSpPr>
          <p:cNvPr id="21" name="TextBox 20">
            <a:extLst>
              <a:ext uri="{FF2B5EF4-FFF2-40B4-BE49-F238E27FC236}">
                <a16:creationId xmlns:a16="http://schemas.microsoft.com/office/drawing/2014/main" id="{8B9F0FFC-337A-EAD7-05B3-BCC1AFE26F89}"/>
              </a:ext>
            </a:extLst>
          </p:cNvPr>
          <p:cNvSpPr txBox="1"/>
          <p:nvPr/>
        </p:nvSpPr>
        <p:spPr>
          <a:xfrm>
            <a:off x="939800" y="5219700"/>
            <a:ext cx="228600" cy="184666"/>
          </a:xfrm>
          <a:prstGeom prst="rect">
            <a:avLst/>
          </a:prstGeom>
          <a:noFill/>
        </p:spPr>
        <p:txBody>
          <a:bodyPr vert="horz" wrap="square" lIns="0" tIns="0" rIns="0" bIns="0" rtlCol="0">
            <a:spAutoFit/>
          </a:bodyPr>
          <a:lstStyle/>
          <a:p>
            <a:r>
              <a:rPr lang="en-US" sz="1200" b="1">
                <a:solidFill>
                  <a:srgbClr val="1565D8"/>
                </a:solidFill>
                <a:latin typeface="Aptos" panose="020B0004020202020204" pitchFamily="34" charset="0"/>
              </a:rPr>
              <a:t>+</a:t>
            </a:r>
          </a:p>
        </p:txBody>
      </p:sp>
      <p:sp>
        <p:nvSpPr>
          <p:cNvPr id="22" name="TextBox 21">
            <a:extLst>
              <a:ext uri="{FF2B5EF4-FFF2-40B4-BE49-F238E27FC236}">
                <a16:creationId xmlns:a16="http://schemas.microsoft.com/office/drawing/2014/main" id="{C0CA0583-232D-0CC3-8E48-68FA2736D48F}"/>
              </a:ext>
            </a:extLst>
          </p:cNvPr>
          <p:cNvSpPr txBox="1"/>
          <p:nvPr/>
        </p:nvSpPr>
        <p:spPr>
          <a:xfrm>
            <a:off x="1295400" y="52197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Keyboard and optional voice navigation</a:t>
            </a:r>
          </a:p>
        </p:txBody>
      </p:sp>
      <p:sp>
        <p:nvSpPr>
          <p:cNvPr id="23" name="Rectangle: Rounded Corners 22">
            <a:extLst>
              <a:ext uri="{FF2B5EF4-FFF2-40B4-BE49-F238E27FC236}">
                <a16:creationId xmlns:a16="http://schemas.microsoft.com/office/drawing/2014/main" id="{D2B69F50-CEB7-A40E-0CB0-46E0DDFA4A88}"/>
              </a:ext>
            </a:extLst>
          </p:cNvPr>
          <p:cNvSpPr/>
          <p:nvPr/>
        </p:nvSpPr>
        <p:spPr>
          <a:xfrm>
            <a:off x="6350000" y="1841500"/>
            <a:ext cx="5232400" cy="4000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38E9D5E-2FA2-21DC-BF77-DA97D7A7AD58}"/>
              </a:ext>
            </a:extLst>
          </p:cNvPr>
          <p:cNvSpPr txBox="1"/>
          <p:nvPr/>
        </p:nvSpPr>
        <p:spPr>
          <a:xfrm>
            <a:off x="6680200" y="2159000"/>
            <a:ext cx="4064000" cy="276999"/>
          </a:xfrm>
          <a:prstGeom prst="rect">
            <a:avLst/>
          </a:prstGeom>
          <a:noFill/>
        </p:spPr>
        <p:txBody>
          <a:bodyPr vert="horz" wrap="square" lIns="0" tIns="0" rIns="0" bIns="0" rtlCol="0">
            <a:spAutoFit/>
          </a:bodyPr>
          <a:lstStyle/>
          <a:p>
            <a:r>
              <a:rPr lang="en-US" b="1">
                <a:solidFill>
                  <a:srgbClr val="157A55"/>
                </a:solidFill>
                <a:latin typeface="Aptos Display" panose="020B0004020202020204" pitchFamily="34" charset="0"/>
              </a:rPr>
              <a:t>Non-functional requirements</a:t>
            </a:r>
          </a:p>
        </p:txBody>
      </p:sp>
      <p:sp>
        <p:nvSpPr>
          <p:cNvPr id="25" name="TextBox 24">
            <a:extLst>
              <a:ext uri="{FF2B5EF4-FFF2-40B4-BE49-F238E27FC236}">
                <a16:creationId xmlns:a16="http://schemas.microsoft.com/office/drawing/2014/main" id="{E23EF2D3-7D0C-59FC-E7E7-98DB22D44CBA}"/>
              </a:ext>
            </a:extLst>
          </p:cNvPr>
          <p:cNvSpPr txBox="1"/>
          <p:nvPr/>
        </p:nvSpPr>
        <p:spPr>
          <a:xfrm>
            <a:off x="6680200" y="2743200"/>
            <a:ext cx="228600" cy="184666"/>
          </a:xfrm>
          <a:prstGeom prst="rect">
            <a:avLst/>
          </a:prstGeom>
          <a:noFill/>
        </p:spPr>
        <p:txBody>
          <a:bodyPr vert="horz" wrap="square" lIns="0" tIns="0" rIns="0" bIns="0" rtlCol="0">
            <a:spAutoFit/>
          </a:bodyPr>
          <a:lstStyle/>
          <a:p>
            <a:r>
              <a:rPr lang="en-US" sz="1200" b="1">
                <a:solidFill>
                  <a:srgbClr val="157A55"/>
                </a:solidFill>
                <a:latin typeface="Aptos" panose="020B0004020202020204" pitchFamily="34" charset="0"/>
              </a:rPr>
              <a:t>+</a:t>
            </a:r>
          </a:p>
        </p:txBody>
      </p:sp>
      <p:sp>
        <p:nvSpPr>
          <p:cNvPr id="26" name="TextBox 25">
            <a:extLst>
              <a:ext uri="{FF2B5EF4-FFF2-40B4-BE49-F238E27FC236}">
                <a16:creationId xmlns:a16="http://schemas.microsoft.com/office/drawing/2014/main" id="{82BF9513-FBFE-CC3F-F07E-57788E43B821}"/>
              </a:ext>
            </a:extLst>
          </p:cNvPr>
          <p:cNvSpPr txBox="1"/>
          <p:nvPr/>
        </p:nvSpPr>
        <p:spPr>
          <a:xfrm>
            <a:off x="7035800" y="27432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WCAG 2.1 AA target and responsive design</a:t>
            </a:r>
          </a:p>
        </p:txBody>
      </p:sp>
      <p:sp>
        <p:nvSpPr>
          <p:cNvPr id="27" name="TextBox 26">
            <a:extLst>
              <a:ext uri="{FF2B5EF4-FFF2-40B4-BE49-F238E27FC236}">
                <a16:creationId xmlns:a16="http://schemas.microsoft.com/office/drawing/2014/main" id="{077D3148-5C11-E9A8-CCE7-652C87771C8F}"/>
              </a:ext>
            </a:extLst>
          </p:cNvPr>
          <p:cNvSpPr txBox="1"/>
          <p:nvPr/>
        </p:nvSpPr>
        <p:spPr>
          <a:xfrm>
            <a:off x="6680200" y="3238500"/>
            <a:ext cx="228600" cy="184666"/>
          </a:xfrm>
          <a:prstGeom prst="rect">
            <a:avLst/>
          </a:prstGeom>
          <a:noFill/>
        </p:spPr>
        <p:txBody>
          <a:bodyPr vert="horz" wrap="square" lIns="0" tIns="0" rIns="0" bIns="0" rtlCol="0">
            <a:spAutoFit/>
          </a:bodyPr>
          <a:lstStyle/>
          <a:p>
            <a:r>
              <a:rPr lang="en-US" sz="1200" b="1">
                <a:solidFill>
                  <a:srgbClr val="157A55"/>
                </a:solidFill>
                <a:latin typeface="Aptos" panose="020B0004020202020204" pitchFamily="34" charset="0"/>
              </a:rPr>
              <a:t>+</a:t>
            </a:r>
          </a:p>
        </p:txBody>
      </p:sp>
      <p:sp>
        <p:nvSpPr>
          <p:cNvPr id="28" name="TextBox 27">
            <a:extLst>
              <a:ext uri="{FF2B5EF4-FFF2-40B4-BE49-F238E27FC236}">
                <a16:creationId xmlns:a16="http://schemas.microsoft.com/office/drawing/2014/main" id="{CEA44270-F8FB-6160-C5BE-714E88BEBBA2}"/>
              </a:ext>
            </a:extLst>
          </p:cNvPr>
          <p:cNvSpPr txBox="1"/>
          <p:nvPr/>
        </p:nvSpPr>
        <p:spPr>
          <a:xfrm>
            <a:off x="7035800" y="32385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Security, privacy, consent, and role isolation</a:t>
            </a:r>
          </a:p>
        </p:txBody>
      </p:sp>
      <p:sp>
        <p:nvSpPr>
          <p:cNvPr id="29" name="TextBox 28">
            <a:extLst>
              <a:ext uri="{FF2B5EF4-FFF2-40B4-BE49-F238E27FC236}">
                <a16:creationId xmlns:a16="http://schemas.microsoft.com/office/drawing/2014/main" id="{FF3FFA18-8BF4-9F95-44CE-894371D94D5B}"/>
              </a:ext>
            </a:extLst>
          </p:cNvPr>
          <p:cNvSpPr txBox="1"/>
          <p:nvPr/>
        </p:nvSpPr>
        <p:spPr>
          <a:xfrm>
            <a:off x="6680200" y="3733800"/>
            <a:ext cx="228600" cy="184666"/>
          </a:xfrm>
          <a:prstGeom prst="rect">
            <a:avLst/>
          </a:prstGeom>
          <a:noFill/>
        </p:spPr>
        <p:txBody>
          <a:bodyPr vert="horz" wrap="square" lIns="0" tIns="0" rIns="0" bIns="0" rtlCol="0">
            <a:spAutoFit/>
          </a:bodyPr>
          <a:lstStyle/>
          <a:p>
            <a:r>
              <a:rPr lang="en-US" sz="1200" b="1">
                <a:solidFill>
                  <a:srgbClr val="157A55"/>
                </a:solidFill>
                <a:latin typeface="Aptos" panose="020B0004020202020204" pitchFamily="34" charset="0"/>
              </a:rPr>
              <a:t>+</a:t>
            </a:r>
          </a:p>
        </p:txBody>
      </p:sp>
      <p:sp>
        <p:nvSpPr>
          <p:cNvPr id="30" name="TextBox 29">
            <a:extLst>
              <a:ext uri="{FF2B5EF4-FFF2-40B4-BE49-F238E27FC236}">
                <a16:creationId xmlns:a16="http://schemas.microsoft.com/office/drawing/2014/main" id="{F6567411-E2D3-6C75-ABC6-06DF724A64CB}"/>
              </a:ext>
            </a:extLst>
          </p:cNvPr>
          <p:cNvSpPr txBox="1"/>
          <p:nvPr/>
        </p:nvSpPr>
        <p:spPr>
          <a:xfrm>
            <a:off x="7035800" y="37338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English, French, Arabic, and RTL behavior</a:t>
            </a:r>
          </a:p>
        </p:txBody>
      </p:sp>
      <p:sp>
        <p:nvSpPr>
          <p:cNvPr id="31" name="TextBox 30">
            <a:extLst>
              <a:ext uri="{FF2B5EF4-FFF2-40B4-BE49-F238E27FC236}">
                <a16:creationId xmlns:a16="http://schemas.microsoft.com/office/drawing/2014/main" id="{76BD14D5-B4FF-0B57-E44C-A36C2C9DFF55}"/>
              </a:ext>
            </a:extLst>
          </p:cNvPr>
          <p:cNvSpPr txBox="1"/>
          <p:nvPr/>
        </p:nvSpPr>
        <p:spPr>
          <a:xfrm>
            <a:off x="6680200" y="4229100"/>
            <a:ext cx="228600" cy="184666"/>
          </a:xfrm>
          <a:prstGeom prst="rect">
            <a:avLst/>
          </a:prstGeom>
          <a:noFill/>
        </p:spPr>
        <p:txBody>
          <a:bodyPr vert="horz" wrap="square" lIns="0" tIns="0" rIns="0" bIns="0" rtlCol="0">
            <a:spAutoFit/>
          </a:bodyPr>
          <a:lstStyle/>
          <a:p>
            <a:r>
              <a:rPr lang="en-US" sz="1200" b="1">
                <a:solidFill>
                  <a:srgbClr val="157A55"/>
                </a:solidFill>
                <a:latin typeface="Aptos" panose="020B0004020202020204" pitchFamily="34" charset="0"/>
              </a:rPr>
              <a:t>+</a:t>
            </a:r>
          </a:p>
        </p:txBody>
      </p:sp>
      <p:sp>
        <p:nvSpPr>
          <p:cNvPr id="32" name="TextBox 31">
            <a:extLst>
              <a:ext uri="{FF2B5EF4-FFF2-40B4-BE49-F238E27FC236}">
                <a16:creationId xmlns:a16="http://schemas.microsoft.com/office/drawing/2014/main" id="{643A6D2B-30E4-E932-680D-F3A034B3948F}"/>
              </a:ext>
            </a:extLst>
          </p:cNvPr>
          <p:cNvSpPr txBox="1"/>
          <p:nvPr/>
        </p:nvSpPr>
        <p:spPr>
          <a:xfrm>
            <a:off x="7035800" y="42291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Transparent and auditable decisions</a:t>
            </a:r>
          </a:p>
        </p:txBody>
      </p:sp>
      <p:sp>
        <p:nvSpPr>
          <p:cNvPr id="33" name="TextBox 32">
            <a:extLst>
              <a:ext uri="{FF2B5EF4-FFF2-40B4-BE49-F238E27FC236}">
                <a16:creationId xmlns:a16="http://schemas.microsoft.com/office/drawing/2014/main" id="{B45A6C21-48D4-1ECA-080B-3B524E489E3A}"/>
              </a:ext>
            </a:extLst>
          </p:cNvPr>
          <p:cNvSpPr txBox="1"/>
          <p:nvPr/>
        </p:nvSpPr>
        <p:spPr>
          <a:xfrm>
            <a:off x="6680200" y="4724400"/>
            <a:ext cx="228600" cy="184666"/>
          </a:xfrm>
          <a:prstGeom prst="rect">
            <a:avLst/>
          </a:prstGeom>
          <a:noFill/>
        </p:spPr>
        <p:txBody>
          <a:bodyPr vert="horz" wrap="square" lIns="0" tIns="0" rIns="0" bIns="0" rtlCol="0">
            <a:spAutoFit/>
          </a:bodyPr>
          <a:lstStyle/>
          <a:p>
            <a:r>
              <a:rPr lang="en-US" sz="1200" b="1">
                <a:solidFill>
                  <a:srgbClr val="157A55"/>
                </a:solidFill>
                <a:latin typeface="Aptos" panose="020B0004020202020204" pitchFamily="34" charset="0"/>
              </a:rPr>
              <a:t>+</a:t>
            </a:r>
          </a:p>
        </p:txBody>
      </p:sp>
      <p:sp>
        <p:nvSpPr>
          <p:cNvPr id="34" name="TextBox 33">
            <a:extLst>
              <a:ext uri="{FF2B5EF4-FFF2-40B4-BE49-F238E27FC236}">
                <a16:creationId xmlns:a16="http://schemas.microsoft.com/office/drawing/2014/main" id="{46C3C754-578A-B2C8-F375-88A3E888F21A}"/>
              </a:ext>
            </a:extLst>
          </p:cNvPr>
          <p:cNvSpPr txBox="1"/>
          <p:nvPr/>
        </p:nvSpPr>
        <p:spPr>
          <a:xfrm>
            <a:off x="7035800" y="47244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Reliability, automated tests, and monitoring</a:t>
            </a:r>
          </a:p>
        </p:txBody>
      </p:sp>
      <p:sp>
        <p:nvSpPr>
          <p:cNvPr id="35" name="TextBox 34">
            <a:extLst>
              <a:ext uri="{FF2B5EF4-FFF2-40B4-BE49-F238E27FC236}">
                <a16:creationId xmlns:a16="http://schemas.microsoft.com/office/drawing/2014/main" id="{17C42784-A605-4AD4-0555-D7EF6078C07D}"/>
              </a:ext>
            </a:extLst>
          </p:cNvPr>
          <p:cNvSpPr txBox="1"/>
          <p:nvPr/>
        </p:nvSpPr>
        <p:spPr>
          <a:xfrm>
            <a:off x="6680200" y="5219700"/>
            <a:ext cx="228600" cy="184666"/>
          </a:xfrm>
          <a:prstGeom prst="rect">
            <a:avLst/>
          </a:prstGeom>
          <a:noFill/>
        </p:spPr>
        <p:txBody>
          <a:bodyPr vert="horz" wrap="square" lIns="0" tIns="0" rIns="0" bIns="0" rtlCol="0">
            <a:spAutoFit/>
          </a:bodyPr>
          <a:lstStyle/>
          <a:p>
            <a:r>
              <a:rPr lang="en-US" sz="1200" b="1">
                <a:solidFill>
                  <a:srgbClr val="157A55"/>
                </a:solidFill>
                <a:latin typeface="Aptos" panose="020B0004020202020204" pitchFamily="34" charset="0"/>
              </a:rPr>
              <a:t>+</a:t>
            </a:r>
          </a:p>
        </p:txBody>
      </p:sp>
      <p:sp>
        <p:nvSpPr>
          <p:cNvPr id="36" name="TextBox 35">
            <a:extLst>
              <a:ext uri="{FF2B5EF4-FFF2-40B4-BE49-F238E27FC236}">
                <a16:creationId xmlns:a16="http://schemas.microsoft.com/office/drawing/2014/main" id="{44A1A31F-908E-F5A7-7DF0-74FD8BEA1D83}"/>
              </a:ext>
            </a:extLst>
          </p:cNvPr>
          <p:cNvSpPr txBox="1"/>
          <p:nvPr/>
        </p:nvSpPr>
        <p:spPr>
          <a:xfrm>
            <a:off x="7035800" y="5219700"/>
            <a:ext cx="4064000" cy="169277"/>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Measured response-time and performance improvement</a:t>
            </a:r>
          </a:p>
        </p:txBody>
      </p:sp>
    </p:spTree>
    <p:extLst>
      <p:ext uri="{BB962C8B-B14F-4D97-AF65-F5344CB8AC3E}">
        <p14:creationId xmlns:p14="http://schemas.microsoft.com/office/powerpoint/2010/main" val="303472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3E3019-C007-3570-BC1F-34EC8DD2C615}"/>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41BFDB3-8EF4-5716-DBE4-AA2A154FB266}"/>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COMPLETED PLATFORM</a:t>
            </a:r>
          </a:p>
        </p:txBody>
      </p:sp>
      <p:sp>
        <p:nvSpPr>
          <p:cNvPr id="4" name="TextBox 3">
            <a:extLst>
              <a:ext uri="{FF2B5EF4-FFF2-40B4-BE49-F238E27FC236}">
                <a16:creationId xmlns:a16="http://schemas.microsoft.com/office/drawing/2014/main" id="{1D56C60B-29A1-581C-E994-C8ABF3986DE1}"/>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dirty="0">
                <a:solidFill>
                  <a:srgbClr val="0B1F49"/>
                </a:solidFill>
                <a:latin typeface="Aptos Display" panose="020B0004020202020204" pitchFamily="34" charset="0"/>
              </a:rPr>
              <a:t>Implemented feature summary</a:t>
            </a:r>
          </a:p>
        </p:txBody>
      </p:sp>
      <p:cxnSp>
        <p:nvCxnSpPr>
          <p:cNvPr id="6" name="Straight Connector 5">
            <a:extLst>
              <a:ext uri="{FF2B5EF4-FFF2-40B4-BE49-F238E27FC236}">
                <a16:creationId xmlns:a16="http://schemas.microsoft.com/office/drawing/2014/main" id="{77C73CA4-A7C5-6058-3E4A-44937BB633A2}"/>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7E59340-BCA5-F1F2-73FC-CF9ECBF064C1}"/>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D103CA42-F4CF-66E3-F2B0-DF738AB6E517}"/>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04</a:t>
            </a:r>
          </a:p>
        </p:txBody>
      </p:sp>
      <p:sp>
        <p:nvSpPr>
          <p:cNvPr id="9" name="Rectangle: Rounded Corners 8">
            <a:extLst>
              <a:ext uri="{FF2B5EF4-FFF2-40B4-BE49-F238E27FC236}">
                <a16:creationId xmlns:a16="http://schemas.microsoft.com/office/drawing/2014/main" id="{7852A4A6-B96D-E63D-5334-7956A86CD23D}"/>
              </a:ext>
            </a:extLst>
          </p:cNvPr>
          <p:cNvSpPr/>
          <p:nvPr/>
        </p:nvSpPr>
        <p:spPr>
          <a:xfrm>
            <a:off x="609600" y="1841500"/>
            <a:ext cx="2565400" cy="16002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FAFFBA4-3433-5900-6BD5-E2F221705A8A}"/>
              </a:ext>
            </a:extLst>
          </p:cNvPr>
          <p:cNvSpPr/>
          <p:nvPr/>
        </p:nvSpPr>
        <p:spPr>
          <a:xfrm>
            <a:off x="2895600" y="1848966"/>
            <a:ext cx="76200" cy="16002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24CE54E-BA7A-2FD4-2F88-39F096562544}"/>
              </a:ext>
            </a:extLst>
          </p:cNvPr>
          <p:cNvSpPr txBox="1"/>
          <p:nvPr/>
        </p:nvSpPr>
        <p:spPr>
          <a:xfrm>
            <a:off x="838200" y="2032000"/>
            <a:ext cx="2133600" cy="200055"/>
          </a:xfrm>
          <a:prstGeom prst="rect">
            <a:avLst/>
          </a:prstGeom>
          <a:noFill/>
        </p:spPr>
        <p:txBody>
          <a:bodyPr vert="horz" wrap="square" lIns="0" tIns="0" rIns="0" bIns="0" rtlCol="0">
            <a:spAutoFit/>
          </a:bodyPr>
          <a:lstStyle/>
          <a:p>
            <a:r>
              <a:rPr lang="en-US" sz="1300" b="1">
                <a:solidFill>
                  <a:srgbClr val="1565D8"/>
                </a:solidFill>
                <a:latin typeface="Aptos Display" panose="020B0004020202020204" pitchFamily="34" charset="0"/>
              </a:rPr>
              <a:t>AI profile builder</a:t>
            </a:r>
          </a:p>
        </p:txBody>
      </p:sp>
      <p:sp>
        <p:nvSpPr>
          <p:cNvPr id="12" name="TextBox 11">
            <a:extLst>
              <a:ext uri="{FF2B5EF4-FFF2-40B4-BE49-F238E27FC236}">
                <a16:creationId xmlns:a16="http://schemas.microsoft.com/office/drawing/2014/main" id="{461E0FC7-F27D-28EA-5535-225027662F14}"/>
              </a:ext>
            </a:extLst>
          </p:cNvPr>
          <p:cNvSpPr txBox="1"/>
          <p:nvPr/>
        </p:nvSpPr>
        <p:spPr>
          <a:xfrm>
            <a:off x="838200" y="2501900"/>
            <a:ext cx="2133600" cy="286232"/>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Voice or text -&gt; editable transcript -&gt; consent -&gt; reviewable suggestions</a:t>
            </a:r>
          </a:p>
        </p:txBody>
      </p:sp>
      <p:sp>
        <p:nvSpPr>
          <p:cNvPr id="13" name="Rectangle: Rounded Corners 12">
            <a:extLst>
              <a:ext uri="{FF2B5EF4-FFF2-40B4-BE49-F238E27FC236}">
                <a16:creationId xmlns:a16="http://schemas.microsoft.com/office/drawing/2014/main" id="{650F4FCE-FEDE-E202-D72A-03B8EF2CDFC8}"/>
              </a:ext>
            </a:extLst>
          </p:cNvPr>
          <p:cNvSpPr/>
          <p:nvPr/>
        </p:nvSpPr>
        <p:spPr>
          <a:xfrm>
            <a:off x="3378200" y="1841500"/>
            <a:ext cx="2565400" cy="16002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084478-ECD6-4FA6-C126-322AF6B7AF4A}"/>
              </a:ext>
            </a:extLst>
          </p:cNvPr>
          <p:cNvSpPr/>
          <p:nvPr/>
        </p:nvSpPr>
        <p:spPr>
          <a:xfrm>
            <a:off x="5664200" y="1828800"/>
            <a:ext cx="76200" cy="16002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8C95ECB-0358-D6D9-F992-4443E4ADD52C}"/>
              </a:ext>
            </a:extLst>
          </p:cNvPr>
          <p:cNvSpPr txBox="1"/>
          <p:nvPr/>
        </p:nvSpPr>
        <p:spPr>
          <a:xfrm>
            <a:off x="3606800" y="2032000"/>
            <a:ext cx="2133600" cy="200055"/>
          </a:xfrm>
          <a:prstGeom prst="rect">
            <a:avLst/>
          </a:prstGeom>
          <a:noFill/>
        </p:spPr>
        <p:txBody>
          <a:bodyPr vert="horz" wrap="square" lIns="0" tIns="0" rIns="0" bIns="0" rtlCol="0">
            <a:spAutoFit/>
          </a:bodyPr>
          <a:lstStyle/>
          <a:p>
            <a:r>
              <a:rPr lang="en-US" sz="1300" b="1">
                <a:solidFill>
                  <a:srgbClr val="563A4B"/>
                </a:solidFill>
                <a:latin typeface="Aptos Display" panose="020B0004020202020204" pitchFamily="34" charset="0"/>
              </a:rPr>
              <a:t>Candidate verification</a:t>
            </a:r>
          </a:p>
        </p:txBody>
      </p:sp>
      <p:sp>
        <p:nvSpPr>
          <p:cNvPr id="16" name="TextBox 15">
            <a:extLst>
              <a:ext uri="{FF2B5EF4-FFF2-40B4-BE49-F238E27FC236}">
                <a16:creationId xmlns:a16="http://schemas.microsoft.com/office/drawing/2014/main" id="{6C9CD5CF-8575-7B70-0258-91AEE4A8BBB6}"/>
              </a:ext>
            </a:extLst>
          </p:cNvPr>
          <p:cNvSpPr txBox="1"/>
          <p:nvPr/>
        </p:nvSpPr>
        <p:spPr>
          <a:xfrm>
            <a:off x="3606800" y="2501900"/>
            <a:ext cx="2133600" cy="429348"/>
          </a:xfrm>
          <a:prstGeom prst="rect">
            <a:avLst/>
          </a:prstGeom>
          <a:noFill/>
        </p:spPr>
        <p:txBody>
          <a:bodyPr vert="horz" wrap="square" lIns="0" tIns="0" rIns="0" bIns="0" rtlCol="0">
            <a:spAutoFit/>
          </a:bodyPr>
          <a:lstStyle/>
          <a:p>
            <a:r>
              <a:rPr lang="en-US" sz="930" dirty="0">
                <a:solidFill>
                  <a:srgbClr val="17243A"/>
                </a:solidFill>
                <a:latin typeface="Aptos" panose="020B0004020202020204" pitchFamily="34" charset="0"/>
              </a:rPr>
              <a:t>Email confirmation plus private</a:t>
            </a:r>
          </a:p>
          <a:p>
            <a:r>
              <a:rPr lang="en-US" sz="930" dirty="0">
                <a:solidFill>
                  <a:srgbClr val="17243A"/>
                </a:solidFill>
                <a:latin typeface="Aptos" panose="020B0004020202020204" pitchFamily="34" charset="0"/>
              </a:rPr>
              <a:t> disability-card review by an authorized verifier</a:t>
            </a:r>
          </a:p>
        </p:txBody>
      </p:sp>
      <p:sp>
        <p:nvSpPr>
          <p:cNvPr id="17" name="Rectangle: Rounded Corners 16">
            <a:extLst>
              <a:ext uri="{FF2B5EF4-FFF2-40B4-BE49-F238E27FC236}">
                <a16:creationId xmlns:a16="http://schemas.microsoft.com/office/drawing/2014/main" id="{8FDAE112-44ED-A868-5B56-74788BEC866B}"/>
              </a:ext>
            </a:extLst>
          </p:cNvPr>
          <p:cNvSpPr/>
          <p:nvPr/>
        </p:nvSpPr>
        <p:spPr>
          <a:xfrm>
            <a:off x="6146800" y="1841500"/>
            <a:ext cx="2565400" cy="16002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C4095EB-4C61-E5BB-269D-588AB4CD2190}"/>
              </a:ext>
            </a:extLst>
          </p:cNvPr>
          <p:cNvSpPr/>
          <p:nvPr/>
        </p:nvSpPr>
        <p:spPr>
          <a:xfrm>
            <a:off x="8432800" y="1828800"/>
            <a:ext cx="76200" cy="16002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A87A79C-60B3-2442-9F81-07FC79E0038C}"/>
              </a:ext>
            </a:extLst>
          </p:cNvPr>
          <p:cNvSpPr txBox="1"/>
          <p:nvPr/>
        </p:nvSpPr>
        <p:spPr>
          <a:xfrm>
            <a:off x="6375400" y="2032000"/>
            <a:ext cx="2133600" cy="200055"/>
          </a:xfrm>
          <a:prstGeom prst="rect">
            <a:avLst/>
          </a:prstGeom>
          <a:noFill/>
        </p:spPr>
        <p:txBody>
          <a:bodyPr vert="horz" wrap="square" lIns="0" tIns="0" rIns="0" bIns="0" rtlCol="0">
            <a:spAutoFit/>
          </a:bodyPr>
          <a:lstStyle/>
          <a:p>
            <a:r>
              <a:rPr lang="en-US" sz="1300" b="1">
                <a:solidFill>
                  <a:srgbClr val="A64B2A"/>
                </a:solidFill>
                <a:latin typeface="Aptos Display" panose="020B0004020202020204" pitchFamily="34" charset="0"/>
              </a:rPr>
              <a:t>Security controls</a:t>
            </a:r>
          </a:p>
        </p:txBody>
      </p:sp>
      <p:sp>
        <p:nvSpPr>
          <p:cNvPr id="20" name="TextBox 19">
            <a:extLst>
              <a:ext uri="{FF2B5EF4-FFF2-40B4-BE49-F238E27FC236}">
                <a16:creationId xmlns:a16="http://schemas.microsoft.com/office/drawing/2014/main" id="{C722C734-4C7A-3D1D-0F83-04B5A2F0226E}"/>
              </a:ext>
            </a:extLst>
          </p:cNvPr>
          <p:cNvSpPr txBox="1"/>
          <p:nvPr/>
        </p:nvSpPr>
        <p:spPr>
          <a:xfrm>
            <a:off x="6375400" y="2501900"/>
            <a:ext cx="2133600" cy="429348"/>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JWT session, server-confirmed role, protected routes and APIs, private storage</a:t>
            </a:r>
          </a:p>
        </p:txBody>
      </p:sp>
      <p:sp>
        <p:nvSpPr>
          <p:cNvPr id="21" name="Rectangle: Rounded Corners 20">
            <a:extLst>
              <a:ext uri="{FF2B5EF4-FFF2-40B4-BE49-F238E27FC236}">
                <a16:creationId xmlns:a16="http://schemas.microsoft.com/office/drawing/2014/main" id="{2AAE7C13-BE55-5EC2-0810-F8070211C1A9}"/>
              </a:ext>
            </a:extLst>
          </p:cNvPr>
          <p:cNvSpPr/>
          <p:nvPr/>
        </p:nvSpPr>
        <p:spPr>
          <a:xfrm>
            <a:off x="8915400" y="1841500"/>
            <a:ext cx="2565400" cy="16002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8F2E5AA-5C3C-8343-1554-B83AC4DDD256}"/>
              </a:ext>
            </a:extLst>
          </p:cNvPr>
          <p:cNvSpPr/>
          <p:nvPr/>
        </p:nvSpPr>
        <p:spPr>
          <a:xfrm>
            <a:off x="11201400" y="1848966"/>
            <a:ext cx="76200" cy="16002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9F7B765-D3F0-B5C0-6416-32154014C4C8}"/>
              </a:ext>
            </a:extLst>
          </p:cNvPr>
          <p:cNvSpPr txBox="1"/>
          <p:nvPr/>
        </p:nvSpPr>
        <p:spPr>
          <a:xfrm>
            <a:off x="9144000" y="2032000"/>
            <a:ext cx="2133600" cy="200055"/>
          </a:xfrm>
          <a:prstGeom prst="rect">
            <a:avLst/>
          </a:prstGeom>
          <a:noFill/>
        </p:spPr>
        <p:txBody>
          <a:bodyPr vert="horz" wrap="square" lIns="0" tIns="0" rIns="0" bIns="0" rtlCol="0">
            <a:spAutoFit/>
          </a:bodyPr>
          <a:lstStyle/>
          <a:p>
            <a:r>
              <a:rPr lang="en-US" sz="1300" b="1">
                <a:solidFill>
                  <a:srgbClr val="157A55"/>
                </a:solidFill>
                <a:latin typeface="Aptos Display" panose="020B0004020202020204" pitchFamily="34" charset="0"/>
              </a:rPr>
              <a:t>Matching + applications</a:t>
            </a:r>
          </a:p>
        </p:txBody>
      </p:sp>
      <p:sp>
        <p:nvSpPr>
          <p:cNvPr id="24" name="TextBox 23">
            <a:extLst>
              <a:ext uri="{FF2B5EF4-FFF2-40B4-BE49-F238E27FC236}">
                <a16:creationId xmlns:a16="http://schemas.microsoft.com/office/drawing/2014/main" id="{A82D5413-B31B-7DC8-765B-EF5661B4B193}"/>
              </a:ext>
            </a:extLst>
          </p:cNvPr>
          <p:cNvSpPr txBox="1"/>
          <p:nvPr/>
        </p:nvSpPr>
        <p:spPr>
          <a:xfrm>
            <a:off x="9144000" y="2501900"/>
            <a:ext cx="2133600" cy="286232"/>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Deterministic task score, explanations, applications, and stored outcomes</a:t>
            </a:r>
          </a:p>
        </p:txBody>
      </p:sp>
      <p:sp>
        <p:nvSpPr>
          <p:cNvPr id="25" name="Rectangle: Rounded Corners 24">
            <a:extLst>
              <a:ext uri="{FF2B5EF4-FFF2-40B4-BE49-F238E27FC236}">
                <a16:creationId xmlns:a16="http://schemas.microsoft.com/office/drawing/2014/main" id="{40ED889F-DC09-D66D-2726-E4A8AF3DF93B}"/>
              </a:ext>
            </a:extLst>
          </p:cNvPr>
          <p:cNvSpPr/>
          <p:nvPr/>
        </p:nvSpPr>
        <p:spPr>
          <a:xfrm>
            <a:off x="609600" y="3810000"/>
            <a:ext cx="2565400" cy="16002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67A6C7F-A2B4-4292-D171-81DF3E94EEFD}"/>
              </a:ext>
            </a:extLst>
          </p:cNvPr>
          <p:cNvSpPr/>
          <p:nvPr/>
        </p:nvSpPr>
        <p:spPr>
          <a:xfrm>
            <a:off x="2890157" y="3810000"/>
            <a:ext cx="76200" cy="16002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E0D9F46-A4CA-5F3A-FF06-ED6D18A35BDF}"/>
              </a:ext>
            </a:extLst>
          </p:cNvPr>
          <p:cNvSpPr txBox="1"/>
          <p:nvPr/>
        </p:nvSpPr>
        <p:spPr>
          <a:xfrm>
            <a:off x="838200" y="4000500"/>
            <a:ext cx="2133600" cy="200055"/>
          </a:xfrm>
          <a:prstGeom prst="rect">
            <a:avLst/>
          </a:prstGeom>
          <a:noFill/>
        </p:spPr>
        <p:txBody>
          <a:bodyPr vert="horz" wrap="square" lIns="0" tIns="0" rIns="0" bIns="0" rtlCol="0">
            <a:spAutoFit/>
          </a:bodyPr>
          <a:lstStyle/>
          <a:p>
            <a:r>
              <a:rPr lang="en-US" sz="1300" b="1">
                <a:solidFill>
                  <a:srgbClr val="157A55"/>
                </a:solidFill>
                <a:latin typeface="Aptos Display" panose="020B0004020202020204" pitchFamily="34" charset="0"/>
              </a:rPr>
              <a:t>Employer tools</a:t>
            </a:r>
          </a:p>
        </p:txBody>
      </p:sp>
      <p:sp>
        <p:nvSpPr>
          <p:cNvPr id="28" name="TextBox 27">
            <a:extLst>
              <a:ext uri="{FF2B5EF4-FFF2-40B4-BE49-F238E27FC236}">
                <a16:creationId xmlns:a16="http://schemas.microsoft.com/office/drawing/2014/main" id="{685CBC81-B988-7072-59C4-FB28515CCEBE}"/>
              </a:ext>
            </a:extLst>
          </p:cNvPr>
          <p:cNvSpPr txBox="1"/>
          <p:nvPr/>
        </p:nvSpPr>
        <p:spPr>
          <a:xfrm>
            <a:off x="838200" y="4470400"/>
            <a:ext cx="2133600" cy="429348"/>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Company profile, vacancy creation, requirements, important tasks, assistance</a:t>
            </a:r>
          </a:p>
        </p:txBody>
      </p:sp>
      <p:sp>
        <p:nvSpPr>
          <p:cNvPr id="29" name="Rectangle: Rounded Corners 28">
            <a:extLst>
              <a:ext uri="{FF2B5EF4-FFF2-40B4-BE49-F238E27FC236}">
                <a16:creationId xmlns:a16="http://schemas.microsoft.com/office/drawing/2014/main" id="{0DB85694-2384-7627-8BEA-2D81BDA2E25A}"/>
              </a:ext>
            </a:extLst>
          </p:cNvPr>
          <p:cNvSpPr/>
          <p:nvPr/>
        </p:nvSpPr>
        <p:spPr>
          <a:xfrm>
            <a:off x="3378200" y="3810000"/>
            <a:ext cx="2565400" cy="16002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02654D3-83DF-6165-C9FE-B5E061A62CED}"/>
              </a:ext>
            </a:extLst>
          </p:cNvPr>
          <p:cNvSpPr/>
          <p:nvPr/>
        </p:nvSpPr>
        <p:spPr>
          <a:xfrm>
            <a:off x="5664200" y="3810000"/>
            <a:ext cx="76200" cy="16002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D5B0196-89E9-BCA3-3FF1-47638EB819B8}"/>
              </a:ext>
            </a:extLst>
          </p:cNvPr>
          <p:cNvSpPr txBox="1"/>
          <p:nvPr/>
        </p:nvSpPr>
        <p:spPr>
          <a:xfrm>
            <a:off x="3606800" y="4000500"/>
            <a:ext cx="2133600" cy="200055"/>
          </a:xfrm>
          <a:prstGeom prst="rect">
            <a:avLst/>
          </a:prstGeom>
          <a:noFill/>
        </p:spPr>
        <p:txBody>
          <a:bodyPr vert="horz" wrap="square" lIns="0" tIns="0" rIns="0" bIns="0" rtlCol="0">
            <a:spAutoFit/>
          </a:bodyPr>
          <a:lstStyle/>
          <a:p>
            <a:r>
              <a:rPr lang="en-US" sz="1300" b="1">
                <a:solidFill>
                  <a:srgbClr val="563A4B"/>
                </a:solidFill>
                <a:latin typeface="Aptos Display" panose="020B0004020202020204" pitchFamily="34" charset="0"/>
              </a:rPr>
              <a:t>Admin + verifier</a:t>
            </a:r>
          </a:p>
        </p:txBody>
      </p:sp>
      <p:sp>
        <p:nvSpPr>
          <p:cNvPr id="32" name="TextBox 31">
            <a:extLst>
              <a:ext uri="{FF2B5EF4-FFF2-40B4-BE49-F238E27FC236}">
                <a16:creationId xmlns:a16="http://schemas.microsoft.com/office/drawing/2014/main" id="{CEB22E56-5356-E548-C9EB-D0DD7BF04D45}"/>
              </a:ext>
            </a:extLst>
          </p:cNvPr>
          <p:cNvSpPr txBox="1"/>
          <p:nvPr/>
        </p:nvSpPr>
        <p:spPr>
          <a:xfrm>
            <a:off x="3606800" y="4470400"/>
            <a:ext cx="2133600" cy="429348"/>
          </a:xfrm>
          <a:prstGeom prst="rect">
            <a:avLst/>
          </a:prstGeom>
          <a:noFill/>
        </p:spPr>
        <p:txBody>
          <a:bodyPr vert="horz" wrap="square" lIns="0" tIns="0" rIns="0" bIns="0" rtlCol="0">
            <a:spAutoFit/>
          </a:bodyPr>
          <a:lstStyle/>
          <a:p>
            <a:r>
              <a:rPr lang="en-US" sz="930" dirty="0">
                <a:solidFill>
                  <a:srgbClr val="17243A"/>
                </a:solidFill>
                <a:latin typeface="Aptos" panose="020B0004020202020204" pitchFamily="34" charset="0"/>
              </a:rPr>
              <a:t>Users, applications, candidate </a:t>
            </a:r>
          </a:p>
          <a:p>
            <a:r>
              <a:rPr lang="en-US" sz="930" dirty="0">
                <a:solidFill>
                  <a:srgbClr val="17243A"/>
                </a:solidFill>
                <a:latin typeface="Aptos" panose="020B0004020202020204" pitchFamily="34" charset="0"/>
              </a:rPr>
              <a:t>evidence decisions, and dataset catalogue</a:t>
            </a:r>
          </a:p>
        </p:txBody>
      </p:sp>
      <p:sp>
        <p:nvSpPr>
          <p:cNvPr id="33" name="Rectangle: Rounded Corners 32">
            <a:extLst>
              <a:ext uri="{FF2B5EF4-FFF2-40B4-BE49-F238E27FC236}">
                <a16:creationId xmlns:a16="http://schemas.microsoft.com/office/drawing/2014/main" id="{22799C77-5305-8485-62A0-0F949A2DBD6A}"/>
              </a:ext>
            </a:extLst>
          </p:cNvPr>
          <p:cNvSpPr/>
          <p:nvPr/>
        </p:nvSpPr>
        <p:spPr>
          <a:xfrm>
            <a:off x="6146800" y="3810000"/>
            <a:ext cx="2565400" cy="16002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9D6B58C-F64A-1800-35A2-7013A768FB08}"/>
              </a:ext>
            </a:extLst>
          </p:cNvPr>
          <p:cNvSpPr/>
          <p:nvPr/>
        </p:nvSpPr>
        <p:spPr>
          <a:xfrm>
            <a:off x="8437880" y="3810000"/>
            <a:ext cx="76200" cy="16002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89784A8-8F0B-CEBC-637B-3B5DB3E9AD90}"/>
              </a:ext>
            </a:extLst>
          </p:cNvPr>
          <p:cNvSpPr txBox="1"/>
          <p:nvPr/>
        </p:nvSpPr>
        <p:spPr>
          <a:xfrm>
            <a:off x="6375400" y="4000500"/>
            <a:ext cx="2133600" cy="200055"/>
          </a:xfrm>
          <a:prstGeom prst="rect">
            <a:avLst/>
          </a:prstGeom>
          <a:noFill/>
        </p:spPr>
        <p:txBody>
          <a:bodyPr vert="horz" wrap="square" lIns="0" tIns="0" rIns="0" bIns="0" rtlCol="0">
            <a:spAutoFit/>
          </a:bodyPr>
          <a:lstStyle/>
          <a:p>
            <a:r>
              <a:rPr lang="en-US" sz="1300" b="1">
                <a:solidFill>
                  <a:srgbClr val="1565D8"/>
                </a:solidFill>
                <a:latin typeface="Aptos Display" panose="020B0004020202020204" pitchFamily="34" charset="0"/>
              </a:rPr>
              <a:t>Accessible navigation</a:t>
            </a:r>
          </a:p>
        </p:txBody>
      </p:sp>
      <p:sp>
        <p:nvSpPr>
          <p:cNvPr id="36" name="TextBox 35">
            <a:extLst>
              <a:ext uri="{FF2B5EF4-FFF2-40B4-BE49-F238E27FC236}">
                <a16:creationId xmlns:a16="http://schemas.microsoft.com/office/drawing/2014/main" id="{77F2DA00-D305-2602-D80F-6D48F83389D8}"/>
              </a:ext>
            </a:extLst>
          </p:cNvPr>
          <p:cNvSpPr txBox="1"/>
          <p:nvPr/>
        </p:nvSpPr>
        <p:spPr>
          <a:xfrm>
            <a:off x="6375400" y="4470400"/>
            <a:ext cx="2133600" cy="429348"/>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Keyboard, arrow-key support, visible focus, status announcements, optional voice</a:t>
            </a:r>
          </a:p>
        </p:txBody>
      </p:sp>
      <p:sp>
        <p:nvSpPr>
          <p:cNvPr id="37" name="Rectangle: Rounded Corners 36">
            <a:extLst>
              <a:ext uri="{FF2B5EF4-FFF2-40B4-BE49-F238E27FC236}">
                <a16:creationId xmlns:a16="http://schemas.microsoft.com/office/drawing/2014/main" id="{FAB6EECD-6374-EC69-0B18-8D295847B89F}"/>
              </a:ext>
            </a:extLst>
          </p:cNvPr>
          <p:cNvSpPr/>
          <p:nvPr/>
        </p:nvSpPr>
        <p:spPr>
          <a:xfrm>
            <a:off x="8915400" y="3810000"/>
            <a:ext cx="2565400" cy="16002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5C57D4C-B4CB-2E81-6EF0-171685BC90BF}"/>
              </a:ext>
            </a:extLst>
          </p:cNvPr>
          <p:cNvSpPr/>
          <p:nvPr/>
        </p:nvSpPr>
        <p:spPr>
          <a:xfrm>
            <a:off x="11201400" y="3802534"/>
            <a:ext cx="76200" cy="16002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82EF056-4EF7-AF3A-910F-EB064026B3E0}"/>
              </a:ext>
            </a:extLst>
          </p:cNvPr>
          <p:cNvSpPr txBox="1"/>
          <p:nvPr/>
        </p:nvSpPr>
        <p:spPr>
          <a:xfrm>
            <a:off x="9144000" y="4000500"/>
            <a:ext cx="2133600" cy="200055"/>
          </a:xfrm>
          <a:prstGeom prst="rect">
            <a:avLst/>
          </a:prstGeom>
          <a:noFill/>
        </p:spPr>
        <p:txBody>
          <a:bodyPr vert="horz" wrap="square" lIns="0" tIns="0" rIns="0" bIns="0" rtlCol="0">
            <a:spAutoFit/>
          </a:bodyPr>
          <a:lstStyle/>
          <a:p>
            <a:r>
              <a:rPr lang="en-US" sz="1300" b="1">
                <a:solidFill>
                  <a:srgbClr val="A64B2A"/>
                </a:solidFill>
                <a:latin typeface="Aptos Display" panose="020B0004020202020204" pitchFamily="34" charset="0"/>
              </a:rPr>
              <a:t>Multilingual UI</a:t>
            </a:r>
          </a:p>
        </p:txBody>
      </p:sp>
      <p:sp>
        <p:nvSpPr>
          <p:cNvPr id="40" name="TextBox 39">
            <a:extLst>
              <a:ext uri="{FF2B5EF4-FFF2-40B4-BE49-F238E27FC236}">
                <a16:creationId xmlns:a16="http://schemas.microsoft.com/office/drawing/2014/main" id="{CA39120B-0381-E67C-F629-0BB71EB50AD0}"/>
              </a:ext>
            </a:extLst>
          </p:cNvPr>
          <p:cNvSpPr txBox="1"/>
          <p:nvPr/>
        </p:nvSpPr>
        <p:spPr>
          <a:xfrm>
            <a:off x="9144000" y="4470400"/>
            <a:ext cx="2133600" cy="286232"/>
          </a:xfrm>
          <a:prstGeom prst="rect">
            <a:avLst/>
          </a:prstGeom>
          <a:noFill/>
        </p:spPr>
        <p:txBody>
          <a:bodyPr vert="horz" wrap="square" lIns="0" tIns="0" rIns="0" bIns="0" rtlCol="0">
            <a:spAutoFit/>
          </a:bodyPr>
          <a:lstStyle/>
          <a:p>
            <a:r>
              <a:rPr lang="en-US" sz="930" dirty="0">
                <a:solidFill>
                  <a:srgbClr val="17243A"/>
                </a:solidFill>
                <a:latin typeface="Aptos" panose="020B0004020202020204" pitchFamily="34" charset="0"/>
              </a:rPr>
              <a:t>English, French, Arabic, RTL layout, </a:t>
            </a:r>
          </a:p>
          <a:p>
            <a:r>
              <a:rPr lang="en-US" sz="930" dirty="0">
                <a:solidFill>
                  <a:srgbClr val="17243A"/>
                </a:solidFill>
                <a:latin typeface="Aptos" panose="020B0004020202020204" pitchFamily="34" charset="0"/>
              </a:rPr>
              <a:t>stable codes, and locale tests</a:t>
            </a:r>
          </a:p>
        </p:txBody>
      </p:sp>
    </p:spTree>
    <p:extLst>
      <p:ext uri="{BB962C8B-B14F-4D97-AF65-F5344CB8AC3E}">
        <p14:creationId xmlns:p14="http://schemas.microsoft.com/office/powerpoint/2010/main" val="259380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BBBC62-7627-0F2D-15D6-C7566B63EEA6}"/>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AA3FA57-8134-F73A-3192-6A80DFF9C924}"/>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TECHNICAL DESIGN</a:t>
            </a:r>
          </a:p>
        </p:txBody>
      </p:sp>
      <p:sp>
        <p:nvSpPr>
          <p:cNvPr id="4" name="TextBox 3">
            <a:extLst>
              <a:ext uri="{FF2B5EF4-FFF2-40B4-BE49-F238E27FC236}">
                <a16:creationId xmlns:a16="http://schemas.microsoft.com/office/drawing/2014/main" id="{A1847D82-5915-2E7F-FD27-0F6C1D8EB523}"/>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Architecture and security boundaries</a:t>
            </a:r>
          </a:p>
        </p:txBody>
      </p:sp>
      <p:cxnSp>
        <p:nvCxnSpPr>
          <p:cNvPr id="6" name="Straight Connector 5">
            <a:extLst>
              <a:ext uri="{FF2B5EF4-FFF2-40B4-BE49-F238E27FC236}">
                <a16:creationId xmlns:a16="http://schemas.microsoft.com/office/drawing/2014/main" id="{4B04B956-2E98-1C62-40DA-BD8024A01457}"/>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E8F4C73-753A-2D9B-1FB7-F67571977DD7}"/>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B79AE6B8-8197-A7EC-DA3A-DD31C950CA44}"/>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05</a:t>
            </a:r>
          </a:p>
        </p:txBody>
      </p:sp>
      <p:sp>
        <p:nvSpPr>
          <p:cNvPr id="9" name="Rectangle: Rounded Corners 8">
            <a:extLst>
              <a:ext uri="{FF2B5EF4-FFF2-40B4-BE49-F238E27FC236}">
                <a16:creationId xmlns:a16="http://schemas.microsoft.com/office/drawing/2014/main" id="{BC933E39-5E95-59EE-015E-5809E45CB93C}"/>
              </a:ext>
            </a:extLst>
          </p:cNvPr>
          <p:cNvSpPr/>
          <p:nvPr/>
        </p:nvSpPr>
        <p:spPr>
          <a:xfrm>
            <a:off x="829733" y="2043685"/>
            <a:ext cx="2413000" cy="15240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B65C67B-FA86-9489-23FB-1D03FE1D5C6D}"/>
              </a:ext>
            </a:extLst>
          </p:cNvPr>
          <p:cNvSpPr/>
          <p:nvPr/>
        </p:nvSpPr>
        <p:spPr>
          <a:xfrm>
            <a:off x="1174750" y="2043685"/>
            <a:ext cx="88900" cy="15240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DF2ECCB-899A-B8DF-38B6-B913D0E2D00D}"/>
              </a:ext>
            </a:extLst>
          </p:cNvPr>
          <p:cNvSpPr txBox="1"/>
          <p:nvPr/>
        </p:nvSpPr>
        <p:spPr>
          <a:xfrm>
            <a:off x="1547283" y="2331380"/>
            <a:ext cx="1841500" cy="230832"/>
          </a:xfrm>
          <a:prstGeom prst="rect">
            <a:avLst/>
          </a:prstGeom>
          <a:noFill/>
        </p:spPr>
        <p:txBody>
          <a:bodyPr vert="horz" wrap="square" lIns="0" tIns="0" rIns="0" bIns="0" rtlCol="0">
            <a:spAutoFit/>
          </a:bodyPr>
          <a:lstStyle/>
          <a:p>
            <a:r>
              <a:rPr lang="en-US" sz="1500" b="1" dirty="0">
                <a:solidFill>
                  <a:srgbClr val="0B1F49"/>
                </a:solidFill>
                <a:latin typeface="Aptos Display" panose="020B0004020202020204" pitchFamily="34" charset="0"/>
              </a:rPr>
              <a:t>React frontend</a:t>
            </a:r>
          </a:p>
        </p:txBody>
      </p:sp>
      <p:sp>
        <p:nvSpPr>
          <p:cNvPr id="12" name="TextBox 11">
            <a:extLst>
              <a:ext uri="{FF2B5EF4-FFF2-40B4-BE49-F238E27FC236}">
                <a16:creationId xmlns:a16="http://schemas.microsoft.com/office/drawing/2014/main" id="{AA4EEFD3-4FD6-772A-CFA2-243ABF20AA8D}"/>
              </a:ext>
            </a:extLst>
          </p:cNvPr>
          <p:cNvSpPr txBox="1"/>
          <p:nvPr/>
        </p:nvSpPr>
        <p:spPr>
          <a:xfrm>
            <a:off x="1553633" y="2843785"/>
            <a:ext cx="1841500" cy="307777"/>
          </a:xfrm>
          <a:prstGeom prst="rect">
            <a:avLst/>
          </a:prstGeom>
          <a:noFill/>
        </p:spPr>
        <p:txBody>
          <a:bodyPr vert="horz" wrap="square" lIns="0" tIns="0" rIns="0" bIns="0" rtlCol="0">
            <a:spAutoFit/>
          </a:bodyPr>
          <a:lstStyle/>
          <a:p>
            <a:r>
              <a:rPr lang="en-US" sz="1000" dirty="0">
                <a:solidFill>
                  <a:srgbClr val="5D6B80"/>
                </a:solidFill>
                <a:latin typeface="Aptos" panose="020B0004020202020204" pitchFamily="34" charset="0"/>
              </a:rPr>
              <a:t>Accessible screens
English | French | Arabic</a:t>
            </a:r>
          </a:p>
        </p:txBody>
      </p:sp>
      <p:sp>
        <p:nvSpPr>
          <p:cNvPr id="13" name="Rectangle: Rounded Corners 12">
            <a:extLst>
              <a:ext uri="{FF2B5EF4-FFF2-40B4-BE49-F238E27FC236}">
                <a16:creationId xmlns:a16="http://schemas.microsoft.com/office/drawing/2014/main" id="{673AE40D-A6F3-17CA-906D-45C505DBBED8}"/>
              </a:ext>
            </a:extLst>
          </p:cNvPr>
          <p:cNvSpPr/>
          <p:nvPr/>
        </p:nvSpPr>
        <p:spPr>
          <a:xfrm>
            <a:off x="4258733" y="2043685"/>
            <a:ext cx="2667000" cy="1524000"/>
          </a:xfrm>
          <a:prstGeom prst="roundRect">
            <a:avLst/>
          </a:prstGeom>
          <a:solidFill>
            <a:srgbClr val="FFFFFF"/>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AA3EF3F-B104-98D4-3300-9CD3E9CEC2FC}"/>
              </a:ext>
            </a:extLst>
          </p:cNvPr>
          <p:cNvSpPr/>
          <p:nvPr/>
        </p:nvSpPr>
        <p:spPr>
          <a:xfrm>
            <a:off x="4616450" y="2031956"/>
            <a:ext cx="88900" cy="15240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2AA5699-34F1-18D9-46D9-F9D45FF88A2D}"/>
              </a:ext>
            </a:extLst>
          </p:cNvPr>
          <p:cNvSpPr txBox="1"/>
          <p:nvPr/>
        </p:nvSpPr>
        <p:spPr>
          <a:xfrm>
            <a:off x="5027083" y="2351487"/>
            <a:ext cx="2095500" cy="230832"/>
          </a:xfrm>
          <a:prstGeom prst="rect">
            <a:avLst/>
          </a:prstGeom>
          <a:noFill/>
        </p:spPr>
        <p:txBody>
          <a:bodyPr vert="horz" wrap="square" lIns="0" tIns="0" rIns="0" bIns="0" rtlCol="0">
            <a:spAutoFit/>
          </a:bodyPr>
          <a:lstStyle/>
          <a:p>
            <a:r>
              <a:rPr lang="en-US" sz="1500" b="1" dirty="0">
                <a:solidFill>
                  <a:srgbClr val="0B1F49"/>
                </a:solidFill>
                <a:latin typeface="Aptos Display" panose="020B0004020202020204" pitchFamily="34" charset="0"/>
              </a:rPr>
              <a:t>Symfony backend</a:t>
            </a:r>
          </a:p>
        </p:txBody>
      </p:sp>
      <p:sp>
        <p:nvSpPr>
          <p:cNvPr id="16" name="TextBox 15">
            <a:extLst>
              <a:ext uri="{FF2B5EF4-FFF2-40B4-BE49-F238E27FC236}">
                <a16:creationId xmlns:a16="http://schemas.microsoft.com/office/drawing/2014/main" id="{236BD267-375B-C078-873A-FDB3230DEC56}"/>
              </a:ext>
            </a:extLst>
          </p:cNvPr>
          <p:cNvSpPr txBox="1"/>
          <p:nvPr/>
        </p:nvSpPr>
        <p:spPr>
          <a:xfrm>
            <a:off x="5027083" y="2843785"/>
            <a:ext cx="2095500" cy="307777"/>
          </a:xfrm>
          <a:prstGeom prst="rect">
            <a:avLst/>
          </a:prstGeom>
          <a:noFill/>
        </p:spPr>
        <p:txBody>
          <a:bodyPr vert="horz" wrap="square" lIns="0" tIns="0" rIns="0" bIns="0" rtlCol="0">
            <a:spAutoFit/>
          </a:bodyPr>
          <a:lstStyle/>
          <a:p>
            <a:r>
              <a:rPr lang="en-US" sz="1000" dirty="0">
                <a:solidFill>
                  <a:srgbClr val="5D6B80"/>
                </a:solidFill>
                <a:latin typeface="Aptos" panose="020B0004020202020204" pitchFamily="34" charset="0"/>
              </a:rPr>
              <a:t>Security | validation
Business workflows</a:t>
            </a:r>
          </a:p>
        </p:txBody>
      </p:sp>
      <p:sp>
        <p:nvSpPr>
          <p:cNvPr id="17" name="Rectangle: Rounded Corners 16">
            <a:extLst>
              <a:ext uri="{FF2B5EF4-FFF2-40B4-BE49-F238E27FC236}">
                <a16:creationId xmlns:a16="http://schemas.microsoft.com/office/drawing/2014/main" id="{691AFDCF-3E09-ADC8-5216-31BAE4C83ED8}"/>
              </a:ext>
            </a:extLst>
          </p:cNvPr>
          <p:cNvSpPr/>
          <p:nvPr/>
        </p:nvSpPr>
        <p:spPr>
          <a:xfrm>
            <a:off x="8322733" y="1281685"/>
            <a:ext cx="2921000" cy="1270000"/>
          </a:xfrm>
          <a:prstGeom prst="roundRect">
            <a:avLst/>
          </a:prstGeom>
          <a:solidFill>
            <a:srgbClr val="FFFFFF"/>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0E30CE8-BE68-C892-49B2-590B4621090B}"/>
              </a:ext>
            </a:extLst>
          </p:cNvPr>
          <p:cNvSpPr/>
          <p:nvPr/>
        </p:nvSpPr>
        <p:spPr>
          <a:xfrm>
            <a:off x="8732308" y="1277309"/>
            <a:ext cx="88900" cy="12700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C6638CB-E58C-B0A2-285D-24AD6CEDD371}"/>
              </a:ext>
            </a:extLst>
          </p:cNvPr>
          <p:cNvSpPr txBox="1"/>
          <p:nvPr/>
        </p:nvSpPr>
        <p:spPr>
          <a:xfrm>
            <a:off x="9186333" y="1546153"/>
            <a:ext cx="2286000" cy="230832"/>
          </a:xfrm>
          <a:prstGeom prst="rect">
            <a:avLst/>
          </a:prstGeom>
          <a:noFill/>
        </p:spPr>
        <p:txBody>
          <a:bodyPr vert="horz" wrap="square" lIns="0" tIns="0" rIns="0" bIns="0" rtlCol="0">
            <a:spAutoFit/>
          </a:bodyPr>
          <a:lstStyle/>
          <a:p>
            <a:r>
              <a:rPr lang="en-US" sz="1500" b="1" dirty="0">
                <a:solidFill>
                  <a:srgbClr val="0B1F49"/>
                </a:solidFill>
                <a:latin typeface="Aptos Display" panose="020B0004020202020204" pitchFamily="34" charset="0"/>
              </a:rPr>
              <a:t>PostgreSQL</a:t>
            </a:r>
          </a:p>
        </p:txBody>
      </p:sp>
      <p:sp>
        <p:nvSpPr>
          <p:cNvPr id="20" name="TextBox 19">
            <a:extLst>
              <a:ext uri="{FF2B5EF4-FFF2-40B4-BE49-F238E27FC236}">
                <a16:creationId xmlns:a16="http://schemas.microsoft.com/office/drawing/2014/main" id="{49564E55-1B8C-5788-87C8-FDC613D7E714}"/>
              </a:ext>
            </a:extLst>
          </p:cNvPr>
          <p:cNvSpPr txBox="1"/>
          <p:nvPr/>
        </p:nvSpPr>
        <p:spPr>
          <a:xfrm>
            <a:off x="9186333" y="2031956"/>
            <a:ext cx="2286000" cy="307777"/>
          </a:xfrm>
          <a:prstGeom prst="rect">
            <a:avLst/>
          </a:prstGeom>
          <a:noFill/>
        </p:spPr>
        <p:txBody>
          <a:bodyPr vert="horz" wrap="square" lIns="0" tIns="0" rIns="0" bIns="0" rtlCol="0">
            <a:spAutoFit/>
          </a:bodyPr>
          <a:lstStyle/>
          <a:p>
            <a:r>
              <a:rPr lang="en-US" sz="1000" dirty="0">
                <a:solidFill>
                  <a:srgbClr val="5D6B80"/>
                </a:solidFill>
                <a:latin typeface="Aptos" panose="020B0004020202020204" pitchFamily="34" charset="0"/>
              </a:rPr>
              <a:t>Users | profiles
Jobs | applications</a:t>
            </a:r>
          </a:p>
        </p:txBody>
      </p:sp>
      <p:sp>
        <p:nvSpPr>
          <p:cNvPr id="21" name="Rectangle: Rounded Corners 20">
            <a:extLst>
              <a:ext uri="{FF2B5EF4-FFF2-40B4-BE49-F238E27FC236}">
                <a16:creationId xmlns:a16="http://schemas.microsoft.com/office/drawing/2014/main" id="{DD91E1C8-AF40-5C4B-22D8-FB42DB938722}"/>
              </a:ext>
            </a:extLst>
          </p:cNvPr>
          <p:cNvSpPr/>
          <p:nvPr/>
        </p:nvSpPr>
        <p:spPr>
          <a:xfrm>
            <a:off x="8322733" y="3186685"/>
            <a:ext cx="2921000" cy="1270000"/>
          </a:xfrm>
          <a:prstGeom prst="roundRect">
            <a:avLst/>
          </a:prstGeom>
          <a:solidFill>
            <a:srgbClr val="FFFFFF"/>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79A7E4E-1DE5-3947-B8C4-35D35975D90D}"/>
              </a:ext>
            </a:extLst>
          </p:cNvPr>
          <p:cNvSpPr/>
          <p:nvPr/>
        </p:nvSpPr>
        <p:spPr>
          <a:xfrm>
            <a:off x="8732308" y="3186685"/>
            <a:ext cx="88900" cy="12700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2CA4997-E60E-2C82-0677-968649348AAE}"/>
              </a:ext>
            </a:extLst>
          </p:cNvPr>
          <p:cNvSpPr txBox="1"/>
          <p:nvPr/>
        </p:nvSpPr>
        <p:spPr>
          <a:xfrm>
            <a:off x="8957733" y="3397148"/>
            <a:ext cx="2286000" cy="230832"/>
          </a:xfrm>
          <a:prstGeom prst="rect">
            <a:avLst/>
          </a:prstGeom>
          <a:noFill/>
        </p:spPr>
        <p:txBody>
          <a:bodyPr vert="horz" wrap="square" lIns="0" tIns="0" rIns="0" bIns="0" rtlCol="0">
            <a:spAutoFit/>
          </a:bodyPr>
          <a:lstStyle/>
          <a:p>
            <a:r>
              <a:rPr lang="en-US" sz="1500" b="1" dirty="0">
                <a:solidFill>
                  <a:srgbClr val="0B1F49"/>
                </a:solidFill>
                <a:latin typeface="Aptos Display" panose="020B0004020202020204" pitchFamily="34" charset="0"/>
              </a:rPr>
              <a:t>Python services</a:t>
            </a:r>
          </a:p>
        </p:txBody>
      </p:sp>
      <p:sp>
        <p:nvSpPr>
          <p:cNvPr id="24" name="TextBox 23">
            <a:extLst>
              <a:ext uri="{FF2B5EF4-FFF2-40B4-BE49-F238E27FC236}">
                <a16:creationId xmlns:a16="http://schemas.microsoft.com/office/drawing/2014/main" id="{A073D55F-62E6-558B-0D18-6A4BBCBFAFA4}"/>
              </a:ext>
            </a:extLst>
          </p:cNvPr>
          <p:cNvSpPr txBox="1"/>
          <p:nvPr/>
        </p:nvSpPr>
        <p:spPr>
          <a:xfrm>
            <a:off x="8957733" y="3882207"/>
            <a:ext cx="2286000" cy="307777"/>
          </a:xfrm>
          <a:prstGeom prst="rect">
            <a:avLst/>
          </a:prstGeom>
          <a:noFill/>
        </p:spPr>
        <p:txBody>
          <a:bodyPr vert="horz" wrap="square" lIns="0" tIns="0" rIns="0" bIns="0" rtlCol="0">
            <a:spAutoFit/>
          </a:bodyPr>
          <a:lstStyle/>
          <a:p>
            <a:r>
              <a:rPr lang="it-IT" sz="1000" dirty="0">
                <a:solidFill>
                  <a:srgbClr val="5D6B80"/>
                </a:solidFill>
                <a:latin typeface="Aptos" panose="020B0004020202020204" pitchFamily="34" charset="0"/>
              </a:rPr>
              <a:t>AI profile assistance
Deterministic scoring</a:t>
            </a:r>
            <a:endParaRPr lang="en-US" sz="1000" dirty="0">
              <a:solidFill>
                <a:srgbClr val="5D6B80"/>
              </a:solidFill>
              <a:latin typeface="Aptos" panose="020B0004020202020204" pitchFamily="34" charset="0"/>
            </a:endParaRPr>
          </a:p>
        </p:txBody>
      </p:sp>
      <p:cxnSp>
        <p:nvCxnSpPr>
          <p:cNvPr id="25" name="Straight Connector 24">
            <a:extLst>
              <a:ext uri="{FF2B5EF4-FFF2-40B4-BE49-F238E27FC236}">
                <a16:creationId xmlns:a16="http://schemas.microsoft.com/office/drawing/2014/main" id="{35E3291B-1260-994D-7051-52E03FE9643B}"/>
              </a:ext>
            </a:extLst>
          </p:cNvPr>
          <p:cNvCxnSpPr/>
          <p:nvPr/>
        </p:nvCxnSpPr>
        <p:spPr>
          <a:xfrm>
            <a:off x="3242733" y="2805685"/>
            <a:ext cx="1016000" cy="0"/>
          </a:xfrm>
          <a:prstGeom prst="line">
            <a:avLst/>
          </a:prstGeom>
          <a:ln w="25400">
            <a:solidFill>
              <a:srgbClr val="1565D8"/>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F025189-B516-95B1-7980-4C90C7369AD1}"/>
              </a:ext>
            </a:extLst>
          </p:cNvPr>
          <p:cNvCxnSpPr/>
          <p:nvPr/>
        </p:nvCxnSpPr>
        <p:spPr>
          <a:xfrm flipV="1">
            <a:off x="6925733" y="1916685"/>
            <a:ext cx="1397000" cy="571500"/>
          </a:xfrm>
          <a:prstGeom prst="line">
            <a:avLst/>
          </a:prstGeom>
          <a:ln w="25400">
            <a:solidFill>
              <a:srgbClr val="157A55"/>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7FF92B1-42F1-C366-B786-5783D4FCF15E}"/>
              </a:ext>
            </a:extLst>
          </p:cNvPr>
          <p:cNvCxnSpPr/>
          <p:nvPr/>
        </p:nvCxnSpPr>
        <p:spPr>
          <a:xfrm>
            <a:off x="6925733" y="3123185"/>
            <a:ext cx="1397000" cy="698500"/>
          </a:xfrm>
          <a:prstGeom prst="line">
            <a:avLst/>
          </a:prstGeom>
          <a:ln w="25400">
            <a:solidFill>
              <a:srgbClr val="563A4B"/>
            </a:solidFill>
            <a:tailEnd type="arrow"/>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EC45D972-6565-3BA6-23DC-62619CF3FCAD}"/>
              </a:ext>
            </a:extLst>
          </p:cNvPr>
          <p:cNvSpPr txBox="1"/>
          <p:nvPr/>
        </p:nvSpPr>
        <p:spPr>
          <a:xfrm>
            <a:off x="3395133" y="2500885"/>
            <a:ext cx="736600" cy="115416"/>
          </a:xfrm>
          <a:prstGeom prst="rect">
            <a:avLst/>
          </a:prstGeom>
          <a:noFill/>
        </p:spPr>
        <p:txBody>
          <a:bodyPr vert="horz" wrap="square" lIns="0" tIns="0" rIns="0" bIns="0" rtlCol="0">
            <a:spAutoFit/>
          </a:bodyPr>
          <a:lstStyle/>
          <a:p>
            <a:pPr algn="ctr"/>
            <a:r>
              <a:rPr lang="en-US" sz="750" b="1">
                <a:solidFill>
                  <a:srgbClr val="5D6B80"/>
                </a:solidFill>
                <a:latin typeface="Aptos" panose="020B0004020202020204" pitchFamily="34" charset="0"/>
              </a:rPr>
              <a:t>REST / JSON</a:t>
            </a:r>
          </a:p>
        </p:txBody>
      </p:sp>
      <p:sp>
        <p:nvSpPr>
          <p:cNvPr id="33" name="TextBox 32">
            <a:extLst>
              <a:ext uri="{FF2B5EF4-FFF2-40B4-BE49-F238E27FC236}">
                <a16:creationId xmlns:a16="http://schemas.microsoft.com/office/drawing/2014/main" id="{3010BB41-9961-83BE-48EB-8D185CB8E31D}"/>
              </a:ext>
            </a:extLst>
          </p:cNvPr>
          <p:cNvSpPr txBox="1"/>
          <p:nvPr/>
        </p:nvSpPr>
        <p:spPr>
          <a:xfrm>
            <a:off x="609600" y="4991202"/>
            <a:ext cx="5774267" cy="1200329"/>
          </a:xfrm>
          <a:prstGeom prst="rect">
            <a:avLst/>
          </a:prstGeom>
          <a:noFill/>
        </p:spPr>
        <p:txBody>
          <a:bodyPr wrap="square" rtlCol="0">
            <a:spAutoFit/>
          </a:bodyPr>
          <a:lstStyle/>
          <a:p>
            <a:r>
              <a:rPr lang="en-US" dirty="0"/>
              <a:t>For example:</a:t>
            </a:r>
          </a:p>
          <a:p>
            <a:pPr marL="285750" lvl="0" indent="-285750">
              <a:buFont typeface="Arial" panose="020B0604020202020204" pitchFamily="34" charset="0"/>
              <a:buChar char="•"/>
            </a:pPr>
            <a:r>
              <a:rPr lang="en-US" dirty="0"/>
              <a:t>React requests jobs using  GET /</a:t>
            </a:r>
            <a:r>
              <a:rPr lang="en-US" dirty="0" err="1"/>
              <a:t>api</a:t>
            </a:r>
            <a:r>
              <a:rPr lang="en-US" dirty="0"/>
              <a:t>/jobs.</a:t>
            </a:r>
          </a:p>
          <a:p>
            <a:pPr marL="285750" lvl="0" indent="-285750">
              <a:buFont typeface="Arial" panose="020B0604020202020204" pitchFamily="34" charset="0"/>
              <a:buChar char="•"/>
            </a:pPr>
            <a:r>
              <a:rPr lang="en-US" dirty="0"/>
              <a:t>React submits profile data using  POST /</a:t>
            </a:r>
            <a:r>
              <a:rPr lang="en-US" dirty="0" err="1"/>
              <a:t>api</a:t>
            </a:r>
            <a:r>
              <a:rPr lang="en-US" dirty="0"/>
              <a:t>/profile.</a:t>
            </a:r>
          </a:p>
          <a:p>
            <a:endParaRPr lang="en-US" dirty="0"/>
          </a:p>
        </p:txBody>
      </p:sp>
    </p:spTree>
    <p:extLst>
      <p:ext uri="{BB962C8B-B14F-4D97-AF65-F5344CB8AC3E}">
        <p14:creationId xmlns:p14="http://schemas.microsoft.com/office/powerpoint/2010/main" val="3830530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AA2C2D-E83E-8A9C-F482-AB822583EC5F}"/>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CAED4DB-FCFA-C3E0-21B8-78F1E2B872FD}"/>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ENGINEERING DECISION 1</a:t>
            </a:r>
          </a:p>
        </p:txBody>
      </p:sp>
      <p:sp>
        <p:nvSpPr>
          <p:cNvPr id="4" name="TextBox 3">
            <a:extLst>
              <a:ext uri="{FF2B5EF4-FFF2-40B4-BE49-F238E27FC236}">
                <a16:creationId xmlns:a16="http://schemas.microsoft.com/office/drawing/2014/main" id="{B42AEC1E-E3F6-A809-0184-F8988561A910}"/>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Why deterministic scoring instead of machine learning?</a:t>
            </a:r>
          </a:p>
        </p:txBody>
      </p:sp>
      <p:cxnSp>
        <p:nvCxnSpPr>
          <p:cNvPr id="6" name="Straight Connector 5">
            <a:extLst>
              <a:ext uri="{FF2B5EF4-FFF2-40B4-BE49-F238E27FC236}">
                <a16:creationId xmlns:a16="http://schemas.microsoft.com/office/drawing/2014/main" id="{00620DA6-D15F-C2F3-9101-A7BE615CE536}"/>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9796C7C-DE2B-A7E1-00BA-F5EE47D69DEB}"/>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EE02205F-370D-7325-DCCA-FEDFCC64BBD7}"/>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06</a:t>
            </a:r>
          </a:p>
        </p:txBody>
      </p:sp>
      <p:sp>
        <p:nvSpPr>
          <p:cNvPr id="9" name="Rectangle: Rounded Corners 8">
            <a:extLst>
              <a:ext uri="{FF2B5EF4-FFF2-40B4-BE49-F238E27FC236}">
                <a16:creationId xmlns:a16="http://schemas.microsoft.com/office/drawing/2014/main" id="{EEE608A6-CD6F-84BC-C264-5BFF2B4DE83B}"/>
              </a:ext>
            </a:extLst>
          </p:cNvPr>
          <p:cNvSpPr/>
          <p:nvPr/>
        </p:nvSpPr>
        <p:spPr>
          <a:xfrm>
            <a:off x="609600" y="1841500"/>
            <a:ext cx="6350000" cy="4064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71EB82C4-511B-3002-76E3-27662E49D468}"/>
              </a:ext>
            </a:extLst>
          </p:cNvPr>
          <p:cNvSpPr/>
          <p:nvPr/>
        </p:nvSpPr>
        <p:spPr>
          <a:xfrm>
            <a:off x="939800" y="2146300"/>
            <a:ext cx="2222500" cy="304800"/>
          </a:xfrm>
          <a:prstGeom prst="round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D71F832-7CC8-183B-DB91-5547B3956FD9}"/>
              </a:ext>
            </a:extLst>
          </p:cNvPr>
          <p:cNvSpPr txBox="1"/>
          <p:nvPr/>
        </p:nvSpPr>
        <p:spPr>
          <a:xfrm>
            <a:off x="1041400" y="2209800"/>
            <a:ext cx="2019300" cy="138499"/>
          </a:xfrm>
          <a:prstGeom prst="rect">
            <a:avLst/>
          </a:prstGeom>
          <a:noFill/>
        </p:spPr>
        <p:txBody>
          <a:bodyPr vert="horz" wrap="square" lIns="0" tIns="0" rIns="0" bIns="0" rtlCol="0">
            <a:spAutoFit/>
          </a:bodyPr>
          <a:lstStyle/>
          <a:p>
            <a:pPr algn="ctr"/>
            <a:r>
              <a:rPr lang="en-US" sz="900" b="1">
                <a:solidFill>
                  <a:srgbClr val="FFFFFF"/>
                </a:solidFill>
                <a:latin typeface="Aptos" panose="020B0004020202020204" pitchFamily="34" charset="0"/>
              </a:rPr>
              <a:t>CHOSEN: VERSIONED RULES</a:t>
            </a:r>
          </a:p>
        </p:txBody>
      </p:sp>
      <p:sp>
        <p:nvSpPr>
          <p:cNvPr id="12" name="TextBox 11">
            <a:extLst>
              <a:ext uri="{FF2B5EF4-FFF2-40B4-BE49-F238E27FC236}">
                <a16:creationId xmlns:a16="http://schemas.microsoft.com/office/drawing/2014/main" id="{3419423E-B9EF-8DDB-7737-FD3FFE9CA445}"/>
              </a:ext>
            </a:extLst>
          </p:cNvPr>
          <p:cNvSpPr txBox="1"/>
          <p:nvPr/>
        </p:nvSpPr>
        <p:spPr>
          <a:xfrm>
            <a:off x="939800" y="2717800"/>
            <a:ext cx="2286000" cy="261610"/>
          </a:xfrm>
          <a:prstGeom prst="rect">
            <a:avLst/>
          </a:prstGeom>
          <a:noFill/>
        </p:spPr>
        <p:txBody>
          <a:bodyPr vert="horz" wrap="square" lIns="0" tIns="0" rIns="0" bIns="0" rtlCol="0">
            <a:spAutoFit/>
          </a:bodyPr>
          <a:lstStyle/>
          <a:p>
            <a:r>
              <a:rPr lang="en-US" sz="1700" b="1" dirty="0">
                <a:solidFill>
                  <a:srgbClr val="FFFFFF"/>
                </a:solidFill>
                <a:latin typeface="Aptos Display" panose="020B0004020202020204" pitchFamily="34" charset="0"/>
              </a:rPr>
              <a:t>Task score</a:t>
            </a:r>
          </a:p>
        </p:txBody>
      </p:sp>
      <p:sp>
        <p:nvSpPr>
          <p:cNvPr id="13" name="TextBox 12">
            <a:extLst>
              <a:ext uri="{FF2B5EF4-FFF2-40B4-BE49-F238E27FC236}">
                <a16:creationId xmlns:a16="http://schemas.microsoft.com/office/drawing/2014/main" id="{89CCF622-4892-A3F8-5CE0-2B236F1DAD9B}"/>
              </a:ext>
            </a:extLst>
          </p:cNvPr>
          <p:cNvSpPr txBox="1"/>
          <p:nvPr/>
        </p:nvSpPr>
        <p:spPr>
          <a:xfrm>
            <a:off x="939800" y="3124200"/>
            <a:ext cx="5334000" cy="200055"/>
          </a:xfrm>
          <a:prstGeom prst="rect">
            <a:avLst/>
          </a:prstGeom>
          <a:noFill/>
        </p:spPr>
        <p:txBody>
          <a:bodyPr vert="horz" wrap="square" lIns="0" tIns="0" rIns="0" bIns="0" rtlCol="0">
            <a:spAutoFit/>
          </a:bodyPr>
          <a:lstStyle/>
          <a:p>
            <a:r>
              <a:rPr lang="en-US" sz="1300" b="1" dirty="0">
                <a:latin typeface="Aptos" panose="020B0004020202020204" pitchFamily="34" charset="0"/>
              </a:rPr>
              <a:t>Sum(adjusted weight x feasibility factor) / Sum(adjusted weight) x 100</a:t>
            </a:r>
          </a:p>
        </p:txBody>
      </p:sp>
      <p:sp>
        <p:nvSpPr>
          <p:cNvPr id="14" name="TextBox 13">
            <a:extLst>
              <a:ext uri="{FF2B5EF4-FFF2-40B4-BE49-F238E27FC236}">
                <a16:creationId xmlns:a16="http://schemas.microsoft.com/office/drawing/2014/main" id="{F086F91B-FA01-F3B6-044A-31EAE450B59F}"/>
              </a:ext>
            </a:extLst>
          </p:cNvPr>
          <p:cNvSpPr txBox="1"/>
          <p:nvPr/>
        </p:nvSpPr>
        <p:spPr>
          <a:xfrm>
            <a:off x="939800" y="3911600"/>
            <a:ext cx="5334000" cy="646331"/>
          </a:xfrm>
          <a:prstGeom prst="rect">
            <a:avLst/>
          </a:prstGeom>
          <a:noFill/>
        </p:spPr>
        <p:txBody>
          <a:bodyPr vert="horz" wrap="square" lIns="0" tIns="0" rIns="0" bIns="0" rtlCol="0">
            <a:spAutoFit/>
          </a:bodyPr>
          <a:lstStyle/>
          <a:p>
            <a:r>
              <a:rPr lang="en-US" sz="1050" dirty="0">
                <a:latin typeface="Aptos" panose="020B0004020202020204" pitchFamily="34" charset="0"/>
              </a:rPr>
              <a:t>Feasibility factor: 1.00 feasible | 0.75 with offered support | 0.00 avoid
Highlighted task: weight x 1.5
Combined result: tasks + practical abilities (25%) + education (10%) when configured
Required education/ability and mandatory unsafe tasks remain explicit eligibility gates</a:t>
            </a:r>
          </a:p>
        </p:txBody>
      </p:sp>
      <p:sp>
        <p:nvSpPr>
          <p:cNvPr id="15" name="Rectangle: Rounded Corners 14">
            <a:extLst>
              <a:ext uri="{FF2B5EF4-FFF2-40B4-BE49-F238E27FC236}">
                <a16:creationId xmlns:a16="http://schemas.microsoft.com/office/drawing/2014/main" id="{0A955346-293D-E4BA-6064-8F4CE894ED88}"/>
              </a:ext>
            </a:extLst>
          </p:cNvPr>
          <p:cNvSpPr/>
          <p:nvPr/>
        </p:nvSpPr>
        <p:spPr>
          <a:xfrm>
            <a:off x="7493000" y="1841500"/>
            <a:ext cx="4089400" cy="4064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C68279B3-B74E-66AC-0C37-1675E78DA174}"/>
              </a:ext>
            </a:extLst>
          </p:cNvPr>
          <p:cNvSpPr txBox="1"/>
          <p:nvPr/>
        </p:nvSpPr>
        <p:spPr>
          <a:xfrm>
            <a:off x="7823200" y="2146300"/>
            <a:ext cx="3302000" cy="246221"/>
          </a:xfrm>
          <a:prstGeom prst="rect">
            <a:avLst/>
          </a:prstGeom>
          <a:noFill/>
        </p:spPr>
        <p:txBody>
          <a:bodyPr vert="horz" wrap="square" lIns="0" tIns="0" rIns="0" bIns="0" rtlCol="0">
            <a:spAutoFit/>
          </a:bodyPr>
          <a:lstStyle/>
          <a:p>
            <a:r>
              <a:rPr lang="en-US" sz="1600" b="1">
                <a:solidFill>
                  <a:srgbClr val="157A55"/>
                </a:solidFill>
                <a:latin typeface="Aptos Display" panose="020B0004020202020204" pitchFamily="34" charset="0"/>
              </a:rPr>
              <a:t>Deterministic rules</a:t>
            </a:r>
          </a:p>
        </p:txBody>
      </p:sp>
      <p:sp>
        <p:nvSpPr>
          <p:cNvPr id="17" name="TextBox 16">
            <a:extLst>
              <a:ext uri="{FF2B5EF4-FFF2-40B4-BE49-F238E27FC236}">
                <a16:creationId xmlns:a16="http://schemas.microsoft.com/office/drawing/2014/main" id="{D5D4ED22-EF3F-5082-0CB8-3CFAA8E080BA}"/>
              </a:ext>
            </a:extLst>
          </p:cNvPr>
          <p:cNvSpPr txBox="1"/>
          <p:nvPr/>
        </p:nvSpPr>
        <p:spPr>
          <a:xfrm>
            <a:off x="7823200" y="2603500"/>
            <a:ext cx="3302000" cy="646331"/>
          </a:xfrm>
          <a:prstGeom prst="rect">
            <a:avLst/>
          </a:prstGeom>
          <a:noFill/>
        </p:spPr>
        <p:txBody>
          <a:bodyPr vert="horz" wrap="square" lIns="0" tIns="0" rIns="0" bIns="0" rtlCol="0">
            <a:spAutoFit/>
          </a:bodyPr>
          <a:lstStyle/>
          <a:p>
            <a:r>
              <a:rPr lang="en-US" sz="1050">
                <a:solidFill>
                  <a:srgbClr val="17243A"/>
                </a:solidFill>
                <a:latin typeface="Aptos" panose="020B0004020202020204" pitchFamily="34" charset="0"/>
              </a:rPr>
              <a:t>+ Uses expert task assessments
+ Every factor is visible
+ Reproducible and auditable
+ Works with the current controlled dataset</a:t>
            </a:r>
          </a:p>
        </p:txBody>
      </p:sp>
      <p:cxnSp>
        <p:nvCxnSpPr>
          <p:cNvPr id="18" name="Straight Connector 17">
            <a:extLst>
              <a:ext uri="{FF2B5EF4-FFF2-40B4-BE49-F238E27FC236}">
                <a16:creationId xmlns:a16="http://schemas.microsoft.com/office/drawing/2014/main" id="{5943F1D1-27D8-3C43-C5AE-E32D268022B2}"/>
              </a:ext>
            </a:extLst>
          </p:cNvPr>
          <p:cNvCxnSpPr/>
          <p:nvPr/>
        </p:nvCxnSpPr>
        <p:spPr>
          <a:xfrm>
            <a:off x="7823200" y="3962400"/>
            <a:ext cx="33274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4F35381-DF63-68DD-525F-E2112C7106EA}"/>
              </a:ext>
            </a:extLst>
          </p:cNvPr>
          <p:cNvSpPr txBox="1"/>
          <p:nvPr/>
        </p:nvSpPr>
        <p:spPr>
          <a:xfrm>
            <a:off x="7823200" y="4191000"/>
            <a:ext cx="3302000" cy="246221"/>
          </a:xfrm>
          <a:prstGeom prst="rect">
            <a:avLst/>
          </a:prstGeom>
          <a:noFill/>
        </p:spPr>
        <p:txBody>
          <a:bodyPr vert="horz" wrap="square" lIns="0" tIns="0" rIns="0" bIns="0" rtlCol="0">
            <a:spAutoFit/>
          </a:bodyPr>
          <a:lstStyle/>
          <a:p>
            <a:r>
              <a:rPr lang="en-US" sz="1600" b="1">
                <a:solidFill>
                  <a:srgbClr val="563A4B"/>
                </a:solidFill>
                <a:latin typeface="Aptos Display" panose="020B0004020202020204" pitchFamily="34" charset="0"/>
              </a:rPr>
              <a:t>Machine learning now</a:t>
            </a:r>
          </a:p>
        </p:txBody>
      </p:sp>
      <p:sp>
        <p:nvSpPr>
          <p:cNvPr id="20" name="TextBox 19">
            <a:extLst>
              <a:ext uri="{FF2B5EF4-FFF2-40B4-BE49-F238E27FC236}">
                <a16:creationId xmlns:a16="http://schemas.microsoft.com/office/drawing/2014/main" id="{274B8944-2944-2298-C794-12144173AB7A}"/>
              </a:ext>
            </a:extLst>
          </p:cNvPr>
          <p:cNvSpPr txBox="1"/>
          <p:nvPr/>
        </p:nvSpPr>
        <p:spPr>
          <a:xfrm>
            <a:off x="7823200" y="4648200"/>
            <a:ext cx="3302000" cy="646331"/>
          </a:xfrm>
          <a:prstGeom prst="rect">
            <a:avLst/>
          </a:prstGeom>
          <a:noFill/>
        </p:spPr>
        <p:txBody>
          <a:bodyPr vert="horz" wrap="square" lIns="0" tIns="0" rIns="0" bIns="0" rtlCol="0">
            <a:spAutoFit/>
          </a:bodyPr>
          <a:lstStyle/>
          <a:p>
            <a:r>
              <a:rPr lang="en-US" sz="1050">
                <a:solidFill>
                  <a:srgbClr val="17243A"/>
                </a:solidFill>
                <a:latin typeface="Aptos" panose="020B0004020202020204" pitchFamily="34" charset="0"/>
              </a:rPr>
              <a:t>+ Needs representative labelled outcomes
+ May reproduce historical hiring bias
+ Harder to explain individual factors
+ No suitable training evidence currently exists</a:t>
            </a:r>
          </a:p>
        </p:txBody>
      </p:sp>
    </p:spTree>
    <p:extLst>
      <p:ext uri="{BB962C8B-B14F-4D97-AF65-F5344CB8AC3E}">
        <p14:creationId xmlns:p14="http://schemas.microsoft.com/office/powerpoint/2010/main" val="2379625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E0BA10-5195-1488-6295-A110087BD34D}"/>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64C8677-CFC2-AD07-A0B4-361DCA283AFE}"/>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ENGINEERING DECISION 2</a:t>
            </a:r>
          </a:p>
        </p:txBody>
      </p:sp>
      <p:sp>
        <p:nvSpPr>
          <p:cNvPr id="4" name="TextBox 3">
            <a:extLst>
              <a:ext uri="{FF2B5EF4-FFF2-40B4-BE49-F238E27FC236}">
                <a16:creationId xmlns:a16="http://schemas.microsoft.com/office/drawing/2014/main" id="{9016B08F-E514-D502-E858-64E857D56CC6}"/>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Why i18next with react-i18next?</a:t>
            </a:r>
          </a:p>
        </p:txBody>
      </p:sp>
      <p:cxnSp>
        <p:nvCxnSpPr>
          <p:cNvPr id="6" name="Straight Connector 5">
            <a:extLst>
              <a:ext uri="{FF2B5EF4-FFF2-40B4-BE49-F238E27FC236}">
                <a16:creationId xmlns:a16="http://schemas.microsoft.com/office/drawing/2014/main" id="{2D6DCC0E-2EA2-86DD-C66D-FDA73E6168E2}"/>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F581997-31BC-EE1B-D0EE-56632883D48C}"/>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CE04AC19-1FEB-5D21-75F9-7947574F9770}"/>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07</a:t>
            </a:r>
          </a:p>
        </p:txBody>
      </p:sp>
      <p:sp>
        <p:nvSpPr>
          <p:cNvPr id="9" name="Rectangle: Rounded Corners 8">
            <a:extLst>
              <a:ext uri="{FF2B5EF4-FFF2-40B4-BE49-F238E27FC236}">
                <a16:creationId xmlns:a16="http://schemas.microsoft.com/office/drawing/2014/main" id="{270B5B68-093F-6383-39EA-01D4375E3EEE}"/>
              </a:ext>
            </a:extLst>
          </p:cNvPr>
          <p:cNvSpPr/>
          <p:nvPr/>
        </p:nvSpPr>
        <p:spPr>
          <a:xfrm>
            <a:off x="609600" y="1905000"/>
            <a:ext cx="3429000" cy="3175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82EE1F6-C0EB-C9D3-7C17-92D53E6A3B68}"/>
              </a:ext>
            </a:extLst>
          </p:cNvPr>
          <p:cNvSpPr/>
          <p:nvPr/>
        </p:nvSpPr>
        <p:spPr>
          <a:xfrm>
            <a:off x="609600" y="4335791"/>
            <a:ext cx="3429000" cy="1016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ACE14F1-EFB7-F1DB-A491-150844AE677F}"/>
              </a:ext>
            </a:extLst>
          </p:cNvPr>
          <p:cNvSpPr txBox="1"/>
          <p:nvPr/>
        </p:nvSpPr>
        <p:spPr>
          <a:xfrm>
            <a:off x="889000" y="2260600"/>
            <a:ext cx="2857500" cy="261610"/>
          </a:xfrm>
          <a:prstGeom prst="rect">
            <a:avLst/>
          </a:prstGeom>
          <a:noFill/>
        </p:spPr>
        <p:txBody>
          <a:bodyPr vert="horz" wrap="square" lIns="0" tIns="0" rIns="0" bIns="0" rtlCol="0">
            <a:spAutoFit/>
          </a:bodyPr>
          <a:lstStyle/>
          <a:p>
            <a:r>
              <a:rPr lang="en-US" sz="1700" b="1">
                <a:solidFill>
                  <a:srgbClr val="0B1F49"/>
                </a:solidFill>
                <a:latin typeface="Aptos Display" panose="020B0004020202020204" pitchFamily="34" charset="0"/>
              </a:rPr>
              <a:t>Custom React context</a:t>
            </a:r>
          </a:p>
        </p:txBody>
      </p:sp>
      <p:sp>
        <p:nvSpPr>
          <p:cNvPr id="12" name="TextBox 11">
            <a:extLst>
              <a:ext uri="{FF2B5EF4-FFF2-40B4-BE49-F238E27FC236}">
                <a16:creationId xmlns:a16="http://schemas.microsoft.com/office/drawing/2014/main" id="{568DD56E-9AEB-295F-9D09-3167BFD91195}"/>
              </a:ext>
            </a:extLst>
          </p:cNvPr>
          <p:cNvSpPr txBox="1"/>
          <p:nvPr/>
        </p:nvSpPr>
        <p:spPr>
          <a:xfrm>
            <a:off x="889000" y="2819400"/>
            <a:ext cx="2857500" cy="130805"/>
          </a:xfrm>
          <a:prstGeom prst="rect">
            <a:avLst/>
          </a:prstGeom>
          <a:noFill/>
        </p:spPr>
        <p:txBody>
          <a:bodyPr vert="horz" wrap="square" lIns="0" tIns="0" rIns="0" bIns="0" rtlCol="0">
            <a:spAutoFit/>
          </a:bodyPr>
          <a:lstStyle/>
          <a:p>
            <a:r>
              <a:rPr lang="en-US" sz="850" b="1">
                <a:solidFill>
                  <a:srgbClr val="563A4B"/>
                </a:solidFill>
                <a:latin typeface="Aptos" panose="020B0004020202020204" pitchFamily="34" charset="0"/>
              </a:rPr>
              <a:t>NOT SELECTED</a:t>
            </a:r>
          </a:p>
        </p:txBody>
      </p:sp>
      <p:sp>
        <p:nvSpPr>
          <p:cNvPr id="13" name="TextBox 12">
            <a:extLst>
              <a:ext uri="{FF2B5EF4-FFF2-40B4-BE49-F238E27FC236}">
                <a16:creationId xmlns:a16="http://schemas.microsoft.com/office/drawing/2014/main" id="{BF099233-A476-E3A3-0F15-F2D70F8B0E98}"/>
              </a:ext>
            </a:extLst>
          </p:cNvPr>
          <p:cNvSpPr txBox="1"/>
          <p:nvPr/>
        </p:nvSpPr>
        <p:spPr>
          <a:xfrm>
            <a:off x="889000" y="3302000"/>
            <a:ext cx="2857500" cy="484748"/>
          </a:xfrm>
          <a:prstGeom prst="rect">
            <a:avLst/>
          </a:prstGeom>
          <a:noFill/>
        </p:spPr>
        <p:txBody>
          <a:bodyPr vert="horz" wrap="square" lIns="0" tIns="0" rIns="0" bIns="0" rtlCol="0">
            <a:spAutoFit/>
          </a:bodyPr>
          <a:lstStyle/>
          <a:p>
            <a:r>
              <a:rPr lang="en-US" sz="1050">
                <a:solidFill>
                  <a:srgbClr val="17243A"/>
                </a:solidFill>
                <a:latin typeface="Aptos" panose="020B0004020202020204" pitchFamily="34" charset="0"/>
              </a:rPr>
              <a:t>Few dependencies, but we would rebuild fallback, plural rules, namespaces, formatting, and missing-key checks.</a:t>
            </a:r>
          </a:p>
        </p:txBody>
      </p:sp>
      <p:sp>
        <p:nvSpPr>
          <p:cNvPr id="14" name="Rectangle: Rounded Corners 13">
            <a:extLst>
              <a:ext uri="{FF2B5EF4-FFF2-40B4-BE49-F238E27FC236}">
                <a16:creationId xmlns:a16="http://schemas.microsoft.com/office/drawing/2014/main" id="{012C7FFC-5CB1-3B5D-7FE3-A35A0C7CACB1}"/>
              </a:ext>
            </a:extLst>
          </p:cNvPr>
          <p:cNvSpPr/>
          <p:nvPr/>
        </p:nvSpPr>
        <p:spPr>
          <a:xfrm>
            <a:off x="4381500" y="1905000"/>
            <a:ext cx="3429000" cy="3175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EACFEAD-5038-C952-C6EB-27C32E57CB1A}"/>
              </a:ext>
            </a:extLst>
          </p:cNvPr>
          <p:cNvSpPr/>
          <p:nvPr/>
        </p:nvSpPr>
        <p:spPr>
          <a:xfrm>
            <a:off x="4381500" y="4335791"/>
            <a:ext cx="3429000" cy="1016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9B23208-6EF9-5CF6-196A-FBDE65139159}"/>
              </a:ext>
            </a:extLst>
          </p:cNvPr>
          <p:cNvSpPr txBox="1"/>
          <p:nvPr/>
        </p:nvSpPr>
        <p:spPr>
          <a:xfrm>
            <a:off x="4660900" y="2260600"/>
            <a:ext cx="2857500" cy="261610"/>
          </a:xfrm>
          <a:prstGeom prst="rect">
            <a:avLst/>
          </a:prstGeom>
          <a:noFill/>
        </p:spPr>
        <p:txBody>
          <a:bodyPr vert="horz" wrap="square" lIns="0" tIns="0" rIns="0" bIns="0" rtlCol="0">
            <a:spAutoFit/>
          </a:bodyPr>
          <a:lstStyle/>
          <a:p>
            <a:r>
              <a:rPr lang="en-US" sz="1700" b="1">
                <a:solidFill>
                  <a:srgbClr val="0B1F49"/>
                </a:solidFill>
                <a:latin typeface="Aptos Display" panose="020B0004020202020204" pitchFamily="34" charset="0"/>
              </a:rPr>
              <a:t>Duplicated pages</a:t>
            </a:r>
          </a:p>
        </p:txBody>
      </p:sp>
      <p:sp>
        <p:nvSpPr>
          <p:cNvPr id="17" name="TextBox 16">
            <a:extLst>
              <a:ext uri="{FF2B5EF4-FFF2-40B4-BE49-F238E27FC236}">
                <a16:creationId xmlns:a16="http://schemas.microsoft.com/office/drawing/2014/main" id="{0DD8A6CF-7BB9-C006-684E-64595BD1A9BF}"/>
              </a:ext>
            </a:extLst>
          </p:cNvPr>
          <p:cNvSpPr txBox="1"/>
          <p:nvPr/>
        </p:nvSpPr>
        <p:spPr>
          <a:xfrm>
            <a:off x="4660900" y="2819400"/>
            <a:ext cx="2857500" cy="130805"/>
          </a:xfrm>
          <a:prstGeom prst="rect">
            <a:avLst/>
          </a:prstGeom>
          <a:noFill/>
        </p:spPr>
        <p:txBody>
          <a:bodyPr vert="horz" wrap="square" lIns="0" tIns="0" rIns="0" bIns="0" rtlCol="0">
            <a:spAutoFit/>
          </a:bodyPr>
          <a:lstStyle/>
          <a:p>
            <a:r>
              <a:rPr lang="en-US" sz="850" b="1">
                <a:solidFill>
                  <a:srgbClr val="C27A19"/>
                </a:solidFill>
                <a:latin typeface="Aptos" panose="020B0004020202020204" pitchFamily="34" charset="0"/>
              </a:rPr>
              <a:t>NOT SELECTED</a:t>
            </a:r>
          </a:p>
        </p:txBody>
      </p:sp>
      <p:sp>
        <p:nvSpPr>
          <p:cNvPr id="18" name="TextBox 17">
            <a:extLst>
              <a:ext uri="{FF2B5EF4-FFF2-40B4-BE49-F238E27FC236}">
                <a16:creationId xmlns:a16="http://schemas.microsoft.com/office/drawing/2014/main" id="{D68C7AD1-6E53-353F-D255-A7D0D0EA2032}"/>
              </a:ext>
            </a:extLst>
          </p:cNvPr>
          <p:cNvSpPr txBox="1"/>
          <p:nvPr/>
        </p:nvSpPr>
        <p:spPr>
          <a:xfrm>
            <a:off x="4660900" y="3302000"/>
            <a:ext cx="2857500" cy="484748"/>
          </a:xfrm>
          <a:prstGeom prst="rect">
            <a:avLst/>
          </a:prstGeom>
          <a:noFill/>
        </p:spPr>
        <p:txBody>
          <a:bodyPr vert="horz" wrap="square" lIns="0" tIns="0" rIns="0" bIns="0" rtlCol="0">
            <a:spAutoFit/>
          </a:bodyPr>
          <a:lstStyle/>
          <a:p>
            <a:r>
              <a:rPr lang="en-US" sz="1050">
                <a:solidFill>
                  <a:srgbClr val="17243A"/>
                </a:solidFill>
                <a:latin typeface="Aptos" panose="020B0004020202020204" pitchFamily="34" charset="0"/>
              </a:rPr>
              <a:t>Simple for one screen, but triples maintenance, creates translation drift, and complicates routing and testing.</a:t>
            </a:r>
          </a:p>
        </p:txBody>
      </p:sp>
      <p:sp>
        <p:nvSpPr>
          <p:cNvPr id="19" name="Rectangle: Rounded Corners 18">
            <a:extLst>
              <a:ext uri="{FF2B5EF4-FFF2-40B4-BE49-F238E27FC236}">
                <a16:creationId xmlns:a16="http://schemas.microsoft.com/office/drawing/2014/main" id="{FB5678CA-ECC1-D036-2ADF-3D05FC801261}"/>
              </a:ext>
            </a:extLst>
          </p:cNvPr>
          <p:cNvSpPr/>
          <p:nvPr/>
        </p:nvSpPr>
        <p:spPr>
          <a:xfrm>
            <a:off x="8153400" y="1905000"/>
            <a:ext cx="3429000" cy="3175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3B5DC2-F323-01F6-B82D-5D223E4FC258}"/>
              </a:ext>
            </a:extLst>
          </p:cNvPr>
          <p:cNvSpPr/>
          <p:nvPr/>
        </p:nvSpPr>
        <p:spPr>
          <a:xfrm>
            <a:off x="8153400" y="4335791"/>
            <a:ext cx="3429000" cy="1016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8EC489D-F8A1-3966-6B11-E895E2F3D978}"/>
              </a:ext>
            </a:extLst>
          </p:cNvPr>
          <p:cNvSpPr txBox="1"/>
          <p:nvPr/>
        </p:nvSpPr>
        <p:spPr>
          <a:xfrm>
            <a:off x="8432800" y="2260600"/>
            <a:ext cx="2857500" cy="261610"/>
          </a:xfrm>
          <a:prstGeom prst="rect">
            <a:avLst/>
          </a:prstGeom>
          <a:noFill/>
        </p:spPr>
        <p:txBody>
          <a:bodyPr vert="horz" wrap="square" lIns="0" tIns="0" rIns="0" bIns="0" rtlCol="0">
            <a:spAutoFit/>
          </a:bodyPr>
          <a:lstStyle/>
          <a:p>
            <a:r>
              <a:rPr lang="en-US" sz="1700" b="1">
                <a:solidFill>
                  <a:srgbClr val="0B1F49"/>
                </a:solidFill>
                <a:latin typeface="Aptos Display" panose="020B0004020202020204" pitchFamily="34" charset="0"/>
              </a:rPr>
              <a:t>i18next + React</a:t>
            </a:r>
          </a:p>
        </p:txBody>
      </p:sp>
      <p:sp>
        <p:nvSpPr>
          <p:cNvPr id="22" name="TextBox 21">
            <a:extLst>
              <a:ext uri="{FF2B5EF4-FFF2-40B4-BE49-F238E27FC236}">
                <a16:creationId xmlns:a16="http://schemas.microsoft.com/office/drawing/2014/main" id="{8F73EA35-CC47-164D-D9FB-8323C7D92F1B}"/>
              </a:ext>
            </a:extLst>
          </p:cNvPr>
          <p:cNvSpPr txBox="1"/>
          <p:nvPr/>
        </p:nvSpPr>
        <p:spPr>
          <a:xfrm>
            <a:off x="8432800" y="2819400"/>
            <a:ext cx="2857500" cy="130805"/>
          </a:xfrm>
          <a:prstGeom prst="rect">
            <a:avLst/>
          </a:prstGeom>
          <a:noFill/>
        </p:spPr>
        <p:txBody>
          <a:bodyPr vert="horz" wrap="square" lIns="0" tIns="0" rIns="0" bIns="0" rtlCol="0">
            <a:spAutoFit/>
          </a:bodyPr>
          <a:lstStyle/>
          <a:p>
            <a:r>
              <a:rPr lang="en-US" sz="850" b="1">
                <a:solidFill>
                  <a:srgbClr val="157A55"/>
                </a:solidFill>
                <a:latin typeface="Aptos" panose="020B0004020202020204" pitchFamily="34" charset="0"/>
              </a:rPr>
              <a:t>SELECTED</a:t>
            </a:r>
          </a:p>
        </p:txBody>
      </p:sp>
      <p:sp>
        <p:nvSpPr>
          <p:cNvPr id="23" name="TextBox 22">
            <a:extLst>
              <a:ext uri="{FF2B5EF4-FFF2-40B4-BE49-F238E27FC236}">
                <a16:creationId xmlns:a16="http://schemas.microsoft.com/office/drawing/2014/main" id="{EAA02E0F-11B8-6B0D-B983-9F7D3253B1BD}"/>
              </a:ext>
            </a:extLst>
          </p:cNvPr>
          <p:cNvSpPr txBox="1"/>
          <p:nvPr/>
        </p:nvSpPr>
        <p:spPr>
          <a:xfrm>
            <a:off x="8432800" y="3302000"/>
            <a:ext cx="2857500" cy="484748"/>
          </a:xfrm>
          <a:prstGeom prst="rect">
            <a:avLst/>
          </a:prstGeom>
          <a:noFill/>
        </p:spPr>
        <p:txBody>
          <a:bodyPr vert="horz" wrap="square" lIns="0" tIns="0" rIns="0" bIns="0" rtlCol="0">
            <a:spAutoFit/>
          </a:bodyPr>
          <a:lstStyle/>
          <a:p>
            <a:r>
              <a:rPr lang="en-US" sz="1050">
                <a:solidFill>
                  <a:srgbClr val="17243A"/>
                </a:solidFill>
                <a:latin typeface="Aptos" panose="020B0004020202020204" pitchFamily="34" charset="0"/>
              </a:rPr>
              <a:t>Runtime switching, namespaces, fallback, interpolation, plural rules, React hooks, and gradual route migration.</a:t>
            </a:r>
          </a:p>
        </p:txBody>
      </p:sp>
      <p:sp>
        <p:nvSpPr>
          <p:cNvPr id="24" name="Rectangle: Rounded Corners 23">
            <a:extLst>
              <a:ext uri="{FF2B5EF4-FFF2-40B4-BE49-F238E27FC236}">
                <a16:creationId xmlns:a16="http://schemas.microsoft.com/office/drawing/2014/main" id="{A5F7C64E-E5B0-7B2B-AEEB-C8B590D83B6E}"/>
              </a:ext>
            </a:extLst>
          </p:cNvPr>
          <p:cNvSpPr/>
          <p:nvPr/>
        </p:nvSpPr>
        <p:spPr>
          <a:xfrm>
            <a:off x="1524000" y="5397500"/>
            <a:ext cx="9144000" cy="6096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801C4EC-8597-A553-CA0F-2AAED9E6CF6A}"/>
              </a:ext>
            </a:extLst>
          </p:cNvPr>
          <p:cNvSpPr txBox="1"/>
          <p:nvPr/>
        </p:nvSpPr>
        <p:spPr>
          <a:xfrm>
            <a:off x="1841500" y="5588000"/>
            <a:ext cx="8509000" cy="169277"/>
          </a:xfrm>
          <a:prstGeom prst="rect">
            <a:avLst/>
          </a:prstGeom>
          <a:noFill/>
        </p:spPr>
        <p:txBody>
          <a:bodyPr vert="horz" wrap="square" lIns="0" tIns="0" rIns="0" bIns="0" rtlCol="0">
            <a:spAutoFit/>
          </a:bodyPr>
          <a:lstStyle/>
          <a:p>
            <a:pPr algn="ctr"/>
            <a:r>
              <a:rPr lang="en-US" sz="1100" b="1">
                <a:solidFill>
                  <a:srgbClr val="FFFFFF"/>
                </a:solidFill>
                <a:latin typeface="Aptos" panose="020B0004020202020204" pitchFamily="34" charset="0"/>
              </a:rPr>
              <a:t>Implemented: 3 locales x 7 namespaces | Arabic RTL | English fallback | stable codes/IDs | locale parity tests</a:t>
            </a:r>
          </a:p>
        </p:txBody>
      </p:sp>
    </p:spTree>
    <p:extLst>
      <p:ext uri="{BB962C8B-B14F-4D97-AF65-F5344CB8AC3E}">
        <p14:creationId xmlns:p14="http://schemas.microsoft.com/office/powerpoint/2010/main" val="1684203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307753-9A89-D6A8-58BB-260410062859}"/>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E4B4C45-DB04-287C-17ED-1FD333E902DD}"/>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ENGINEERING DECISION 3</a:t>
            </a:r>
          </a:p>
        </p:txBody>
      </p:sp>
      <p:sp>
        <p:nvSpPr>
          <p:cNvPr id="4" name="TextBox 3">
            <a:extLst>
              <a:ext uri="{FF2B5EF4-FFF2-40B4-BE49-F238E27FC236}">
                <a16:creationId xmlns:a16="http://schemas.microsoft.com/office/drawing/2014/main" id="{20F7BB97-361B-D16B-57EA-9A59A794A594}"/>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dirty="0">
                <a:solidFill>
                  <a:srgbClr val="0B1F49"/>
                </a:solidFill>
                <a:latin typeface="Aptos Display" panose="020B0004020202020204" pitchFamily="34" charset="0"/>
              </a:rPr>
              <a:t>Why cloud Whisper-1 and OpenAI services?</a:t>
            </a:r>
          </a:p>
        </p:txBody>
      </p:sp>
      <p:cxnSp>
        <p:nvCxnSpPr>
          <p:cNvPr id="6" name="Straight Connector 5">
            <a:extLst>
              <a:ext uri="{FF2B5EF4-FFF2-40B4-BE49-F238E27FC236}">
                <a16:creationId xmlns:a16="http://schemas.microsoft.com/office/drawing/2014/main" id="{FF0B1B6E-AC29-D69B-C299-6209C7370D44}"/>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AAB840A-910F-BB68-1873-CC450D126EF9}"/>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2F78D870-18FD-1262-0057-362D49C708D9}"/>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08</a:t>
            </a:r>
          </a:p>
        </p:txBody>
      </p:sp>
      <p:sp>
        <p:nvSpPr>
          <p:cNvPr id="9" name="Rectangle: Rounded Corners 8">
            <a:extLst>
              <a:ext uri="{FF2B5EF4-FFF2-40B4-BE49-F238E27FC236}">
                <a16:creationId xmlns:a16="http://schemas.microsoft.com/office/drawing/2014/main" id="{3CDB6C65-295E-706C-86B3-2802E69F1FC3}"/>
              </a:ext>
            </a:extLst>
          </p:cNvPr>
          <p:cNvSpPr/>
          <p:nvPr/>
        </p:nvSpPr>
        <p:spPr>
          <a:xfrm>
            <a:off x="609600" y="1841500"/>
            <a:ext cx="3429000" cy="2413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B29F75E-C8E0-3857-133E-85E3358E7748}"/>
              </a:ext>
            </a:extLst>
          </p:cNvPr>
          <p:cNvSpPr/>
          <p:nvPr/>
        </p:nvSpPr>
        <p:spPr>
          <a:xfrm>
            <a:off x="603250" y="3706810"/>
            <a:ext cx="3429000" cy="1016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5D9B172-B280-7DDB-B754-CAF4E80997C0}"/>
              </a:ext>
            </a:extLst>
          </p:cNvPr>
          <p:cNvSpPr txBox="1"/>
          <p:nvPr/>
        </p:nvSpPr>
        <p:spPr>
          <a:xfrm>
            <a:off x="889000" y="2146300"/>
            <a:ext cx="2857500" cy="246221"/>
          </a:xfrm>
          <a:prstGeom prst="rect">
            <a:avLst/>
          </a:prstGeom>
          <a:noFill/>
        </p:spPr>
        <p:txBody>
          <a:bodyPr vert="horz" wrap="square" lIns="0" tIns="0" rIns="0" bIns="0" rtlCol="0">
            <a:spAutoFit/>
          </a:bodyPr>
          <a:lstStyle/>
          <a:p>
            <a:r>
              <a:rPr lang="en-US" sz="1600" b="1">
                <a:solidFill>
                  <a:srgbClr val="0B1F49"/>
                </a:solidFill>
                <a:latin typeface="Aptos Display" panose="020B0004020202020204" pitchFamily="34" charset="0"/>
              </a:rPr>
              <a:t>Browser speech API</a:t>
            </a:r>
          </a:p>
        </p:txBody>
      </p:sp>
      <p:sp>
        <p:nvSpPr>
          <p:cNvPr id="12" name="TextBox 11">
            <a:extLst>
              <a:ext uri="{FF2B5EF4-FFF2-40B4-BE49-F238E27FC236}">
                <a16:creationId xmlns:a16="http://schemas.microsoft.com/office/drawing/2014/main" id="{22308BDC-35AA-781C-41D8-BF7E8422D7D8}"/>
              </a:ext>
            </a:extLst>
          </p:cNvPr>
          <p:cNvSpPr txBox="1"/>
          <p:nvPr/>
        </p:nvSpPr>
        <p:spPr>
          <a:xfrm>
            <a:off x="889000" y="2641600"/>
            <a:ext cx="2857500" cy="130805"/>
          </a:xfrm>
          <a:prstGeom prst="rect">
            <a:avLst/>
          </a:prstGeom>
          <a:noFill/>
        </p:spPr>
        <p:txBody>
          <a:bodyPr vert="horz" wrap="square" lIns="0" tIns="0" rIns="0" bIns="0" rtlCol="0">
            <a:spAutoFit/>
          </a:bodyPr>
          <a:lstStyle/>
          <a:p>
            <a:r>
              <a:rPr lang="en-US" sz="850" b="1">
                <a:solidFill>
                  <a:srgbClr val="C27A19"/>
                </a:solidFill>
                <a:latin typeface="Aptos" panose="020B0004020202020204" pitchFamily="34" charset="0"/>
              </a:rPr>
              <a:t>REJECTED</a:t>
            </a:r>
          </a:p>
        </p:txBody>
      </p:sp>
      <p:sp>
        <p:nvSpPr>
          <p:cNvPr id="13" name="TextBox 12">
            <a:extLst>
              <a:ext uri="{FF2B5EF4-FFF2-40B4-BE49-F238E27FC236}">
                <a16:creationId xmlns:a16="http://schemas.microsoft.com/office/drawing/2014/main" id="{A26227B3-05EB-DC54-C18F-0FDA7DA2ADA6}"/>
              </a:ext>
            </a:extLst>
          </p:cNvPr>
          <p:cNvSpPr txBox="1"/>
          <p:nvPr/>
        </p:nvSpPr>
        <p:spPr>
          <a:xfrm>
            <a:off x="889000" y="3060700"/>
            <a:ext cx="2857500" cy="301621"/>
          </a:xfrm>
          <a:prstGeom prst="rect">
            <a:avLst/>
          </a:prstGeom>
          <a:noFill/>
        </p:spPr>
        <p:txBody>
          <a:bodyPr vert="horz" wrap="square" lIns="0" tIns="0" rIns="0" bIns="0" rtlCol="0">
            <a:spAutoFit/>
          </a:bodyPr>
          <a:lstStyle/>
          <a:p>
            <a:r>
              <a:rPr lang="en-US" sz="980">
                <a:solidFill>
                  <a:srgbClr val="17243A"/>
                </a:solidFill>
                <a:latin typeface="Aptos" panose="020B0004020202020204" pitchFamily="34" charset="0"/>
              </a:rPr>
              <a:t>Low backend work, but browser support, language quality, behavior, and availability vary by device.</a:t>
            </a:r>
          </a:p>
        </p:txBody>
      </p:sp>
      <p:sp>
        <p:nvSpPr>
          <p:cNvPr id="14" name="Rectangle: Rounded Corners 13">
            <a:extLst>
              <a:ext uri="{FF2B5EF4-FFF2-40B4-BE49-F238E27FC236}">
                <a16:creationId xmlns:a16="http://schemas.microsoft.com/office/drawing/2014/main" id="{7AA8782B-E468-9C80-D3FF-8BC806D20BC4}"/>
              </a:ext>
            </a:extLst>
          </p:cNvPr>
          <p:cNvSpPr/>
          <p:nvPr/>
        </p:nvSpPr>
        <p:spPr>
          <a:xfrm>
            <a:off x="4381500" y="1841500"/>
            <a:ext cx="3429000" cy="2413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1DE69AD-8DE2-A516-D9C0-3C5DA379C84B}"/>
              </a:ext>
            </a:extLst>
          </p:cNvPr>
          <p:cNvSpPr/>
          <p:nvPr/>
        </p:nvSpPr>
        <p:spPr>
          <a:xfrm>
            <a:off x="4381500" y="3706810"/>
            <a:ext cx="3429000" cy="1016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C7A533E-BCEA-9479-63FF-EB97D6A8FD63}"/>
              </a:ext>
            </a:extLst>
          </p:cNvPr>
          <p:cNvSpPr txBox="1"/>
          <p:nvPr/>
        </p:nvSpPr>
        <p:spPr>
          <a:xfrm>
            <a:off x="4660900" y="2146300"/>
            <a:ext cx="2857500" cy="246221"/>
          </a:xfrm>
          <a:prstGeom prst="rect">
            <a:avLst/>
          </a:prstGeom>
          <a:noFill/>
        </p:spPr>
        <p:txBody>
          <a:bodyPr vert="horz" wrap="square" lIns="0" tIns="0" rIns="0" bIns="0" rtlCol="0">
            <a:spAutoFit/>
          </a:bodyPr>
          <a:lstStyle/>
          <a:p>
            <a:r>
              <a:rPr lang="en-US" sz="1600" b="1">
                <a:solidFill>
                  <a:srgbClr val="0B1F49"/>
                </a:solidFill>
                <a:latin typeface="Aptos Display" panose="020B0004020202020204" pitchFamily="34" charset="0"/>
              </a:rPr>
              <a:t>Self-hosted Whisper</a:t>
            </a:r>
          </a:p>
        </p:txBody>
      </p:sp>
      <p:sp>
        <p:nvSpPr>
          <p:cNvPr id="17" name="TextBox 16">
            <a:extLst>
              <a:ext uri="{FF2B5EF4-FFF2-40B4-BE49-F238E27FC236}">
                <a16:creationId xmlns:a16="http://schemas.microsoft.com/office/drawing/2014/main" id="{151A3FCC-ECA8-12BA-9D91-BA5451A11537}"/>
              </a:ext>
            </a:extLst>
          </p:cNvPr>
          <p:cNvSpPr txBox="1"/>
          <p:nvPr/>
        </p:nvSpPr>
        <p:spPr>
          <a:xfrm>
            <a:off x="4660900" y="2641600"/>
            <a:ext cx="2857500" cy="130805"/>
          </a:xfrm>
          <a:prstGeom prst="rect">
            <a:avLst/>
          </a:prstGeom>
          <a:noFill/>
        </p:spPr>
        <p:txBody>
          <a:bodyPr vert="horz" wrap="square" lIns="0" tIns="0" rIns="0" bIns="0" rtlCol="0">
            <a:spAutoFit/>
          </a:bodyPr>
          <a:lstStyle/>
          <a:p>
            <a:r>
              <a:rPr lang="en-US" sz="850" b="1">
                <a:solidFill>
                  <a:srgbClr val="563A4B"/>
                </a:solidFill>
                <a:latin typeface="Aptos" panose="020B0004020202020204" pitchFamily="34" charset="0"/>
              </a:rPr>
              <a:t>DEFERRED</a:t>
            </a:r>
          </a:p>
        </p:txBody>
      </p:sp>
      <p:sp>
        <p:nvSpPr>
          <p:cNvPr id="18" name="TextBox 17">
            <a:extLst>
              <a:ext uri="{FF2B5EF4-FFF2-40B4-BE49-F238E27FC236}">
                <a16:creationId xmlns:a16="http://schemas.microsoft.com/office/drawing/2014/main" id="{A0065CB1-DC04-DB19-9534-E2F2225CE4B5}"/>
              </a:ext>
            </a:extLst>
          </p:cNvPr>
          <p:cNvSpPr txBox="1"/>
          <p:nvPr/>
        </p:nvSpPr>
        <p:spPr>
          <a:xfrm>
            <a:off x="4660900" y="3060700"/>
            <a:ext cx="2857500" cy="452432"/>
          </a:xfrm>
          <a:prstGeom prst="rect">
            <a:avLst/>
          </a:prstGeom>
          <a:noFill/>
        </p:spPr>
        <p:txBody>
          <a:bodyPr vert="horz" wrap="square" lIns="0" tIns="0" rIns="0" bIns="0" rtlCol="0">
            <a:spAutoFit/>
          </a:bodyPr>
          <a:lstStyle/>
          <a:p>
            <a:r>
              <a:rPr lang="en-US" sz="980">
                <a:solidFill>
                  <a:srgbClr val="17243A"/>
                </a:solidFill>
                <a:latin typeface="Aptos" panose="020B0004020202020204" pitchFamily="34" charset="0"/>
              </a:rPr>
              <a:t>More infrastructure control and offline potential, but requires CPU/GPU capacity, model operations, updates, and load testing.</a:t>
            </a:r>
          </a:p>
        </p:txBody>
      </p:sp>
      <p:sp>
        <p:nvSpPr>
          <p:cNvPr id="19" name="Rectangle: Rounded Corners 18">
            <a:extLst>
              <a:ext uri="{FF2B5EF4-FFF2-40B4-BE49-F238E27FC236}">
                <a16:creationId xmlns:a16="http://schemas.microsoft.com/office/drawing/2014/main" id="{37B0A274-4EC3-9F5C-AA42-56CB54A12CDD}"/>
              </a:ext>
            </a:extLst>
          </p:cNvPr>
          <p:cNvSpPr/>
          <p:nvPr/>
        </p:nvSpPr>
        <p:spPr>
          <a:xfrm>
            <a:off x="8153400" y="1841500"/>
            <a:ext cx="3429000" cy="2413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FC8C6C3-98BB-23AB-221F-3841FAA432D1}"/>
              </a:ext>
            </a:extLst>
          </p:cNvPr>
          <p:cNvSpPr/>
          <p:nvPr/>
        </p:nvSpPr>
        <p:spPr>
          <a:xfrm>
            <a:off x="8147050" y="3706810"/>
            <a:ext cx="3429000" cy="1016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AB1BE59-294F-C204-7FD2-3BF1DC59BDB4}"/>
              </a:ext>
            </a:extLst>
          </p:cNvPr>
          <p:cNvSpPr txBox="1"/>
          <p:nvPr/>
        </p:nvSpPr>
        <p:spPr>
          <a:xfrm>
            <a:off x="8432800" y="2146300"/>
            <a:ext cx="2857500" cy="246221"/>
          </a:xfrm>
          <a:prstGeom prst="rect">
            <a:avLst/>
          </a:prstGeom>
          <a:noFill/>
        </p:spPr>
        <p:txBody>
          <a:bodyPr vert="horz" wrap="square" lIns="0" tIns="0" rIns="0" bIns="0" rtlCol="0">
            <a:spAutoFit/>
          </a:bodyPr>
          <a:lstStyle/>
          <a:p>
            <a:r>
              <a:rPr lang="en-US" sz="1600" b="1">
                <a:solidFill>
                  <a:srgbClr val="0B1F49"/>
                </a:solidFill>
                <a:latin typeface="Aptos Display" panose="020B0004020202020204" pitchFamily="34" charset="0"/>
              </a:rPr>
              <a:t>OpenAI whisper-1</a:t>
            </a:r>
          </a:p>
        </p:txBody>
      </p:sp>
      <p:sp>
        <p:nvSpPr>
          <p:cNvPr id="22" name="TextBox 21">
            <a:extLst>
              <a:ext uri="{FF2B5EF4-FFF2-40B4-BE49-F238E27FC236}">
                <a16:creationId xmlns:a16="http://schemas.microsoft.com/office/drawing/2014/main" id="{8BBA6664-2BB3-CBAA-1B0A-374D809600DA}"/>
              </a:ext>
            </a:extLst>
          </p:cNvPr>
          <p:cNvSpPr txBox="1"/>
          <p:nvPr/>
        </p:nvSpPr>
        <p:spPr>
          <a:xfrm>
            <a:off x="8432800" y="2641600"/>
            <a:ext cx="2857500" cy="130805"/>
          </a:xfrm>
          <a:prstGeom prst="rect">
            <a:avLst/>
          </a:prstGeom>
          <a:noFill/>
        </p:spPr>
        <p:txBody>
          <a:bodyPr vert="horz" wrap="square" lIns="0" tIns="0" rIns="0" bIns="0" rtlCol="0">
            <a:spAutoFit/>
          </a:bodyPr>
          <a:lstStyle/>
          <a:p>
            <a:r>
              <a:rPr lang="en-US" sz="850" b="1">
                <a:solidFill>
                  <a:srgbClr val="157A55"/>
                </a:solidFill>
                <a:latin typeface="Aptos" panose="020B0004020202020204" pitchFamily="34" charset="0"/>
              </a:rPr>
              <a:t>SELECTED NOW</a:t>
            </a:r>
          </a:p>
        </p:txBody>
      </p:sp>
      <p:sp>
        <p:nvSpPr>
          <p:cNvPr id="23" name="TextBox 22">
            <a:extLst>
              <a:ext uri="{FF2B5EF4-FFF2-40B4-BE49-F238E27FC236}">
                <a16:creationId xmlns:a16="http://schemas.microsoft.com/office/drawing/2014/main" id="{DABE8F1F-3622-6DAC-CD7B-AD721938F50C}"/>
              </a:ext>
            </a:extLst>
          </p:cNvPr>
          <p:cNvSpPr txBox="1"/>
          <p:nvPr/>
        </p:nvSpPr>
        <p:spPr>
          <a:xfrm>
            <a:off x="8432800" y="3060700"/>
            <a:ext cx="2857500" cy="452432"/>
          </a:xfrm>
          <a:prstGeom prst="rect">
            <a:avLst/>
          </a:prstGeom>
          <a:noFill/>
        </p:spPr>
        <p:txBody>
          <a:bodyPr vert="horz" wrap="square" lIns="0" tIns="0" rIns="0" bIns="0" rtlCol="0">
            <a:spAutoFit/>
          </a:bodyPr>
          <a:lstStyle/>
          <a:p>
            <a:r>
              <a:rPr lang="en-US" sz="980">
                <a:solidFill>
                  <a:srgbClr val="17243A"/>
                </a:solidFill>
                <a:latin typeface="Aptos" panose="020B0004020202020204" pitchFamily="34" charset="0"/>
              </a:rPr>
              <a:t>Multilingual transcription, consistent API, no model hosting, and a replaceable service boundary. Trade-offs: network, cost, and latency.</a:t>
            </a:r>
          </a:p>
        </p:txBody>
      </p:sp>
      <p:sp>
        <p:nvSpPr>
          <p:cNvPr id="24" name="Rectangle: Rounded Corners 23">
            <a:extLst>
              <a:ext uri="{FF2B5EF4-FFF2-40B4-BE49-F238E27FC236}">
                <a16:creationId xmlns:a16="http://schemas.microsoft.com/office/drawing/2014/main" id="{0BEADFC6-139A-AA18-4B87-AEEF0FAB2EE7}"/>
              </a:ext>
            </a:extLst>
          </p:cNvPr>
          <p:cNvSpPr/>
          <p:nvPr/>
        </p:nvSpPr>
        <p:spPr>
          <a:xfrm>
            <a:off x="609600" y="4572000"/>
            <a:ext cx="10972800" cy="1206500"/>
          </a:xfrm>
          <a:prstGeom prst="roundRect">
            <a:avLst/>
          </a:prstGeom>
          <a:solidFill>
            <a:schemeClr val="bg1"/>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5" name="TextBox 24">
            <a:extLst>
              <a:ext uri="{FF2B5EF4-FFF2-40B4-BE49-F238E27FC236}">
                <a16:creationId xmlns:a16="http://schemas.microsoft.com/office/drawing/2014/main" id="{4F942D51-67DA-F144-5512-375C76DCB8C5}"/>
              </a:ext>
            </a:extLst>
          </p:cNvPr>
          <p:cNvSpPr txBox="1"/>
          <p:nvPr/>
        </p:nvSpPr>
        <p:spPr>
          <a:xfrm>
            <a:off x="914400" y="4800600"/>
            <a:ext cx="2286000" cy="169277"/>
          </a:xfrm>
          <a:prstGeom prst="rect">
            <a:avLst/>
          </a:prstGeom>
          <a:noFill/>
        </p:spPr>
        <p:txBody>
          <a:bodyPr vert="horz" wrap="square" lIns="0" tIns="0" rIns="0" bIns="0" rtlCol="0">
            <a:spAutoFit/>
          </a:bodyPr>
          <a:lstStyle/>
          <a:p>
            <a:r>
              <a:rPr lang="en-US" sz="1100" b="1" dirty="0">
                <a:latin typeface="Aptos" panose="020B0004020202020204" pitchFamily="34" charset="0"/>
              </a:rPr>
              <a:t>Current controlled flow</a:t>
            </a:r>
          </a:p>
        </p:txBody>
      </p:sp>
      <p:sp>
        <p:nvSpPr>
          <p:cNvPr id="26" name="TextBox 25">
            <a:extLst>
              <a:ext uri="{FF2B5EF4-FFF2-40B4-BE49-F238E27FC236}">
                <a16:creationId xmlns:a16="http://schemas.microsoft.com/office/drawing/2014/main" id="{418FD911-8F67-3D16-18B8-FAEBDD0BA74A}"/>
              </a:ext>
            </a:extLst>
          </p:cNvPr>
          <p:cNvSpPr txBox="1"/>
          <p:nvPr/>
        </p:nvSpPr>
        <p:spPr>
          <a:xfrm>
            <a:off x="914400" y="5181600"/>
            <a:ext cx="10350500" cy="169277"/>
          </a:xfrm>
          <a:prstGeom prst="rect">
            <a:avLst/>
          </a:prstGeom>
          <a:noFill/>
        </p:spPr>
        <p:txBody>
          <a:bodyPr vert="horz" wrap="square" lIns="0" tIns="0" rIns="0" bIns="0" rtlCol="0">
            <a:spAutoFit/>
          </a:bodyPr>
          <a:lstStyle/>
          <a:p>
            <a:pPr algn="ctr"/>
            <a:r>
              <a:rPr lang="en-US" sz="1100" b="1" dirty="0">
                <a:latin typeface="Aptos" panose="020B0004020202020204" pitchFamily="34" charset="0"/>
              </a:rPr>
              <a:t>Audio -&gt; whisper-1 transcript -&gt; schema-constrained interpretation -&gt; deterministic registry authorization -&gt; permitted UI action -&gt; cloud TTS or browser fallback</a:t>
            </a:r>
          </a:p>
        </p:txBody>
      </p:sp>
    </p:spTree>
    <p:extLst>
      <p:ext uri="{BB962C8B-B14F-4D97-AF65-F5344CB8AC3E}">
        <p14:creationId xmlns:p14="http://schemas.microsoft.com/office/powerpoint/2010/main" val="380250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12D636-F136-98F5-F7DF-DACED70275A6}"/>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6A4C22C-9634-D30B-2F15-CB87665068F2}"/>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COMPLETED EVIDENCE</a:t>
            </a:r>
          </a:p>
        </p:txBody>
      </p:sp>
      <p:sp>
        <p:nvSpPr>
          <p:cNvPr id="4" name="TextBox 3">
            <a:extLst>
              <a:ext uri="{FF2B5EF4-FFF2-40B4-BE49-F238E27FC236}">
                <a16:creationId xmlns:a16="http://schemas.microsoft.com/office/drawing/2014/main" id="{B9E2AA10-E896-EACD-8122-603930497415}"/>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Running workflows and automated verification</a:t>
            </a:r>
          </a:p>
        </p:txBody>
      </p:sp>
      <p:cxnSp>
        <p:nvCxnSpPr>
          <p:cNvPr id="6" name="Straight Connector 5">
            <a:extLst>
              <a:ext uri="{FF2B5EF4-FFF2-40B4-BE49-F238E27FC236}">
                <a16:creationId xmlns:a16="http://schemas.microsoft.com/office/drawing/2014/main" id="{94F44BE9-A601-BB22-11E3-095C61B1C8A1}"/>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303F3AA-52B9-DEBD-7D31-D5822D091702}"/>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23DC8BAF-57DA-89E3-99BC-8CB90B6AB3DB}"/>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09</a:t>
            </a:r>
          </a:p>
        </p:txBody>
      </p:sp>
      <p:pic>
        <p:nvPicPr>
          <p:cNvPr id="10" name="Picture 9" descr="Candidate profile with editable AI-assisted transcript">
            <a:extLst>
              <a:ext uri="{FF2B5EF4-FFF2-40B4-BE49-F238E27FC236}">
                <a16:creationId xmlns:a16="http://schemas.microsoft.com/office/drawing/2014/main" id="{3E3573C1-FB9E-DA97-1D07-14EDD82999C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52600" y="1140227"/>
            <a:ext cx="8686800" cy="4665244"/>
          </a:xfrm>
          <a:prstGeom prst="rect">
            <a:avLst/>
          </a:prstGeom>
          <a:ln w="10160">
            <a:solidFill>
              <a:srgbClr val="CBD5E1"/>
            </a:solidFill>
          </a:ln>
        </p:spPr>
      </p:pic>
      <p:sp>
        <p:nvSpPr>
          <p:cNvPr id="15" name="TextBox 14">
            <a:extLst>
              <a:ext uri="{FF2B5EF4-FFF2-40B4-BE49-F238E27FC236}">
                <a16:creationId xmlns:a16="http://schemas.microsoft.com/office/drawing/2014/main" id="{60C4B62D-3997-F163-3A9D-5E9A75B63A95}"/>
              </a:ext>
            </a:extLst>
          </p:cNvPr>
          <p:cNvSpPr txBox="1"/>
          <p:nvPr/>
        </p:nvSpPr>
        <p:spPr>
          <a:xfrm>
            <a:off x="3975100" y="5997545"/>
            <a:ext cx="3429000" cy="200055"/>
          </a:xfrm>
          <a:prstGeom prst="rect">
            <a:avLst/>
          </a:prstGeom>
          <a:noFill/>
        </p:spPr>
        <p:txBody>
          <a:bodyPr vert="horz" wrap="square" lIns="0" tIns="0" rIns="0" bIns="0" rtlCol="0">
            <a:spAutoFit/>
          </a:bodyPr>
          <a:lstStyle/>
          <a:p>
            <a:pPr algn="ctr"/>
            <a:r>
              <a:rPr lang="en-US" sz="1300" b="1" dirty="0">
                <a:solidFill>
                  <a:srgbClr val="0B1F49"/>
                </a:solidFill>
                <a:latin typeface="Aptos Display" panose="020B0004020202020204" pitchFamily="34" charset="0"/>
              </a:rPr>
              <a:t>AI profile + consent</a:t>
            </a:r>
          </a:p>
        </p:txBody>
      </p:sp>
    </p:spTree>
    <p:extLst>
      <p:ext uri="{BB962C8B-B14F-4D97-AF65-F5344CB8AC3E}">
        <p14:creationId xmlns:p14="http://schemas.microsoft.com/office/powerpoint/2010/main" val="998730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EFB10-BAAB-E9B9-76C8-804DA692456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213E4E-9447-2896-BB4B-B58817D35F8E}"/>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E558317-BDAA-0D84-7FC4-4DBD91ECD57C}"/>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COMPLETED EVIDENCE</a:t>
            </a:r>
          </a:p>
        </p:txBody>
      </p:sp>
      <p:sp>
        <p:nvSpPr>
          <p:cNvPr id="4" name="TextBox 3">
            <a:extLst>
              <a:ext uri="{FF2B5EF4-FFF2-40B4-BE49-F238E27FC236}">
                <a16:creationId xmlns:a16="http://schemas.microsoft.com/office/drawing/2014/main" id="{7275252D-F51B-5386-842C-4C69D10574F1}"/>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dirty="0">
                <a:solidFill>
                  <a:srgbClr val="0B1F49"/>
                </a:solidFill>
                <a:latin typeface="Aptos Display" panose="020B0004020202020204" pitchFamily="34" charset="0"/>
              </a:rPr>
              <a:t>AI profile + consent</a:t>
            </a:r>
          </a:p>
        </p:txBody>
      </p:sp>
      <p:cxnSp>
        <p:nvCxnSpPr>
          <p:cNvPr id="6" name="Straight Connector 5">
            <a:extLst>
              <a:ext uri="{FF2B5EF4-FFF2-40B4-BE49-F238E27FC236}">
                <a16:creationId xmlns:a16="http://schemas.microsoft.com/office/drawing/2014/main" id="{A2BFC295-5EC3-61A8-B5B7-789BC0505DEB}"/>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FF45A3D-8C57-9795-CFEA-7A238CFC6FB8}"/>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F0F3ECF6-DBFF-DB56-2173-5987A39F2298}"/>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dirty="0">
                <a:solidFill>
                  <a:srgbClr val="A64B2A"/>
                </a:solidFill>
                <a:latin typeface="Aptos" panose="020B0004020202020204" pitchFamily="34" charset="0"/>
              </a:rPr>
              <a:t>10</a:t>
            </a:r>
          </a:p>
        </p:txBody>
      </p:sp>
      <p:graphicFrame>
        <p:nvGraphicFramePr>
          <p:cNvPr id="5" name="Diagram 4">
            <a:extLst>
              <a:ext uri="{FF2B5EF4-FFF2-40B4-BE49-F238E27FC236}">
                <a16:creationId xmlns:a16="http://schemas.microsoft.com/office/drawing/2014/main" id="{3296844D-B0A1-4131-C9E4-B4993415BF21}"/>
              </a:ext>
            </a:extLst>
          </p:cNvPr>
          <p:cNvGraphicFramePr/>
          <p:nvPr>
            <p:extLst>
              <p:ext uri="{D42A27DB-BD31-4B8C-83A1-F6EECF244321}">
                <p14:modId xmlns:p14="http://schemas.microsoft.com/office/powerpoint/2010/main" val="3069717761"/>
              </p:ext>
            </p:extLst>
          </p:nvPr>
        </p:nvGraphicFramePr>
        <p:xfrm>
          <a:off x="402166" y="748099"/>
          <a:ext cx="11387667" cy="53660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0885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79D4-428E-16A2-54C7-4FA61D72A2E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B1FEAAC-BD8E-B5F4-BA3F-F744F46FF43F}"/>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06DA655-5B4A-DF9B-3766-692B5A7D5C57}"/>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COMPLETED EVIDENCE</a:t>
            </a:r>
          </a:p>
        </p:txBody>
      </p:sp>
      <p:sp>
        <p:nvSpPr>
          <p:cNvPr id="4" name="TextBox 3">
            <a:extLst>
              <a:ext uri="{FF2B5EF4-FFF2-40B4-BE49-F238E27FC236}">
                <a16:creationId xmlns:a16="http://schemas.microsoft.com/office/drawing/2014/main" id="{1F754FBD-CC64-61B6-89A5-0B7AEF18C72D}"/>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Running workflows and automated verification</a:t>
            </a:r>
          </a:p>
        </p:txBody>
      </p:sp>
      <p:cxnSp>
        <p:nvCxnSpPr>
          <p:cNvPr id="6" name="Straight Connector 5">
            <a:extLst>
              <a:ext uri="{FF2B5EF4-FFF2-40B4-BE49-F238E27FC236}">
                <a16:creationId xmlns:a16="http://schemas.microsoft.com/office/drawing/2014/main" id="{F89B7263-759C-B6C5-F51C-7221A31D6B4D}"/>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0E8BCA3-5166-C4D4-C2B0-DBE6D85294B2}"/>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C1586BE5-0472-DAE7-E296-537B330AA2C9}"/>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dirty="0">
                <a:solidFill>
                  <a:srgbClr val="A64B2A"/>
                </a:solidFill>
                <a:latin typeface="Aptos" panose="020B0004020202020204" pitchFamily="34" charset="0"/>
              </a:rPr>
              <a:t>11</a:t>
            </a:r>
          </a:p>
        </p:txBody>
      </p:sp>
      <p:pic>
        <p:nvPicPr>
          <p:cNvPr id="12" name="Picture 11" descr="Employer vacancy requirements form">
            <a:extLst>
              <a:ext uri="{FF2B5EF4-FFF2-40B4-BE49-F238E27FC236}">
                <a16:creationId xmlns:a16="http://schemas.microsoft.com/office/drawing/2014/main" id="{ABEF4029-620E-0F43-FF06-2FA01818A91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683279" y="1206462"/>
            <a:ext cx="8647641" cy="4732745"/>
          </a:xfrm>
          <a:prstGeom prst="rect">
            <a:avLst/>
          </a:prstGeom>
          <a:ln w="10160">
            <a:solidFill>
              <a:srgbClr val="CBD5E1"/>
            </a:solidFill>
          </a:ln>
        </p:spPr>
      </p:pic>
      <p:sp>
        <p:nvSpPr>
          <p:cNvPr id="16" name="TextBox 15">
            <a:extLst>
              <a:ext uri="{FF2B5EF4-FFF2-40B4-BE49-F238E27FC236}">
                <a16:creationId xmlns:a16="http://schemas.microsoft.com/office/drawing/2014/main" id="{87B4963F-C95F-A6AE-9B5C-A1CF2614DE4C}"/>
              </a:ext>
            </a:extLst>
          </p:cNvPr>
          <p:cNvSpPr txBox="1"/>
          <p:nvPr/>
        </p:nvSpPr>
        <p:spPr>
          <a:xfrm>
            <a:off x="4381500" y="6054382"/>
            <a:ext cx="3429000" cy="200055"/>
          </a:xfrm>
          <a:prstGeom prst="rect">
            <a:avLst/>
          </a:prstGeom>
          <a:noFill/>
        </p:spPr>
        <p:txBody>
          <a:bodyPr vert="horz" wrap="square" lIns="0" tIns="0" rIns="0" bIns="0" rtlCol="0">
            <a:spAutoFit/>
          </a:bodyPr>
          <a:lstStyle/>
          <a:p>
            <a:pPr algn="ctr"/>
            <a:r>
              <a:rPr lang="en-US" sz="1300" b="1" dirty="0">
                <a:solidFill>
                  <a:srgbClr val="0B1F49"/>
                </a:solidFill>
                <a:latin typeface="Aptos Display" panose="020B0004020202020204" pitchFamily="34" charset="0"/>
              </a:rPr>
              <a:t>Employer requirements</a:t>
            </a:r>
          </a:p>
        </p:txBody>
      </p:sp>
    </p:spTree>
    <p:extLst>
      <p:ext uri="{BB962C8B-B14F-4D97-AF65-F5344CB8AC3E}">
        <p14:creationId xmlns:p14="http://schemas.microsoft.com/office/powerpoint/2010/main" val="357012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8C91C-924C-DCC4-6BAF-EBCE0C598C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3EB250-ACCB-C5B7-4EBE-DC7970233BAB}"/>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7FCC91D-A14B-A475-2B7F-3CEC7E4F0EAA}"/>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COMPLETED EVIDENCE</a:t>
            </a:r>
          </a:p>
        </p:txBody>
      </p:sp>
      <p:sp>
        <p:nvSpPr>
          <p:cNvPr id="4" name="TextBox 3">
            <a:extLst>
              <a:ext uri="{FF2B5EF4-FFF2-40B4-BE49-F238E27FC236}">
                <a16:creationId xmlns:a16="http://schemas.microsoft.com/office/drawing/2014/main" id="{02915905-F7A6-7846-4006-FED386EBF419}"/>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dirty="0">
                <a:solidFill>
                  <a:srgbClr val="0B1F49"/>
                </a:solidFill>
                <a:latin typeface="Aptos Display" panose="020B0004020202020204" pitchFamily="34" charset="0"/>
              </a:rPr>
              <a:t>Employer requirements</a:t>
            </a:r>
          </a:p>
        </p:txBody>
      </p:sp>
      <p:cxnSp>
        <p:nvCxnSpPr>
          <p:cNvPr id="6" name="Straight Connector 5">
            <a:extLst>
              <a:ext uri="{FF2B5EF4-FFF2-40B4-BE49-F238E27FC236}">
                <a16:creationId xmlns:a16="http://schemas.microsoft.com/office/drawing/2014/main" id="{06BE22CD-8ACD-37C4-11E1-1DF8A7F8CF8E}"/>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3E393C6-B671-7F60-39F2-2A506E34B7B2}"/>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13F18A16-2D2E-25A9-8BAD-0023D3B87EC2}"/>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dirty="0">
                <a:solidFill>
                  <a:srgbClr val="A64B2A"/>
                </a:solidFill>
                <a:latin typeface="Aptos" panose="020B0004020202020204" pitchFamily="34" charset="0"/>
              </a:rPr>
              <a:t>12</a:t>
            </a:r>
          </a:p>
        </p:txBody>
      </p:sp>
      <p:graphicFrame>
        <p:nvGraphicFramePr>
          <p:cNvPr id="10" name="Diagram 9">
            <a:extLst>
              <a:ext uri="{FF2B5EF4-FFF2-40B4-BE49-F238E27FC236}">
                <a16:creationId xmlns:a16="http://schemas.microsoft.com/office/drawing/2014/main" id="{DE0C9BE4-2113-6CB0-67EE-58336EE2E76A}"/>
              </a:ext>
            </a:extLst>
          </p:cNvPr>
          <p:cNvGraphicFramePr/>
          <p:nvPr>
            <p:extLst>
              <p:ext uri="{D42A27DB-BD31-4B8C-83A1-F6EECF244321}">
                <p14:modId xmlns:p14="http://schemas.microsoft.com/office/powerpoint/2010/main" val="2191055554"/>
              </p:ext>
            </p:extLst>
          </p:nvPr>
        </p:nvGraphicFramePr>
        <p:xfrm>
          <a:off x="423333" y="719667"/>
          <a:ext cx="11353799" cy="54186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6889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C0EC8-AB8E-5735-3B58-7361191F90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77AD765-1935-28E8-DDC4-CCB8A48D0725}"/>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0504ED3-A33B-B270-D420-F4870545E245}"/>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COMPLETED EVIDENCE</a:t>
            </a:r>
          </a:p>
        </p:txBody>
      </p:sp>
      <p:sp>
        <p:nvSpPr>
          <p:cNvPr id="4" name="TextBox 3">
            <a:extLst>
              <a:ext uri="{FF2B5EF4-FFF2-40B4-BE49-F238E27FC236}">
                <a16:creationId xmlns:a16="http://schemas.microsoft.com/office/drawing/2014/main" id="{FE9FF47D-3882-919B-2B98-3398B44AC6D7}"/>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dirty="0">
                <a:solidFill>
                  <a:srgbClr val="0B1F49"/>
                </a:solidFill>
                <a:latin typeface="Aptos Display" panose="020B0004020202020204" pitchFamily="34" charset="0"/>
              </a:rPr>
              <a:t>Authorized verification</a:t>
            </a:r>
          </a:p>
        </p:txBody>
      </p:sp>
      <p:cxnSp>
        <p:nvCxnSpPr>
          <p:cNvPr id="6" name="Straight Connector 5">
            <a:extLst>
              <a:ext uri="{FF2B5EF4-FFF2-40B4-BE49-F238E27FC236}">
                <a16:creationId xmlns:a16="http://schemas.microsoft.com/office/drawing/2014/main" id="{E375FEB3-A52C-9362-E3E4-0145FDEE3C52}"/>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7B57153-1D49-D74A-FB5B-4FFF172C32DC}"/>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0A56D7BA-1051-CCD8-32E7-443F11D55F93}"/>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dirty="0">
                <a:solidFill>
                  <a:srgbClr val="A64B2A"/>
                </a:solidFill>
                <a:latin typeface="Aptos" panose="020B0004020202020204" pitchFamily="34" charset="0"/>
              </a:rPr>
              <a:t>13</a:t>
            </a:r>
          </a:p>
        </p:txBody>
      </p:sp>
      <p:graphicFrame>
        <p:nvGraphicFramePr>
          <p:cNvPr id="5" name="Diagram 4">
            <a:extLst>
              <a:ext uri="{FF2B5EF4-FFF2-40B4-BE49-F238E27FC236}">
                <a16:creationId xmlns:a16="http://schemas.microsoft.com/office/drawing/2014/main" id="{04347EEA-9E11-671A-7AE0-CF78B878B49C}"/>
              </a:ext>
            </a:extLst>
          </p:cNvPr>
          <p:cNvGraphicFramePr/>
          <p:nvPr>
            <p:extLst>
              <p:ext uri="{D42A27DB-BD31-4B8C-83A1-F6EECF244321}">
                <p14:modId xmlns:p14="http://schemas.microsoft.com/office/powerpoint/2010/main" val="260338367"/>
              </p:ext>
            </p:extLst>
          </p:nvPr>
        </p:nvGraphicFramePr>
        <p:xfrm>
          <a:off x="283633" y="867371"/>
          <a:ext cx="11624733" cy="51870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4755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05325C-CE99-DFF2-A1F3-966DD9F80E1E}"/>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643DAE6-C552-6A88-8C28-A6081285C8E4}"/>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IN PROGRESS</a:t>
            </a:r>
          </a:p>
        </p:txBody>
      </p:sp>
      <p:sp>
        <p:nvSpPr>
          <p:cNvPr id="4" name="TextBox 3">
            <a:extLst>
              <a:ext uri="{FF2B5EF4-FFF2-40B4-BE49-F238E27FC236}">
                <a16:creationId xmlns:a16="http://schemas.microsoft.com/office/drawing/2014/main" id="{1C6C1BB5-7C2B-658C-F3E4-0857FFC7C50C}"/>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What we are improving now</a:t>
            </a:r>
          </a:p>
        </p:txBody>
      </p:sp>
      <p:cxnSp>
        <p:nvCxnSpPr>
          <p:cNvPr id="6" name="Straight Connector 5">
            <a:extLst>
              <a:ext uri="{FF2B5EF4-FFF2-40B4-BE49-F238E27FC236}">
                <a16:creationId xmlns:a16="http://schemas.microsoft.com/office/drawing/2014/main" id="{A61A11E3-B72B-5B9B-8A68-20E2E71F356B}"/>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4CA29AA-72DD-911F-0A03-640406A2B574}"/>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A892911B-8AA9-9561-2932-D37182038836}"/>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dirty="0">
                <a:solidFill>
                  <a:srgbClr val="A64B2A"/>
                </a:solidFill>
                <a:latin typeface="Aptos" panose="020B0004020202020204" pitchFamily="34" charset="0"/>
              </a:rPr>
              <a:t>14</a:t>
            </a:r>
          </a:p>
        </p:txBody>
      </p:sp>
      <p:sp>
        <p:nvSpPr>
          <p:cNvPr id="9" name="Rectangle: Rounded Corners 8">
            <a:extLst>
              <a:ext uri="{FF2B5EF4-FFF2-40B4-BE49-F238E27FC236}">
                <a16:creationId xmlns:a16="http://schemas.microsoft.com/office/drawing/2014/main" id="{F57BDB26-3D72-D77D-53E8-1BF3F950E3D5}"/>
              </a:ext>
            </a:extLst>
          </p:cNvPr>
          <p:cNvSpPr/>
          <p:nvPr/>
        </p:nvSpPr>
        <p:spPr>
          <a:xfrm>
            <a:off x="609600" y="1905000"/>
            <a:ext cx="3429000" cy="2857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83E53D-94F8-7897-E60D-C1430558B088}"/>
              </a:ext>
            </a:extLst>
          </p:cNvPr>
          <p:cNvSpPr/>
          <p:nvPr/>
        </p:nvSpPr>
        <p:spPr>
          <a:xfrm>
            <a:off x="603250" y="2715255"/>
            <a:ext cx="3429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148CEF6-DC73-0EC5-AB8F-83B40CF64944}"/>
              </a:ext>
            </a:extLst>
          </p:cNvPr>
          <p:cNvSpPr txBox="1"/>
          <p:nvPr/>
        </p:nvSpPr>
        <p:spPr>
          <a:xfrm>
            <a:off x="889000" y="2286000"/>
            <a:ext cx="2857500" cy="261610"/>
          </a:xfrm>
          <a:prstGeom prst="rect">
            <a:avLst/>
          </a:prstGeom>
          <a:noFill/>
        </p:spPr>
        <p:txBody>
          <a:bodyPr vert="horz" wrap="square" lIns="0" tIns="0" rIns="0" bIns="0" rtlCol="0">
            <a:spAutoFit/>
          </a:bodyPr>
          <a:lstStyle/>
          <a:p>
            <a:r>
              <a:rPr lang="en-US" sz="1700" b="1" dirty="0">
                <a:solidFill>
                  <a:srgbClr val="1565D8"/>
                </a:solidFill>
                <a:latin typeface="Aptos Display" panose="020B0004020202020204" pitchFamily="34" charset="0"/>
              </a:rPr>
              <a:t>Stability + security</a:t>
            </a:r>
          </a:p>
        </p:txBody>
      </p:sp>
      <p:sp>
        <p:nvSpPr>
          <p:cNvPr id="12" name="TextBox 11">
            <a:extLst>
              <a:ext uri="{FF2B5EF4-FFF2-40B4-BE49-F238E27FC236}">
                <a16:creationId xmlns:a16="http://schemas.microsoft.com/office/drawing/2014/main" id="{6A12F16C-6277-7E5D-A249-68615F5E5019}"/>
              </a:ext>
            </a:extLst>
          </p:cNvPr>
          <p:cNvSpPr txBox="1"/>
          <p:nvPr/>
        </p:nvSpPr>
        <p:spPr>
          <a:xfrm>
            <a:off x="889000" y="2984500"/>
            <a:ext cx="2857500" cy="484748"/>
          </a:xfrm>
          <a:prstGeom prst="rect">
            <a:avLst/>
          </a:prstGeom>
          <a:noFill/>
        </p:spPr>
        <p:txBody>
          <a:bodyPr vert="horz" wrap="square" lIns="0" tIns="0" rIns="0" bIns="0" rtlCol="0">
            <a:spAutoFit/>
          </a:bodyPr>
          <a:lstStyle/>
          <a:p>
            <a:r>
              <a:rPr lang="en-US" sz="1050">
                <a:solidFill>
                  <a:srgbClr val="17243A"/>
                </a:solidFill>
                <a:latin typeface="Aptos" panose="020B0004020202020204" pitchFamily="34" charset="0"/>
              </a:rPr>
              <a:t>Resolve workflow and API issues
Retest wrong-role and anonymous access
Improve validation, errors, and notifications</a:t>
            </a:r>
          </a:p>
        </p:txBody>
      </p:sp>
      <p:sp>
        <p:nvSpPr>
          <p:cNvPr id="13" name="Rectangle: Rounded Corners 12">
            <a:extLst>
              <a:ext uri="{FF2B5EF4-FFF2-40B4-BE49-F238E27FC236}">
                <a16:creationId xmlns:a16="http://schemas.microsoft.com/office/drawing/2014/main" id="{650D97D7-4863-FA02-AA46-DB5E8E823784}"/>
              </a:ext>
            </a:extLst>
          </p:cNvPr>
          <p:cNvSpPr/>
          <p:nvPr/>
        </p:nvSpPr>
        <p:spPr>
          <a:xfrm>
            <a:off x="4381500" y="1905000"/>
            <a:ext cx="3429000" cy="2857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15126B-29C8-3D33-932B-5AC28D2F26EB}"/>
              </a:ext>
            </a:extLst>
          </p:cNvPr>
          <p:cNvSpPr/>
          <p:nvPr/>
        </p:nvSpPr>
        <p:spPr>
          <a:xfrm>
            <a:off x="4381500" y="2715255"/>
            <a:ext cx="3429000" cy="1016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1B184C1-658F-ECDC-4092-D601E4C3098A}"/>
              </a:ext>
            </a:extLst>
          </p:cNvPr>
          <p:cNvSpPr txBox="1"/>
          <p:nvPr/>
        </p:nvSpPr>
        <p:spPr>
          <a:xfrm>
            <a:off x="4660900" y="2286000"/>
            <a:ext cx="2857500" cy="261610"/>
          </a:xfrm>
          <a:prstGeom prst="rect">
            <a:avLst/>
          </a:prstGeom>
          <a:noFill/>
        </p:spPr>
        <p:txBody>
          <a:bodyPr vert="horz" wrap="square" lIns="0" tIns="0" rIns="0" bIns="0" rtlCol="0">
            <a:spAutoFit/>
          </a:bodyPr>
          <a:lstStyle/>
          <a:p>
            <a:r>
              <a:rPr lang="en-US" sz="1700" b="1">
                <a:solidFill>
                  <a:srgbClr val="A64B2A"/>
                </a:solidFill>
                <a:latin typeface="Aptos Display" panose="020B0004020202020204" pitchFamily="34" charset="0"/>
              </a:rPr>
              <a:t>Design + accessibility</a:t>
            </a:r>
          </a:p>
        </p:txBody>
      </p:sp>
      <p:sp>
        <p:nvSpPr>
          <p:cNvPr id="16" name="TextBox 15">
            <a:extLst>
              <a:ext uri="{FF2B5EF4-FFF2-40B4-BE49-F238E27FC236}">
                <a16:creationId xmlns:a16="http://schemas.microsoft.com/office/drawing/2014/main" id="{E3583146-B411-6BF0-2D0D-32871D93DA94}"/>
              </a:ext>
            </a:extLst>
          </p:cNvPr>
          <p:cNvSpPr txBox="1"/>
          <p:nvPr/>
        </p:nvSpPr>
        <p:spPr>
          <a:xfrm>
            <a:off x="4660900" y="2984500"/>
            <a:ext cx="2857500" cy="484748"/>
          </a:xfrm>
          <a:prstGeom prst="rect">
            <a:avLst/>
          </a:prstGeom>
          <a:noFill/>
        </p:spPr>
        <p:txBody>
          <a:bodyPr vert="horz" wrap="square" lIns="0" tIns="0" rIns="0" bIns="0" rtlCol="0">
            <a:spAutoFit/>
          </a:bodyPr>
          <a:lstStyle/>
          <a:p>
            <a:r>
              <a:rPr lang="en-US" sz="1050">
                <a:solidFill>
                  <a:srgbClr val="17243A"/>
                </a:solidFill>
                <a:latin typeface="Aptos" panose="020B0004020202020204" pitchFamily="34" charset="0"/>
              </a:rPr>
              <a:t>Modernize role dashboards
Improve responsive flow and visual hierarchy
Retest keyboard, zoom, screen reader, and RTL</a:t>
            </a:r>
          </a:p>
        </p:txBody>
      </p:sp>
      <p:sp>
        <p:nvSpPr>
          <p:cNvPr id="17" name="Rectangle: Rounded Corners 16">
            <a:extLst>
              <a:ext uri="{FF2B5EF4-FFF2-40B4-BE49-F238E27FC236}">
                <a16:creationId xmlns:a16="http://schemas.microsoft.com/office/drawing/2014/main" id="{BE690917-C1D8-A23E-E4C6-5E62E3DB5F19}"/>
              </a:ext>
            </a:extLst>
          </p:cNvPr>
          <p:cNvSpPr/>
          <p:nvPr/>
        </p:nvSpPr>
        <p:spPr>
          <a:xfrm>
            <a:off x="8153400" y="1905000"/>
            <a:ext cx="3429000" cy="2857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B260B77-A5C6-81A0-A96F-D6D1A9E389D9}"/>
              </a:ext>
            </a:extLst>
          </p:cNvPr>
          <p:cNvSpPr/>
          <p:nvPr/>
        </p:nvSpPr>
        <p:spPr>
          <a:xfrm>
            <a:off x="8159750" y="2715255"/>
            <a:ext cx="3429000" cy="1016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8E807E0-9363-A720-8495-9327F6045183}"/>
              </a:ext>
            </a:extLst>
          </p:cNvPr>
          <p:cNvSpPr txBox="1"/>
          <p:nvPr/>
        </p:nvSpPr>
        <p:spPr>
          <a:xfrm>
            <a:off x="8432800" y="2286000"/>
            <a:ext cx="2857500" cy="261610"/>
          </a:xfrm>
          <a:prstGeom prst="rect">
            <a:avLst/>
          </a:prstGeom>
          <a:noFill/>
        </p:spPr>
        <p:txBody>
          <a:bodyPr vert="horz" wrap="square" lIns="0" tIns="0" rIns="0" bIns="0" rtlCol="0">
            <a:spAutoFit/>
          </a:bodyPr>
          <a:lstStyle/>
          <a:p>
            <a:pPr algn="ctr"/>
            <a:r>
              <a:rPr lang="en-US" sz="1700" b="1" dirty="0">
                <a:solidFill>
                  <a:srgbClr val="157A55"/>
                </a:solidFill>
                <a:latin typeface="Aptos Display" panose="020B0004020202020204" pitchFamily="34" charset="0"/>
              </a:rPr>
              <a:t>Profiles</a:t>
            </a:r>
          </a:p>
        </p:txBody>
      </p:sp>
      <p:sp>
        <p:nvSpPr>
          <p:cNvPr id="20" name="TextBox 19">
            <a:extLst>
              <a:ext uri="{FF2B5EF4-FFF2-40B4-BE49-F238E27FC236}">
                <a16:creationId xmlns:a16="http://schemas.microsoft.com/office/drawing/2014/main" id="{08F5813D-D5CC-1568-C3D2-A4F2D842C191}"/>
              </a:ext>
            </a:extLst>
          </p:cNvPr>
          <p:cNvSpPr txBox="1"/>
          <p:nvPr/>
        </p:nvSpPr>
        <p:spPr>
          <a:xfrm>
            <a:off x="8432800" y="2984500"/>
            <a:ext cx="2857500" cy="323165"/>
          </a:xfrm>
          <a:prstGeom prst="rect">
            <a:avLst/>
          </a:prstGeom>
          <a:noFill/>
        </p:spPr>
        <p:txBody>
          <a:bodyPr vert="horz" wrap="square" lIns="0" tIns="0" rIns="0" bIns="0" rtlCol="0">
            <a:spAutoFit/>
          </a:bodyPr>
          <a:lstStyle/>
          <a:p>
            <a:r>
              <a:rPr lang="en-US" sz="1050" dirty="0">
                <a:solidFill>
                  <a:srgbClr val="17243A"/>
                </a:solidFill>
                <a:latin typeface="Aptos" panose="020B0004020202020204" pitchFamily="34" charset="0"/>
              </a:rPr>
              <a:t>Preserve Personal Education hierarchy
Improve candidate and company information</a:t>
            </a:r>
          </a:p>
        </p:txBody>
      </p:sp>
    </p:spTree>
    <p:extLst>
      <p:ext uri="{BB962C8B-B14F-4D97-AF65-F5344CB8AC3E}">
        <p14:creationId xmlns:p14="http://schemas.microsoft.com/office/powerpoint/2010/main" val="944240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C8CBFE-C3D6-3DEE-075E-3238213D84E0}"/>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D1227D5-AAF5-9E92-C012-EAF2A60ED68D}"/>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PERFORMANCE OBJECTIVE</a:t>
            </a:r>
          </a:p>
        </p:txBody>
      </p:sp>
      <p:sp>
        <p:nvSpPr>
          <p:cNvPr id="4" name="TextBox 3">
            <a:extLst>
              <a:ext uri="{FF2B5EF4-FFF2-40B4-BE49-F238E27FC236}">
                <a16:creationId xmlns:a16="http://schemas.microsoft.com/office/drawing/2014/main" id="{4D773BD1-89B3-19F4-79AD-31CEDA3C5C3F}"/>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dirty="0">
                <a:solidFill>
                  <a:srgbClr val="0B1F49"/>
                </a:solidFill>
                <a:latin typeface="Aptos Display" panose="020B0004020202020204" pitchFamily="34" charset="0"/>
              </a:rPr>
              <a:t>Reduce AI, voice-navigation, and page response time</a:t>
            </a:r>
          </a:p>
        </p:txBody>
      </p:sp>
      <p:cxnSp>
        <p:nvCxnSpPr>
          <p:cNvPr id="6" name="Straight Connector 5">
            <a:extLst>
              <a:ext uri="{FF2B5EF4-FFF2-40B4-BE49-F238E27FC236}">
                <a16:creationId xmlns:a16="http://schemas.microsoft.com/office/drawing/2014/main" id="{CF4C5054-578D-043E-C589-DFD6E5667460}"/>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A999E48-163E-80C3-7E69-801C5EC0B995}"/>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4EA456BE-4729-16CB-BBEE-1D97B03ECD9A}"/>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dirty="0">
                <a:solidFill>
                  <a:srgbClr val="A64B2A"/>
                </a:solidFill>
                <a:latin typeface="Aptos" panose="020B0004020202020204" pitchFamily="34" charset="0"/>
              </a:rPr>
              <a:t>15</a:t>
            </a:r>
          </a:p>
        </p:txBody>
      </p:sp>
      <p:sp>
        <p:nvSpPr>
          <p:cNvPr id="9" name="Rectangle: Rounded Corners 8">
            <a:extLst>
              <a:ext uri="{FF2B5EF4-FFF2-40B4-BE49-F238E27FC236}">
                <a16:creationId xmlns:a16="http://schemas.microsoft.com/office/drawing/2014/main" id="{5BC61F52-D150-DC1F-244C-4A908DCC3F69}"/>
              </a:ext>
            </a:extLst>
          </p:cNvPr>
          <p:cNvSpPr/>
          <p:nvPr/>
        </p:nvSpPr>
        <p:spPr>
          <a:xfrm>
            <a:off x="609600" y="1333500"/>
            <a:ext cx="3429000" cy="3302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D7EC6D-64CC-3A01-102C-3D17065D2C66}"/>
              </a:ext>
            </a:extLst>
          </p:cNvPr>
          <p:cNvSpPr/>
          <p:nvPr/>
        </p:nvSpPr>
        <p:spPr>
          <a:xfrm>
            <a:off x="603250" y="2108200"/>
            <a:ext cx="3429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63B789D-5D8A-B341-9AE2-5CB968419611}"/>
              </a:ext>
            </a:extLst>
          </p:cNvPr>
          <p:cNvSpPr txBox="1"/>
          <p:nvPr/>
        </p:nvSpPr>
        <p:spPr>
          <a:xfrm>
            <a:off x="895350" y="1700431"/>
            <a:ext cx="2857500" cy="261610"/>
          </a:xfrm>
          <a:prstGeom prst="rect">
            <a:avLst/>
          </a:prstGeom>
          <a:noFill/>
        </p:spPr>
        <p:txBody>
          <a:bodyPr vert="horz" wrap="square" lIns="0" tIns="0" rIns="0" bIns="0" rtlCol="0">
            <a:spAutoFit/>
          </a:bodyPr>
          <a:lstStyle/>
          <a:p>
            <a:r>
              <a:rPr lang="en-US" sz="1700" b="1">
                <a:solidFill>
                  <a:srgbClr val="1565D8"/>
                </a:solidFill>
                <a:latin typeface="Aptos Display" panose="020B0004020202020204" pitchFamily="34" charset="0"/>
              </a:rPr>
              <a:t>1. Measure first</a:t>
            </a:r>
          </a:p>
        </p:txBody>
      </p:sp>
      <p:sp>
        <p:nvSpPr>
          <p:cNvPr id="12" name="TextBox 11">
            <a:extLst>
              <a:ext uri="{FF2B5EF4-FFF2-40B4-BE49-F238E27FC236}">
                <a16:creationId xmlns:a16="http://schemas.microsoft.com/office/drawing/2014/main" id="{778DA799-9ACF-A2A3-50A7-D068727A5447}"/>
              </a:ext>
            </a:extLst>
          </p:cNvPr>
          <p:cNvSpPr txBox="1"/>
          <p:nvPr/>
        </p:nvSpPr>
        <p:spPr>
          <a:xfrm>
            <a:off x="889000" y="2500699"/>
            <a:ext cx="2857500" cy="646331"/>
          </a:xfrm>
          <a:prstGeom prst="rect">
            <a:avLst/>
          </a:prstGeom>
          <a:noFill/>
        </p:spPr>
        <p:txBody>
          <a:bodyPr vert="horz" wrap="square" lIns="0" tIns="0" rIns="0" bIns="0" rtlCol="0">
            <a:spAutoFit/>
          </a:bodyPr>
          <a:lstStyle/>
          <a:p>
            <a:r>
              <a:rPr lang="en-US" sz="1050" dirty="0"/>
              <a:t>Measure the response time of every processing stage, identify the slowest part, apply improvements, and compare the results before and after.</a:t>
            </a:r>
            <a:endParaRPr lang="en-US" sz="1050" dirty="0">
              <a:solidFill>
                <a:srgbClr val="17243A"/>
              </a:solidFill>
              <a:latin typeface="Aptos" panose="020B0004020202020204" pitchFamily="34" charset="0"/>
            </a:endParaRPr>
          </a:p>
        </p:txBody>
      </p:sp>
      <p:sp>
        <p:nvSpPr>
          <p:cNvPr id="13" name="Rectangle: Rounded Corners 12">
            <a:extLst>
              <a:ext uri="{FF2B5EF4-FFF2-40B4-BE49-F238E27FC236}">
                <a16:creationId xmlns:a16="http://schemas.microsoft.com/office/drawing/2014/main" id="{EB7084F4-3A19-25CA-BCDE-6CBCA61D240E}"/>
              </a:ext>
            </a:extLst>
          </p:cNvPr>
          <p:cNvSpPr/>
          <p:nvPr/>
        </p:nvSpPr>
        <p:spPr>
          <a:xfrm>
            <a:off x="4381500" y="1905000"/>
            <a:ext cx="3429000" cy="3302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E99925-0A82-39D9-5BE5-C5986F02C240}"/>
              </a:ext>
            </a:extLst>
          </p:cNvPr>
          <p:cNvSpPr/>
          <p:nvPr/>
        </p:nvSpPr>
        <p:spPr>
          <a:xfrm>
            <a:off x="4381500" y="2715255"/>
            <a:ext cx="3429000" cy="1016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5F984DB-A11E-DD23-26D1-8E69BC040126}"/>
              </a:ext>
            </a:extLst>
          </p:cNvPr>
          <p:cNvSpPr txBox="1"/>
          <p:nvPr/>
        </p:nvSpPr>
        <p:spPr>
          <a:xfrm>
            <a:off x="4660900" y="2286000"/>
            <a:ext cx="2857500" cy="261610"/>
          </a:xfrm>
          <a:prstGeom prst="rect">
            <a:avLst/>
          </a:prstGeom>
          <a:noFill/>
        </p:spPr>
        <p:txBody>
          <a:bodyPr vert="horz" wrap="square" lIns="0" tIns="0" rIns="0" bIns="0" rtlCol="0">
            <a:spAutoFit/>
          </a:bodyPr>
          <a:lstStyle/>
          <a:p>
            <a:r>
              <a:rPr lang="en-US" sz="1700" b="1">
                <a:solidFill>
                  <a:srgbClr val="A64B2A"/>
                </a:solidFill>
                <a:latin typeface="Aptos Display" panose="020B0004020202020204" pitchFamily="34" charset="0"/>
              </a:rPr>
              <a:t>2. Optimize AI path</a:t>
            </a:r>
          </a:p>
        </p:txBody>
      </p:sp>
      <p:sp>
        <p:nvSpPr>
          <p:cNvPr id="16" name="TextBox 15">
            <a:extLst>
              <a:ext uri="{FF2B5EF4-FFF2-40B4-BE49-F238E27FC236}">
                <a16:creationId xmlns:a16="http://schemas.microsoft.com/office/drawing/2014/main" id="{07B17CF8-FF0C-9D30-075B-4F4409057A75}"/>
              </a:ext>
            </a:extLst>
          </p:cNvPr>
          <p:cNvSpPr txBox="1"/>
          <p:nvPr/>
        </p:nvSpPr>
        <p:spPr>
          <a:xfrm>
            <a:off x="4660900" y="2984500"/>
            <a:ext cx="2857500" cy="646331"/>
          </a:xfrm>
          <a:prstGeom prst="rect">
            <a:avLst/>
          </a:prstGeom>
          <a:noFill/>
        </p:spPr>
        <p:txBody>
          <a:bodyPr vert="horz" wrap="square" lIns="0" tIns="0" rIns="0" bIns="0" rtlCol="0">
            <a:spAutoFit/>
          </a:bodyPr>
          <a:lstStyle/>
          <a:p>
            <a:r>
              <a:rPr lang="en-US" sz="1050" dirty="0"/>
              <a:t>Reduce voice-response time by sending smaller requests, limiting AI context, cancelling outdated operations, reusing connections, and handling approved simple commands directly when safe.</a:t>
            </a:r>
            <a:endParaRPr lang="en-US" sz="1050" dirty="0">
              <a:solidFill>
                <a:srgbClr val="17243A"/>
              </a:solidFill>
              <a:latin typeface="Aptos" panose="020B0004020202020204" pitchFamily="34" charset="0"/>
            </a:endParaRPr>
          </a:p>
        </p:txBody>
      </p:sp>
      <p:sp>
        <p:nvSpPr>
          <p:cNvPr id="17" name="Rectangle: Rounded Corners 16">
            <a:extLst>
              <a:ext uri="{FF2B5EF4-FFF2-40B4-BE49-F238E27FC236}">
                <a16:creationId xmlns:a16="http://schemas.microsoft.com/office/drawing/2014/main" id="{1CC70901-C2D1-12BB-9397-28C8854D9C29}"/>
              </a:ext>
            </a:extLst>
          </p:cNvPr>
          <p:cNvSpPr/>
          <p:nvPr/>
        </p:nvSpPr>
        <p:spPr>
          <a:xfrm>
            <a:off x="8153400" y="2715255"/>
            <a:ext cx="3429000" cy="3302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206278D-17CE-F2E9-1E86-3C0FFDA6E421}"/>
              </a:ext>
            </a:extLst>
          </p:cNvPr>
          <p:cNvSpPr/>
          <p:nvPr/>
        </p:nvSpPr>
        <p:spPr>
          <a:xfrm>
            <a:off x="8153400" y="3500136"/>
            <a:ext cx="3429000" cy="1016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635238A-7C43-35B2-B4B6-2CA056F6C864}"/>
              </a:ext>
            </a:extLst>
          </p:cNvPr>
          <p:cNvSpPr txBox="1"/>
          <p:nvPr/>
        </p:nvSpPr>
        <p:spPr>
          <a:xfrm>
            <a:off x="8432800" y="3096255"/>
            <a:ext cx="2857500" cy="261610"/>
          </a:xfrm>
          <a:prstGeom prst="rect">
            <a:avLst/>
          </a:prstGeom>
          <a:noFill/>
        </p:spPr>
        <p:txBody>
          <a:bodyPr vert="horz" wrap="square" lIns="0" tIns="0" rIns="0" bIns="0" rtlCol="0">
            <a:spAutoFit/>
          </a:bodyPr>
          <a:lstStyle/>
          <a:p>
            <a:r>
              <a:rPr lang="en-US" sz="1700" b="1">
                <a:solidFill>
                  <a:srgbClr val="157A55"/>
                </a:solidFill>
                <a:latin typeface="Aptos Display" panose="020B0004020202020204" pitchFamily="34" charset="0"/>
              </a:rPr>
              <a:t>3. Optimize platform</a:t>
            </a:r>
          </a:p>
        </p:txBody>
      </p:sp>
      <p:sp>
        <p:nvSpPr>
          <p:cNvPr id="20" name="TextBox 19">
            <a:extLst>
              <a:ext uri="{FF2B5EF4-FFF2-40B4-BE49-F238E27FC236}">
                <a16:creationId xmlns:a16="http://schemas.microsoft.com/office/drawing/2014/main" id="{3CEAC250-FB6F-5D71-987A-D78BE77848D1}"/>
              </a:ext>
            </a:extLst>
          </p:cNvPr>
          <p:cNvSpPr txBox="1"/>
          <p:nvPr/>
        </p:nvSpPr>
        <p:spPr>
          <a:xfrm>
            <a:off x="8432800" y="3794755"/>
            <a:ext cx="2857500" cy="807913"/>
          </a:xfrm>
          <a:prstGeom prst="rect">
            <a:avLst/>
          </a:prstGeom>
          <a:noFill/>
        </p:spPr>
        <p:txBody>
          <a:bodyPr vert="horz" wrap="square" lIns="0" tIns="0" rIns="0" bIns="0" rtlCol="0">
            <a:spAutoFit/>
          </a:bodyPr>
          <a:lstStyle/>
          <a:p>
            <a:r>
              <a:rPr lang="en-US" sz="1050" dirty="0"/>
              <a:t>Improve page and API speed by identifying slow database queries, loading large lists in pages, reducing frontend file sizes, adding appropriate database indexes, and caching only safe data when testing proves it is necessary.</a:t>
            </a:r>
            <a:endParaRPr lang="en-US" sz="1050" dirty="0">
              <a:solidFill>
                <a:srgbClr val="17243A"/>
              </a:solidFill>
              <a:latin typeface="Aptos" panose="020B0004020202020204" pitchFamily="34" charset="0"/>
            </a:endParaRPr>
          </a:p>
        </p:txBody>
      </p:sp>
    </p:spTree>
    <p:extLst>
      <p:ext uri="{BB962C8B-B14F-4D97-AF65-F5344CB8AC3E}">
        <p14:creationId xmlns:p14="http://schemas.microsoft.com/office/powerpoint/2010/main" val="2368090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80CBF6-C3E0-6D1D-58AB-2B85749C3B81}"/>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BEAB2EE-61C4-4E52-1176-FD86BF9F5BA8}"/>
              </a:ext>
            </a:extLst>
          </p:cNvPr>
          <p:cNvSpPr txBox="1"/>
          <p:nvPr/>
        </p:nvSpPr>
        <p:spPr>
          <a:xfrm>
            <a:off x="609600" y="355600"/>
            <a:ext cx="5080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NEXT PHASE</a:t>
            </a:r>
          </a:p>
        </p:txBody>
      </p:sp>
      <p:sp>
        <p:nvSpPr>
          <p:cNvPr id="4" name="TextBox 3">
            <a:extLst>
              <a:ext uri="{FF2B5EF4-FFF2-40B4-BE49-F238E27FC236}">
                <a16:creationId xmlns:a16="http://schemas.microsoft.com/office/drawing/2014/main" id="{3AA17966-9049-9F91-5A54-BA1DE5254B0E}"/>
              </a:ext>
            </a:extLst>
          </p:cNvPr>
          <p:cNvSpPr txBox="1"/>
          <p:nvPr/>
        </p:nvSpPr>
        <p:spPr>
          <a:xfrm>
            <a:off x="609600" y="660400"/>
            <a:ext cx="10795000" cy="430887"/>
          </a:xfrm>
          <a:prstGeom prst="rect">
            <a:avLst/>
          </a:prstGeom>
          <a:noFill/>
        </p:spPr>
        <p:txBody>
          <a:bodyPr vert="horz" wrap="square" lIns="0" tIns="0" rIns="0" bIns="0" rtlCol="0">
            <a:spAutoFit/>
          </a:bodyPr>
          <a:lstStyle/>
          <a:p>
            <a:r>
              <a:rPr lang="en-US" sz="2800" b="1" dirty="0">
                <a:solidFill>
                  <a:srgbClr val="0B1F49"/>
                </a:solidFill>
                <a:latin typeface="Aptos Display" panose="020B0004020202020204" pitchFamily="34" charset="0"/>
              </a:rPr>
              <a:t>Remaining product work and demonstration</a:t>
            </a:r>
          </a:p>
        </p:txBody>
      </p:sp>
      <p:cxnSp>
        <p:nvCxnSpPr>
          <p:cNvPr id="6" name="Straight Connector 5">
            <a:extLst>
              <a:ext uri="{FF2B5EF4-FFF2-40B4-BE49-F238E27FC236}">
                <a16:creationId xmlns:a16="http://schemas.microsoft.com/office/drawing/2014/main" id="{DD234C96-F2FB-EC6D-CD86-BB6927E8CD5E}"/>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EBD2CA1-6B2F-0397-F4D9-04C008A317D0}"/>
              </a:ext>
            </a:extLst>
          </p:cNvPr>
          <p:cNvSpPr txBox="1"/>
          <p:nvPr/>
        </p:nvSpPr>
        <p:spPr>
          <a:xfrm>
            <a:off x="609600" y="6540500"/>
            <a:ext cx="8890000" cy="115416"/>
          </a:xfrm>
          <a:prstGeom prst="rect">
            <a:avLst/>
          </a:prstGeom>
          <a:noFill/>
        </p:spPr>
        <p:txBody>
          <a:bodyPr vert="horz" wrap="square" lIns="0" tIns="0" rIns="0" bIns="0" rtlCol="0">
            <a:spAutoFit/>
          </a:bodyPr>
          <a:lstStyle/>
          <a:p>
            <a:r>
              <a:rPr lang="en-US" sz="750" dirty="0">
                <a:solidFill>
                  <a:srgbClr val="5D6B80"/>
                </a:solidFill>
                <a:latin typeface="Aptos" panose="020B0004020202020204" pitchFamily="34" charset="0"/>
              </a:rPr>
              <a:t>INCLUSIVE WEB PLATFORM | PROGRESS PRESENTATION </a:t>
            </a:r>
          </a:p>
        </p:txBody>
      </p:sp>
      <p:sp>
        <p:nvSpPr>
          <p:cNvPr id="8" name="TextBox 7">
            <a:extLst>
              <a:ext uri="{FF2B5EF4-FFF2-40B4-BE49-F238E27FC236}">
                <a16:creationId xmlns:a16="http://schemas.microsoft.com/office/drawing/2014/main" id="{E68022ED-44AE-07C8-EADE-8CDBCA4A2FCA}"/>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dirty="0">
                <a:solidFill>
                  <a:srgbClr val="A64B2A"/>
                </a:solidFill>
                <a:latin typeface="Aptos" panose="020B0004020202020204" pitchFamily="34" charset="0"/>
              </a:rPr>
              <a:t>16</a:t>
            </a:r>
          </a:p>
        </p:txBody>
      </p:sp>
      <p:sp>
        <p:nvSpPr>
          <p:cNvPr id="9" name="Rectangle: Rounded Corners 8">
            <a:extLst>
              <a:ext uri="{FF2B5EF4-FFF2-40B4-BE49-F238E27FC236}">
                <a16:creationId xmlns:a16="http://schemas.microsoft.com/office/drawing/2014/main" id="{9A32F155-74DD-B486-CB8A-65CE5F49CFBC}"/>
              </a:ext>
            </a:extLst>
          </p:cNvPr>
          <p:cNvSpPr/>
          <p:nvPr/>
        </p:nvSpPr>
        <p:spPr>
          <a:xfrm>
            <a:off x="609600" y="1841500"/>
            <a:ext cx="6350000" cy="4064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AE431F19-7D29-52DD-E261-B00A7C0F7664}"/>
              </a:ext>
            </a:extLst>
          </p:cNvPr>
          <p:cNvSpPr/>
          <p:nvPr/>
        </p:nvSpPr>
        <p:spPr>
          <a:xfrm>
            <a:off x="939800" y="2146300"/>
            <a:ext cx="2133600" cy="304800"/>
          </a:xfrm>
          <a:prstGeom prst="round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EB60F38-2EFC-F80D-825B-0D79F7F2F0DE}"/>
              </a:ext>
            </a:extLst>
          </p:cNvPr>
          <p:cNvSpPr txBox="1"/>
          <p:nvPr/>
        </p:nvSpPr>
        <p:spPr>
          <a:xfrm>
            <a:off x="1041400" y="2209800"/>
            <a:ext cx="1930400" cy="138499"/>
          </a:xfrm>
          <a:prstGeom prst="rect">
            <a:avLst/>
          </a:prstGeom>
          <a:noFill/>
        </p:spPr>
        <p:txBody>
          <a:bodyPr vert="horz" wrap="square" lIns="0" tIns="0" rIns="0" bIns="0" rtlCol="0">
            <a:spAutoFit/>
          </a:bodyPr>
          <a:lstStyle/>
          <a:p>
            <a:pPr algn="ctr"/>
            <a:r>
              <a:rPr lang="en-US" sz="900" b="1">
                <a:solidFill>
                  <a:srgbClr val="FFFFFF"/>
                </a:solidFill>
                <a:latin typeface="Aptos" panose="020B0004020202020204" pitchFamily="34" charset="0"/>
              </a:rPr>
              <a:t>REMAINING PRODUCT WORK</a:t>
            </a:r>
          </a:p>
        </p:txBody>
      </p:sp>
      <p:sp>
        <p:nvSpPr>
          <p:cNvPr id="12" name="TextBox 11">
            <a:extLst>
              <a:ext uri="{FF2B5EF4-FFF2-40B4-BE49-F238E27FC236}">
                <a16:creationId xmlns:a16="http://schemas.microsoft.com/office/drawing/2014/main" id="{4F179516-3BA5-D359-9E70-5F2DCA6CFCFA}"/>
              </a:ext>
            </a:extLst>
          </p:cNvPr>
          <p:cNvSpPr txBox="1"/>
          <p:nvPr/>
        </p:nvSpPr>
        <p:spPr>
          <a:xfrm>
            <a:off x="939800" y="2768600"/>
            <a:ext cx="5461000" cy="2031325"/>
          </a:xfrm>
          <a:prstGeom prst="rect">
            <a:avLst/>
          </a:prstGeom>
          <a:noFill/>
        </p:spPr>
        <p:txBody>
          <a:bodyPr vert="horz" wrap="square" lIns="0" tIns="0" rIns="0" bIns="0" rtlCol="0">
            <a:spAutoFit/>
          </a:bodyPr>
          <a:lstStyle/>
          <a:p>
            <a:pPr marL="228600" lvl="0" indent="-228600">
              <a:buFont typeface="+mj-lt"/>
              <a:buAutoNum type="arabicPeriod"/>
            </a:pPr>
            <a:r>
              <a:rPr lang="en-US" sz="1100" dirty="0"/>
              <a:t>Candidate chooses Job, Training, or Both </a:t>
            </a:r>
          </a:p>
          <a:p>
            <a:pPr marL="228600" lvl="0" indent="-228600">
              <a:buFont typeface="+mj-lt"/>
              <a:buAutoNum type="arabicPeriod"/>
            </a:pPr>
            <a:endParaRPr lang="en-US" sz="1100" dirty="0"/>
          </a:p>
          <a:p>
            <a:pPr marL="228600" lvl="0" indent="-228600">
              <a:buFont typeface="+mj-lt"/>
              <a:buAutoNum type="arabicPeriod"/>
            </a:pPr>
            <a:r>
              <a:rPr lang="en-US" sz="1100" dirty="0"/>
              <a:t>Visitors safely browse jobs, training, and companies </a:t>
            </a:r>
          </a:p>
          <a:p>
            <a:pPr marL="228600" lvl="0" indent="-228600">
              <a:buFont typeface="+mj-lt"/>
              <a:buAutoNum type="arabicPeriod"/>
            </a:pPr>
            <a:endParaRPr lang="en-US" sz="1100" dirty="0"/>
          </a:p>
          <a:p>
            <a:pPr marL="228600" lvl="0" indent="-228600">
              <a:buFont typeface="+mj-lt"/>
              <a:buAutoNum type="arabicPeriod"/>
            </a:pPr>
            <a:r>
              <a:rPr lang="en-US" sz="1100" dirty="0"/>
              <a:t>Employer records adaptation or assistance for each task </a:t>
            </a:r>
          </a:p>
          <a:p>
            <a:pPr marL="228600" lvl="0" indent="-228600">
              <a:buFont typeface="+mj-lt"/>
              <a:buAutoNum type="arabicPeriod"/>
            </a:pPr>
            <a:endParaRPr lang="en-US" sz="1100" dirty="0"/>
          </a:p>
          <a:p>
            <a:pPr marL="228600" lvl="0" indent="-228600">
              <a:buFont typeface="+mj-lt"/>
              <a:buAutoNum type="arabicPeriod"/>
            </a:pPr>
            <a:r>
              <a:rPr lang="en-US" sz="1100" dirty="0"/>
              <a:t>Complete candidate-controlled reading and voice dictation </a:t>
            </a:r>
          </a:p>
          <a:p>
            <a:pPr marL="228600" lvl="0" indent="-228600">
              <a:buFont typeface="+mj-lt"/>
              <a:buAutoNum type="arabicPeriod"/>
            </a:pPr>
            <a:endParaRPr lang="en-US" sz="1100" dirty="0"/>
          </a:p>
          <a:p>
            <a:pPr marL="228600" lvl="0" indent="-228600">
              <a:buFont typeface="+mj-lt"/>
              <a:buAutoNum type="arabicPeriod"/>
            </a:pPr>
            <a:r>
              <a:rPr lang="en-US" sz="1100" dirty="0"/>
              <a:t>Upgrade company, candidate, and employer profiles </a:t>
            </a:r>
          </a:p>
          <a:p>
            <a:pPr marL="228600" lvl="0" indent="-228600">
              <a:buFont typeface="+mj-lt"/>
              <a:buAutoNum type="arabicPeriod"/>
            </a:pPr>
            <a:endParaRPr lang="en-US" sz="1100" dirty="0"/>
          </a:p>
          <a:p>
            <a:pPr marL="228600" lvl="0" indent="-228600">
              <a:buFont typeface="+mj-lt"/>
              <a:buAutoNum type="arabicPeriod"/>
            </a:pPr>
            <a:r>
              <a:rPr lang="en-US" sz="1100" dirty="0"/>
              <a:t>Finish accessibility evidence, performance tests, and deployment</a:t>
            </a:r>
          </a:p>
          <a:p>
            <a:pPr marL="228600" indent="-228600">
              <a:buFont typeface="+mj-lt"/>
              <a:buAutoNum type="arabicPeriod"/>
            </a:pPr>
            <a:endParaRPr lang="en-US" sz="1100" dirty="0">
              <a:solidFill>
                <a:srgbClr val="17243A"/>
              </a:solidFill>
              <a:latin typeface="Aptos" panose="020B0004020202020204" pitchFamily="34" charset="0"/>
            </a:endParaRPr>
          </a:p>
        </p:txBody>
      </p:sp>
      <p:sp>
        <p:nvSpPr>
          <p:cNvPr id="13" name="Rectangle: Rounded Corners 12">
            <a:extLst>
              <a:ext uri="{FF2B5EF4-FFF2-40B4-BE49-F238E27FC236}">
                <a16:creationId xmlns:a16="http://schemas.microsoft.com/office/drawing/2014/main" id="{8199A385-5843-D0F8-BC4D-63A6349E77A5}"/>
              </a:ext>
            </a:extLst>
          </p:cNvPr>
          <p:cNvSpPr/>
          <p:nvPr/>
        </p:nvSpPr>
        <p:spPr>
          <a:xfrm>
            <a:off x="7493000" y="1841500"/>
            <a:ext cx="4089400" cy="40640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E5B2AA59-009C-314E-7377-2A2A07C25C27}"/>
              </a:ext>
            </a:extLst>
          </p:cNvPr>
          <p:cNvSpPr/>
          <p:nvPr/>
        </p:nvSpPr>
        <p:spPr>
          <a:xfrm>
            <a:off x="7823200" y="2146300"/>
            <a:ext cx="1498600" cy="304800"/>
          </a:xfrm>
          <a:prstGeom prst="round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B2741C8-DB1D-A69C-BB6A-C0FDB7ED71F4}"/>
              </a:ext>
            </a:extLst>
          </p:cNvPr>
          <p:cNvSpPr txBox="1"/>
          <p:nvPr/>
        </p:nvSpPr>
        <p:spPr>
          <a:xfrm>
            <a:off x="7924800" y="2209800"/>
            <a:ext cx="1295400" cy="138499"/>
          </a:xfrm>
          <a:prstGeom prst="rect">
            <a:avLst/>
          </a:prstGeom>
          <a:noFill/>
        </p:spPr>
        <p:txBody>
          <a:bodyPr vert="horz" wrap="square" lIns="0" tIns="0" rIns="0" bIns="0" rtlCol="0">
            <a:spAutoFit/>
          </a:bodyPr>
          <a:lstStyle/>
          <a:p>
            <a:pPr algn="ctr"/>
            <a:r>
              <a:rPr lang="en-US" sz="900" b="1">
                <a:solidFill>
                  <a:srgbClr val="FFFFFF"/>
                </a:solidFill>
                <a:latin typeface="Aptos" panose="020B0004020202020204" pitchFamily="34" charset="0"/>
              </a:rPr>
              <a:t>5-MINUTE DEMO</a:t>
            </a:r>
          </a:p>
        </p:txBody>
      </p:sp>
      <p:sp>
        <p:nvSpPr>
          <p:cNvPr id="16" name="TextBox 15">
            <a:extLst>
              <a:ext uri="{FF2B5EF4-FFF2-40B4-BE49-F238E27FC236}">
                <a16:creationId xmlns:a16="http://schemas.microsoft.com/office/drawing/2014/main" id="{703BE525-F715-9AB0-408E-A0AB3B922987}"/>
              </a:ext>
            </a:extLst>
          </p:cNvPr>
          <p:cNvSpPr txBox="1"/>
          <p:nvPr/>
        </p:nvSpPr>
        <p:spPr>
          <a:xfrm>
            <a:off x="7823200" y="2794000"/>
            <a:ext cx="3302000" cy="884858"/>
          </a:xfrm>
          <a:prstGeom prst="rect">
            <a:avLst/>
          </a:prstGeom>
          <a:noFill/>
        </p:spPr>
        <p:txBody>
          <a:bodyPr vert="horz" wrap="square" lIns="0" tIns="0" rIns="0" bIns="0" rtlCol="0">
            <a:spAutoFit/>
          </a:bodyPr>
          <a:lstStyle/>
          <a:p>
            <a:r>
              <a:rPr lang="en-US" sz="1150">
                <a:solidFill>
                  <a:srgbClr val="FFFFFF"/>
                </a:solidFill>
                <a:latin typeface="Aptos" panose="020B0004020202020204" pitchFamily="34" charset="0"/>
              </a:rPr>
              <a:t>00:00  Candidate profile + consent
01:00  Match score + explanation
02:00  Employer requirements + assistance
03:00  Admin catalogue
04:00  Language + keyboard + protected route</a:t>
            </a:r>
          </a:p>
        </p:txBody>
      </p:sp>
      <p:sp>
        <p:nvSpPr>
          <p:cNvPr id="17" name="TextBox 16">
            <a:extLst>
              <a:ext uri="{FF2B5EF4-FFF2-40B4-BE49-F238E27FC236}">
                <a16:creationId xmlns:a16="http://schemas.microsoft.com/office/drawing/2014/main" id="{C3B9598B-5390-3498-6B1A-B5B6A730F0E6}"/>
              </a:ext>
            </a:extLst>
          </p:cNvPr>
          <p:cNvSpPr txBox="1"/>
          <p:nvPr/>
        </p:nvSpPr>
        <p:spPr>
          <a:xfrm>
            <a:off x="7823200" y="4775200"/>
            <a:ext cx="3302000" cy="600164"/>
          </a:xfrm>
          <a:prstGeom prst="rect">
            <a:avLst/>
          </a:prstGeom>
          <a:noFill/>
        </p:spPr>
        <p:txBody>
          <a:bodyPr vert="horz" wrap="square" lIns="0" tIns="0" rIns="0" bIns="0" rtlCol="0">
            <a:spAutoFit/>
          </a:bodyPr>
          <a:lstStyle/>
          <a:p>
            <a:pPr algn="ctr"/>
            <a:r>
              <a:rPr lang="en-US" sz="1300" b="1">
                <a:solidFill>
                  <a:srgbClr val="FFFFFF"/>
                </a:solidFill>
                <a:latin typeface="Aptos Display" panose="020B0004020202020204" pitchFamily="34" charset="0"/>
              </a:rPr>
              <a:t>The platform connects people to real businesses and supports human decisions instead of replacing them.</a:t>
            </a:r>
          </a:p>
        </p:txBody>
      </p:sp>
    </p:spTree>
    <p:extLst>
      <p:ext uri="{BB962C8B-B14F-4D97-AF65-F5344CB8AC3E}">
        <p14:creationId xmlns:p14="http://schemas.microsoft.com/office/powerpoint/2010/main" val="2293238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C436E8F-2581-4679-A63D-3F0455CF5BE0}"/>
              </a:ext>
            </a:extLst>
          </p:cNvPr>
          <p:cNvSpPr>
            <a:spLocks noGrp="1"/>
          </p:cNvSpPr>
          <p:nvPr>
            <p:ph type="ctrTitle"/>
          </p:nvPr>
        </p:nvSpPr>
        <p:spPr>
          <a:xfrm>
            <a:off x="2026693" y="1030406"/>
            <a:ext cx="8147713" cy="3081242"/>
          </a:xfrm>
        </p:spPr>
        <p:txBody>
          <a:bodyPr anchor="ctr">
            <a:normAutofit/>
          </a:bodyPr>
          <a:lstStyle/>
          <a:p>
            <a:r>
              <a:rPr lang="en-US" sz="4800">
                <a:solidFill>
                  <a:srgbClr val="FFFFFF"/>
                </a:solidFill>
              </a:rPr>
              <a:t>Thank you</a:t>
            </a:r>
          </a:p>
        </p:txBody>
      </p:sp>
      <p:sp>
        <p:nvSpPr>
          <p:cNvPr id="3" name="Subtitle 2">
            <a:extLst>
              <a:ext uri="{FF2B5EF4-FFF2-40B4-BE49-F238E27FC236}">
                <a16:creationId xmlns:a16="http://schemas.microsoft.com/office/drawing/2014/main" id="{4C98D619-7476-A2BF-7E8C-12BDEC8DC37A}"/>
              </a:ext>
            </a:extLst>
          </p:cNvPr>
          <p:cNvSpPr>
            <a:spLocks noGrp="1"/>
          </p:cNvSpPr>
          <p:nvPr>
            <p:ph type="subTitle" idx="1"/>
          </p:nvPr>
        </p:nvSpPr>
        <p:spPr>
          <a:xfrm>
            <a:off x="1559943" y="5171093"/>
            <a:ext cx="9078628" cy="860620"/>
          </a:xfrm>
        </p:spPr>
        <p:txBody>
          <a:bodyPr anchor="ctr">
            <a:normAutofit/>
          </a:bodyPr>
          <a:lstStyle/>
          <a:p>
            <a:r>
              <a:rPr lang="en-US" dirty="0">
                <a:solidFill>
                  <a:srgbClr val="FFFFFF"/>
                </a:solidFill>
              </a:rPr>
              <a:t>Any questions ?</a:t>
            </a:r>
          </a:p>
        </p:txBody>
      </p:sp>
    </p:spTree>
    <p:extLst>
      <p:ext uri="{BB962C8B-B14F-4D97-AF65-F5344CB8AC3E}">
        <p14:creationId xmlns:p14="http://schemas.microsoft.com/office/powerpoint/2010/main" val="980261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400</TotalTime>
  <Words>1998</Words>
  <Application>Microsoft Office PowerPoint</Application>
  <PresentationFormat>Widescreen</PresentationFormat>
  <Paragraphs>270</Paragraphs>
  <Slides>17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Zaidan Mansour</dc:creator>
  <cp:lastModifiedBy>Zaidan Mansour</cp:lastModifiedBy>
  <cp:revision>13</cp:revision>
  <dcterms:created xsi:type="dcterms:W3CDTF">2026-08-26T15:10:00Z</dcterms:created>
  <dcterms:modified xsi:type="dcterms:W3CDTF">2026-09-01T11:32:08Z</dcterms:modified>
</cp:coreProperties>
</file>