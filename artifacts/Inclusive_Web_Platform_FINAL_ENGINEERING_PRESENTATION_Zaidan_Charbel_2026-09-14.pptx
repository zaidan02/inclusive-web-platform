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B924D3-262D-44F7-B32C-C5AE56866B97}" type="datetimeFigureOut">
              <a:rPr lang="en-US" smtClean="0"/>
              <a:t>9/11/2026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C38B2-874D-483A-BADD-470EFE8FD4B9}" type="slidenum">
              <a:rPr lang="en-US" smtClean="0"/>
              <a:t>‹#›</a:t>
            </a:fld>
            <a:endParaRPr lang="en-US"/>
          </a:p>
        </p:txBody>
      </p:sp>
    </p:spTree>
    <p:extLst>
      <p:ext uri="{BB962C8B-B14F-4D97-AF65-F5344CB8AC3E}">
        <p14:creationId xmlns:p14="http://schemas.microsoft.com/office/powerpoint/2010/main" val="2922334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20 seconds - Zaidan. Introduce the team and state: this is an accessibility, software architecture, explainable matching, deployment and verification project; AI assists but does not make hiring decisions.</a:t>
            </a:r>
          </a:p>
        </p:txBody>
      </p:sp>
      <p:sp>
        <p:nvSpPr>
          <p:cNvPr id="4" name="Slide Number Placeholder 3"/>
          <p:cNvSpPr>
            <a:spLocks noGrp="1"/>
          </p:cNvSpPr>
          <p:nvPr>
            <p:ph type="sldNum" sz="quarter" idx="5"/>
          </p:nvPr>
        </p:nvSpPr>
        <p:spPr/>
        <p:txBody>
          <a:bodyPr/>
          <a:lstStyle/>
          <a:p>
            <a:fld id="{566C38B2-874D-483A-BADD-470EFE8FD4B9}" type="slidenum">
              <a:rPr lang="en-US" smtClean="0"/>
              <a:t>1</a:t>
            </a:fld>
            <a:endParaRPr lang="en-US"/>
          </a:p>
        </p:txBody>
      </p:sp>
    </p:spTree>
    <p:extLst>
      <p:ext uri="{BB962C8B-B14F-4D97-AF65-F5344CB8AC3E}">
        <p14:creationId xmlns:p14="http://schemas.microsoft.com/office/powerpoint/2010/main" val="3073467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20 seconds - Zaidan. Give the jury the route: evidence of need, requirements, technical design, implemented workflows, measured verification, then delivery and demo.</a:t>
            </a:r>
          </a:p>
        </p:txBody>
      </p:sp>
      <p:sp>
        <p:nvSpPr>
          <p:cNvPr id="4" name="Slide Number Placeholder 3"/>
          <p:cNvSpPr>
            <a:spLocks noGrp="1"/>
          </p:cNvSpPr>
          <p:nvPr>
            <p:ph type="sldNum" sz="quarter" idx="5"/>
          </p:nvPr>
        </p:nvSpPr>
        <p:spPr/>
        <p:txBody>
          <a:bodyPr/>
          <a:lstStyle/>
          <a:p>
            <a:fld id="{566C38B2-874D-483A-BADD-470EFE8FD4B9}" type="slidenum">
              <a:rPr lang="en-US" smtClean="0"/>
              <a:t>2</a:t>
            </a:fld>
            <a:endParaRPr lang="en-US"/>
          </a:p>
        </p:txBody>
      </p:sp>
    </p:spTree>
    <p:extLst>
      <p:ext uri="{BB962C8B-B14F-4D97-AF65-F5344CB8AC3E}">
        <p14:creationId xmlns:p14="http://schemas.microsoft.com/office/powerpoint/2010/main" val="211578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35 seconds - Zaidan. State the three numbers, then frame the problem carefully: the platform reduces barriers and distance; it does not claim to create jobs or solve unemployment by itself.</a:t>
            </a:r>
          </a:p>
        </p:txBody>
      </p:sp>
      <p:sp>
        <p:nvSpPr>
          <p:cNvPr id="4" name="Slide Number Placeholder 3"/>
          <p:cNvSpPr>
            <a:spLocks noGrp="1"/>
          </p:cNvSpPr>
          <p:nvPr>
            <p:ph type="sldNum" sz="quarter" idx="5"/>
          </p:nvPr>
        </p:nvSpPr>
        <p:spPr/>
        <p:txBody>
          <a:bodyPr/>
          <a:lstStyle/>
          <a:p>
            <a:fld id="{566C38B2-874D-483A-BADD-470EFE8FD4B9}" type="slidenum">
              <a:rPr lang="en-US" smtClean="0"/>
              <a:t>3</a:t>
            </a:fld>
            <a:endParaRPr lang="en-US"/>
          </a:p>
        </p:txBody>
      </p:sp>
    </p:spTree>
    <p:extLst>
      <p:ext uri="{BB962C8B-B14F-4D97-AF65-F5344CB8AC3E}">
        <p14:creationId xmlns:p14="http://schemas.microsoft.com/office/powerpoint/2010/main" val="40303904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30 seconds - Zaidan. Explain the evolution without presenting it as a dated hardware history. The design follows a rights-based view: inaccessible processes are engineering barriers that can be redesigned.</a:t>
            </a:r>
          </a:p>
        </p:txBody>
      </p:sp>
      <p:sp>
        <p:nvSpPr>
          <p:cNvPr id="4" name="Slide Number Placeholder 3"/>
          <p:cNvSpPr>
            <a:spLocks noGrp="1"/>
          </p:cNvSpPr>
          <p:nvPr>
            <p:ph type="sldNum" sz="quarter" idx="5"/>
          </p:nvPr>
        </p:nvSpPr>
        <p:spPr/>
        <p:txBody>
          <a:bodyPr/>
          <a:lstStyle/>
          <a:p>
            <a:fld id="{566C38B2-874D-483A-BADD-470EFE8FD4B9}" type="slidenum">
              <a:rPr lang="en-US" smtClean="0"/>
              <a:t>4</a:t>
            </a:fld>
            <a:endParaRPr lang="en-US"/>
          </a:p>
        </p:txBody>
      </p:sp>
    </p:spTree>
    <p:extLst>
      <p:ext uri="{BB962C8B-B14F-4D97-AF65-F5344CB8AC3E}">
        <p14:creationId xmlns:p14="http://schemas.microsoft.com/office/powerpoint/2010/main" val="2596696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35 seconds - Zaidan. Compare categories, not brands. The gap is integration: accessibility plus task evidence plus human control in one workflow.</a:t>
            </a:r>
          </a:p>
        </p:txBody>
      </p:sp>
      <p:sp>
        <p:nvSpPr>
          <p:cNvPr id="4" name="Slide Number Placeholder 3"/>
          <p:cNvSpPr>
            <a:spLocks noGrp="1"/>
          </p:cNvSpPr>
          <p:nvPr>
            <p:ph type="sldNum" sz="quarter" idx="5"/>
          </p:nvPr>
        </p:nvSpPr>
        <p:spPr/>
        <p:txBody>
          <a:bodyPr/>
          <a:lstStyle/>
          <a:p>
            <a:fld id="{566C38B2-874D-483A-BADD-470EFE8FD4B9}" type="slidenum">
              <a:rPr lang="en-US" smtClean="0"/>
              <a:t>5</a:t>
            </a:fld>
            <a:endParaRPr lang="en-US"/>
          </a:p>
        </p:txBody>
      </p:sp>
    </p:spTree>
    <p:extLst>
      <p:ext uri="{BB962C8B-B14F-4D97-AF65-F5344CB8AC3E}">
        <p14:creationId xmlns:p14="http://schemas.microsoft.com/office/powerpoint/2010/main" val="30224152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35 seconds - Zaidan. Use the numbers as evidence of engineering scale, then summarize the integrated contribution. The 74 opportunities are the recorded staging snapshot, not a production employment claim.</a:t>
            </a:r>
          </a:p>
        </p:txBody>
      </p:sp>
      <p:sp>
        <p:nvSpPr>
          <p:cNvPr id="4" name="Slide Number Placeholder 3"/>
          <p:cNvSpPr>
            <a:spLocks noGrp="1"/>
          </p:cNvSpPr>
          <p:nvPr>
            <p:ph type="sldNum" sz="quarter" idx="5"/>
          </p:nvPr>
        </p:nvSpPr>
        <p:spPr/>
        <p:txBody>
          <a:bodyPr/>
          <a:lstStyle/>
          <a:p>
            <a:fld id="{566C38B2-874D-483A-BADD-470EFE8FD4B9}" type="slidenum">
              <a:rPr lang="en-US" smtClean="0"/>
              <a:t>6</a:t>
            </a:fld>
            <a:endParaRPr lang="en-US"/>
          </a:p>
        </p:txBody>
      </p:sp>
    </p:spTree>
    <p:extLst>
      <p:ext uri="{BB962C8B-B14F-4D97-AF65-F5344CB8AC3E}">
        <p14:creationId xmlns:p14="http://schemas.microsoft.com/office/powerpoint/2010/main" val="2292424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35 seconds - Zaidan. Walk across the four roles. Emphasize server-authorized workflows and that training opportunities are handled alongside work offers.</a:t>
            </a:r>
          </a:p>
        </p:txBody>
      </p:sp>
      <p:sp>
        <p:nvSpPr>
          <p:cNvPr id="4" name="Slide Number Placeholder 3"/>
          <p:cNvSpPr>
            <a:spLocks noGrp="1"/>
          </p:cNvSpPr>
          <p:nvPr>
            <p:ph type="sldNum" sz="quarter" idx="5"/>
          </p:nvPr>
        </p:nvSpPr>
        <p:spPr/>
        <p:txBody>
          <a:bodyPr/>
          <a:lstStyle/>
          <a:p>
            <a:fld id="{566C38B2-874D-483A-BADD-470EFE8FD4B9}" type="slidenum">
              <a:rPr lang="en-US" smtClean="0"/>
              <a:t>7</a:t>
            </a:fld>
            <a:endParaRPr lang="en-US"/>
          </a:p>
        </p:txBody>
      </p:sp>
    </p:spTree>
    <p:extLst>
      <p:ext uri="{BB962C8B-B14F-4D97-AF65-F5344CB8AC3E}">
        <p14:creationId xmlns:p14="http://schemas.microsoft.com/office/powerpoint/2010/main" val="25136882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35 seconds - Zaidan. Define NFRs as measurable engineering qualities. State that final evidence includes both passes and open findings.</a:t>
            </a:r>
          </a:p>
        </p:txBody>
      </p:sp>
      <p:sp>
        <p:nvSpPr>
          <p:cNvPr id="4" name="Slide Number Placeholder 3"/>
          <p:cNvSpPr>
            <a:spLocks noGrp="1"/>
          </p:cNvSpPr>
          <p:nvPr>
            <p:ph type="sldNum" sz="quarter" idx="5"/>
          </p:nvPr>
        </p:nvSpPr>
        <p:spPr/>
        <p:txBody>
          <a:bodyPr/>
          <a:lstStyle/>
          <a:p>
            <a:fld id="{566C38B2-874D-483A-BADD-470EFE8FD4B9}" type="slidenum">
              <a:rPr lang="en-US" smtClean="0"/>
              <a:t>8</a:t>
            </a:fld>
            <a:endParaRPr lang="en-US"/>
          </a:p>
        </p:txBody>
      </p:sp>
    </p:spTree>
    <p:extLst>
      <p:ext uri="{BB962C8B-B14F-4D97-AF65-F5344CB8AC3E}">
        <p14:creationId xmlns:p14="http://schemas.microsoft.com/office/powerpoint/2010/main" val="1302989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seconds - Zaidan. Define POUR, show implemented examples, then state the conformance boundary. This honesty is stronger engineering evidence than claiming that an automated scan proves compliance.</a:t>
            </a:r>
          </a:p>
        </p:txBody>
      </p:sp>
      <p:sp>
        <p:nvSpPr>
          <p:cNvPr id="4" name="Slide Number Placeholder 3"/>
          <p:cNvSpPr>
            <a:spLocks noGrp="1"/>
          </p:cNvSpPr>
          <p:nvPr>
            <p:ph type="sldNum" sz="quarter" idx="5"/>
          </p:nvPr>
        </p:nvSpPr>
        <p:spPr/>
        <p:txBody>
          <a:bodyPr/>
          <a:lstStyle/>
          <a:p>
            <a:fld id="{566C38B2-874D-483A-BADD-470EFE8FD4B9}" type="slidenum">
              <a:rPr lang="en-US" smtClean="0"/>
              <a:t>9</a:t>
            </a:fld>
            <a:endParaRPr lang="en-US"/>
          </a:p>
        </p:txBody>
      </p:sp>
    </p:spTree>
    <p:extLst>
      <p:ext uri="{BB962C8B-B14F-4D97-AF65-F5344CB8AC3E}">
        <p14:creationId xmlns:p14="http://schemas.microsoft.com/office/powerpoint/2010/main" val="22146677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seconds - Zaidan. Walk left to right. React never authorizes itself. Symfony validates the session, role and payload. AI and scoring are separate services with different responsibilities.</a:t>
            </a:r>
          </a:p>
        </p:txBody>
      </p:sp>
      <p:sp>
        <p:nvSpPr>
          <p:cNvPr id="4" name="Slide Number Placeholder 3"/>
          <p:cNvSpPr>
            <a:spLocks noGrp="1"/>
          </p:cNvSpPr>
          <p:nvPr>
            <p:ph type="sldNum" sz="quarter" idx="5"/>
          </p:nvPr>
        </p:nvSpPr>
        <p:spPr/>
        <p:txBody>
          <a:bodyPr/>
          <a:lstStyle/>
          <a:p>
            <a:fld id="{566C38B2-874D-483A-BADD-470EFE8FD4B9}" type="slidenum">
              <a:rPr lang="en-US" smtClean="0"/>
              <a:t>10</a:t>
            </a:fld>
            <a:endParaRPr lang="en-US"/>
          </a:p>
        </p:txBody>
      </p:sp>
    </p:spTree>
    <p:extLst>
      <p:ext uri="{BB962C8B-B14F-4D97-AF65-F5344CB8AC3E}">
        <p14:creationId xmlns:p14="http://schemas.microsoft.com/office/powerpoint/2010/main" val="336648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35 seconds - Zaidan. Do not define every textbook term. Show how each pattern solves a concrete project risk: coupling, unsafe AI actions, opaque matching or lost decision history.</a:t>
            </a:r>
          </a:p>
        </p:txBody>
      </p:sp>
      <p:sp>
        <p:nvSpPr>
          <p:cNvPr id="4" name="Slide Number Placeholder 3"/>
          <p:cNvSpPr>
            <a:spLocks noGrp="1"/>
          </p:cNvSpPr>
          <p:nvPr>
            <p:ph type="sldNum" sz="quarter" idx="5"/>
          </p:nvPr>
        </p:nvSpPr>
        <p:spPr/>
        <p:txBody>
          <a:bodyPr/>
          <a:lstStyle/>
          <a:p>
            <a:fld id="{566C38B2-874D-483A-BADD-470EFE8FD4B9}" type="slidenum">
              <a:rPr lang="en-US" smtClean="0"/>
              <a:t>11</a:t>
            </a:fld>
            <a:endParaRPr lang="en-US"/>
          </a:p>
        </p:txBody>
      </p:sp>
    </p:spTree>
    <p:extLst>
      <p:ext uri="{BB962C8B-B14F-4D97-AF65-F5344CB8AC3E}">
        <p14:creationId xmlns:p14="http://schemas.microsoft.com/office/powerpoint/2010/main" val="41438577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 seconds - Zaidan. End the first half here. Distinguish the 51 route checks from the 20-case security quality register, where one oversized-upload behavior remains open.</a:t>
            </a:r>
          </a:p>
        </p:txBody>
      </p:sp>
      <p:sp>
        <p:nvSpPr>
          <p:cNvPr id="4" name="Slide Number Placeholder 3"/>
          <p:cNvSpPr>
            <a:spLocks noGrp="1"/>
          </p:cNvSpPr>
          <p:nvPr>
            <p:ph type="sldNum" sz="quarter" idx="5"/>
          </p:nvPr>
        </p:nvSpPr>
        <p:spPr/>
        <p:txBody>
          <a:bodyPr/>
          <a:lstStyle/>
          <a:p>
            <a:fld id="{566C38B2-874D-483A-BADD-470EFE8FD4B9}" type="slidenum">
              <a:rPr lang="en-US" smtClean="0"/>
              <a:t>12</a:t>
            </a:fld>
            <a:endParaRPr lang="en-US"/>
          </a:p>
        </p:txBody>
      </p:sp>
    </p:spTree>
    <p:extLst>
      <p:ext uri="{BB962C8B-B14F-4D97-AF65-F5344CB8AC3E}">
        <p14:creationId xmlns:p14="http://schemas.microsoft.com/office/powerpoint/2010/main" val="39957533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 seconds - Charbel. Begin the implementation half with deployment evidence. Services run in Frankfurt except the global static frontend. HTTPS enables remote microphone access.</a:t>
            </a:r>
          </a:p>
        </p:txBody>
      </p:sp>
      <p:sp>
        <p:nvSpPr>
          <p:cNvPr id="4" name="Slide Number Placeholder 3"/>
          <p:cNvSpPr>
            <a:spLocks noGrp="1"/>
          </p:cNvSpPr>
          <p:nvPr>
            <p:ph type="sldNum" sz="quarter" idx="5"/>
          </p:nvPr>
        </p:nvSpPr>
        <p:spPr/>
        <p:txBody>
          <a:bodyPr/>
          <a:lstStyle/>
          <a:p>
            <a:fld id="{566C38B2-874D-483A-BADD-470EFE8FD4B9}" type="slidenum">
              <a:rPr lang="en-US" smtClean="0"/>
              <a:t>13</a:t>
            </a:fld>
            <a:endParaRPr lang="en-US"/>
          </a:p>
        </p:txBody>
      </p:sp>
    </p:spTree>
    <p:extLst>
      <p:ext uri="{BB962C8B-B14F-4D97-AF65-F5344CB8AC3E}">
        <p14:creationId xmlns:p14="http://schemas.microsoft.com/office/powerpoint/2010/main" val="1791259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30 seconds - Charbel. The important sequence is editable transcript, explicit consent, structured suggestions, human selection, backend validation. Profile reset allows a candidate to start again.</a:t>
            </a:r>
          </a:p>
        </p:txBody>
      </p:sp>
      <p:sp>
        <p:nvSpPr>
          <p:cNvPr id="4" name="Slide Number Placeholder 3"/>
          <p:cNvSpPr>
            <a:spLocks noGrp="1"/>
          </p:cNvSpPr>
          <p:nvPr>
            <p:ph type="sldNum" sz="quarter" idx="5"/>
          </p:nvPr>
        </p:nvSpPr>
        <p:spPr/>
        <p:txBody>
          <a:bodyPr/>
          <a:lstStyle/>
          <a:p>
            <a:fld id="{566C38B2-874D-483A-BADD-470EFE8FD4B9}" type="slidenum">
              <a:rPr lang="en-US" smtClean="0"/>
              <a:t>14</a:t>
            </a:fld>
            <a:endParaRPr lang="en-US"/>
          </a:p>
        </p:txBody>
      </p:sp>
    </p:spTree>
    <p:extLst>
      <p:ext uri="{BB962C8B-B14F-4D97-AF65-F5344CB8AC3E}">
        <p14:creationId xmlns:p14="http://schemas.microsoft.com/office/powerpoint/2010/main" val="21966666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 seconds - Charbel. Show real deployed outputs, then give the honest result. The assistant did not save any item during the matrix. The principal defect was preference extraction, not unsafe automatic persistence.</a:t>
            </a:r>
          </a:p>
        </p:txBody>
      </p:sp>
      <p:sp>
        <p:nvSpPr>
          <p:cNvPr id="4" name="Slide Number Placeholder 3"/>
          <p:cNvSpPr>
            <a:spLocks noGrp="1"/>
          </p:cNvSpPr>
          <p:nvPr>
            <p:ph type="sldNum" sz="quarter" idx="5"/>
          </p:nvPr>
        </p:nvSpPr>
        <p:spPr/>
        <p:txBody>
          <a:bodyPr/>
          <a:lstStyle/>
          <a:p>
            <a:fld id="{566C38B2-874D-483A-BADD-470EFE8FD4B9}" type="slidenum">
              <a:rPr lang="en-US" smtClean="0"/>
              <a:t>15</a:t>
            </a:fld>
            <a:endParaRPr lang="en-US"/>
          </a:p>
        </p:txBody>
      </p:sp>
    </p:spTree>
    <p:extLst>
      <p:ext uri="{BB962C8B-B14F-4D97-AF65-F5344CB8AC3E}">
        <p14:creationId xmlns:p14="http://schemas.microsoft.com/office/powerpoint/2010/main" val="1759886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35 seconds - Charbel. Separate acoustic quality from action safety. The automated suite proves authorization logic, while manual observations show noise and character-sequence limitations.</a:t>
            </a:r>
          </a:p>
        </p:txBody>
      </p:sp>
      <p:sp>
        <p:nvSpPr>
          <p:cNvPr id="4" name="Slide Number Placeholder 3"/>
          <p:cNvSpPr>
            <a:spLocks noGrp="1"/>
          </p:cNvSpPr>
          <p:nvPr>
            <p:ph type="sldNum" sz="quarter" idx="5"/>
          </p:nvPr>
        </p:nvSpPr>
        <p:spPr/>
        <p:txBody>
          <a:bodyPr/>
          <a:lstStyle/>
          <a:p>
            <a:fld id="{566C38B2-874D-483A-BADD-470EFE8FD4B9}" type="slidenum">
              <a:rPr lang="en-US" smtClean="0"/>
              <a:t>16</a:t>
            </a:fld>
            <a:endParaRPr lang="en-US"/>
          </a:p>
        </p:txBody>
      </p:sp>
    </p:spTree>
    <p:extLst>
      <p:ext uri="{BB962C8B-B14F-4D97-AF65-F5344CB8AC3E}">
        <p14:creationId xmlns:p14="http://schemas.microsoft.com/office/powerpoint/2010/main" val="27254169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40 seconds - Charbel. Explain the numerator and denominator, then the three feasibility factors. State why deterministic policy is appropriate: versionable expert evidence, reproducibility and individual explanations.</a:t>
            </a:r>
          </a:p>
        </p:txBody>
      </p:sp>
      <p:sp>
        <p:nvSpPr>
          <p:cNvPr id="4" name="Slide Number Placeholder 3"/>
          <p:cNvSpPr>
            <a:spLocks noGrp="1"/>
          </p:cNvSpPr>
          <p:nvPr>
            <p:ph type="sldNum" sz="quarter" idx="5"/>
          </p:nvPr>
        </p:nvSpPr>
        <p:spPr/>
        <p:txBody>
          <a:bodyPr/>
          <a:lstStyle/>
          <a:p>
            <a:fld id="{566C38B2-874D-483A-BADD-470EFE8FD4B9}" type="slidenum">
              <a:rPr lang="en-US" smtClean="0"/>
              <a:t>17</a:t>
            </a:fld>
            <a:endParaRPr lang="en-US"/>
          </a:p>
        </p:txBody>
      </p:sp>
    </p:spTree>
    <p:extLst>
      <p:ext uri="{BB962C8B-B14F-4D97-AF65-F5344CB8AC3E}">
        <p14:creationId xmlns:p14="http://schemas.microsoft.com/office/powerpoint/2010/main" val="22399869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 seconds - Charbel. Emphasize employer control. A role supplies consistent tasks, while the employer supplies actual requirements, priorities and available support for that opportunity.</a:t>
            </a:r>
          </a:p>
        </p:txBody>
      </p:sp>
      <p:sp>
        <p:nvSpPr>
          <p:cNvPr id="4" name="Slide Number Placeholder 3"/>
          <p:cNvSpPr>
            <a:spLocks noGrp="1"/>
          </p:cNvSpPr>
          <p:nvPr>
            <p:ph type="sldNum" sz="quarter" idx="5"/>
          </p:nvPr>
        </p:nvSpPr>
        <p:spPr/>
        <p:txBody>
          <a:bodyPr/>
          <a:lstStyle/>
          <a:p>
            <a:fld id="{566C38B2-874D-483A-BADD-470EFE8FD4B9}" type="slidenum">
              <a:rPr lang="en-US" smtClean="0"/>
              <a:t>18</a:t>
            </a:fld>
            <a:endParaRPr lang="en-US"/>
          </a:p>
        </p:txBody>
      </p:sp>
    </p:spTree>
    <p:extLst>
      <p:ext uri="{BB962C8B-B14F-4D97-AF65-F5344CB8AC3E}">
        <p14:creationId xmlns:p14="http://schemas.microsoft.com/office/powerpoint/2010/main" val="32194608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 seconds - Charbel. Trace one application from verified candidate to employer decision. The stored compatibility snapshot and chronological status events preserve what happened and when.</a:t>
            </a:r>
          </a:p>
        </p:txBody>
      </p:sp>
      <p:sp>
        <p:nvSpPr>
          <p:cNvPr id="4" name="Slide Number Placeholder 3"/>
          <p:cNvSpPr>
            <a:spLocks noGrp="1"/>
          </p:cNvSpPr>
          <p:nvPr>
            <p:ph type="sldNum" sz="quarter" idx="5"/>
          </p:nvPr>
        </p:nvSpPr>
        <p:spPr/>
        <p:txBody>
          <a:bodyPr/>
          <a:lstStyle/>
          <a:p>
            <a:fld id="{566C38B2-874D-483A-BADD-470EFE8FD4B9}" type="slidenum">
              <a:rPr lang="en-US" smtClean="0"/>
              <a:t>19</a:t>
            </a:fld>
            <a:endParaRPr lang="en-US"/>
          </a:p>
        </p:txBody>
      </p:sp>
    </p:spTree>
    <p:extLst>
      <p:ext uri="{BB962C8B-B14F-4D97-AF65-F5344CB8AC3E}">
        <p14:creationId xmlns:p14="http://schemas.microsoft.com/office/powerpoint/2010/main" val="365324262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 seconds - Charbel. Explain why multiple layers are needed. Unit tests prove rules, browser tests prove workflows, staging proves deployment integration, and real users expose barriers automation misses.</a:t>
            </a:r>
          </a:p>
        </p:txBody>
      </p:sp>
      <p:sp>
        <p:nvSpPr>
          <p:cNvPr id="4" name="Slide Number Placeholder 3"/>
          <p:cNvSpPr>
            <a:spLocks noGrp="1"/>
          </p:cNvSpPr>
          <p:nvPr>
            <p:ph type="sldNum" sz="quarter" idx="5"/>
          </p:nvPr>
        </p:nvSpPr>
        <p:spPr/>
        <p:txBody>
          <a:bodyPr/>
          <a:lstStyle/>
          <a:p>
            <a:fld id="{566C38B2-874D-483A-BADD-470EFE8FD4B9}" type="slidenum">
              <a:rPr lang="en-US" smtClean="0"/>
              <a:t>20</a:t>
            </a:fld>
            <a:endParaRPr lang="en-US"/>
          </a:p>
        </p:txBody>
      </p:sp>
    </p:spTree>
    <p:extLst>
      <p:ext uri="{BB962C8B-B14F-4D97-AF65-F5344CB8AC3E}">
        <p14:creationId xmlns:p14="http://schemas.microsoft.com/office/powerpoint/2010/main" val="42299824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35 seconds - Charbel. Lead with 310 executed and 93.2 percent final pass. Explain exactly how 15 noisy partials became final passes, and that the 21 failures remain visible.</a:t>
            </a:r>
          </a:p>
        </p:txBody>
      </p:sp>
      <p:sp>
        <p:nvSpPr>
          <p:cNvPr id="4" name="Slide Number Placeholder 3"/>
          <p:cNvSpPr>
            <a:spLocks noGrp="1"/>
          </p:cNvSpPr>
          <p:nvPr>
            <p:ph type="sldNum" sz="quarter" idx="5"/>
          </p:nvPr>
        </p:nvSpPr>
        <p:spPr/>
        <p:txBody>
          <a:bodyPr/>
          <a:lstStyle/>
          <a:p>
            <a:fld id="{566C38B2-874D-483A-BADD-470EFE8FD4B9}" type="slidenum">
              <a:rPr lang="en-US" smtClean="0"/>
              <a:t>21</a:t>
            </a:fld>
            <a:endParaRPr lang="en-US"/>
          </a:p>
        </p:txBody>
      </p:sp>
    </p:spTree>
    <p:extLst>
      <p:ext uri="{BB962C8B-B14F-4D97-AF65-F5344CB8AC3E}">
        <p14:creationId xmlns:p14="http://schemas.microsoft.com/office/powerpoint/2010/main" val="703510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30 seconds - Charbel. Do not read every bar. Say that seven areas reached 100 percent final pass, while AI, security and especially performance expose the main improvement priorities.</a:t>
            </a:r>
          </a:p>
        </p:txBody>
      </p:sp>
      <p:sp>
        <p:nvSpPr>
          <p:cNvPr id="4" name="Slide Number Placeholder 3"/>
          <p:cNvSpPr>
            <a:spLocks noGrp="1"/>
          </p:cNvSpPr>
          <p:nvPr>
            <p:ph type="sldNum" sz="quarter" idx="5"/>
          </p:nvPr>
        </p:nvSpPr>
        <p:spPr/>
        <p:txBody>
          <a:bodyPr/>
          <a:lstStyle/>
          <a:p>
            <a:fld id="{566C38B2-874D-483A-BADD-470EFE8FD4B9}" type="slidenum">
              <a:rPr lang="en-US" smtClean="0"/>
              <a:t>22</a:t>
            </a:fld>
            <a:endParaRPr lang="en-US"/>
          </a:p>
        </p:txBody>
      </p:sp>
    </p:spTree>
    <p:extLst>
      <p:ext uri="{BB962C8B-B14F-4D97-AF65-F5344CB8AC3E}">
        <p14:creationId xmlns:p14="http://schemas.microsoft.com/office/powerpoint/2010/main" val="11631394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25 seconds - Charbel. These findings demonstrate the value of testing. Prioritize the upload defect and accessibility issues; latency and acoustic quality require capacity and controlled-environment follow-up.</a:t>
            </a:r>
          </a:p>
        </p:txBody>
      </p:sp>
      <p:sp>
        <p:nvSpPr>
          <p:cNvPr id="4" name="Slide Number Placeholder 3"/>
          <p:cNvSpPr>
            <a:spLocks noGrp="1"/>
          </p:cNvSpPr>
          <p:nvPr>
            <p:ph type="sldNum" sz="quarter" idx="5"/>
          </p:nvPr>
        </p:nvSpPr>
        <p:spPr/>
        <p:txBody>
          <a:bodyPr/>
          <a:lstStyle/>
          <a:p>
            <a:fld id="{566C38B2-874D-483A-BADD-470EFE8FD4B9}" type="slidenum">
              <a:rPr lang="en-US" smtClean="0"/>
              <a:t>23</a:t>
            </a:fld>
            <a:endParaRPr lang="en-US"/>
          </a:p>
        </p:txBody>
      </p:sp>
    </p:spTree>
    <p:extLst>
      <p:ext uri="{BB962C8B-B14F-4D97-AF65-F5344CB8AC3E}">
        <p14:creationId xmlns:p14="http://schemas.microsoft.com/office/powerpoint/2010/main" val="2130640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35 seconds - Charbel. Explain the two separate activities: 20-person Arc en Ciel session and focused JAWS evaluation with Noelle. Avoid claiming this proves universal usability or full WCAG conformance.</a:t>
            </a:r>
          </a:p>
        </p:txBody>
      </p:sp>
      <p:sp>
        <p:nvSpPr>
          <p:cNvPr id="4" name="Slide Number Placeholder 3"/>
          <p:cNvSpPr>
            <a:spLocks noGrp="1"/>
          </p:cNvSpPr>
          <p:nvPr>
            <p:ph type="sldNum" sz="quarter" idx="5"/>
          </p:nvPr>
        </p:nvSpPr>
        <p:spPr/>
        <p:txBody>
          <a:bodyPr/>
          <a:lstStyle/>
          <a:p>
            <a:fld id="{566C38B2-874D-483A-BADD-470EFE8FD4B9}" type="slidenum">
              <a:rPr lang="en-US" smtClean="0"/>
              <a:t>24</a:t>
            </a:fld>
            <a:endParaRPr lang="en-US"/>
          </a:p>
        </p:txBody>
      </p:sp>
    </p:spTree>
    <p:extLst>
      <p:ext uri="{BB962C8B-B14F-4D97-AF65-F5344CB8AC3E}">
        <p14:creationId xmlns:p14="http://schemas.microsoft.com/office/powerpoint/2010/main" val="4132456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30 seconds - Charbel. Separate correctness from speed. All shared-load responses succeeded, but most latency targets did not. This supports the prototype while defining production hardening work.</a:t>
            </a:r>
          </a:p>
        </p:txBody>
      </p:sp>
      <p:sp>
        <p:nvSpPr>
          <p:cNvPr id="4" name="Slide Number Placeholder 3"/>
          <p:cNvSpPr>
            <a:spLocks noGrp="1"/>
          </p:cNvSpPr>
          <p:nvPr>
            <p:ph type="sldNum" sz="quarter" idx="5"/>
          </p:nvPr>
        </p:nvSpPr>
        <p:spPr/>
        <p:txBody>
          <a:bodyPr/>
          <a:lstStyle/>
          <a:p>
            <a:fld id="{566C38B2-874D-483A-BADD-470EFE8FD4B9}" type="slidenum">
              <a:rPr lang="en-US" smtClean="0"/>
              <a:t>25</a:t>
            </a:fld>
            <a:endParaRPr lang="en-US"/>
          </a:p>
        </p:txBody>
      </p:sp>
    </p:spTree>
    <p:extLst>
      <p:ext uri="{BB962C8B-B14F-4D97-AF65-F5344CB8AC3E}">
        <p14:creationId xmlns:p14="http://schemas.microsoft.com/office/powerpoint/2010/main" val="25771510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30 seconds - Charbel. Distinguish implemented bounds from proposed production quotas. Caching was deferred because measurement did not yet prove it was the correct first fix and because private mutable data creates safety and invalidation risks.</a:t>
            </a:r>
          </a:p>
        </p:txBody>
      </p:sp>
      <p:sp>
        <p:nvSpPr>
          <p:cNvPr id="4" name="Slide Number Placeholder 3"/>
          <p:cNvSpPr>
            <a:spLocks noGrp="1"/>
          </p:cNvSpPr>
          <p:nvPr>
            <p:ph type="sldNum" sz="quarter" idx="5"/>
          </p:nvPr>
        </p:nvSpPr>
        <p:spPr/>
        <p:txBody>
          <a:bodyPr/>
          <a:lstStyle/>
          <a:p>
            <a:fld id="{566C38B2-874D-483A-BADD-470EFE8FD4B9}" type="slidenum">
              <a:rPr lang="en-US" smtClean="0"/>
              <a:t>26</a:t>
            </a:fld>
            <a:endParaRPr lang="en-US"/>
          </a:p>
        </p:txBody>
      </p:sp>
    </p:spTree>
    <p:extLst>
      <p:ext uri="{BB962C8B-B14F-4D97-AF65-F5344CB8AC3E}">
        <p14:creationId xmlns:p14="http://schemas.microsoft.com/office/powerpoint/2010/main" val="40833450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20 seconds - Charbel. Close with the engineering contribution and transition directly into the demonstration. Do not attempt a paid AI call if the provider has no credit; use retained evidence and demonstrate the remaining live workflows.</a:t>
            </a:r>
          </a:p>
        </p:txBody>
      </p:sp>
      <p:sp>
        <p:nvSpPr>
          <p:cNvPr id="4" name="Slide Number Placeholder 3"/>
          <p:cNvSpPr>
            <a:spLocks noGrp="1"/>
          </p:cNvSpPr>
          <p:nvPr>
            <p:ph type="sldNum" sz="quarter" idx="5"/>
          </p:nvPr>
        </p:nvSpPr>
        <p:spPr/>
        <p:txBody>
          <a:bodyPr/>
          <a:lstStyle/>
          <a:p>
            <a:fld id="{566C38B2-874D-483A-BADD-470EFE8FD4B9}" type="slidenum">
              <a:rPr lang="en-US" smtClean="0"/>
              <a:t>27</a:t>
            </a:fld>
            <a:endParaRPr lang="en-US"/>
          </a:p>
        </p:txBody>
      </p:sp>
    </p:spTree>
    <p:extLst>
      <p:ext uri="{BB962C8B-B14F-4D97-AF65-F5344CB8AC3E}">
        <p14:creationId xmlns:p14="http://schemas.microsoft.com/office/powerpoint/2010/main" val="18854387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Leave this slide visible during questions.</a:t>
            </a:r>
          </a:p>
        </p:txBody>
      </p:sp>
      <p:sp>
        <p:nvSpPr>
          <p:cNvPr id="4" name="Slide Number Placeholder 3"/>
          <p:cNvSpPr>
            <a:spLocks noGrp="1"/>
          </p:cNvSpPr>
          <p:nvPr>
            <p:ph type="sldNum" sz="quarter" idx="5"/>
          </p:nvPr>
        </p:nvSpPr>
        <p:spPr/>
        <p:txBody>
          <a:bodyPr/>
          <a:lstStyle/>
          <a:p>
            <a:fld id="{566C38B2-874D-483A-BADD-470EFE8FD4B9}" type="slidenum">
              <a:rPr lang="en-US" smtClean="0"/>
              <a:t>28</a:t>
            </a:fld>
            <a:endParaRPr lang="en-US"/>
          </a:p>
        </p:txBody>
      </p:sp>
    </p:spTree>
    <p:extLst>
      <p:ext uri="{BB962C8B-B14F-4D97-AF65-F5344CB8AC3E}">
        <p14:creationId xmlns:p14="http://schemas.microsoft.com/office/powerpoint/2010/main" val="30423534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only. Use if the jury asks for the exact denominator and per-area counts.</a:t>
            </a:r>
          </a:p>
        </p:txBody>
      </p:sp>
      <p:sp>
        <p:nvSpPr>
          <p:cNvPr id="4" name="Slide Number Placeholder 3"/>
          <p:cNvSpPr>
            <a:spLocks noGrp="1"/>
          </p:cNvSpPr>
          <p:nvPr>
            <p:ph type="sldNum" sz="quarter" idx="5"/>
          </p:nvPr>
        </p:nvSpPr>
        <p:spPr/>
        <p:txBody>
          <a:bodyPr/>
          <a:lstStyle/>
          <a:p>
            <a:fld id="{566C38B2-874D-483A-BADD-470EFE8FD4B9}" type="slidenum">
              <a:rPr lang="en-US" smtClean="0"/>
              <a:t>29</a:t>
            </a:fld>
            <a:endParaRPr lang="en-US"/>
          </a:p>
        </p:txBody>
      </p:sp>
    </p:spTree>
    <p:extLst>
      <p:ext uri="{BB962C8B-B14F-4D97-AF65-F5344CB8AC3E}">
        <p14:creationId xmlns:p14="http://schemas.microsoft.com/office/powerpoint/2010/main" val="41746961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only. Use if the jury asks which specific WCAG success criteria were considered.</a:t>
            </a:r>
          </a:p>
        </p:txBody>
      </p:sp>
      <p:sp>
        <p:nvSpPr>
          <p:cNvPr id="4" name="Slide Number Placeholder 3"/>
          <p:cNvSpPr>
            <a:spLocks noGrp="1"/>
          </p:cNvSpPr>
          <p:nvPr>
            <p:ph type="sldNum" sz="quarter" idx="5"/>
          </p:nvPr>
        </p:nvSpPr>
        <p:spPr/>
        <p:txBody>
          <a:bodyPr/>
          <a:lstStyle/>
          <a:p>
            <a:fld id="{566C38B2-874D-483A-BADD-470EFE8FD4B9}" type="slidenum">
              <a:rPr lang="en-US" smtClean="0"/>
              <a:t>30</a:t>
            </a:fld>
            <a:endParaRPr lang="en-US"/>
          </a:p>
        </p:txBody>
      </p:sp>
    </p:spTree>
    <p:extLst>
      <p:ext uri="{BB962C8B-B14F-4D97-AF65-F5344CB8AC3E}">
        <p14:creationId xmlns:p14="http://schemas.microsoft.com/office/powerpoint/2010/main" val="165572256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only. Use if the jury asks how a natural-language command becomes a controlled React action.</a:t>
            </a:r>
          </a:p>
        </p:txBody>
      </p:sp>
      <p:sp>
        <p:nvSpPr>
          <p:cNvPr id="4" name="Slide Number Placeholder 3"/>
          <p:cNvSpPr>
            <a:spLocks noGrp="1"/>
          </p:cNvSpPr>
          <p:nvPr>
            <p:ph type="sldNum" sz="quarter" idx="5"/>
          </p:nvPr>
        </p:nvSpPr>
        <p:spPr/>
        <p:txBody>
          <a:bodyPr/>
          <a:lstStyle/>
          <a:p>
            <a:fld id="{566C38B2-874D-483A-BADD-470EFE8FD4B9}" type="slidenum">
              <a:rPr lang="en-US" smtClean="0"/>
              <a:t>31</a:t>
            </a:fld>
            <a:endParaRPr lang="en-US"/>
          </a:p>
        </p:txBody>
      </p:sp>
    </p:spTree>
    <p:extLst>
      <p:ext uri="{BB962C8B-B14F-4D97-AF65-F5344CB8AC3E}">
        <p14:creationId xmlns:p14="http://schemas.microsoft.com/office/powerpoint/2010/main" val="33490943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only. Use if the jury asks for database proof, dataset scale or storage isolation.</a:t>
            </a:r>
          </a:p>
        </p:txBody>
      </p:sp>
      <p:sp>
        <p:nvSpPr>
          <p:cNvPr id="4" name="Slide Number Placeholder 3"/>
          <p:cNvSpPr>
            <a:spLocks noGrp="1"/>
          </p:cNvSpPr>
          <p:nvPr>
            <p:ph type="sldNum" sz="quarter" idx="5"/>
          </p:nvPr>
        </p:nvSpPr>
        <p:spPr/>
        <p:txBody>
          <a:bodyPr/>
          <a:lstStyle/>
          <a:p>
            <a:fld id="{566C38B2-874D-483A-BADD-470EFE8FD4B9}" type="slidenum">
              <a:rPr lang="en-US" smtClean="0"/>
              <a:t>32</a:t>
            </a:fld>
            <a:endParaRPr lang="en-US"/>
          </a:p>
        </p:txBody>
      </p:sp>
    </p:spTree>
    <p:extLst>
      <p:ext uri="{BB962C8B-B14F-4D97-AF65-F5344CB8AC3E}">
        <p14:creationId xmlns:p14="http://schemas.microsoft.com/office/powerpoint/2010/main" val="109877890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Appendix only. Use if the jury asks for source traceability.</a:t>
            </a:r>
          </a:p>
        </p:txBody>
      </p:sp>
      <p:sp>
        <p:nvSpPr>
          <p:cNvPr id="4" name="Slide Number Placeholder 3"/>
          <p:cNvSpPr>
            <a:spLocks noGrp="1"/>
          </p:cNvSpPr>
          <p:nvPr>
            <p:ph type="sldNum" sz="quarter" idx="5"/>
          </p:nvPr>
        </p:nvSpPr>
        <p:spPr/>
        <p:txBody>
          <a:bodyPr/>
          <a:lstStyle/>
          <a:p>
            <a:fld id="{566C38B2-874D-483A-BADD-470EFE8FD4B9}" type="slidenum">
              <a:rPr lang="en-US" smtClean="0"/>
              <a:t>33</a:t>
            </a:fld>
            <a:endParaRPr lang="en-US"/>
          </a:p>
        </p:txBody>
      </p:sp>
    </p:spTree>
    <p:extLst>
      <p:ext uri="{BB962C8B-B14F-4D97-AF65-F5344CB8AC3E}">
        <p14:creationId xmlns:p14="http://schemas.microsoft.com/office/powerpoint/2010/main" val="1196817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6D68C-54E0-F4E0-C72D-FDDE1F15373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406F47E-D914-5A6F-E331-D0BAC19587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73C8633-A4A1-09EB-29B4-F400987E48F4}"/>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5" name="Footer Placeholder 4">
            <a:extLst>
              <a:ext uri="{FF2B5EF4-FFF2-40B4-BE49-F238E27FC236}">
                <a16:creationId xmlns:a16="http://schemas.microsoft.com/office/drawing/2014/main" id="{887ABCFF-94AC-0C54-7A36-F8E2C65454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6F7D84-08FB-6102-F199-9D07E21B571C}"/>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402179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7078C-F12A-60EB-7208-D23EF55D7D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E570CA-075B-C968-4530-521060E7E4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CD782E-CF50-892B-004F-DED05C7581ED}"/>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5" name="Footer Placeholder 4">
            <a:extLst>
              <a:ext uri="{FF2B5EF4-FFF2-40B4-BE49-F238E27FC236}">
                <a16:creationId xmlns:a16="http://schemas.microsoft.com/office/drawing/2014/main" id="{1793121D-ADDD-F6AF-01FB-B00E2D5B5F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68F21A-5184-AFAF-174C-664C256F6E60}"/>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2164793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3BA16-82D0-B52F-0869-1812CB74A1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C0405B9-F39F-A03E-06D9-045776D4884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CA65E6-D66D-345B-6E51-EC8AFC58289F}"/>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5" name="Footer Placeholder 4">
            <a:extLst>
              <a:ext uri="{FF2B5EF4-FFF2-40B4-BE49-F238E27FC236}">
                <a16:creationId xmlns:a16="http://schemas.microsoft.com/office/drawing/2014/main" id="{55F3658B-4393-27DD-B6C8-5324E41D04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778141-663E-0C74-FB0C-1A50D1E9C281}"/>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2401783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C22D3-A82B-465A-E4AA-3928784E1A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ABBF80-672C-9201-9B1A-A3BCBD80C2F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76865B-F8DE-8CA7-77AF-B482F1E8D8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7F309AA-0DA4-CD4C-A043-C8CF24F2AD68}"/>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6" name="Footer Placeholder 5">
            <a:extLst>
              <a:ext uri="{FF2B5EF4-FFF2-40B4-BE49-F238E27FC236}">
                <a16:creationId xmlns:a16="http://schemas.microsoft.com/office/drawing/2014/main" id="{AA55025F-7D5A-AF58-FFFA-9FFF5F3C79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DE04F2-2949-4E0F-0A8E-45B32CFFC4FD}"/>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35545490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6BD79-DB75-E0BA-C5CA-C47E71395F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0D19244-58C6-B5BD-970B-222C7775EC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4C6309-7BB7-1384-E71F-32B869275C7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C46D7-7ACF-0CD4-8DCA-B2B2D7060D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A11FD1-8EA9-6ABF-2D41-620949EE0F2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90D3300-3A88-086B-DE3D-9A196BE4A0DE}"/>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8" name="Footer Placeholder 7">
            <a:extLst>
              <a:ext uri="{FF2B5EF4-FFF2-40B4-BE49-F238E27FC236}">
                <a16:creationId xmlns:a16="http://schemas.microsoft.com/office/drawing/2014/main" id="{B85408F0-F754-72B8-7CB8-0654D35C80B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B0CA3CF-5AD0-5943-1010-EA1A5CFBF92A}"/>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2206991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AAA8B-DEE1-FB97-E1B3-5179E4DD1A4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462E6A6-D72B-B8D1-EF63-944401BFDC6A}"/>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4" name="Footer Placeholder 3">
            <a:extLst>
              <a:ext uri="{FF2B5EF4-FFF2-40B4-BE49-F238E27FC236}">
                <a16:creationId xmlns:a16="http://schemas.microsoft.com/office/drawing/2014/main" id="{530DC18C-B218-3952-CC93-70BCBD4445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63C488-71F5-D0A6-EA4A-114B0791D994}"/>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30360457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28778B-2316-CBD8-5BB5-635FD425904C}"/>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3" name="Footer Placeholder 2">
            <a:extLst>
              <a:ext uri="{FF2B5EF4-FFF2-40B4-BE49-F238E27FC236}">
                <a16:creationId xmlns:a16="http://schemas.microsoft.com/office/drawing/2014/main" id="{1F48CEDC-8AC3-4A5F-F298-96E96AE95A3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88D5083-89DF-B439-B60D-B7F3D40F6890}"/>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3815592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F7AC1-CFC2-FD0F-B8EF-A06740A5BA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0D66CEC-C396-02F5-D49D-58F0EEF5075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7657F1F-56A8-806A-1F8B-F01EF13CD5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17DC5D-8FFE-E92C-F705-DF52AE7C3C34}"/>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6" name="Footer Placeholder 5">
            <a:extLst>
              <a:ext uri="{FF2B5EF4-FFF2-40B4-BE49-F238E27FC236}">
                <a16:creationId xmlns:a16="http://schemas.microsoft.com/office/drawing/2014/main" id="{C33D4631-783F-9665-E1B8-4E6B4CA264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E03A9F-77D0-4C36-B897-ADC8A179B384}"/>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15471549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98817-09F7-9BB5-223E-695BA683A0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29EEC2C-C092-46A6-C0C3-10DB8C80826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D86FE3F-F9CC-768C-97F7-6D57E5535D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6F97CA-9318-5CCE-012C-402D814CDEFA}"/>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6" name="Footer Placeholder 5">
            <a:extLst>
              <a:ext uri="{FF2B5EF4-FFF2-40B4-BE49-F238E27FC236}">
                <a16:creationId xmlns:a16="http://schemas.microsoft.com/office/drawing/2014/main" id="{2302E57A-10F5-8A81-B0A1-C5F67298D6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353E37-78D6-C11C-E41C-53C92A4E084C}"/>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4165263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496D5-C590-22BD-9BAD-DF96665E7A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BE5AC3C-FA7A-7297-4BF5-E38F3FBF2BB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59A526-BEBB-9CA7-A818-02842A806768}"/>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5" name="Footer Placeholder 4">
            <a:extLst>
              <a:ext uri="{FF2B5EF4-FFF2-40B4-BE49-F238E27FC236}">
                <a16:creationId xmlns:a16="http://schemas.microsoft.com/office/drawing/2014/main" id="{5EA62531-14BE-A578-495B-FAC4ED0D7B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AB2CFF-1CA4-8BC9-3914-ABE7A559CA0D}"/>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164545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6ADDA-13B0-7F8D-F2BC-B6060CFE72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898BB4-5EEC-E49D-6C41-B6EFD0A24A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5C005F-1988-F759-EE30-93ABEACA22DE}"/>
              </a:ext>
            </a:extLst>
          </p:cNvPr>
          <p:cNvSpPr>
            <a:spLocks noGrp="1"/>
          </p:cNvSpPr>
          <p:nvPr>
            <p:ph type="dt" sz="half" idx="10"/>
          </p:nvPr>
        </p:nvSpPr>
        <p:spPr/>
        <p:txBody>
          <a:bodyPr/>
          <a:lstStyle/>
          <a:p>
            <a:fld id="{846BF5BB-3604-4338-B6EA-F07158596E48}" type="datetimeFigureOut">
              <a:rPr lang="en-US" smtClean="0"/>
              <a:t>9/11/2026</a:t>
            </a:fld>
            <a:endParaRPr lang="en-US"/>
          </a:p>
        </p:txBody>
      </p:sp>
      <p:sp>
        <p:nvSpPr>
          <p:cNvPr id="5" name="Footer Placeholder 4">
            <a:extLst>
              <a:ext uri="{FF2B5EF4-FFF2-40B4-BE49-F238E27FC236}">
                <a16:creationId xmlns:a16="http://schemas.microsoft.com/office/drawing/2014/main" id="{D5F376A1-3372-9547-E029-D2AD4EEAD8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58570AF-B4BD-3115-F559-824C34EB0231}"/>
              </a:ext>
            </a:extLst>
          </p:cNvPr>
          <p:cNvSpPr>
            <a:spLocks noGrp="1"/>
          </p:cNvSpPr>
          <p:nvPr>
            <p:ph type="sldNum" sz="quarter" idx="12"/>
          </p:nvPr>
        </p:nvSpPr>
        <p:spPr/>
        <p:txBody>
          <a:bodyPr/>
          <a:lstStyle/>
          <a:p>
            <a:fld id="{85C6F831-E2C9-4E65-A19A-602F64C57387}" type="slidenum">
              <a:rPr lang="en-US" smtClean="0"/>
              <a:t>‹#›</a:t>
            </a:fld>
            <a:endParaRPr lang="en-US"/>
          </a:p>
        </p:txBody>
      </p:sp>
    </p:spTree>
    <p:extLst>
      <p:ext uri="{BB962C8B-B14F-4D97-AF65-F5344CB8AC3E}">
        <p14:creationId xmlns:p14="http://schemas.microsoft.com/office/powerpoint/2010/main" val="30098334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ABFFC0-0285-5E82-97D9-D887DAF7BF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58DD75-820C-431A-8780-7E04D14DDA7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C8D4DE5-42AD-521B-371C-57A733F4CB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BF5BB-3604-4338-B6EA-F07158596E48}" type="datetimeFigureOut">
              <a:rPr lang="en-US" smtClean="0"/>
              <a:t>9/11/2026</a:t>
            </a:fld>
            <a:endParaRPr lang="en-US"/>
          </a:p>
        </p:txBody>
      </p:sp>
      <p:sp>
        <p:nvSpPr>
          <p:cNvPr id="5" name="Footer Placeholder 4">
            <a:extLst>
              <a:ext uri="{FF2B5EF4-FFF2-40B4-BE49-F238E27FC236}">
                <a16:creationId xmlns:a16="http://schemas.microsoft.com/office/drawing/2014/main" id="{1EFC4D78-F610-9D98-62BD-7C00CB0F5B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50C796-CCE5-882F-2D73-E3B6DD8ED77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5C6F831-E2C9-4E65-A19A-602F64C57387}" type="slidenum">
              <a:rPr lang="en-US" smtClean="0"/>
              <a:t>‹#›</a:t>
            </a:fld>
            <a:endParaRPr lang="en-US"/>
          </a:p>
        </p:txBody>
      </p:sp>
    </p:spTree>
    <p:extLst>
      <p:ext uri="{BB962C8B-B14F-4D97-AF65-F5344CB8AC3E}">
        <p14:creationId xmlns:p14="http://schemas.microsoft.com/office/powerpoint/2010/main" val="2119133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05C998-1FCC-1EE9-F278-DC99657C44E5}"/>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Universite Saint-Joseph and ESIB logo">
            <a:extLst>
              <a:ext uri="{FF2B5EF4-FFF2-40B4-BE49-F238E27FC236}">
                <a16:creationId xmlns:a16="http://schemas.microsoft.com/office/drawing/2014/main" id="{1C43852E-1B51-AEFB-9C2C-879CDDACC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415" y="393700"/>
            <a:ext cx="2933369" cy="965200"/>
          </a:xfrm>
          <a:prstGeom prst="rect">
            <a:avLst/>
          </a:prstGeom>
        </p:spPr>
      </p:pic>
      <p:pic>
        <p:nvPicPr>
          <p:cNvPr id="6" name="Picture 5" descr="JoIn Hospitality logo">
            <a:extLst>
              <a:ext uri="{FF2B5EF4-FFF2-40B4-BE49-F238E27FC236}">
                <a16:creationId xmlns:a16="http://schemas.microsoft.com/office/drawing/2014/main" id="{070E7E77-3A87-4D09-A05C-97A19FA483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1100" y="370502"/>
            <a:ext cx="1447800" cy="1202097"/>
          </a:xfrm>
          <a:prstGeom prst="rect">
            <a:avLst/>
          </a:prstGeom>
        </p:spPr>
      </p:pic>
      <p:sp>
        <p:nvSpPr>
          <p:cNvPr id="7" name="TextBox 6">
            <a:extLst>
              <a:ext uri="{FF2B5EF4-FFF2-40B4-BE49-F238E27FC236}">
                <a16:creationId xmlns:a16="http://schemas.microsoft.com/office/drawing/2014/main" id="{A34F753C-5296-C71F-82BB-2776500C9919}"/>
              </a:ext>
            </a:extLst>
          </p:cNvPr>
          <p:cNvSpPr txBox="1"/>
          <p:nvPr/>
        </p:nvSpPr>
        <p:spPr>
          <a:xfrm>
            <a:off x="609600" y="1905000"/>
            <a:ext cx="10972800" cy="153888"/>
          </a:xfrm>
          <a:prstGeom prst="rect">
            <a:avLst/>
          </a:prstGeom>
          <a:noFill/>
        </p:spPr>
        <p:txBody>
          <a:bodyPr vert="horz" wrap="square" lIns="0" tIns="0" rIns="0" bIns="0" rtlCol="0">
            <a:spAutoFit/>
          </a:bodyPr>
          <a:lstStyle/>
          <a:p>
            <a:pPr algn="ctr"/>
            <a:r>
              <a:rPr lang="en-US" sz="1000" b="1">
                <a:solidFill>
                  <a:srgbClr val="A64B2A"/>
                </a:solidFill>
                <a:latin typeface="Aptos" panose="020B0004020202020204" pitchFamily="34" charset="0"/>
              </a:rPr>
              <a:t>INCLUSIVE EMPLOYMENT PLATFORM</a:t>
            </a:r>
          </a:p>
        </p:txBody>
      </p:sp>
      <p:sp>
        <p:nvSpPr>
          <p:cNvPr id="8" name="TextBox 7">
            <a:extLst>
              <a:ext uri="{FF2B5EF4-FFF2-40B4-BE49-F238E27FC236}">
                <a16:creationId xmlns:a16="http://schemas.microsoft.com/office/drawing/2014/main" id="{76ADF1C3-37FE-E794-B38D-3D46A013D98C}"/>
              </a:ext>
            </a:extLst>
          </p:cNvPr>
          <p:cNvSpPr txBox="1"/>
          <p:nvPr/>
        </p:nvSpPr>
        <p:spPr>
          <a:xfrm>
            <a:off x="1041400" y="2336800"/>
            <a:ext cx="10109200" cy="954107"/>
          </a:xfrm>
          <a:prstGeom prst="rect">
            <a:avLst/>
          </a:prstGeom>
          <a:noFill/>
        </p:spPr>
        <p:txBody>
          <a:bodyPr vert="horz" wrap="square" lIns="0" tIns="0" rIns="0" bIns="0" rtlCol="0">
            <a:spAutoFit/>
          </a:bodyPr>
          <a:lstStyle/>
          <a:p>
            <a:pPr algn="ctr"/>
            <a:r>
              <a:rPr lang="en-US" sz="3100" b="1">
                <a:solidFill>
                  <a:srgbClr val="0B1F49"/>
                </a:solidFill>
                <a:latin typeface="Aptos Display" panose="020B0004020202020204" pitchFamily="34" charset="0"/>
              </a:rPr>
              <a:t>Accessible, AI-Assisted Recruitment for Persons with Physical Disabilities</a:t>
            </a:r>
          </a:p>
        </p:txBody>
      </p:sp>
      <p:sp>
        <p:nvSpPr>
          <p:cNvPr id="9" name="TextBox 8">
            <a:extLst>
              <a:ext uri="{FF2B5EF4-FFF2-40B4-BE49-F238E27FC236}">
                <a16:creationId xmlns:a16="http://schemas.microsoft.com/office/drawing/2014/main" id="{83737AEA-6B1B-D338-61A6-AE5B7FA37097}"/>
              </a:ext>
            </a:extLst>
          </p:cNvPr>
          <p:cNvSpPr txBox="1"/>
          <p:nvPr/>
        </p:nvSpPr>
        <p:spPr>
          <a:xfrm>
            <a:off x="2286000" y="3581400"/>
            <a:ext cx="7620000" cy="338554"/>
          </a:xfrm>
          <a:prstGeom prst="rect">
            <a:avLst/>
          </a:prstGeom>
          <a:noFill/>
        </p:spPr>
        <p:txBody>
          <a:bodyPr vert="horz" wrap="square" lIns="0" tIns="0" rIns="0" bIns="0" rtlCol="0">
            <a:spAutoFit/>
          </a:bodyPr>
          <a:lstStyle/>
          <a:p>
            <a:pPr algn="ctr"/>
            <a:r>
              <a:rPr lang="en-US" sz="2200" b="1">
                <a:solidFill>
                  <a:srgbClr val="1565D8"/>
                </a:solidFill>
                <a:latin typeface="Aptos Display" panose="020B0004020202020204" pitchFamily="34" charset="0"/>
              </a:rPr>
              <a:t>Final Engineering Presentation</a:t>
            </a:r>
          </a:p>
        </p:txBody>
      </p:sp>
      <p:sp>
        <p:nvSpPr>
          <p:cNvPr id="10" name="TextBox 9">
            <a:extLst>
              <a:ext uri="{FF2B5EF4-FFF2-40B4-BE49-F238E27FC236}">
                <a16:creationId xmlns:a16="http://schemas.microsoft.com/office/drawing/2014/main" id="{0DBF1B11-D12A-A48F-5121-1417A40D2377}"/>
              </a:ext>
            </a:extLst>
          </p:cNvPr>
          <p:cNvSpPr txBox="1"/>
          <p:nvPr/>
        </p:nvSpPr>
        <p:spPr>
          <a:xfrm>
            <a:off x="3302000" y="4343400"/>
            <a:ext cx="5588000" cy="553998"/>
          </a:xfrm>
          <a:prstGeom prst="rect">
            <a:avLst/>
          </a:prstGeom>
          <a:noFill/>
        </p:spPr>
        <p:txBody>
          <a:bodyPr vert="horz" wrap="square" lIns="0" tIns="0" rIns="0" bIns="0" rtlCol="0">
            <a:spAutoFit/>
          </a:bodyPr>
          <a:lstStyle/>
          <a:p>
            <a:pPr algn="ctr"/>
            <a:r>
              <a:rPr lang="en-US" sz="1200" b="1">
                <a:solidFill>
                  <a:srgbClr val="17243A"/>
                </a:solidFill>
                <a:latin typeface="Aptos" panose="020B0004020202020204" pitchFamily="34" charset="0"/>
              </a:rPr>
              <a:t>Presented by
Zaidan MANSOUR | Charbel RIZK
Computer and Communications Engineering - Software Engineering</a:t>
            </a:r>
          </a:p>
        </p:txBody>
      </p:sp>
      <p:sp>
        <p:nvSpPr>
          <p:cNvPr id="11" name="TextBox 10">
            <a:extLst>
              <a:ext uri="{FF2B5EF4-FFF2-40B4-BE49-F238E27FC236}">
                <a16:creationId xmlns:a16="http://schemas.microsoft.com/office/drawing/2014/main" id="{385184BC-7650-CB45-74F4-7EE0A56F6CB4}"/>
              </a:ext>
            </a:extLst>
          </p:cNvPr>
          <p:cNvSpPr txBox="1"/>
          <p:nvPr/>
        </p:nvSpPr>
        <p:spPr>
          <a:xfrm>
            <a:off x="609600" y="5461000"/>
            <a:ext cx="5461000" cy="292388"/>
          </a:xfrm>
          <a:prstGeom prst="rect">
            <a:avLst/>
          </a:prstGeom>
          <a:noFill/>
        </p:spPr>
        <p:txBody>
          <a:bodyPr vert="horz" wrap="square" lIns="0" tIns="0" rIns="0" bIns="0" rtlCol="0">
            <a:spAutoFit/>
          </a:bodyPr>
          <a:lstStyle/>
          <a:p>
            <a:r>
              <a:rPr lang="en-US" sz="950">
                <a:solidFill>
                  <a:srgbClr val="5D6B80"/>
                </a:solidFill>
                <a:latin typeface="Aptos" panose="020B0004020202020204" pitchFamily="34" charset="0"/>
              </a:rPr>
              <a:t>Supervisors
Dr. Jean Yves Youssef | Dr. Roger Obeid | Dr. Rima Kilany</a:t>
            </a:r>
          </a:p>
        </p:txBody>
      </p:sp>
      <p:sp>
        <p:nvSpPr>
          <p:cNvPr id="12" name="TextBox 11">
            <a:extLst>
              <a:ext uri="{FF2B5EF4-FFF2-40B4-BE49-F238E27FC236}">
                <a16:creationId xmlns:a16="http://schemas.microsoft.com/office/drawing/2014/main" id="{9B5B6D0D-87D3-1C63-F500-42E2D97DB852}"/>
              </a:ext>
            </a:extLst>
          </p:cNvPr>
          <p:cNvSpPr txBox="1"/>
          <p:nvPr/>
        </p:nvSpPr>
        <p:spPr>
          <a:xfrm>
            <a:off x="9271000" y="5715000"/>
            <a:ext cx="2286000" cy="146194"/>
          </a:xfrm>
          <a:prstGeom prst="rect">
            <a:avLst/>
          </a:prstGeom>
          <a:noFill/>
        </p:spPr>
        <p:txBody>
          <a:bodyPr vert="horz" wrap="square" lIns="0" tIns="0" rIns="0" bIns="0" rtlCol="0">
            <a:spAutoFit/>
          </a:bodyPr>
          <a:lstStyle/>
          <a:p>
            <a:pPr algn="r"/>
            <a:r>
              <a:rPr lang="en-US" sz="950" b="1">
                <a:solidFill>
                  <a:srgbClr val="A64B2A"/>
                </a:solidFill>
                <a:latin typeface="Aptos" panose="020B0004020202020204" pitchFamily="34" charset="0"/>
              </a:rPr>
              <a:t>14 September 2026</a:t>
            </a:r>
          </a:p>
        </p:txBody>
      </p:sp>
      <p:cxnSp>
        <p:nvCxnSpPr>
          <p:cNvPr id="13" name="Straight Connector 12">
            <a:extLst>
              <a:ext uri="{FF2B5EF4-FFF2-40B4-BE49-F238E27FC236}">
                <a16:creationId xmlns:a16="http://schemas.microsoft.com/office/drawing/2014/main" id="{3035CEE9-C0BF-E3D6-11B2-F4DEE746CB96}"/>
              </a:ext>
            </a:extLst>
          </p:cNvPr>
          <p:cNvCxnSpPr/>
          <p:nvPr/>
        </p:nvCxnSpPr>
        <p:spPr>
          <a:xfrm>
            <a:off x="609600" y="6324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83C5DE78-1FCD-0B78-2C7E-D9656C459544}"/>
              </a:ext>
            </a:extLst>
          </p:cNvPr>
          <p:cNvSpPr txBox="1"/>
          <p:nvPr/>
        </p:nvSpPr>
        <p:spPr>
          <a:xfrm>
            <a:off x="609600" y="6464300"/>
            <a:ext cx="6350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UNIVERSITE SAINT-JOSEPH DE BEYROUTH | ESIB</a:t>
            </a:r>
          </a:p>
        </p:txBody>
      </p:sp>
    </p:spTree>
    <p:extLst>
      <p:ext uri="{BB962C8B-B14F-4D97-AF65-F5344CB8AC3E}">
        <p14:creationId xmlns:p14="http://schemas.microsoft.com/office/powerpoint/2010/main" val="12988323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0918D92-7F96-C061-014E-168F0B5F60A5}"/>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5389B95-9340-B1D5-4049-D745C8B7B392}"/>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PRESENTATION MAP</a:t>
            </a:r>
          </a:p>
        </p:txBody>
      </p:sp>
      <p:sp>
        <p:nvSpPr>
          <p:cNvPr id="4" name="TextBox 3">
            <a:extLst>
              <a:ext uri="{FF2B5EF4-FFF2-40B4-BE49-F238E27FC236}">
                <a16:creationId xmlns:a16="http://schemas.microsoft.com/office/drawing/2014/main" id="{647CC835-3FC0-7C63-2677-10873833EFD3}"/>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Engineering defence roadmap</a:t>
            </a:r>
          </a:p>
        </p:txBody>
      </p:sp>
      <p:sp>
        <p:nvSpPr>
          <p:cNvPr id="5" name="TextBox 4">
            <a:extLst>
              <a:ext uri="{FF2B5EF4-FFF2-40B4-BE49-F238E27FC236}">
                <a16:creationId xmlns:a16="http://schemas.microsoft.com/office/drawing/2014/main" id="{32E82EF1-9C15-A24F-2205-4178C1EA241C}"/>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Concise slides keep the technical evidence readable while respecting the 15-minute limit.</a:t>
            </a:r>
          </a:p>
        </p:txBody>
      </p:sp>
      <p:pic>
        <p:nvPicPr>
          <p:cNvPr id="7" name="Picture 6" descr="Universite Saint-Joseph and ESIB mark">
            <a:extLst>
              <a:ext uri="{FF2B5EF4-FFF2-40B4-BE49-F238E27FC236}">
                <a16:creationId xmlns:a16="http://schemas.microsoft.com/office/drawing/2014/main" id="{C8A66401-983F-153B-AB7F-85CCF9E40C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6B3A7B4E-D067-D45A-C8E8-A9BD5BB26471}"/>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412CFD46-CBD0-DC41-BF0F-452AB457A541}"/>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664FF664-4D17-74E0-2153-9ABDB4D90CAD}"/>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02</a:t>
            </a:r>
          </a:p>
        </p:txBody>
      </p:sp>
      <p:sp>
        <p:nvSpPr>
          <p:cNvPr id="11" name="Rectangle: Rounded Corners 10">
            <a:extLst>
              <a:ext uri="{FF2B5EF4-FFF2-40B4-BE49-F238E27FC236}">
                <a16:creationId xmlns:a16="http://schemas.microsoft.com/office/drawing/2014/main" id="{237C371A-05C0-C9D1-FF53-CD784A28AD05}"/>
              </a:ext>
            </a:extLst>
          </p:cNvPr>
          <p:cNvSpPr/>
          <p:nvPr/>
        </p:nvSpPr>
        <p:spPr>
          <a:xfrm>
            <a:off x="609600" y="2095500"/>
            <a:ext cx="1587500" cy="2857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D90B60B-F65E-E9E9-6F6D-6CB5F76B331A}"/>
              </a:ext>
            </a:extLst>
          </p:cNvPr>
          <p:cNvSpPr/>
          <p:nvPr/>
        </p:nvSpPr>
        <p:spPr>
          <a:xfrm>
            <a:off x="609600" y="2095500"/>
            <a:ext cx="1587500" cy="1016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D6930CE-B0DB-197E-35BA-A9745DA2E59F}"/>
              </a:ext>
            </a:extLst>
          </p:cNvPr>
          <p:cNvSpPr txBox="1"/>
          <p:nvPr/>
        </p:nvSpPr>
        <p:spPr>
          <a:xfrm>
            <a:off x="825500" y="2400300"/>
            <a:ext cx="1143000" cy="292388"/>
          </a:xfrm>
          <a:prstGeom prst="rect">
            <a:avLst/>
          </a:prstGeom>
          <a:noFill/>
        </p:spPr>
        <p:txBody>
          <a:bodyPr vert="horz" wrap="square" lIns="0" tIns="0" rIns="0" bIns="0" rtlCol="0">
            <a:spAutoFit/>
          </a:bodyPr>
          <a:lstStyle/>
          <a:p>
            <a:r>
              <a:rPr lang="en-US" sz="1900" b="1">
                <a:solidFill>
                  <a:srgbClr val="A64B2A"/>
                </a:solidFill>
                <a:latin typeface="Aptos Display" panose="020B0004020202020204" pitchFamily="34" charset="0"/>
              </a:rPr>
              <a:t>01</a:t>
            </a:r>
          </a:p>
        </p:txBody>
      </p:sp>
      <p:sp>
        <p:nvSpPr>
          <p:cNvPr id="14" name="TextBox 13">
            <a:extLst>
              <a:ext uri="{FF2B5EF4-FFF2-40B4-BE49-F238E27FC236}">
                <a16:creationId xmlns:a16="http://schemas.microsoft.com/office/drawing/2014/main" id="{D47F83EC-1E92-8B77-DD9C-3499072D4A40}"/>
              </a:ext>
            </a:extLst>
          </p:cNvPr>
          <p:cNvSpPr txBox="1"/>
          <p:nvPr/>
        </p:nvSpPr>
        <p:spPr>
          <a:xfrm>
            <a:off x="825500" y="2984500"/>
            <a:ext cx="1143000" cy="415498"/>
          </a:xfrm>
          <a:prstGeom prst="rect">
            <a:avLst/>
          </a:prstGeom>
          <a:noFill/>
        </p:spPr>
        <p:txBody>
          <a:bodyPr vert="horz" wrap="square" lIns="0" tIns="0" rIns="0" bIns="0" rtlCol="0">
            <a:spAutoFit/>
          </a:bodyPr>
          <a:lstStyle/>
          <a:p>
            <a:r>
              <a:rPr lang="en-US" sz="1350" b="1">
                <a:solidFill>
                  <a:srgbClr val="0B1F49"/>
                </a:solidFill>
                <a:latin typeface="Aptos Display" panose="020B0004020202020204" pitchFamily="34" charset="0"/>
              </a:rPr>
              <a:t>Problem + research</a:t>
            </a:r>
          </a:p>
        </p:txBody>
      </p:sp>
      <p:sp>
        <p:nvSpPr>
          <p:cNvPr id="15" name="TextBox 14">
            <a:extLst>
              <a:ext uri="{FF2B5EF4-FFF2-40B4-BE49-F238E27FC236}">
                <a16:creationId xmlns:a16="http://schemas.microsoft.com/office/drawing/2014/main" id="{109F7457-CD1F-A450-7523-9BFCD282A895}"/>
              </a:ext>
            </a:extLst>
          </p:cNvPr>
          <p:cNvSpPr txBox="1"/>
          <p:nvPr/>
        </p:nvSpPr>
        <p:spPr>
          <a:xfrm>
            <a:off x="825500" y="3937000"/>
            <a:ext cx="1168400" cy="286232"/>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Need, related work, research gap</a:t>
            </a:r>
          </a:p>
        </p:txBody>
      </p:sp>
      <p:sp>
        <p:nvSpPr>
          <p:cNvPr id="16" name="Rectangle: Rounded Corners 15">
            <a:extLst>
              <a:ext uri="{FF2B5EF4-FFF2-40B4-BE49-F238E27FC236}">
                <a16:creationId xmlns:a16="http://schemas.microsoft.com/office/drawing/2014/main" id="{15482872-7D4C-351D-F656-0660DC9BC8A5}"/>
              </a:ext>
            </a:extLst>
          </p:cNvPr>
          <p:cNvSpPr/>
          <p:nvPr/>
        </p:nvSpPr>
        <p:spPr>
          <a:xfrm>
            <a:off x="2451100" y="2095500"/>
            <a:ext cx="1587500" cy="2857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01013BB-F854-765F-2A2E-18588B546D9D}"/>
              </a:ext>
            </a:extLst>
          </p:cNvPr>
          <p:cNvSpPr/>
          <p:nvPr/>
        </p:nvSpPr>
        <p:spPr>
          <a:xfrm>
            <a:off x="2451100" y="2095500"/>
            <a:ext cx="15875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D523D431-D812-AF38-78A3-17940892CA61}"/>
              </a:ext>
            </a:extLst>
          </p:cNvPr>
          <p:cNvSpPr txBox="1"/>
          <p:nvPr/>
        </p:nvSpPr>
        <p:spPr>
          <a:xfrm>
            <a:off x="2667000" y="2400300"/>
            <a:ext cx="1143000" cy="292388"/>
          </a:xfrm>
          <a:prstGeom prst="rect">
            <a:avLst/>
          </a:prstGeom>
          <a:noFill/>
        </p:spPr>
        <p:txBody>
          <a:bodyPr vert="horz" wrap="square" lIns="0" tIns="0" rIns="0" bIns="0" rtlCol="0">
            <a:spAutoFit/>
          </a:bodyPr>
          <a:lstStyle/>
          <a:p>
            <a:r>
              <a:rPr lang="en-US" sz="1900" b="1">
                <a:solidFill>
                  <a:srgbClr val="1565D8"/>
                </a:solidFill>
                <a:latin typeface="Aptos Display" panose="020B0004020202020204" pitchFamily="34" charset="0"/>
              </a:rPr>
              <a:t>02</a:t>
            </a:r>
          </a:p>
        </p:txBody>
      </p:sp>
      <p:sp>
        <p:nvSpPr>
          <p:cNvPr id="19" name="TextBox 18">
            <a:extLst>
              <a:ext uri="{FF2B5EF4-FFF2-40B4-BE49-F238E27FC236}">
                <a16:creationId xmlns:a16="http://schemas.microsoft.com/office/drawing/2014/main" id="{BFD51F4A-DE0C-FA2E-2B6D-553384F7B88F}"/>
              </a:ext>
            </a:extLst>
          </p:cNvPr>
          <p:cNvSpPr txBox="1"/>
          <p:nvPr/>
        </p:nvSpPr>
        <p:spPr>
          <a:xfrm>
            <a:off x="2667000" y="2984500"/>
            <a:ext cx="1143000" cy="207749"/>
          </a:xfrm>
          <a:prstGeom prst="rect">
            <a:avLst/>
          </a:prstGeom>
          <a:noFill/>
        </p:spPr>
        <p:txBody>
          <a:bodyPr vert="horz" wrap="square" lIns="0" tIns="0" rIns="0" bIns="0" rtlCol="0">
            <a:spAutoFit/>
          </a:bodyPr>
          <a:lstStyle/>
          <a:p>
            <a:r>
              <a:rPr lang="en-US" sz="1350" b="1">
                <a:solidFill>
                  <a:srgbClr val="0B1F49"/>
                </a:solidFill>
                <a:latin typeface="Aptos Display" panose="020B0004020202020204" pitchFamily="34" charset="0"/>
              </a:rPr>
              <a:t>Requirements</a:t>
            </a:r>
          </a:p>
        </p:txBody>
      </p:sp>
      <p:sp>
        <p:nvSpPr>
          <p:cNvPr id="20" name="TextBox 19">
            <a:extLst>
              <a:ext uri="{FF2B5EF4-FFF2-40B4-BE49-F238E27FC236}">
                <a16:creationId xmlns:a16="http://schemas.microsoft.com/office/drawing/2014/main" id="{3D270456-4F75-F162-89B1-47CE12BCD722}"/>
              </a:ext>
            </a:extLst>
          </p:cNvPr>
          <p:cNvSpPr txBox="1"/>
          <p:nvPr/>
        </p:nvSpPr>
        <p:spPr>
          <a:xfrm>
            <a:off x="2667000" y="3937000"/>
            <a:ext cx="1168400" cy="286232"/>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FR, NFR and WCAG target</a:t>
            </a:r>
          </a:p>
        </p:txBody>
      </p:sp>
      <p:sp>
        <p:nvSpPr>
          <p:cNvPr id="21" name="Rectangle: Rounded Corners 20">
            <a:extLst>
              <a:ext uri="{FF2B5EF4-FFF2-40B4-BE49-F238E27FC236}">
                <a16:creationId xmlns:a16="http://schemas.microsoft.com/office/drawing/2014/main" id="{6136DDCC-82FF-C776-8FFC-2A8B1788EE08}"/>
              </a:ext>
            </a:extLst>
          </p:cNvPr>
          <p:cNvSpPr/>
          <p:nvPr/>
        </p:nvSpPr>
        <p:spPr>
          <a:xfrm>
            <a:off x="4292600" y="2095500"/>
            <a:ext cx="1587500" cy="2857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E32034F-E452-CDCA-C89F-09EFA23D9000}"/>
              </a:ext>
            </a:extLst>
          </p:cNvPr>
          <p:cNvSpPr/>
          <p:nvPr/>
        </p:nvSpPr>
        <p:spPr>
          <a:xfrm>
            <a:off x="4292600" y="2095500"/>
            <a:ext cx="1587500" cy="1016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6B4B05B2-FD71-069B-CA9E-CA1376E42AD4}"/>
              </a:ext>
            </a:extLst>
          </p:cNvPr>
          <p:cNvSpPr txBox="1"/>
          <p:nvPr/>
        </p:nvSpPr>
        <p:spPr>
          <a:xfrm>
            <a:off x="4508500" y="2400300"/>
            <a:ext cx="1143000" cy="292388"/>
          </a:xfrm>
          <a:prstGeom prst="rect">
            <a:avLst/>
          </a:prstGeom>
          <a:noFill/>
        </p:spPr>
        <p:txBody>
          <a:bodyPr vert="horz" wrap="square" lIns="0" tIns="0" rIns="0" bIns="0" rtlCol="0">
            <a:spAutoFit/>
          </a:bodyPr>
          <a:lstStyle/>
          <a:p>
            <a:r>
              <a:rPr lang="en-US" sz="1900" b="1">
                <a:solidFill>
                  <a:srgbClr val="157A55"/>
                </a:solidFill>
                <a:latin typeface="Aptos Display" panose="020B0004020202020204" pitchFamily="34" charset="0"/>
              </a:rPr>
              <a:t>03</a:t>
            </a:r>
          </a:p>
        </p:txBody>
      </p:sp>
      <p:sp>
        <p:nvSpPr>
          <p:cNvPr id="24" name="TextBox 23">
            <a:extLst>
              <a:ext uri="{FF2B5EF4-FFF2-40B4-BE49-F238E27FC236}">
                <a16:creationId xmlns:a16="http://schemas.microsoft.com/office/drawing/2014/main" id="{57B49F32-F0D8-0814-0DD9-D26A21F59DD6}"/>
              </a:ext>
            </a:extLst>
          </p:cNvPr>
          <p:cNvSpPr txBox="1"/>
          <p:nvPr/>
        </p:nvSpPr>
        <p:spPr>
          <a:xfrm>
            <a:off x="4508500" y="2984500"/>
            <a:ext cx="1143000" cy="207749"/>
          </a:xfrm>
          <a:prstGeom prst="rect">
            <a:avLst/>
          </a:prstGeom>
          <a:noFill/>
        </p:spPr>
        <p:txBody>
          <a:bodyPr vert="horz" wrap="square" lIns="0" tIns="0" rIns="0" bIns="0" rtlCol="0">
            <a:spAutoFit/>
          </a:bodyPr>
          <a:lstStyle/>
          <a:p>
            <a:r>
              <a:rPr lang="en-US" sz="1350" b="1">
                <a:solidFill>
                  <a:srgbClr val="0B1F49"/>
                </a:solidFill>
                <a:latin typeface="Aptos Display" panose="020B0004020202020204" pitchFamily="34" charset="0"/>
              </a:rPr>
              <a:t>Design</a:t>
            </a:r>
          </a:p>
        </p:txBody>
      </p:sp>
      <p:sp>
        <p:nvSpPr>
          <p:cNvPr id="25" name="TextBox 24">
            <a:extLst>
              <a:ext uri="{FF2B5EF4-FFF2-40B4-BE49-F238E27FC236}">
                <a16:creationId xmlns:a16="http://schemas.microsoft.com/office/drawing/2014/main" id="{F9EA9DC2-EBA2-4348-4717-AC85D46A0935}"/>
              </a:ext>
            </a:extLst>
          </p:cNvPr>
          <p:cNvSpPr txBox="1"/>
          <p:nvPr/>
        </p:nvSpPr>
        <p:spPr>
          <a:xfrm>
            <a:off x="4508500" y="3937000"/>
            <a:ext cx="1168400" cy="286232"/>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Architecture, data, security</a:t>
            </a:r>
          </a:p>
        </p:txBody>
      </p:sp>
      <p:sp>
        <p:nvSpPr>
          <p:cNvPr id="26" name="Rectangle: Rounded Corners 25">
            <a:extLst>
              <a:ext uri="{FF2B5EF4-FFF2-40B4-BE49-F238E27FC236}">
                <a16:creationId xmlns:a16="http://schemas.microsoft.com/office/drawing/2014/main" id="{085EA650-02B2-6BBD-E948-02CAC049032E}"/>
              </a:ext>
            </a:extLst>
          </p:cNvPr>
          <p:cNvSpPr/>
          <p:nvPr/>
        </p:nvSpPr>
        <p:spPr>
          <a:xfrm>
            <a:off x="6134100" y="2095500"/>
            <a:ext cx="1587500" cy="2857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7BBF96B-B83F-C3FE-E993-5175739E5F25}"/>
              </a:ext>
            </a:extLst>
          </p:cNvPr>
          <p:cNvSpPr/>
          <p:nvPr/>
        </p:nvSpPr>
        <p:spPr>
          <a:xfrm>
            <a:off x="6134100" y="2095500"/>
            <a:ext cx="1587500" cy="1016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F789CA11-2294-3528-84C1-7B07C57AE75D}"/>
              </a:ext>
            </a:extLst>
          </p:cNvPr>
          <p:cNvSpPr txBox="1"/>
          <p:nvPr/>
        </p:nvSpPr>
        <p:spPr>
          <a:xfrm>
            <a:off x="6350000" y="2400300"/>
            <a:ext cx="1143000" cy="292388"/>
          </a:xfrm>
          <a:prstGeom prst="rect">
            <a:avLst/>
          </a:prstGeom>
          <a:noFill/>
        </p:spPr>
        <p:txBody>
          <a:bodyPr vert="horz" wrap="square" lIns="0" tIns="0" rIns="0" bIns="0" rtlCol="0">
            <a:spAutoFit/>
          </a:bodyPr>
          <a:lstStyle/>
          <a:p>
            <a:r>
              <a:rPr lang="en-US" sz="1900" b="1">
                <a:solidFill>
                  <a:srgbClr val="563A4B"/>
                </a:solidFill>
                <a:latin typeface="Aptos Display" panose="020B0004020202020204" pitchFamily="34" charset="0"/>
              </a:rPr>
              <a:t>04</a:t>
            </a:r>
          </a:p>
        </p:txBody>
      </p:sp>
      <p:sp>
        <p:nvSpPr>
          <p:cNvPr id="29" name="TextBox 28">
            <a:extLst>
              <a:ext uri="{FF2B5EF4-FFF2-40B4-BE49-F238E27FC236}">
                <a16:creationId xmlns:a16="http://schemas.microsoft.com/office/drawing/2014/main" id="{7F136D70-8555-3BF3-2ED9-68315F1A7373}"/>
              </a:ext>
            </a:extLst>
          </p:cNvPr>
          <p:cNvSpPr txBox="1"/>
          <p:nvPr/>
        </p:nvSpPr>
        <p:spPr>
          <a:xfrm>
            <a:off x="6350000" y="2984500"/>
            <a:ext cx="1143000" cy="415498"/>
          </a:xfrm>
          <a:prstGeom prst="rect">
            <a:avLst/>
          </a:prstGeom>
          <a:noFill/>
        </p:spPr>
        <p:txBody>
          <a:bodyPr vert="horz" wrap="square" lIns="0" tIns="0" rIns="0" bIns="0" rtlCol="0">
            <a:spAutoFit/>
          </a:bodyPr>
          <a:lstStyle/>
          <a:p>
            <a:r>
              <a:rPr lang="en-US" sz="1350" b="1">
                <a:solidFill>
                  <a:srgbClr val="0B1F49"/>
                </a:solidFill>
                <a:latin typeface="Aptos Display" panose="020B0004020202020204" pitchFamily="34" charset="0"/>
              </a:rPr>
              <a:t>Implementation</a:t>
            </a:r>
          </a:p>
        </p:txBody>
      </p:sp>
      <p:sp>
        <p:nvSpPr>
          <p:cNvPr id="30" name="TextBox 29">
            <a:extLst>
              <a:ext uri="{FF2B5EF4-FFF2-40B4-BE49-F238E27FC236}">
                <a16:creationId xmlns:a16="http://schemas.microsoft.com/office/drawing/2014/main" id="{7C100B58-17B3-F08E-3A07-F6985AF99207}"/>
              </a:ext>
            </a:extLst>
          </p:cNvPr>
          <p:cNvSpPr txBox="1"/>
          <p:nvPr/>
        </p:nvSpPr>
        <p:spPr>
          <a:xfrm>
            <a:off x="6350000" y="3937000"/>
            <a:ext cx="1168400" cy="286232"/>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AI, voice, matching, workflows</a:t>
            </a:r>
          </a:p>
        </p:txBody>
      </p:sp>
      <p:sp>
        <p:nvSpPr>
          <p:cNvPr id="31" name="Rectangle: Rounded Corners 30">
            <a:extLst>
              <a:ext uri="{FF2B5EF4-FFF2-40B4-BE49-F238E27FC236}">
                <a16:creationId xmlns:a16="http://schemas.microsoft.com/office/drawing/2014/main" id="{43CFD085-3EFC-10F5-FBDA-D3E3090F3D33}"/>
              </a:ext>
            </a:extLst>
          </p:cNvPr>
          <p:cNvSpPr/>
          <p:nvPr/>
        </p:nvSpPr>
        <p:spPr>
          <a:xfrm>
            <a:off x="7975600" y="2095500"/>
            <a:ext cx="1587500" cy="2857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94A6A482-5B03-4672-112E-6EE83295FF60}"/>
              </a:ext>
            </a:extLst>
          </p:cNvPr>
          <p:cNvSpPr/>
          <p:nvPr/>
        </p:nvSpPr>
        <p:spPr>
          <a:xfrm>
            <a:off x="7975600" y="2095500"/>
            <a:ext cx="1587500" cy="1016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DC1C17C7-0C57-6164-D568-EDAA314C9FEF}"/>
              </a:ext>
            </a:extLst>
          </p:cNvPr>
          <p:cNvSpPr txBox="1"/>
          <p:nvPr/>
        </p:nvSpPr>
        <p:spPr>
          <a:xfrm>
            <a:off x="8191500" y="2400300"/>
            <a:ext cx="1143000" cy="292388"/>
          </a:xfrm>
          <a:prstGeom prst="rect">
            <a:avLst/>
          </a:prstGeom>
          <a:noFill/>
        </p:spPr>
        <p:txBody>
          <a:bodyPr vert="horz" wrap="square" lIns="0" tIns="0" rIns="0" bIns="0" rtlCol="0">
            <a:spAutoFit/>
          </a:bodyPr>
          <a:lstStyle/>
          <a:p>
            <a:r>
              <a:rPr lang="en-US" sz="1900" b="1">
                <a:solidFill>
                  <a:srgbClr val="C27A19"/>
                </a:solidFill>
                <a:latin typeface="Aptos Display" panose="020B0004020202020204" pitchFamily="34" charset="0"/>
              </a:rPr>
              <a:t>05</a:t>
            </a:r>
          </a:p>
        </p:txBody>
      </p:sp>
      <p:sp>
        <p:nvSpPr>
          <p:cNvPr id="34" name="TextBox 33">
            <a:extLst>
              <a:ext uri="{FF2B5EF4-FFF2-40B4-BE49-F238E27FC236}">
                <a16:creationId xmlns:a16="http://schemas.microsoft.com/office/drawing/2014/main" id="{93FB75C8-BAB6-BCA1-9831-2F78B1827167}"/>
              </a:ext>
            </a:extLst>
          </p:cNvPr>
          <p:cNvSpPr txBox="1"/>
          <p:nvPr/>
        </p:nvSpPr>
        <p:spPr>
          <a:xfrm>
            <a:off x="8191500" y="2984500"/>
            <a:ext cx="1143000" cy="207749"/>
          </a:xfrm>
          <a:prstGeom prst="rect">
            <a:avLst/>
          </a:prstGeom>
          <a:noFill/>
        </p:spPr>
        <p:txBody>
          <a:bodyPr vert="horz" wrap="square" lIns="0" tIns="0" rIns="0" bIns="0" rtlCol="0">
            <a:spAutoFit/>
          </a:bodyPr>
          <a:lstStyle/>
          <a:p>
            <a:r>
              <a:rPr lang="en-US" sz="1350" b="1">
                <a:solidFill>
                  <a:srgbClr val="0B1F49"/>
                </a:solidFill>
                <a:latin typeface="Aptos Display" panose="020B0004020202020204" pitchFamily="34" charset="0"/>
              </a:rPr>
              <a:t>Verification</a:t>
            </a:r>
          </a:p>
        </p:txBody>
      </p:sp>
      <p:sp>
        <p:nvSpPr>
          <p:cNvPr id="35" name="TextBox 34">
            <a:extLst>
              <a:ext uri="{FF2B5EF4-FFF2-40B4-BE49-F238E27FC236}">
                <a16:creationId xmlns:a16="http://schemas.microsoft.com/office/drawing/2014/main" id="{13CF7F15-768D-95A7-3AEE-A0F5D62109C3}"/>
              </a:ext>
            </a:extLst>
          </p:cNvPr>
          <p:cNvSpPr txBox="1"/>
          <p:nvPr/>
        </p:nvSpPr>
        <p:spPr>
          <a:xfrm>
            <a:off x="8191500" y="3937000"/>
            <a:ext cx="1168400" cy="286232"/>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Automated, staging and human tests</a:t>
            </a:r>
          </a:p>
        </p:txBody>
      </p:sp>
      <p:sp>
        <p:nvSpPr>
          <p:cNvPr id="36" name="Rectangle: Rounded Corners 35">
            <a:extLst>
              <a:ext uri="{FF2B5EF4-FFF2-40B4-BE49-F238E27FC236}">
                <a16:creationId xmlns:a16="http://schemas.microsoft.com/office/drawing/2014/main" id="{1B40857D-2A4B-A5C2-B341-61CD6816F60D}"/>
              </a:ext>
            </a:extLst>
          </p:cNvPr>
          <p:cNvSpPr/>
          <p:nvPr/>
        </p:nvSpPr>
        <p:spPr>
          <a:xfrm>
            <a:off x="9817100" y="2095500"/>
            <a:ext cx="1587500" cy="2857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99396922-4E8C-B035-626A-C9203D30FE1B}"/>
              </a:ext>
            </a:extLst>
          </p:cNvPr>
          <p:cNvSpPr/>
          <p:nvPr/>
        </p:nvSpPr>
        <p:spPr>
          <a:xfrm>
            <a:off x="9817100" y="2095500"/>
            <a:ext cx="1587500" cy="1016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41A9B97F-E124-668B-E003-41C79812C3DB}"/>
              </a:ext>
            </a:extLst>
          </p:cNvPr>
          <p:cNvSpPr txBox="1"/>
          <p:nvPr/>
        </p:nvSpPr>
        <p:spPr>
          <a:xfrm>
            <a:off x="10033000" y="2400300"/>
            <a:ext cx="1143000" cy="292388"/>
          </a:xfrm>
          <a:prstGeom prst="rect">
            <a:avLst/>
          </a:prstGeom>
          <a:noFill/>
        </p:spPr>
        <p:txBody>
          <a:bodyPr vert="horz" wrap="square" lIns="0" tIns="0" rIns="0" bIns="0" rtlCol="0">
            <a:spAutoFit/>
          </a:bodyPr>
          <a:lstStyle/>
          <a:p>
            <a:r>
              <a:rPr lang="en-US" sz="1900" b="1">
                <a:solidFill>
                  <a:srgbClr val="A64B2A"/>
                </a:solidFill>
                <a:latin typeface="Aptos Display" panose="020B0004020202020204" pitchFamily="34" charset="0"/>
              </a:rPr>
              <a:t>06</a:t>
            </a:r>
          </a:p>
        </p:txBody>
      </p:sp>
      <p:sp>
        <p:nvSpPr>
          <p:cNvPr id="39" name="TextBox 38">
            <a:extLst>
              <a:ext uri="{FF2B5EF4-FFF2-40B4-BE49-F238E27FC236}">
                <a16:creationId xmlns:a16="http://schemas.microsoft.com/office/drawing/2014/main" id="{35E03A1A-81C8-DF49-F610-BEB3E2F3AD3E}"/>
              </a:ext>
            </a:extLst>
          </p:cNvPr>
          <p:cNvSpPr txBox="1"/>
          <p:nvPr/>
        </p:nvSpPr>
        <p:spPr>
          <a:xfrm>
            <a:off x="10033000" y="2984500"/>
            <a:ext cx="1143000" cy="207749"/>
          </a:xfrm>
          <a:prstGeom prst="rect">
            <a:avLst/>
          </a:prstGeom>
          <a:noFill/>
        </p:spPr>
        <p:txBody>
          <a:bodyPr vert="horz" wrap="square" lIns="0" tIns="0" rIns="0" bIns="0" rtlCol="0">
            <a:spAutoFit/>
          </a:bodyPr>
          <a:lstStyle/>
          <a:p>
            <a:r>
              <a:rPr lang="en-US" sz="1350" b="1">
                <a:solidFill>
                  <a:srgbClr val="0B1F49"/>
                </a:solidFill>
                <a:latin typeface="Aptos Display" panose="020B0004020202020204" pitchFamily="34" charset="0"/>
              </a:rPr>
              <a:t>Delivery</a:t>
            </a:r>
          </a:p>
        </p:txBody>
      </p:sp>
      <p:sp>
        <p:nvSpPr>
          <p:cNvPr id="40" name="TextBox 39">
            <a:extLst>
              <a:ext uri="{FF2B5EF4-FFF2-40B4-BE49-F238E27FC236}">
                <a16:creationId xmlns:a16="http://schemas.microsoft.com/office/drawing/2014/main" id="{27F6B300-2507-B6CD-AD8D-0C2B5FF984C6}"/>
              </a:ext>
            </a:extLst>
          </p:cNvPr>
          <p:cNvSpPr txBox="1"/>
          <p:nvPr/>
        </p:nvSpPr>
        <p:spPr>
          <a:xfrm>
            <a:off x="10033000" y="3937000"/>
            <a:ext cx="1168400" cy="286232"/>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Deployment, cost, limits, demo</a:t>
            </a:r>
          </a:p>
        </p:txBody>
      </p:sp>
      <p:sp>
        <p:nvSpPr>
          <p:cNvPr id="41" name="Rectangle: Rounded Corners 40">
            <a:extLst>
              <a:ext uri="{FF2B5EF4-FFF2-40B4-BE49-F238E27FC236}">
                <a16:creationId xmlns:a16="http://schemas.microsoft.com/office/drawing/2014/main" id="{F6306D5B-7B2F-A993-C263-4285A0579C5D}"/>
              </a:ext>
            </a:extLst>
          </p:cNvPr>
          <p:cNvSpPr/>
          <p:nvPr/>
        </p:nvSpPr>
        <p:spPr>
          <a:xfrm>
            <a:off x="2413000" y="5397500"/>
            <a:ext cx="7366000" cy="5334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5471C249-5B59-BD47-5FD1-96D251724874}"/>
              </a:ext>
            </a:extLst>
          </p:cNvPr>
          <p:cNvSpPr txBox="1"/>
          <p:nvPr/>
        </p:nvSpPr>
        <p:spPr>
          <a:xfrm>
            <a:off x="2692400" y="5562600"/>
            <a:ext cx="6807200" cy="153888"/>
          </a:xfrm>
          <a:prstGeom prst="rect">
            <a:avLst/>
          </a:prstGeom>
          <a:noFill/>
        </p:spPr>
        <p:txBody>
          <a:bodyPr vert="horz" wrap="square" lIns="0" tIns="0" rIns="0" bIns="0" rtlCol="0">
            <a:spAutoFit/>
          </a:bodyPr>
          <a:lstStyle/>
          <a:p>
            <a:pPr algn="ctr"/>
            <a:r>
              <a:rPr lang="en-US" sz="1000" b="1">
                <a:solidFill>
                  <a:srgbClr val="FFFFFF"/>
                </a:solidFill>
                <a:latin typeface="Aptos" panose="020B0004020202020204" pitchFamily="34" charset="0"/>
              </a:rPr>
              <a:t>Slides 1-12: Zaidan | Slides 13-27: Charbel | Then: 5-minute live demonstration</a:t>
            </a:r>
          </a:p>
        </p:txBody>
      </p:sp>
    </p:spTree>
    <p:extLst>
      <p:ext uri="{BB962C8B-B14F-4D97-AF65-F5344CB8AC3E}">
        <p14:creationId xmlns:p14="http://schemas.microsoft.com/office/powerpoint/2010/main" val="678363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DA3571-8D53-C6C3-734D-89D665F85A88}"/>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17A5297-B746-23D9-F718-407538554B07}"/>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PROBLEM AND URGENCY</a:t>
            </a:r>
          </a:p>
        </p:txBody>
      </p:sp>
      <p:sp>
        <p:nvSpPr>
          <p:cNvPr id="4" name="TextBox 3">
            <a:extLst>
              <a:ext uri="{FF2B5EF4-FFF2-40B4-BE49-F238E27FC236}">
                <a16:creationId xmlns:a16="http://schemas.microsoft.com/office/drawing/2014/main" id="{D79BA130-1BB2-737C-2039-29108F03AE46}"/>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Capability and opportunity remain disconnected</a:t>
            </a:r>
          </a:p>
        </p:txBody>
      </p:sp>
      <p:sp>
        <p:nvSpPr>
          <p:cNvPr id="5" name="TextBox 4">
            <a:extLst>
              <a:ext uri="{FF2B5EF4-FFF2-40B4-BE49-F238E27FC236}">
                <a16:creationId xmlns:a16="http://schemas.microsoft.com/office/drawing/2014/main" id="{5204B7CE-39B5-19BD-52BE-00D0BB00D93E}"/>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Digital recruitment can reproduce exclusion when accessibility, trust and task-level ability are missing.</a:t>
            </a:r>
          </a:p>
        </p:txBody>
      </p:sp>
      <p:pic>
        <p:nvPicPr>
          <p:cNvPr id="7" name="Picture 6" descr="Universite Saint-Joseph and ESIB mark">
            <a:extLst>
              <a:ext uri="{FF2B5EF4-FFF2-40B4-BE49-F238E27FC236}">
                <a16:creationId xmlns:a16="http://schemas.microsoft.com/office/drawing/2014/main" id="{F4FC6E39-50D0-BEA9-E4F0-6E2632C5F0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1553D032-2B9C-07B1-FB14-494E7C7FFBC4}"/>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D47B587-C264-C771-FBB4-318DA27F9559}"/>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1B9C6387-FEA7-1B28-FBB7-3520FD2425DA}"/>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03</a:t>
            </a:r>
          </a:p>
        </p:txBody>
      </p:sp>
      <p:sp>
        <p:nvSpPr>
          <p:cNvPr id="11" name="Rectangle: Rounded Corners 10">
            <a:extLst>
              <a:ext uri="{FF2B5EF4-FFF2-40B4-BE49-F238E27FC236}">
                <a16:creationId xmlns:a16="http://schemas.microsoft.com/office/drawing/2014/main" id="{21969073-80E5-063D-4D45-4D21F638CA9C}"/>
              </a:ext>
            </a:extLst>
          </p:cNvPr>
          <p:cNvSpPr/>
          <p:nvPr/>
        </p:nvSpPr>
        <p:spPr>
          <a:xfrm>
            <a:off x="609600" y="1905000"/>
            <a:ext cx="3175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FD8886-B0BA-4D58-9172-2D0CBBAC672F}"/>
              </a:ext>
            </a:extLst>
          </p:cNvPr>
          <p:cNvSpPr/>
          <p:nvPr/>
        </p:nvSpPr>
        <p:spPr>
          <a:xfrm>
            <a:off x="609600" y="1905000"/>
            <a:ext cx="63500" cy="9144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670A12B-4706-BABB-7969-584F54B25BD7}"/>
              </a:ext>
            </a:extLst>
          </p:cNvPr>
          <p:cNvSpPr txBox="1"/>
          <p:nvPr/>
        </p:nvSpPr>
        <p:spPr>
          <a:xfrm>
            <a:off x="812800" y="2044700"/>
            <a:ext cx="2870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1.3B</a:t>
            </a:r>
          </a:p>
        </p:txBody>
      </p:sp>
      <p:sp>
        <p:nvSpPr>
          <p:cNvPr id="14" name="TextBox 13">
            <a:extLst>
              <a:ext uri="{FF2B5EF4-FFF2-40B4-BE49-F238E27FC236}">
                <a16:creationId xmlns:a16="http://schemas.microsoft.com/office/drawing/2014/main" id="{D8E82517-7179-ADB9-0254-F2109B1AC1FC}"/>
              </a:ext>
            </a:extLst>
          </p:cNvPr>
          <p:cNvSpPr txBox="1"/>
          <p:nvPr/>
        </p:nvSpPr>
        <p:spPr>
          <a:xfrm>
            <a:off x="812800" y="2451100"/>
            <a:ext cx="28702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people experience significant disability worldwide</a:t>
            </a:r>
          </a:p>
        </p:txBody>
      </p:sp>
      <p:sp>
        <p:nvSpPr>
          <p:cNvPr id="15" name="Rectangle: Rounded Corners 14">
            <a:extLst>
              <a:ext uri="{FF2B5EF4-FFF2-40B4-BE49-F238E27FC236}">
                <a16:creationId xmlns:a16="http://schemas.microsoft.com/office/drawing/2014/main" id="{A9965AFC-9D25-B497-8604-4802D6E7F8F9}"/>
              </a:ext>
            </a:extLst>
          </p:cNvPr>
          <p:cNvSpPr/>
          <p:nvPr/>
        </p:nvSpPr>
        <p:spPr>
          <a:xfrm>
            <a:off x="4508500" y="1905000"/>
            <a:ext cx="3175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DE0E2BF-85CF-CE30-249F-CF1EF5F09D68}"/>
              </a:ext>
            </a:extLst>
          </p:cNvPr>
          <p:cNvSpPr/>
          <p:nvPr/>
        </p:nvSpPr>
        <p:spPr>
          <a:xfrm>
            <a:off x="4508500" y="1905000"/>
            <a:ext cx="63500" cy="9144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093DFF6-F954-BC88-7EA1-FFC2D93F3954}"/>
              </a:ext>
            </a:extLst>
          </p:cNvPr>
          <p:cNvSpPr txBox="1"/>
          <p:nvPr/>
        </p:nvSpPr>
        <p:spPr>
          <a:xfrm>
            <a:off x="4711700" y="2044700"/>
            <a:ext cx="2870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30% lower</a:t>
            </a:r>
          </a:p>
        </p:txBody>
      </p:sp>
      <p:sp>
        <p:nvSpPr>
          <p:cNvPr id="18" name="TextBox 17">
            <a:extLst>
              <a:ext uri="{FF2B5EF4-FFF2-40B4-BE49-F238E27FC236}">
                <a16:creationId xmlns:a16="http://schemas.microsoft.com/office/drawing/2014/main" id="{7306B8E7-81E8-A217-AA43-8690DFD04665}"/>
              </a:ext>
            </a:extLst>
          </p:cNvPr>
          <p:cNvSpPr txBox="1"/>
          <p:nvPr/>
        </p:nvSpPr>
        <p:spPr>
          <a:xfrm>
            <a:off x="4711700" y="2451100"/>
            <a:ext cx="2870200" cy="2769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labour-market participation than persons without disabilities</a:t>
            </a:r>
          </a:p>
        </p:txBody>
      </p:sp>
      <p:sp>
        <p:nvSpPr>
          <p:cNvPr id="19" name="Rectangle: Rounded Corners 18">
            <a:extLst>
              <a:ext uri="{FF2B5EF4-FFF2-40B4-BE49-F238E27FC236}">
                <a16:creationId xmlns:a16="http://schemas.microsoft.com/office/drawing/2014/main" id="{DBA93780-FDA2-C278-673B-DB55B0B0E413}"/>
              </a:ext>
            </a:extLst>
          </p:cNvPr>
          <p:cNvSpPr/>
          <p:nvPr/>
        </p:nvSpPr>
        <p:spPr>
          <a:xfrm>
            <a:off x="8407400" y="1905000"/>
            <a:ext cx="3175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D4B2F15-2A8E-57F3-6D00-FD079A5AE1A0}"/>
              </a:ext>
            </a:extLst>
          </p:cNvPr>
          <p:cNvSpPr/>
          <p:nvPr/>
        </p:nvSpPr>
        <p:spPr>
          <a:xfrm>
            <a:off x="8407400" y="1905000"/>
            <a:ext cx="63500" cy="9144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87D1DA75-1DA9-B8B6-89BA-5E2EDF267775}"/>
              </a:ext>
            </a:extLst>
          </p:cNvPr>
          <p:cNvSpPr txBox="1"/>
          <p:nvPr/>
        </p:nvSpPr>
        <p:spPr>
          <a:xfrm>
            <a:off x="8610600" y="2044700"/>
            <a:ext cx="2870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&gt;80%</a:t>
            </a:r>
          </a:p>
        </p:txBody>
      </p:sp>
      <p:sp>
        <p:nvSpPr>
          <p:cNvPr id="22" name="TextBox 21">
            <a:extLst>
              <a:ext uri="{FF2B5EF4-FFF2-40B4-BE49-F238E27FC236}">
                <a16:creationId xmlns:a16="http://schemas.microsoft.com/office/drawing/2014/main" id="{8C70B358-C39A-1006-3DE2-EF2DF0EF4EC0}"/>
              </a:ext>
            </a:extLst>
          </p:cNvPr>
          <p:cNvSpPr txBox="1"/>
          <p:nvPr/>
        </p:nvSpPr>
        <p:spPr>
          <a:xfrm>
            <a:off x="8610600" y="2451100"/>
            <a:ext cx="2870200" cy="2769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of 700+ surveyed candidates named identifying inclusive employers as the greatest barrier</a:t>
            </a:r>
          </a:p>
        </p:txBody>
      </p:sp>
      <p:sp>
        <p:nvSpPr>
          <p:cNvPr id="23" name="Rectangle: Rounded Corners 22">
            <a:extLst>
              <a:ext uri="{FF2B5EF4-FFF2-40B4-BE49-F238E27FC236}">
                <a16:creationId xmlns:a16="http://schemas.microsoft.com/office/drawing/2014/main" id="{D38FA634-3238-2F10-2675-A53CF4F6FBDE}"/>
              </a:ext>
            </a:extLst>
          </p:cNvPr>
          <p:cNvSpPr/>
          <p:nvPr/>
        </p:nvSpPr>
        <p:spPr>
          <a:xfrm>
            <a:off x="1244600" y="3302000"/>
            <a:ext cx="9702800" cy="19050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CA6BE4D-4F7B-B2E4-9765-9DF7A3283303}"/>
              </a:ext>
            </a:extLst>
          </p:cNvPr>
          <p:cNvSpPr txBox="1"/>
          <p:nvPr/>
        </p:nvSpPr>
        <p:spPr>
          <a:xfrm>
            <a:off x="1651000" y="3708400"/>
            <a:ext cx="8890000" cy="338554"/>
          </a:xfrm>
          <a:prstGeom prst="rect">
            <a:avLst/>
          </a:prstGeom>
          <a:noFill/>
        </p:spPr>
        <p:txBody>
          <a:bodyPr vert="horz" wrap="square" lIns="0" tIns="0" rIns="0" bIns="0" rtlCol="0">
            <a:spAutoFit/>
          </a:bodyPr>
          <a:lstStyle/>
          <a:p>
            <a:pPr algn="ctr"/>
            <a:r>
              <a:rPr lang="en-US" sz="2200" b="1">
                <a:solidFill>
                  <a:srgbClr val="FFFFFF"/>
                </a:solidFill>
                <a:latin typeface="Aptos Display" panose="020B0004020202020204" pitchFamily="34" charset="0"/>
              </a:rPr>
              <a:t>The engineering problem is not a lack of ability.</a:t>
            </a:r>
          </a:p>
        </p:txBody>
      </p:sp>
      <p:sp>
        <p:nvSpPr>
          <p:cNvPr id="25" name="TextBox 24">
            <a:extLst>
              <a:ext uri="{FF2B5EF4-FFF2-40B4-BE49-F238E27FC236}">
                <a16:creationId xmlns:a16="http://schemas.microsoft.com/office/drawing/2014/main" id="{E0784DDF-F589-334F-2EB2-9EE373E3A9DF}"/>
              </a:ext>
            </a:extLst>
          </p:cNvPr>
          <p:cNvSpPr txBox="1"/>
          <p:nvPr/>
        </p:nvSpPr>
        <p:spPr>
          <a:xfrm>
            <a:off x="1841500" y="4381500"/>
            <a:ext cx="8509000" cy="400110"/>
          </a:xfrm>
          <a:prstGeom prst="rect">
            <a:avLst/>
          </a:prstGeom>
          <a:noFill/>
        </p:spPr>
        <p:txBody>
          <a:bodyPr vert="horz" wrap="square" lIns="0" tIns="0" rIns="0" bIns="0" rtlCol="0">
            <a:spAutoFit/>
          </a:bodyPr>
          <a:lstStyle/>
          <a:p>
            <a:pPr algn="ctr"/>
            <a:r>
              <a:rPr lang="en-US" sz="1300">
                <a:solidFill>
                  <a:srgbClr val="DDE7F5"/>
                </a:solidFill>
                <a:latin typeface="Aptos" panose="020B0004020202020204" pitchFamily="34" charset="0"/>
              </a:rPr>
              <a:t>It is the distance between candidates, accessible recruitment processes, structured job tasks, workplace support and employers prepared to evaluate ability.</a:t>
            </a:r>
          </a:p>
        </p:txBody>
      </p:sp>
      <p:sp>
        <p:nvSpPr>
          <p:cNvPr id="26" name="TextBox 25">
            <a:extLst>
              <a:ext uri="{FF2B5EF4-FFF2-40B4-BE49-F238E27FC236}">
                <a16:creationId xmlns:a16="http://schemas.microsoft.com/office/drawing/2014/main" id="{6A02CE56-DF44-BA76-CB7C-B9BC06368641}"/>
              </a:ext>
            </a:extLst>
          </p:cNvPr>
          <p:cNvSpPr txBox="1"/>
          <p:nvPr/>
        </p:nvSpPr>
        <p:spPr>
          <a:xfrm>
            <a:off x="609600" y="6172200"/>
            <a:ext cx="10414000" cy="104644"/>
          </a:xfrm>
          <a:prstGeom prst="rect">
            <a:avLst/>
          </a:prstGeom>
          <a:noFill/>
        </p:spPr>
        <p:txBody>
          <a:bodyPr vert="horz" wrap="square" lIns="0" tIns="0" rIns="0" bIns="0" rtlCol="0">
            <a:spAutoFit/>
          </a:bodyPr>
          <a:lstStyle/>
          <a:p>
            <a:r>
              <a:rPr lang="en-US" sz="680">
                <a:solidFill>
                  <a:srgbClr val="5D6B80"/>
                </a:solidFill>
                <a:latin typeface="Aptos" panose="020B0004020202020204" pitchFamily="34" charset="0"/>
              </a:rPr>
              <a:t>Sources: WHO Disability and Health (1.3B / 16%); ILO Global Disability Summit 2025 (30% participation gap); Business Disability Forum / Evenbreak survey (&gt;700 respondents).</a:t>
            </a:r>
          </a:p>
        </p:txBody>
      </p:sp>
    </p:spTree>
    <p:extLst>
      <p:ext uri="{BB962C8B-B14F-4D97-AF65-F5344CB8AC3E}">
        <p14:creationId xmlns:p14="http://schemas.microsoft.com/office/powerpoint/2010/main" val="19206620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C8797B9-D9D3-2EB9-55FE-87DFAE7A9FD4}"/>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B66C5C-CE02-8AEA-7D40-E9CD72464FE2}"/>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BACKGROUND RESEARCH</a:t>
            </a:r>
          </a:p>
        </p:txBody>
      </p:sp>
      <p:sp>
        <p:nvSpPr>
          <p:cNvPr id="4" name="TextBox 3">
            <a:extLst>
              <a:ext uri="{FF2B5EF4-FFF2-40B4-BE49-F238E27FC236}">
                <a16:creationId xmlns:a16="http://schemas.microsoft.com/office/drawing/2014/main" id="{A388401F-73ED-952A-7C8E-99834154FCFB}"/>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From disability-as-deficit to accessible decision support</a:t>
            </a:r>
          </a:p>
        </p:txBody>
      </p:sp>
      <p:sp>
        <p:nvSpPr>
          <p:cNvPr id="5" name="TextBox 4">
            <a:extLst>
              <a:ext uri="{FF2B5EF4-FFF2-40B4-BE49-F238E27FC236}">
                <a16:creationId xmlns:a16="http://schemas.microsoft.com/office/drawing/2014/main" id="{57B46EC7-224D-DCF7-7816-6C3379476AB7}"/>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project follows the social and rights-based view: barriers can be changed through work design and technology.</a:t>
            </a:r>
          </a:p>
        </p:txBody>
      </p:sp>
      <p:pic>
        <p:nvPicPr>
          <p:cNvPr id="7" name="Picture 6" descr="Universite Saint-Joseph and ESIB mark">
            <a:extLst>
              <a:ext uri="{FF2B5EF4-FFF2-40B4-BE49-F238E27FC236}">
                <a16:creationId xmlns:a16="http://schemas.microsoft.com/office/drawing/2014/main" id="{0E57BC0E-531C-F278-D8BD-5A971582F0A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454D23BA-BDE7-1732-2594-58FE58FD30F3}"/>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257FC982-34C7-3933-B260-96D92947A11A}"/>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FD6D9C59-E105-C507-9C58-A51B0A296EDF}"/>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04</a:t>
            </a:r>
          </a:p>
        </p:txBody>
      </p:sp>
      <p:sp>
        <p:nvSpPr>
          <p:cNvPr id="11" name="Rectangle: Rounded Corners 10">
            <a:extLst>
              <a:ext uri="{FF2B5EF4-FFF2-40B4-BE49-F238E27FC236}">
                <a16:creationId xmlns:a16="http://schemas.microsoft.com/office/drawing/2014/main" id="{6A7C2703-8BF7-6DE3-09DF-2EAB7E5AC710}"/>
              </a:ext>
            </a:extLst>
          </p:cNvPr>
          <p:cNvSpPr/>
          <p:nvPr/>
        </p:nvSpPr>
        <p:spPr>
          <a:xfrm>
            <a:off x="609600" y="2286000"/>
            <a:ext cx="1841500" cy="2413000"/>
          </a:xfrm>
          <a:prstGeom prst="roundRect">
            <a:avLst/>
          </a:prstGeom>
          <a:solidFill>
            <a:srgbClr val="FFFFFF"/>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A336615-C7DA-4190-8C2D-48F5FFC63234}"/>
              </a:ext>
            </a:extLst>
          </p:cNvPr>
          <p:cNvSpPr/>
          <p:nvPr/>
        </p:nvSpPr>
        <p:spPr>
          <a:xfrm>
            <a:off x="609600" y="2286000"/>
            <a:ext cx="1841500" cy="1016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B5FA644-1337-EA80-3864-E6EAF9824ACB}"/>
              </a:ext>
            </a:extLst>
          </p:cNvPr>
          <p:cNvSpPr txBox="1"/>
          <p:nvPr/>
        </p:nvSpPr>
        <p:spPr>
          <a:xfrm>
            <a:off x="812800" y="2565400"/>
            <a:ext cx="508000" cy="184666"/>
          </a:xfrm>
          <a:prstGeom prst="rect">
            <a:avLst/>
          </a:prstGeom>
          <a:noFill/>
        </p:spPr>
        <p:txBody>
          <a:bodyPr vert="horz" wrap="square" lIns="0" tIns="0" rIns="0" bIns="0" rtlCol="0">
            <a:spAutoFit/>
          </a:bodyPr>
          <a:lstStyle/>
          <a:p>
            <a:r>
              <a:rPr lang="en-US" sz="1200" b="1">
                <a:solidFill>
                  <a:srgbClr val="563A4B"/>
                </a:solidFill>
                <a:latin typeface="Aptos" panose="020B0004020202020204" pitchFamily="34" charset="0"/>
              </a:rPr>
              <a:t>01</a:t>
            </a:r>
          </a:p>
        </p:txBody>
      </p:sp>
      <p:sp>
        <p:nvSpPr>
          <p:cNvPr id="14" name="TextBox 13">
            <a:extLst>
              <a:ext uri="{FF2B5EF4-FFF2-40B4-BE49-F238E27FC236}">
                <a16:creationId xmlns:a16="http://schemas.microsoft.com/office/drawing/2014/main" id="{513EF864-8FA6-7644-96B8-5DFC0F35FDBE}"/>
              </a:ext>
            </a:extLst>
          </p:cNvPr>
          <p:cNvSpPr txBox="1"/>
          <p:nvPr/>
        </p:nvSpPr>
        <p:spPr>
          <a:xfrm>
            <a:off x="812800" y="3035300"/>
            <a:ext cx="1422400" cy="400110"/>
          </a:xfrm>
          <a:prstGeom prst="rect">
            <a:avLst/>
          </a:prstGeom>
          <a:noFill/>
        </p:spPr>
        <p:txBody>
          <a:bodyPr vert="horz" wrap="square" lIns="0" tIns="0" rIns="0" bIns="0" rtlCol="0">
            <a:spAutoFit/>
          </a:bodyPr>
          <a:lstStyle/>
          <a:p>
            <a:r>
              <a:rPr lang="en-US" sz="1300" b="1">
                <a:solidFill>
                  <a:srgbClr val="0B1F49"/>
                </a:solidFill>
                <a:latin typeface="Aptos Display" panose="020B0004020202020204" pitchFamily="34" charset="0"/>
              </a:rPr>
              <a:t>Medical / deficit focus</a:t>
            </a:r>
          </a:p>
        </p:txBody>
      </p:sp>
      <p:sp>
        <p:nvSpPr>
          <p:cNvPr id="15" name="TextBox 14">
            <a:extLst>
              <a:ext uri="{FF2B5EF4-FFF2-40B4-BE49-F238E27FC236}">
                <a16:creationId xmlns:a16="http://schemas.microsoft.com/office/drawing/2014/main" id="{8FD8D213-CD3A-507E-CD98-9E46B94BA5AA}"/>
              </a:ext>
            </a:extLst>
          </p:cNvPr>
          <p:cNvSpPr txBox="1"/>
          <p:nvPr/>
        </p:nvSpPr>
        <p:spPr>
          <a:xfrm>
            <a:off x="812800" y="3873500"/>
            <a:ext cx="1422400" cy="283154"/>
          </a:xfrm>
          <a:prstGeom prst="rect">
            <a:avLst/>
          </a:prstGeom>
          <a:noFill/>
        </p:spPr>
        <p:txBody>
          <a:bodyPr vert="horz" wrap="square" lIns="0" tIns="0" rIns="0" bIns="0" rtlCol="0">
            <a:spAutoFit/>
          </a:bodyPr>
          <a:lstStyle/>
          <a:p>
            <a:r>
              <a:rPr lang="en-US" sz="920">
                <a:solidFill>
                  <a:srgbClr val="17243A"/>
                </a:solidFill>
                <a:latin typeface="Aptos" panose="020B0004020202020204" pitchFamily="34" charset="0"/>
              </a:rPr>
              <a:t>Recruitment starts from limitation.</a:t>
            </a:r>
          </a:p>
        </p:txBody>
      </p:sp>
      <p:cxnSp>
        <p:nvCxnSpPr>
          <p:cNvPr id="16" name="Straight Connector 15">
            <a:extLst>
              <a:ext uri="{FF2B5EF4-FFF2-40B4-BE49-F238E27FC236}">
                <a16:creationId xmlns:a16="http://schemas.microsoft.com/office/drawing/2014/main" id="{ACABFC13-92B5-1ADC-CBD1-09EE4CA3D6EC}"/>
              </a:ext>
            </a:extLst>
          </p:cNvPr>
          <p:cNvCxnSpPr/>
          <p:nvPr/>
        </p:nvCxnSpPr>
        <p:spPr>
          <a:xfrm>
            <a:off x="2489200" y="3492500"/>
            <a:ext cx="241300" cy="0"/>
          </a:xfrm>
          <a:prstGeom prst="line">
            <a:avLst/>
          </a:prstGeom>
          <a:ln w="2794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17" name="Rectangle: Rounded Corners 16">
            <a:extLst>
              <a:ext uri="{FF2B5EF4-FFF2-40B4-BE49-F238E27FC236}">
                <a16:creationId xmlns:a16="http://schemas.microsoft.com/office/drawing/2014/main" id="{4798C51E-AD5F-5A53-7015-A26D39D9A432}"/>
              </a:ext>
            </a:extLst>
          </p:cNvPr>
          <p:cNvSpPr/>
          <p:nvPr/>
        </p:nvSpPr>
        <p:spPr>
          <a:xfrm>
            <a:off x="2768600" y="2286000"/>
            <a:ext cx="1841500" cy="2413000"/>
          </a:xfrm>
          <a:prstGeom prst="roundRect">
            <a:avLst/>
          </a:prstGeom>
          <a:solidFill>
            <a:srgbClr val="FFFFFF"/>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C331533-46C5-A7B2-54A7-CE9D80CE90E7}"/>
              </a:ext>
            </a:extLst>
          </p:cNvPr>
          <p:cNvSpPr/>
          <p:nvPr/>
        </p:nvSpPr>
        <p:spPr>
          <a:xfrm>
            <a:off x="2768600" y="2286000"/>
            <a:ext cx="1841500" cy="1016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B772B45C-5685-9A11-5C57-1FBFE470A48E}"/>
              </a:ext>
            </a:extLst>
          </p:cNvPr>
          <p:cNvSpPr txBox="1"/>
          <p:nvPr/>
        </p:nvSpPr>
        <p:spPr>
          <a:xfrm>
            <a:off x="2971800" y="2565400"/>
            <a:ext cx="508000" cy="184666"/>
          </a:xfrm>
          <a:prstGeom prst="rect">
            <a:avLst/>
          </a:prstGeom>
          <a:noFill/>
        </p:spPr>
        <p:txBody>
          <a:bodyPr vert="horz" wrap="square" lIns="0" tIns="0" rIns="0" bIns="0" rtlCol="0">
            <a:spAutoFit/>
          </a:bodyPr>
          <a:lstStyle/>
          <a:p>
            <a:r>
              <a:rPr lang="en-US" sz="1200" b="1">
                <a:solidFill>
                  <a:srgbClr val="A64B2A"/>
                </a:solidFill>
                <a:latin typeface="Aptos" panose="020B0004020202020204" pitchFamily="34" charset="0"/>
              </a:rPr>
              <a:t>02</a:t>
            </a:r>
          </a:p>
        </p:txBody>
      </p:sp>
      <p:sp>
        <p:nvSpPr>
          <p:cNvPr id="20" name="TextBox 19">
            <a:extLst>
              <a:ext uri="{FF2B5EF4-FFF2-40B4-BE49-F238E27FC236}">
                <a16:creationId xmlns:a16="http://schemas.microsoft.com/office/drawing/2014/main" id="{EA9AEA7E-DBF5-B315-7370-9C579084DB85}"/>
              </a:ext>
            </a:extLst>
          </p:cNvPr>
          <p:cNvSpPr txBox="1"/>
          <p:nvPr/>
        </p:nvSpPr>
        <p:spPr>
          <a:xfrm>
            <a:off x="2971800" y="3035300"/>
            <a:ext cx="1422400" cy="400110"/>
          </a:xfrm>
          <a:prstGeom prst="rect">
            <a:avLst/>
          </a:prstGeom>
          <a:noFill/>
        </p:spPr>
        <p:txBody>
          <a:bodyPr vert="horz" wrap="square" lIns="0" tIns="0" rIns="0" bIns="0" rtlCol="0">
            <a:spAutoFit/>
          </a:bodyPr>
          <a:lstStyle/>
          <a:p>
            <a:r>
              <a:rPr lang="en-US" sz="1300" b="1">
                <a:solidFill>
                  <a:srgbClr val="0B1F49"/>
                </a:solidFill>
                <a:latin typeface="Aptos Display" panose="020B0004020202020204" pitchFamily="34" charset="0"/>
              </a:rPr>
              <a:t>Social / rights model</a:t>
            </a:r>
          </a:p>
        </p:txBody>
      </p:sp>
      <p:sp>
        <p:nvSpPr>
          <p:cNvPr id="21" name="TextBox 20">
            <a:extLst>
              <a:ext uri="{FF2B5EF4-FFF2-40B4-BE49-F238E27FC236}">
                <a16:creationId xmlns:a16="http://schemas.microsoft.com/office/drawing/2014/main" id="{2C83A487-7432-7161-996D-8E59C0F0F08D}"/>
              </a:ext>
            </a:extLst>
          </p:cNvPr>
          <p:cNvSpPr txBox="1"/>
          <p:nvPr/>
        </p:nvSpPr>
        <p:spPr>
          <a:xfrm>
            <a:off x="2971800" y="3873500"/>
            <a:ext cx="1422400" cy="283154"/>
          </a:xfrm>
          <a:prstGeom prst="rect">
            <a:avLst/>
          </a:prstGeom>
          <a:noFill/>
        </p:spPr>
        <p:txBody>
          <a:bodyPr vert="horz" wrap="square" lIns="0" tIns="0" rIns="0" bIns="0" rtlCol="0">
            <a:spAutoFit/>
          </a:bodyPr>
          <a:lstStyle/>
          <a:p>
            <a:r>
              <a:rPr lang="en-US" sz="920">
                <a:solidFill>
                  <a:srgbClr val="17243A"/>
                </a:solidFill>
                <a:latin typeface="Aptos" panose="020B0004020202020204" pitchFamily="34" charset="0"/>
              </a:rPr>
              <a:t>Barriers exist in processes and environments.</a:t>
            </a:r>
          </a:p>
        </p:txBody>
      </p:sp>
      <p:cxnSp>
        <p:nvCxnSpPr>
          <p:cNvPr id="22" name="Straight Connector 21">
            <a:extLst>
              <a:ext uri="{FF2B5EF4-FFF2-40B4-BE49-F238E27FC236}">
                <a16:creationId xmlns:a16="http://schemas.microsoft.com/office/drawing/2014/main" id="{864E4A92-6C00-D248-F72E-B4907019439F}"/>
              </a:ext>
            </a:extLst>
          </p:cNvPr>
          <p:cNvCxnSpPr/>
          <p:nvPr/>
        </p:nvCxnSpPr>
        <p:spPr>
          <a:xfrm>
            <a:off x="4648200" y="3492500"/>
            <a:ext cx="241300" cy="0"/>
          </a:xfrm>
          <a:prstGeom prst="line">
            <a:avLst/>
          </a:prstGeom>
          <a:ln w="2794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A51E54AA-122B-F020-6EFC-788C076155E8}"/>
              </a:ext>
            </a:extLst>
          </p:cNvPr>
          <p:cNvSpPr/>
          <p:nvPr/>
        </p:nvSpPr>
        <p:spPr>
          <a:xfrm>
            <a:off x="4927600" y="2286000"/>
            <a:ext cx="1841500" cy="24130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F709D53-2A47-3CED-541E-44089AE09178}"/>
              </a:ext>
            </a:extLst>
          </p:cNvPr>
          <p:cNvSpPr/>
          <p:nvPr/>
        </p:nvSpPr>
        <p:spPr>
          <a:xfrm>
            <a:off x="4927600" y="2286000"/>
            <a:ext cx="18415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F5F50CBB-CE51-5688-2AF5-B22731085EAB}"/>
              </a:ext>
            </a:extLst>
          </p:cNvPr>
          <p:cNvSpPr txBox="1"/>
          <p:nvPr/>
        </p:nvSpPr>
        <p:spPr>
          <a:xfrm>
            <a:off x="5130800" y="2565400"/>
            <a:ext cx="508000" cy="184666"/>
          </a:xfrm>
          <a:prstGeom prst="rect">
            <a:avLst/>
          </a:prstGeom>
          <a:noFill/>
        </p:spPr>
        <p:txBody>
          <a:bodyPr vert="horz" wrap="square" lIns="0" tIns="0" rIns="0" bIns="0" rtlCol="0">
            <a:spAutoFit/>
          </a:bodyPr>
          <a:lstStyle/>
          <a:p>
            <a:r>
              <a:rPr lang="en-US" sz="1200" b="1">
                <a:solidFill>
                  <a:srgbClr val="1565D8"/>
                </a:solidFill>
                <a:latin typeface="Aptos" panose="020B0004020202020204" pitchFamily="34" charset="0"/>
              </a:rPr>
              <a:t>03</a:t>
            </a:r>
          </a:p>
        </p:txBody>
      </p:sp>
      <p:sp>
        <p:nvSpPr>
          <p:cNvPr id="26" name="TextBox 25">
            <a:extLst>
              <a:ext uri="{FF2B5EF4-FFF2-40B4-BE49-F238E27FC236}">
                <a16:creationId xmlns:a16="http://schemas.microsoft.com/office/drawing/2014/main" id="{189D054D-4EFB-DD11-DE75-28DA0A0E57B6}"/>
              </a:ext>
            </a:extLst>
          </p:cNvPr>
          <p:cNvSpPr txBox="1"/>
          <p:nvPr/>
        </p:nvSpPr>
        <p:spPr>
          <a:xfrm>
            <a:off x="5130800" y="3035300"/>
            <a:ext cx="1422400" cy="200055"/>
          </a:xfrm>
          <a:prstGeom prst="rect">
            <a:avLst/>
          </a:prstGeom>
          <a:noFill/>
        </p:spPr>
        <p:txBody>
          <a:bodyPr vert="horz" wrap="square" lIns="0" tIns="0" rIns="0" bIns="0" rtlCol="0">
            <a:spAutoFit/>
          </a:bodyPr>
          <a:lstStyle/>
          <a:p>
            <a:r>
              <a:rPr lang="en-US" sz="1300" b="1">
                <a:solidFill>
                  <a:srgbClr val="0B1F49"/>
                </a:solidFill>
                <a:latin typeface="Aptos Display" panose="020B0004020202020204" pitchFamily="34" charset="0"/>
              </a:rPr>
              <a:t>Online job portals</a:t>
            </a:r>
          </a:p>
        </p:txBody>
      </p:sp>
      <p:sp>
        <p:nvSpPr>
          <p:cNvPr id="27" name="TextBox 26">
            <a:extLst>
              <a:ext uri="{FF2B5EF4-FFF2-40B4-BE49-F238E27FC236}">
                <a16:creationId xmlns:a16="http://schemas.microsoft.com/office/drawing/2014/main" id="{9534C11E-EC97-7C84-156D-4D328CC3357D}"/>
              </a:ext>
            </a:extLst>
          </p:cNvPr>
          <p:cNvSpPr txBox="1"/>
          <p:nvPr/>
        </p:nvSpPr>
        <p:spPr>
          <a:xfrm>
            <a:off x="5130800" y="3873500"/>
            <a:ext cx="1422400" cy="283154"/>
          </a:xfrm>
          <a:prstGeom prst="rect">
            <a:avLst/>
          </a:prstGeom>
          <a:noFill/>
        </p:spPr>
        <p:txBody>
          <a:bodyPr vert="horz" wrap="square" lIns="0" tIns="0" rIns="0" bIns="0" rtlCol="0">
            <a:spAutoFit/>
          </a:bodyPr>
          <a:lstStyle/>
          <a:p>
            <a:r>
              <a:rPr lang="en-US" sz="920">
                <a:solidFill>
                  <a:srgbClr val="17243A"/>
                </a:solidFill>
                <a:latin typeface="Aptos" panose="020B0004020202020204" pitchFamily="34" charset="0"/>
              </a:rPr>
              <a:t>Visibility increases, but profiles stay generic.</a:t>
            </a:r>
          </a:p>
        </p:txBody>
      </p:sp>
      <p:cxnSp>
        <p:nvCxnSpPr>
          <p:cNvPr id="28" name="Straight Connector 27">
            <a:extLst>
              <a:ext uri="{FF2B5EF4-FFF2-40B4-BE49-F238E27FC236}">
                <a16:creationId xmlns:a16="http://schemas.microsoft.com/office/drawing/2014/main" id="{E639FCFE-C4C8-0ED7-9EAE-1CE7F9B494FD}"/>
              </a:ext>
            </a:extLst>
          </p:cNvPr>
          <p:cNvCxnSpPr/>
          <p:nvPr/>
        </p:nvCxnSpPr>
        <p:spPr>
          <a:xfrm>
            <a:off x="6807200" y="3492500"/>
            <a:ext cx="241300" cy="0"/>
          </a:xfrm>
          <a:prstGeom prst="line">
            <a:avLst/>
          </a:prstGeom>
          <a:ln w="2794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9" name="Rectangle: Rounded Corners 28">
            <a:extLst>
              <a:ext uri="{FF2B5EF4-FFF2-40B4-BE49-F238E27FC236}">
                <a16:creationId xmlns:a16="http://schemas.microsoft.com/office/drawing/2014/main" id="{C2A21B08-CE38-BF68-B732-2C9A55B3628E}"/>
              </a:ext>
            </a:extLst>
          </p:cNvPr>
          <p:cNvSpPr/>
          <p:nvPr/>
        </p:nvSpPr>
        <p:spPr>
          <a:xfrm>
            <a:off x="7086600" y="2286000"/>
            <a:ext cx="1841500" cy="2413000"/>
          </a:xfrm>
          <a:prstGeom prst="roundRect">
            <a:avLst/>
          </a:prstGeom>
          <a:solidFill>
            <a:srgbClr val="FFFFFF"/>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31B83E2D-4390-F926-1435-C31B682A0F8B}"/>
              </a:ext>
            </a:extLst>
          </p:cNvPr>
          <p:cNvSpPr/>
          <p:nvPr/>
        </p:nvSpPr>
        <p:spPr>
          <a:xfrm>
            <a:off x="7086600" y="2286000"/>
            <a:ext cx="1841500" cy="1016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BF549632-AF7D-A0F8-472D-547500152C92}"/>
              </a:ext>
            </a:extLst>
          </p:cNvPr>
          <p:cNvSpPr txBox="1"/>
          <p:nvPr/>
        </p:nvSpPr>
        <p:spPr>
          <a:xfrm>
            <a:off x="7289800" y="2565400"/>
            <a:ext cx="508000" cy="184666"/>
          </a:xfrm>
          <a:prstGeom prst="rect">
            <a:avLst/>
          </a:prstGeom>
          <a:noFill/>
        </p:spPr>
        <p:txBody>
          <a:bodyPr vert="horz" wrap="square" lIns="0" tIns="0" rIns="0" bIns="0" rtlCol="0">
            <a:spAutoFit/>
          </a:bodyPr>
          <a:lstStyle/>
          <a:p>
            <a:r>
              <a:rPr lang="en-US" sz="1200" b="1">
                <a:solidFill>
                  <a:srgbClr val="C27A19"/>
                </a:solidFill>
                <a:latin typeface="Aptos" panose="020B0004020202020204" pitchFamily="34" charset="0"/>
              </a:rPr>
              <a:t>04</a:t>
            </a:r>
          </a:p>
        </p:txBody>
      </p:sp>
      <p:sp>
        <p:nvSpPr>
          <p:cNvPr id="32" name="TextBox 31">
            <a:extLst>
              <a:ext uri="{FF2B5EF4-FFF2-40B4-BE49-F238E27FC236}">
                <a16:creationId xmlns:a16="http://schemas.microsoft.com/office/drawing/2014/main" id="{1AC9C7C6-C691-A6FD-C098-CD0E09FC2689}"/>
              </a:ext>
            </a:extLst>
          </p:cNvPr>
          <p:cNvSpPr txBox="1"/>
          <p:nvPr/>
        </p:nvSpPr>
        <p:spPr>
          <a:xfrm>
            <a:off x="7289800" y="3035300"/>
            <a:ext cx="1422400" cy="200055"/>
          </a:xfrm>
          <a:prstGeom prst="rect">
            <a:avLst/>
          </a:prstGeom>
          <a:noFill/>
        </p:spPr>
        <p:txBody>
          <a:bodyPr vert="horz" wrap="square" lIns="0" tIns="0" rIns="0" bIns="0" rtlCol="0">
            <a:spAutoFit/>
          </a:bodyPr>
          <a:lstStyle/>
          <a:p>
            <a:r>
              <a:rPr lang="en-US" sz="1300" b="1">
                <a:solidFill>
                  <a:srgbClr val="0B1F49"/>
                </a:solidFill>
                <a:latin typeface="Aptos Display" panose="020B0004020202020204" pitchFamily="34" charset="0"/>
              </a:rPr>
              <a:t>AI recruitment</a:t>
            </a:r>
          </a:p>
        </p:txBody>
      </p:sp>
      <p:sp>
        <p:nvSpPr>
          <p:cNvPr id="33" name="TextBox 32">
            <a:extLst>
              <a:ext uri="{FF2B5EF4-FFF2-40B4-BE49-F238E27FC236}">
                <a16:creationId xmlns:a16="http://schemas.microsoft.com/office/drawing/2014/main" id="{63B037ED-1035-5F1C-B92C-3ECC85128410}"/>
              </a:ext>
            </a:extLst>
          </p:cNvPr>
          <p:cNvSpPr txBox="1"/>
          <p:nvPr/>
        </p:nvSpPr>
        <p:spPr>
          <a:xfrm>
            <a:off x="7289800" y="3873500"/>
            <a:ext cx="1422400" cy="283154"/>
          </a:xfrm>
          <a:prstGeom prst="rect">
            <a:avLst/>
          </a:prstGeom>
          <a:noFill/>
        </p:spPr>
        <p:txBody>
          <a:bodyPr vert="horz" wrap="square" lIns="0" tIns="0" rIns="0" bIns="0" rtlCol="0">
            <a:spAutoFit/>
          </a:bodyPr>
          <a:lstStyle/>
          <a:p>
            <a:r>
              <a:rPr lang="en-US" sz="920">
                <a:solidFill>
                  <a:srgbClr val="17243A"/>
                </a:solidFill>
                <a:latin typeface="Aptos" panose="020B0004020202020204" pitchFamily="34" charset="0"/>
              </a:rPr>
              <a:t>Scale increases, with bias and opacity risks.</a:t>
            </a:r>
          </a:p>
        </p:txBody>
      </p:sp>
      <p:cxnSp>
        <p:nvCxnSpPr>
          <p:cNvPr id="34" name="Straight Connector 33">
            <a:extLst>
              <a:ext uri="{FF2B5EF4-FFF2-40B4-BE49-F238E27FC236}">
                <a16:creationId xmlns:a16="http://schemas.microsoft.com/office/drawing/2014/main" id="{4AD04755-6DC5-D1A7-2C4D-861984C5BEFB}"/>
              </a:ext>
            </a:extLst>
          </p:cNvPr>
          <p:cNvCxnSpPr/>
          <p:nvPr/>
        </p:nvCxnSpPr>
        <p:spPr>
          <a:xfrm>
            <a:off x="8966200" y="3492500"/>
            <a:ext cx="241300" cy="0"/>
          </a:xfrm>
          <a:prstGeom prst="line">
            <a:avLst/>
          </a:prstGeom>
          <a:ln w="2794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35" name="Rectangle: Rounded Corners 34">
            <a:extLst>
              <a:ext uri="{FF2B5EF4-FFF2-40B4-BE49-F238E27FC236}">
                <a16:creationId xmlns:a16="http://schemas.microsoft.com/office/drawing/2014/main" id="{8659CDC2-8F0D-4C0D-0B71-08AD7B3CAC23}"/>
              </a:ext>
            </a:extLst>
          </p:cNvPr>
          <p:cNvSpPr/>
          <p:nvPr/>
        </p:nvSpPr>
        <p:spPr>
          <a:xfrm>
            <a:off x="9245600" y="2286000"/>
            <a:ext cx="1841500" cy="24130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4BBDC6AF-9B9F-A450-91C4-28CF651D0B9C}"/>
              </a:ext>
            </a:extLst>
          </p:cNvPr>
          <p:cNvSpPr/>
          <p:nvPr/>
        </p:nvSpPr>
        <p:spPr>
          <a:xfrm>
            <a:off x="9245600" y="2286000"/>
            <a:ext cx="1841500" cy="1016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96A23CDE-45FC-BCEF-68FF-9FACE06B1567}"/>
              </a:ext>
            </a:extLst>
          </p:cNvPr>
          <p:cNvSpPr txBox="1"/>
          <p:nvPr/>
        </p:nvSpPr>
        <p:spPr>
          <a:xfrm>
            <a:off x="9448800" y="2565400"/>
            <a:ext cx="508000" cy="184666"/>
          </a:xfrm>
          <a:prstGeom prst="rect">
            <a:avLst/>
          </a:prstGeom>
          <a:noFill/>
        </p:spPr>
        <p:txBody>
          <a:bodyPr vert="horz" wrap="square" lIns="0" tIns="0" rIns="0" bIns="0" rtlCol="0">
            <a:spAutoFit/>
          </a:bodyPr>
          <a:lstStyle/>
          <a:p>
            <a:r>
              <a:rPr lang="en-US" sz="1200" b="1">
                <a:solidFill>
                  <a:srgbClr val="157A55"/>
                </a:solidFill>
                <a:latin typeface="Aptos" panose="020B0004020202020204" pitchFamily="34" charset="0"/>
              </a:rPr>
              <a:t>05</a:t>
            </a:r>
          </a:p>
        </p:txBody>
      </p:sp>
      <p:sp>
        <p:nvSpPr>
          <p:cNvPr id="38" name="TextBox 37">
            <a:extLst>
              <a:ext uri="{FF2B5EF4-FFF2-40B4-BE49-F238E27FC236}">
                <a16:creationId xmlns:a16="http://schemas.microsoft.com/office/drawing/2014/main" id="{B1477E9F-4028-0B0C-665C-4472201EC418}"/>
              </a:ext>
            </a:extLst>
          </p:cNvPr>
          <p:cNvSpPr txBox="1"/>
          <p:nvPr/>
        </p:nvSpPr>
        <p:spPr>
          <a:xfrm>
            <a:off x="9448800" y="3035300"/>
            <a:ext cx="1422400" cy="200055"/>
          </a:xfrm>
          <a:prstGeom prst="rect">
            <a:avLst/>
          </a:prstGeom>
          <a:noFill/>
        </p:spPr>
        <p:txBody>
          <a:bodyPr vert="horz" wrap="square" lIns="0" tIns="0" rIns="0" bIns="0" rtlCol="0">
            <a:spAutoFit/>
          </a:bodyPr>
          <a:lstStyle/>
          <a:p>
            <a:r>
              <a:rPr lang="en-US" sz="1300" b="1">
                <a:solidFill>
                  <a:srgbClr val="0B1F49"/>
                </a:solidFill>
                <a:latin typeface="Aptos Display" panose="020B0004020202020204" pitchFamily="34" charset="0"/>
              </a:rPr>
              <a:t>JoIn approach</a:t>
            </a:r>
          </a:p>
        </p:txBody>
      </p:sp>
      <p:sp>
        <p:nvSpPr>
          <p:cNvPr id="39" name="TextBox 38">
            <a:extLst>
              <a:ext uri="{FF2B5EF4-FFF2-40B4-BE49-F238E27FC236}">
                <a16:creationId xmlns:a16="http://schemas.microsoft.com/office/drawing/2014/main" id="{A216629D-9B00-F4DC-F5D9-90D6A3090CA4}"/>
              </a:ext>
            </a:extLst>
          </p:cNvPr>
          <p:cNvSpPr txBox="1"/>
          <p:nvPr/>
        </p:nvSpPr>
        <p:spPr>
          <a:xfrm>
            <a:off x="9448800" y="3873500"/>
            <a:ext cx="1422400" cy="283154"/>
          </a:xfrm>
          <a:prstGeom prst="rect">
            <a:avLst/>
          </a:prstGeom>
          <a:noFill/>
        </p:spPr>
        <p:txBody>
          <a:bodyPr vert="horz" wrap="square" lIns="0" tIns="0" rIns="0" bIns="0" rtlCol="0">
            <a:spAutoFit/>
          </a:bodyPr>
          <a:lstStyle/>
          <a:p>
            <a:r>
              <a:rPr lang="en-US" sz="920">
                <a:solidFill>
                  <a:srgbClr val="17243A"/>
                </a:solidFill>
                <a:latin typeface="Aptos" panose="020B0004020202020204" pitchFamily="34" charset="0"/>
              </a:rPr>
              <a:t>Ability-to-task evidence with human control.</a:t>
            </a:r>
          </a:p>
        </p:txBody>
      </p:sp>
      <p:sp>
        <p:nvSpPr>
          <p:cNvPr id="40" name="TextBox 39">
            <a:extLst>
              <a:ext uri="{FF2B5EF4-FFF2-40B4-BE49-F238E27FC236}">
                <a16:creationId xmlns:a16="http://schemas.microsoft.com/office/drawing/2014/main" id="{1C1F0597-500D-FF0C-6206-2F5128FD36C9}"/>
              </a:ext>
            </a:extLst>
          </p:cNvPr>
          <p:cNvSpPr txBox="1"/>
          <p:nvPr/>
        </p:nvSpPr>
        <p:spPr>
          <a:xfrm>
            <a:off x="2032000" y="5270500"/>
            <a:ext cx="8128000" cy="215444"/>
          </a:xfrm>
          <a:prstGeom prst="rect">
            <a:avLst/>
          </a:prstGeom>
          <a:noFill/>
        </p:spPr>
        <p:txBody>
          <a:bodyPr vert="horz" wrap="square" lIns="0" tIns="0" rIns="0" bIns="0" rtlCol="0">
            <a:spAutoFit/>
          </a:bodyPr>
          <a:lstStyle/>
          <a:p>
            <a:pPr algn="ctr"/>
            <a:r>
              <a:rPr lang="en-US" sz="1400" b="1">
                <a:solidFill>
                  <a:srgbClr val="0B1F49"/>
                </a:solidFill>
                <a:latin typeface="Aptos Display" panose="020B0004020202020204" pitchFamily="34" charset="0"/>
              </a:rPr>
              <a:t>Software contribution: change the recruitment interaction and explanation, not the candidate.</a:t>
            </a:r>
          </a:p>
        </p:txBody>
      </p:sp>
    </p:spTree>
    <p:extLst>
      <p:ext uri="{BB962C8B-B14F-4D97-AF65-F5344CB8AC3E}">
        <p14:creationId xmlns:p14="http://schemas.microsoft.com/office/powerpoint/2010/main" val="15358966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762AC53-8211-5CB5-D710-C32E4F863176}"/>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E7F7817-4289-6841-F87A-6467A0E815BE}"/>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BACKGROUND RESEARCH</a:t>
            </a:r>
          </a:p>
        </p:txBody>
      </p:sp>
      <p:sp>
        <p:nvSpPr>
          <p:cNvPr id="4" name="TextBox 3">
            <a:extLst>
              <a:ext uri="{FF2B5EF4-FFF2-40B4-BE49-F238E27FC236}">
                <a16:creationId xmlns:a16="http://schemas.microsoft.com/office/drawing/2014/main" id="{D4C5DF9D-CCE8-8202-DF68-06BCABD97680}"/>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Related approaches and the remaining gap</a:t>
            </a:r>
          </a:p>
        </p:txBody>
      </p:sp>
      <p:sp>
        <p:nvSpPr>
          <p:cNvPr id="5" name="TextBox 4">
            <a:extLst>
              <a:ext uri="{FF2B5EF4-FFF2-40B4-BE49-F238E27FC236}">
                <a16:creationId xmlns:a16="http://schemas.microsoft.com/office/drawing/2014/main" id="{01C87657-A266-F4EF-F5A1-5AAAC81F7984}"/>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A synthesis of solution categories studied in Phase I and Phase II; not an exhaustive commercial benchmark.</a:t>
            </a:r>
          </a:p>
        </p:txBody>
      </p:sp>
      <p:pic>
        <p:nvPicPr>
          <p:cNvPr id="7" name="Picture 6" descr="Universite Saint-Joseph and ESIB mark">
            <a:extLst>
              <a:ext uri="{FF2B5EF4-FFF2-40B4-BE49-F238E27FC236}">
                <a16:creationId xmlns:a16="http://schemas.microsoft.com/office/drawing/2014/main" id="{9BC362D1-A168-4EC9-B818-4BA27ECFAB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6E1D71A7-CC6B-B3F5-3EF9-FF83B53E3802}"/>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C9EBBAD-9101-B7D4-461E-6F61C68E5752}"/>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F96B3258-8655-8BD9-27AF-CF74610B14E3}"/>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05</a:t>
            </a:r>
          </a:p>
        </p:txBody>
      </p:sp>
      <p:sp>
        <p:nvSpPr>
          <p:cNvPr id="11" name="Rectangle: Rounded Corners 10">
            <a:extLst>
              <a:ext uri="{FF2B5EF4-FFF2-40B4-BE49-F238E27FC236}">
                <a16:creationId xmlns:a16="http://schemas.microsoft.com/office/drawing/2014/main" id="{A9E8250E-2189-FDFA-17F0-0CEF060823C2}"/>
              </a:ext>
            </a:extLst>
          </p:cNvPr>
          <p:cNvSpPr/>
          <p:nvPr/>
        </p:nvSpPr>
        <p:spPr>
          <a:xfrm>
            <a:off x="609600" y="1905000"/>
            <a:ext cx="2476500" cy="2413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42442F8-E6CB-567D-8CED-F04840AAB1D3}"/>
              </a:ext>
            </a:extLst>
          </p:cNvPr>
          <p:cNvSpPr/>
          <p:nvPr/>
        </p:nvSpPr>
        <p:spPr>
          <a:xfrm>
            <a:off x="609600" y="1905000"/>
            <a:ext cx="88900" cy="24130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C920E35-7D3A-4CEE-B342-C27CFF645FB9}"/>
              </a:ext>
            </a:extLst>
          </p:cNvPr>
          <p:cNvSpPr txBox="1"/>
          <p:nvPr/>
        </p:nvSpPr>
        <p:spPr>
          <a:xfrm>
            <a:off x="876300" y="2108200"/>
            <a:ext cx="19939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General job platforms</a:t>
            </a:r>
          </a:p>
        </p:txBody>
      </p:sp>
      <p:sp>
        <p:nvSpPr>
          <p:cNvPr id="14" name="TextBox 13">
            <a:extLst>
              <a:ext uri="{FF2B5EF4-FFF2-40B4-BE49-F238E27FC236}">
                <a16:creationId xmlns:a16="http://schemas.microsoft.com/office/drawing/2014/main" id="{49D564AA-DD79-9152-BBB2-D9C5F6B0709C}"/>
              </a:ext>
            </a:extLst>
          </p:cNvPr>
          <p:cNvSpPr txBox="1"/>
          <p:nvPr/>
        </p:nvSpPr>
        <p:spPr>
          <a:xfrm>
            <a:off x="876300" y="2603500"/>
            <a:ext cx="19939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Strength: reach and familiar workflows.
Gap: generic profiles and limited disability-specific support.</a:t>
            </a:r>
          </a:p>
        </p:txBody>
      </p:sp>
      <p:sp>
        <p:nvSpPr>
          <p:cNvPr id="15" name="Rectangle: Rounded Corners 14">
            <a:extLst>
              <a:ext uri="{FF2B5EF4-FFF2-40B4-BE49-F238E27FC236}">
                <a16:creationId xmlns:a16="http://schemas.microsoft.com/office/drawing/2014/main" id="{81DCD13F-A0A9-9BE3-9F71-B2E71DF2E417}"/>
              </a:ext>
            </a:extLst>
          </p:cNvPr>
          <p:cNvSpPr/>
          <p:nvPr/>
        </p:nvSpPr>
        <p:spPr>
          <a:xfrm>
            <a:off x="3340100" y="1905000"/>
            <a:ext cx="2476500" cy="2413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B6619A-E311-989D-EA03-750663B40B19}"/>
              </a:ext>
            </a:extLst>
          </p:cNvPr>
          <p:cNvSpPr/>
          <p:nvPr/>
        </p:nvSpPr>
        <p:spPr>
          <a:xfrm>
            <a:off x="3340100" y="1905000"/>
            <a:ext cx="88900" cy="24130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6B9EDF3-7216-6CA1-AB15-AA0394C83D13}"/>
              </a:ext>
            </a:extLst>
          </p:cNvPr>
          <p:cNvSpPr txBox="1"/>
          <p:nvPr/>
        </p:nvSpPr>
        <p:spPr>
          <a:xfrm>
            <a:off x="3606800" y="2108200"/>
            <a:ext cx="19939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Inclusive job portals</a:t>
            </a:r>
          </a:p>
        </p:txBody>
      </p:sp>
      <p:sp>
        <p:nvSpPr>
          <p:cNvPr id="18" name="TextBox 17">
            <a:extLst>
              <a:ext uri="{FF2B5EF4-FFF2-40B4-BE49-F238E27FC236}">
                <a16:creationId xmlns:a16="http://schemas.microsoft.com/office/drawing/2014/main" id="{A9C2A661-266D-B44E-D1A9-CBA14ACD7A3C}"/>
              </a:ext>
            </a:extLst>
          </p:cNvPr>
          <p:cNvSpPr txBox="1"/>
          <p:nvPr/>
        </p:nvSpPr>
        <p:spPr>
          <a:xfrm>
            <a:off x="3606800" y="2603500"/>
            <a:ext cx="19939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Strength: targeted visibility and employer awareness.
Gap: listings may not explain task-level feasibility.</a:t>
            </a:r>
          </a:p>
        </p:txBody>
      </p:sp>
      <p:sp>
        <p:nvSpPr>
          <p:cNvPr id="19" name="Rectangle: Rounded Corners 18">
            <a:extLst>
              <a:ext uri="{FF2B5EF4-FFF2-40B4-BE49-F238E27FC236}">
                <a16:creationId xmlns:a16="http://schemas.microsoft.com/office/drawing/2014/main" id="{1B233ADB-54C6-400D-FAEE-6D285684966F}"/>
              </a:ext>
            </a:extLst>
          </p:cNvPr>
          <p:cNvSpPr/>
          <p:nvPr/>
        </p:nvSpPr>
        <p:spPr>
          <a:xfrm>
            <a:off x="6070600" y="1905000"/>
            <a:ext cx="2476500" cy="2413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3CEB51E-2E14-A44F-8CCA-52BE59E1F804}"/>
              </a:ext>
            </a:extLst>
          </p:cNvPr>
          <p:cNvSpPr/>
          <p:nvPr/>
        </p:nvSpPr>
        <p:spPr>
          <a:xfrm>
            <a:off x="6070600" y="1905000"/>
            <a:ext cx="88900" cy="24130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72B0F12-82CC-6FF1-781E-CBE9C6287DB6}"/>
              </a:ext>
            </a:extLst>
          </p:cNvPr>
          <p:cNvSpPr txBox="1"/>
          <p:nvPr/>
        </p:nvSpPr>
        <p:spPr>
          <a:xfrm>
            <a:off x="6337300" y="2108200"/>
            <a:ext cx="1993900" cy="230832"/>
          </a:xfrm>
          <a:prstGeom prst="rect">
            <a:avLst/>
          </a:prstGeom>
          <a:noFill/>
        </p:spPr>
        <p:txBody>
          <a:bodyPr vert="horz" wrap="square" lIns="0" tIns="0" rIns="0" bIns="0" rtlCol="0">
            <a:spAutoFit/>
          </a:bodyPr>
          <a:lstStyle/>
          <a:p>
            <a:r>
              <a:rPr lang="en-US" sz="1500" b="1">
                <a:solidFill>
                  <a:srgbClr val="C27A19"/>
                </a:solidFill>
                <a:latin typeface="Aptos Display" panose="020B0004020202020204" pitchFamily="34" charset="0"/>
              </a:rPr>
              <a:t>Automated AI screening</a:t>
            </a:r>
          </a:p>
        </p:txBody>
      </p:sp>
      <p:sp>
        <p:nvSpPr>
          <p:cNvPr id="22" name="TextBox 21">
            <a:extLst>
              <a:ext uri="{FF2B5EF4-FFF2-40B4-BE49-F238E27FC236}">
                <a16:creationId xmlns:a16="http://schemas.microsoft.com/office/drawing/2014/main" id="{43A00328-8DF8-7ED9-9933-8E1B766B4575}"/>
              </a:ext>
            </a:extLst>
          </p:cNvPr>
          <p:cNvSpPr txBox="1"/>
          <p:nvPr/>
        </p:nvSpPr>
        <p:spPr>
          <a:xfrm>
            <a:off x="6337300" y="2603500"/>
            <a:ext cx="1993900" cy="470898"/>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Strength: speed and scale.
Gap: data quality, bias, privacy and individual explainability.</a:t>
            </a:r>
          </a:p>
        </p:txBody>
      </p:sp>
      <p:sp>
        <p:nvSpPr>
          <p:cNvPr id="23" name="Rectangle: Rounded Corners 22">
            <a:extLst>
              <a:ext uri="{FF2B5EF4-FFF2-40B4-BE49-F238E27FC236}">
                <a16:creationId xmlns:a16="http://schemas.microsoft.com/office/drawing/2014/main" id="{0679098C-B34A-AC2E-49A1-8E450A411A20}"/>
              </a:ext>
            </a:extLst>
          </p:cNvPr>
          <p:cNvSpPr/>
          <p:nvPr/>
        </p:nvSpPr>
        <p:spPr>
          <a:xfrm>
            <a:off x="8801100" y="1905000"/>
            <a:ext cx="2476500" cy="2413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AF318F2-972F-B879-79E3-0E14019345DD}"/>
              </a:ext>
            </a:extLst>
          </p:cNvPr>
          <p:cNvSpPr/>
          <p:nvPr/>
        </p:nvSpPr>
        <p:spPr>
          <a:xfrm>
            <a:off x="8801100" y="1905000"/>
            <a:ext cx="88900" cy="24130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237E10F-9998-1FF7-1272-60D8A84AAF55}"/>
              </a:ext>
            </a:extLst>
          </p:cNvPr>
          <p:cNvSpPr txBox="1"/>
          <p:nvPr/>
        </p:nvSpPr>
        <p:spPr>
          <a:xfrm>
            <a:off x="9067800" y="2108200"/>
            <a:ext cx="1993900" cy="230832"/>
          </a:xfrm>
          <a:prstGeom prst="rect">
            <a:avLst/>
          </a:prstGeom>
          <a:noFill/>
        </p:spPr>
        <p:txBody>
          <a:bodyPr vert="horz" wrap="square" lIns="0" tIns="0" rIns="0" bIns="0" rtlCol="0">
            <a:spAutoFit/>
          </a:bodyPr>
          <a:lstStyle/>
          <a:p>
            <a:r>
              <a:rPr lang="en-US" sz="1500" b="1">
                <a:solidFill>
                  <a:srgbClr val="563A4B"/>
                </a:solidFill>
                <a:latin typeface="Aptos Display" panose="020B0004020202020204" pitchFamily="34" charset="0"/>
              </a:rPr>
              <a:t>Human coaching</a:t>
            </a:r>
          </a:p>
        </p:txBody>
      </p:sp>
      <p:sp>
        <p:nvSpPr>
          <p:cNvPr id="26" name="TextBox 25">
            <a:extLst>
              <a:ext uri="{FF2B5EF4-FFF2-40B4-BE49-F238E27FC236}">
                <a16:creationId xmlns:a16="http://schemas.microsoft.com/office/drawing/2014/main" id="{839CD141-07E3-B73D-2045-11CC26FD4466}"/>
              </a:ext>
            </a:extLst>
          </p:cNvPr>
          <p:cNvSpPr txBox="1"/>
          <p:nvPr/>
        </p:nvSpPr>
        <p:spPr>
          <a:xfrm>
            <a:off x="9067800" y="2603500"/>
            <a:ext cx="19939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Strength: contextual judgement and adaptation.
Gap: intensive case-by-case work is difficult to scale digitally.</a:t>
            </a:r>
          </a:p>
        </p:txBody>
      </p:sp>
      <p:sp>
        <p:nvSpPr>
          <p:cNvPr id="27" name="Rectangle: Rounded Corners 26">
            <a:extLst>
              <a:ext uri="{FF2B5EF4-FFF2-40B4-BE49-F238E27FC236}">
                <a16:creationId xmlns:a16="http://schemas.microsoft.com/office/drawing/2014/main" id="{AD70442A-F322-DECE-A0D1-8033648BF0E4}"/>
              </a:ext>
            </a:extLst>
          </p:cNvPr>
          <p:cNvSpPr/>
          <p:nvPr/>
        </p:nvSpPr>
        <p:spPr>
          <a:xfrm>
            <a:off x="1524000" y="4775200"/>
            <a:ext cx="9144000" cy="9144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66C4BAA-8B6A-6312-91AF-B062706D8BC8}"/>
              </a:ext>
            </a:extLst>
          </p:cNvPr>
          <p:cNvSpPr txBox="1"/>
          <p:nvPr/>
        </p:nvSpPr>
        <p:spPr>
          <a:xfrm>
            <a:off x="1841500" y="4991100"/>
            <a:ext cx="1524000" cy="169277"/>
          </a:xfrm>
          <a:prstGeom prst="rect">
            <a:avLst/>
          </a:prstGeom>
          <a:noFill/>
        </p:spPr>
        <p:txBody>
          <a:bodyPr vert="horz" wrap="square" lIns="0" tIns="0" rIns="0" bIns="0" rtlCol="0">
            <a:spAutoFit/>
          </a:bodyPr>
          <a:lstStyle/>
          <a:p>
            <a:r>
              <a:rPr lang="en-US" sz="1100" b="1">
                <a:solidFill>
                  <a:srgbClr val="A64B2A"/>
                </a:solidFill>
                <a:latin typeface="Aptos" panose="020B0004020202020204" pitchFamily="34" charset="0"/>
              </a:rPr>
              <a:t>Research gap</a:t>
            </a:r>
          </a:p>
        </p:txBody>
      </p:sp>
      <p:sp>
        <p:nvSpPr>
          <p:cNvPr id="29" name="TextBox 28">
            <a:extLst>
              <a:ext uri="{FF2B5EF4-FFF2-40B4-BE49-F238E27FC236}">
                <a16:creationId xmlns:a16="http://schemas.microsoft.com/office/drawing/2014/main" id="{CE4A6581-9FD4-83EB-3B10-870CE9DB2D4E}"/>
              </a:ext>
            </a:extLst>
          </p:cNvPr>
          <p:cNvSpPr txBox="1"/>
          <p:nvPr/>
        </p:nvSpPr>
        <p:spPr>
          <a:xfrm>
            <a:off x="3429000" y="4940300"/>
            <a:ext cx="6858000" cy="353943"/>
          </a:xfrm>
          <a:prstGeom prst="rect">
            <a:avLst/>
          </a:prstGeom>
          <a:noFill/>
        </p:spPr>
        <p:txBody>
          <a:bodyPr vert="horz" wrap="square" lIns="0" tIns="0" rIns="0" bIns="0" rtlCol="0">
            <a:spAutoFit/>
          </a:bodyPr>
          <a:lstStyle/>
          <a:p>
            <a:r>
              <a:rPr lang="en-US" sz="1150" b="1">
                <a:solidFill>
                  <a:srgbClr val="FFFFFF"/>
                </a:solidFill>
                <a:latin typeface="Aptos" panose="020B0004020202020204" pitchFamily="34" charset="0"/>
              </a:rPr>
              <a:t>One accessible workflow joining controlled hospitality tasks, candidate abilities, workplace assistance, explainable matching and human review.</a:t>
            </a:r>
          </a:p>
        </p:txBody>
      </p:sp>
    </p:spTree>
    <p:extLst>
      <p:ext uri="{BB962C8B-B14F-4D97-AF65-F5344CB8AC3E}">
        <p14:creationId xmlns:p14="http://schemas.microsoft.com/office/powerpoint/2010/main" val="217963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4FE58F4-82F3-EAFE-4F42-080873C237AD}"/>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993445-034F-C48D-2A15-D78E0E5695E2}"/>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FINAL CONTRIBUTION</a:t>
            </a:r>
          </a:p>
        </p:txBody>
      </p:sp>
      <p:sp>
        <p:nvSpPr>
          <p:cNvPr id="4" name="TextBox 3">
            <a:extLst>
              <a:ext uri="{FF2B5EF4-FFF2-40B4-BE49-F238E27FC236}">
                <a16:creationId xmlns:a16="http://schemas.microsoft.com/office/drawing/2014/main" id="{4A797B25-78D0-82EB-4BCF-5A751B0FD5CF}"/>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What Phase II delivered</a:t>
            </a:r>
          </a:p>
        </p:txBody>
      </p:sp>
      <p:sp>
        <p:nvSpPr>
          <p:cNvPr id="5" name="TextBox 4">
            <a:extLst>
              <a:ext uri="{FF2B5EF4-FFF2-40B4-BE49-F238E27FC236}">
                <a16:creationId xmlns:a16="http://schemas.microsoft.com/office/drawing/2014/main" id="{750AF320-ACC0-FA5B-AE0D-F99E2DA0841D}"/>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final prototype expands Phase I into a multilingual, multimodal and cloud-deployed engineering system.</a:t>
            </a:r>
          </a:p>
        </p:txBody>
      </p:sp>
      <p:pic>
        <p:nvPicPr>
          <p:cNvPr id="7" name="Picture 6" descr="Universite Saint-Joseph and ESIB mark">
            <a:extLst>
              <a:ext uri="{FF2B5EF4-FFF2-40B4-BE49-F238E27FC236}">
                <a16:creationId xmlns:a16="http://schemas.microsoft.com/office/drawing/2014/main" id="{2C52F162-6072-3277-DEE3-3887BBFA89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18C406AF-BAFB-4440-66B0-126518CFE3C4}"/>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50DF90C-FF58-6957-A999-45BC17083CAE}"/>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C2B7668F-AFB3-A055-3109-7B71D5F33581}"/>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06</a:t>
            </a:r>
          </a:p>
        </p:txBody>
      </p:sp>
      <p:sp>
        <p:nvSpPr>
          <p:cNvPr id="11" name="Rectangle: Rounded Corners 10">
            <a:extLst>
              <a:ext uri="{FF2B5EF4-FFF2-40B4-BE49-F238E27FC236}">
                <a16:creationId xmlns:a16="http://schemas.microsoft.com/office/drawing/2014/main" id="{EE9C0450-254C-2756-3C89-4451C6C253B4}"/>
              </a:ext>
            </a:extLst>
          </p:cNvPr>
          <p:cNvSpPr/>
          <p:nvPr/>
        </p:nvSpPr>
        <p:spPr>
          <a:xfrm>
            <a:off x="609600" y="1841500"/>
            <a:ext cx="16764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B3E3B69-474B-6E38-9B3E-C5D02A9E5A67}"/>
              </a:ext>
            </a:extLst>
          </p:cNvPr>
          <p:cNvSpPr/>
          <p:nvPr/>
        </p:nvSpPr>
        <p:spPr>
          <a:xfrm>
            <a:off x="609600" y="1841500"/>
            <a:ext cx="63500" cy="9144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A7F62A56-4E0F-D8C7-E563-C1AF7CCF3D81}"/>
              </a:ext>
            </a:extLst>
          </p:cNvPr>
          <p:cNvSpPr txBox="1"/>
          <p:nvPr/>
        </p:nvSpPr>
        <p:spPr>
          <a:xfrm>
            <a:off x="812800" y="1981200"/>
            <a:ext cx="13716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4</a:t>
            </a:r>
          </a:p>
        </p:txBody>
      </p:sp>
      <p:sp>
        <p:nvSpPr>
          <p:cNvPr id="14" name="TextBox 13">
            <a:extLst>
              <a:ext uri="{FF2B5EF4-FFF2-40B4-BE49-F238E27FC236}">
                <a16:creationId xmlns:a16="http://schemas.microsoft.com/office/drawing/2014/main" id="{AA56B82D-9616-957B-EC4F-36E374FA2D56}"/>
              </a:ext>
            </a:extLst>
          </p:cNvPr>
          <p:cNvSpPr txBox="1"/>
          <p:nvPr/>
        </p:nvSpPr>
        <p:spPr>
          <a:xfrm>
            <a:off x="812800" y="2387600"/>
            <a:ext cx="13716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authorized user roles</a:t>
            </a:r>
          </a:p>
        </p:txBody>
      </p:sp>
      <p:sp>
        <p:nvSpPr>
          <p:cNvPr id="15" name="Rectangle: Rounded Corners 14">
            <a:extLst>
              <a:ext uri="{FF2B5EF4-FFF2-40B4-BE49-F238E27FC236}">
                <a16:creationId xmlns:a16="http://schemas.microsoft.com/office/drawing/2014/main" id="{B2B958B0-512A-49F9-1804-AB3BCCD2794F}"/>
              </a:ext>
            </a:extLst>
          </p:cNvPr>
          <p:cNvSpPr/>
          <p:nvPr/>
        </p:nvSpPr>
        <p:spPr>
          <a:xfrm>
            <a:off x="2463800" y="1841500"/>
            <a:ext cx="16764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B6F5AAC-2802-7EED-6E73-210138912312}"/>
              </a:ext>
            </a:extLst>
          </p:cNvPr>
          <p:cNvSpPr/>
          <p:nvPr/>
        </p:nvSpPr>
        <p:spPr>
          <a:xfrm>
            <a:off x="2463800" y="1841500"/>
            <a:ext cx="63500" cy="9144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7A071C3E-00D2-7ECF-AC9A-7416FBEC0E8F}"/>
              </a:ext>
            </a:extLst>
          </p:cNvPr>
          <p:cNvSpPr txBox="1"/>
          <p:nvPr/>
        </p:nvSpPr>
        <p:spPr>
          <a:xfrm>
            <a:off x="2667000" y="1981200"/>
            <a:ext cx="13716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15</a:t>
            </a:r>
          </a:p>
        </p:txBody>
      </p:sp>
      <p:sp>
        <p:nvSpPr>
          <p:cNvPr id="18" name="TextBox 17">
            <a:extLst>
              <a:ext uri="{FF2B5EF4-FFF2-40B4-BE49-F238E27FC236}">
                <a16:creationId xmlns:a16="http://schemas.microsoft.com/office/drawing/2014/main" id="{9F77338A-543D-0BC1-0629-E4A4F351A3AA}"/>
              </a:ext>
            </a:extLst>
          </p:cNvPr>
          <p:cNvSpPr txBox="1"/>
          <p:nvPr/>
        </p:nvSpPr>
        <p:spPr>
          <a:xfrm>
            <a:off x="2667000" y="2387600"/>
            <a:ext cx="13716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hospitality positions</a:t>
            </a:r>
          </a:p>
        </p:txBody>
      </p:sp>
      <p:sp>
        <p:nvSpPr>
          <p:cNvPr id="19" name="Rectangle: Rounded Corners 18">
            <a:extLst>
              <a:ext uri="{FF2B5EF4-FFF2-40B4-BE49-F238E27FC236}">
                <a16:creationId xmlns:a16="http://schemas.microsoft.com/office/drawing/2014/main" id="{192ED037-AA4A-B2F0-59A8-C6CC629B3A46}"/>
              </a:ext>
            </a:extLst>
          </p:cNvPr>
          <p:cNvSpPr/>
          <p:nvPr/>
        </p:nvSpPr>
        <p:spPr>
          <a:xfrm>
            <a:off x="4318000" y="1841500"/>
            <a:ext cx="16764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37E27297-11C2-D2B7-CCB4-7E6096FD144D}"/>
              </a:ext>
            </a:extLst>
          </p:cNvPr>
          <p:cNvSpPr/>
          <p:nvPr/>
        </p:nvSpPr>
        <p:spPr>
          <a:xfrm>
            <a:off x="4318000" y="1841500"/>
            <a:ext cx="63500" cy="9144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B226A82-ECEB-A1C1-70A7-2B42690D9A1B}"/>
              </a:ext>
            </a:extLst>
          </p:cNvPr>
          <p:cNvSpPr txBox="1"/>
          <p:nvPr/>
        </p:nvSpPr>
        <p:spPr>
          <a:xfrm>
            <a:off x="4521200" y="1981200"/>
            <a:ext cx="13716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923</a:t>
            </a:r>
          </a:p>
        </p:txBody>
      </p:sp>
      <p:sp>
        <p:nvSpPr>
          <p:cNvPr id="22" name="TextBox 21">
            <a:extLst>
              <a:ext uri="{FF2B5EF4-FFF2-40B4-BE49-F238E27FC236}">
                <a16:creationId xmlns:a16="http://schemas.microsoft.com/office/drawing/2014/main" id="{DE3112AE-5BE8-861E-3E48-654CEF183E65}"/>
              </a:ext>
            </a:extLst>
          </p:cNvPr>
          <p:cNvSpPr txBox="1"/>
          <p:nvPr/>
        </p:nvSpPr>
        <p:spPr>
          <a:xfrm>
            <a:off x="4521200" y="2387600"/>
            <a:ext cx="13716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catalogue tasks</a:t>
            </a:r>
          </a:p>
        </p:txBody>
      </p:sp>
      <p:sp>
        <p:nvSpPr>
          <p:cNvPr id="23" name="Rectangle: Rounded Corners 22">
            <a:extLst>
              <a:ext uri="{FF2B5EF4-FFF2-40B4-BE49-F238E27FC236}">
                <a16:creationId xmlns:a16="http://schemas.microsoft.com/office/drawing/2014/main" id="{232F330B-B8DC-929A-AE6D-E824C636F425}"/>
              </a:ext>
            </a:extLst>
          </p:cNvPr>
          <p:cNvSpPr/>
          <p:nvPr/>
        </p:nvSpPr>
        <p:spPr>
          <a:xfrm>
            <a:off x="6172200" y="1841500"/>
            <a:ext cx="16764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E8862F-6BE2-AE20-6152-56FAEAF28874}"/>
              </a:ext>
            </a:extLst>
          </p:cNvPr>
          <p:cNvSpPr/>
          <p:nvPr/>
        </p:nvSpPr>
        <p:spPr>
          <a:xfrm>
            <a:off x="6172200" y="1841500"/>
            <a:ext cx="63500" cy="9144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057B9367-19D1-8833-E33C-B2B3F3EC7401}"/>
              </a:ext>
            </a:extLst>
          </p:cNvPr>
          <p:cNvSpPr txBox="1"/>
          <p:nvPr/>
        </p:nvSpPr>
        <p:spPr>
          <a:xfrm>
            <a:off x="6375400" y="1981200"/>
            <a:ext cx="13716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14,453</a:t>
            </a:r>
          </a:p>
        </p:txBody>
      </p:sp>
      <p:sp>
        <p:nvSpPr>
          <p:cNvPr id="26" name="TextBox 25">
            <a:extLst>
              <a:ext uri="{FF2B5EF4-FFF2-40B4-BE49-F238E27FC236}">
                <a16:creationId xmlns:a16="http://schemas.microsoft.com/office/drawing/2014/main" id="{6C3D6A89-4A67-3BD4-842B-EE4FA253CCDA}"/>
              </a:ext>
            </a:extLst>
          </p:cNvPr>
          <p:cNvSpPr txBox="1"/>
          <p:nvPr/>
        </p:nvSpPr>
        <p:spPr>
          <a:xfrm>
            <a:off x="6375400" y="2387600"/>
            <a:ext cx="13716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task assessments</a:t>
            </a:r>
          </a:p>
        </p:txBody>
      </p:sp>
      <p:sp>
        <p:nvSpPr>
          <p:cNvPr id="27" name="Rectangle: Rounded Corners 26">
            <a:extLst>
              <a:ext uri="{FF2B5EF4-FFF2-40B4-BE49-F238E27FC236}">
                <a16:creationId xmlns:a16="http://schemas.microsoft.com/office/drawing/2014/main" id="{095A8611-B654-90AF-AF75-395245F76CDB}"/>
              </a:ext>
            </a:extLst>
          </p:cNvPr>
          <p:cNvSpPr/>
          <p:nvPr/>
        </p:nvSpPr>
        <p:spPr>
          <a:xfrm>
            <a:off x="8026400" y="1841500"/>
            <a:ext cx="16764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FBB5D31-3369-C1D4-AFA5-200865A6DDCE}"/>
              </a:ext>
            </a:extLst>
          </p:cNvPr>
          <p:cNvSpPr/>
          <p:nvPr/>
        </p:nvSpPr>
        <p:spPr>
          <a:xfrm>
            <a:off x="8026400" y="1841500"/>
            <a:ext cx="63500" cy="9144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53B6DFD3-5CC4-A48F-F710-00DA51909A42}"/>
              </a:ext>
            </a:extLst>
          </p:cNvPr>
          <p:cNvSpPr txBox="1"/>
          <p:nvPr/>
        </p:nvSpPr>
        <p:spPr>
          <a:xfrm>
            <a:off x="8229600" y="1981200"/>
            <a:ext cx="13716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74</a:t>
            </a:r>
          </a:p>
        </p:txBody>
      </p:sp>
      <p:sp>
        <p:nvSpPr>
          <p:cNvPr id="30" name="TextBox 29">
            <a:extLst>
              <a:ext uri="{FF2B5EF4-FFF2-40B4-BE49-F238E27FC236}">
                <a16:creationId xmlns:a16="http://schemas.microsoft.com/office/drawing/2014/main" id="{F2491351-8DB8-E503-BDB8-72823835CB47}"/>
              </a:ext>
            </a:extLst>
          </p:cNvPr>
          <p:cNvSpPr txBox="1"/>
          <p:nvPr/>
        </p:nvSpPr>
        <p:spPr>
          <a:xfrm>
            <a:off x="8229600" y="2387600"/>
            <a:ext cx="13716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published opportunities</a:t>
            </a:r>
          </a:p>
        </p:txBody>
      </p:sp>
      <p:sp>
        <p:nvSpPr>
          <p:cNvPr id="31" name="Rectangle: Rounded Corners 30">
            <a:extLst>
              <a:ext uri="{FF2B5EF4-FFF2-40B4-BE49-F238E27FC236}">
                <a16:creationId xmlns:a16="http://schemas.microsoft.com/office/drawing/2014/main" id="{1AE49BB2-3E7C-FFB9-E2ED-523A996378F0}"/>
              </a:ext>
            </a:extLst>
          </p:cNvPr>
          <p:cNvSpPr/>
          <p:nvPr/>
        </p:nvSpPr>
        <p:spPr>
          <a:xfrm>
            <a:off x="9880600" y="1841500"/>
            <a:ext cx="16764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88C856D2-EFE0-5473-ED1F-6B6210B7E908}"/>
              </a:ext>
            </a:extLst>
          </p:cNvPr>
          <p:cNvSpPr/>
          <p:nvPr/>
        </p:nvSpPr>
        <p:spPr>
          <a:xfrm>
            <a:off x="9880600" y="1841500"/>
            <a:ext cx="63500" cy="9144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4F5C57AC-E986-9724-1301-B1098BECF575}"/>
              </a:ext>
            </a:extLst>
          </p:cNvPr>
          <p:cNvSpPr txBox="1"/>
          <p:nvPr/>
        </p:nvSpPr>
        <p:spPr>
          <a:xfrm>
            <a:off x="10083800" y="1981200"/>
            <a:ext cx="13716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3</a:t>
            </a:r>
          </a:p>
        </p:txBody>
      </p:sp>
      <p:sp>
        <p:nvSpPr>
          <p:cNvPr id="34" name="TextBox 33">
            <a:extLst>
              <a:ext uri="{FF2B5EF4-FFF2-40B4-BE49-F238E27FC236}">
                <a16:creationId xmlns:a16="http://schemas.microsoft.com/office/drawing/2014/main" id="{19279585-B744-508F-6201-3549CFB24C5D}"/>
              </a:ext>
            </a:extLst>
          </p:cNvPr>
          <p:cNvSpPr txBox="1"/>
          <p:nvPr/>
        </p:nvSpPr>
        <p:spPr>
          <a:xfrm>
            <a:off x="10083800" y="2387600"/>
            <a:ext cx="13716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interface languages</a:t>
            </a:r>
          </a:p>
        </p:txBody>
      </p:sp>
      <p:sp>
        <p:nvSpPr>
          <p:cNvPr id="35" name="Rectangle: Rounded Corners 34">
            <a:extLst>
              <a:ext uri="{FF2B5EF4-FFF2-40B4-BE49-F238E27FC236}">
                <a16:creationId xmlns:a16="http://schemas.microsoft.com/office/drawing/2014/main" id="{E35985C9-D80C-C9A7-19B5-B0FFE16E1FC3}"/>
              </a:ext>
            </a:extLst>
          </p:cNvPr>
          <p:cNvSpPr/>
          <p:nvPr/>
        </p:nvSpPr>
        <p:spPr>
          <a:xfrm>
            <a:off x="609600" y="3175000"/>
            <a:ext cx="5143500" cy="2667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7" name="Picture 36" descr="Candidate matching and opportunity exploration screen">
            <a:extLst>
              <a:ext uri="{FF2B5EF4-FFF2-40B4-BE49-F238E27FC236}">
                <a16:creationId xmlns:a16="http://schemas.microsoft.com/office/drawing/2014/main" id="{B19BB806-025E-6F7F-6D09-5AB084EC875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8710" y="3213100"/>
            <a:ext cx="4145280" cy="2590800"/>
          </a:xfrm>
          <a:prstGeom prst="rect">
            <a:avLst/>
          </a:prstGeom>
        </p:spPr>
      </p:pic>
      <p:sp>
        <p:nvSpPr>
          <p:cNvPr id="38" name="Rectangle: Rounded Corners 37">
            <a:extLst>
              <a:ext uri="{FF2B5EF4-FFF2-40B4-BE49-F238E27FC236}">
                <a16:creationId xmlns:a16="http://schemas.microsoft.com/office/drawing/2014/main" id="{541770CF-6186-09D2-3274-532F01DD9A8B}"/>
              </a:ext>
            </a:extLst>
          </p:cNvPr>
          <p:cNvSpPr/>
          <p:nvPr/>
        </p:nvSpPr>
        <p:spPr>
          <a:xfrm>
            <a:off x="6197600" y="3175000"/>
            <a:ext cx="5384800" cy="2667000"/>
          </a:xfrm>
          <a:prstGeom prst="roundRect">
            <a:avLst/>
          </a:prstGeom>
          <a:solidFill>
            <a:srgbClr val="0B1F4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056CEBF0-A4D0-77A7-8A3F-4C19E37780C6}"/>
              </a:ext>
            </a:extLst>
          </p:cNvPr>
          <p:cNvSpPr/>
          <p:nvPr/>
        </p:nvSpPr>
        <p:spPr>
          <a:xfrm>
            <a:off x="6197600" y="3175000"/>
            <a:ext cx="88900" cy="26670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ECC0D0C4-543A-6FC9-9DA8-5071B775A4DA}"/>
              </a:ext>
            </a:extLst>
          </p:cNvPr>
          <p:cNvSpPr txBox="1"/>
          <p:nvPr/>
        </p:nvSpPr>
        <p:spPr>
          <a:xfrm>
            <a:off x="6464300" y="3378200"/>
            <a:ext cx="4902200" cy="230832"/>
          </a:xfrm>
          <a:prstGeom prst="rect">
            <a:avLst/>
          </a:prstGeom>
          <a:noFill/>
        </p:spPr>
        <p:txBody>
          <a:bodyPr vert="horz" wrap="square" lIns="0" tIns="0" rIns="0" bIns="0" rtlCol="0">
            <a:spAutoFit/>
          </a:bodyPr>
          <a:lstStyle/>
          <a:p>
            <a:r>
              <a:rPr lang="en-US" sz="1500" b="1">
                <a:solidFill>
                  <a:srgbClr val="FFFFFF"/>
                </a:solidFill>
                <a:latin typeface="Aptos Display" panose="020B0004020202020204" pitchFamily="34" charset="0"/>
              </a:rPr>
              <a:t>Integrated outcome</a:t>
            </a:r>
          </a:p>
        </p:txBody>
      </p:sp>
      <p:sp>
        <p:nvSpPr>
          <p:cNvPr id="41" name="TextBox 40">
            <a:extLst>
              <a:ext uri="{FF2B5EF4-FFF2-40B4-BE49-F238E27FC236}">
                <a16:creationId xmlns:a16="http://schemas.microsoft.com/office/drawing/2014/main" id="{FA345A93-4B59-3788-4F56-35A6892E3642}"/>
              </a:ext>
            </a:extLst>
          </p:cNvPr>
          <p:cNvSpPr txBox="1"/>
          <p:nvPr/>
        </p:nvSpPr>
        <p:spPr>
          <a:xfrm>
            <a:off x="6464300" y="3873500"/>
            <a:ext cx="4902200" cy="941796"/>
          </a:xfrm>
          <a:prstGeom prst="rect">
            <a:avLst/>
          </a:prstGeom>
          <a:noFill/>
        </p:spPr>
        <p:txBody>
          <a:bodyPr vert="horz" wrap="square" lIns="0" tIns="0" rIns="0" bIns="0" rtlCol="0">
            <a:spAutoFit/>
          </a:bodyPr>
          <a:lstStyle/>
          <a:p>
            <a:r>
              <a:rPr lang="en-US" sz="1020">
                <a:solidFill>
                  <a:srgbClr val="DDE7F5"/>
                </a:solidFill>
                <a:latin typeface="Aptos" panose="020B0004020202020204" pitchFamily="34" charset="0"/>
              </a:rPr>
              <a:t>Candidate-controlled AI profile assistance
Jobs, hospitality training, or both
Deterministic explainable compatibility
Employer requirements and assistance
Verifier and administrator oversight
English, French and Arabic with RTL</a:t>
            </a:r>
          </a:p>
        </p:txBody>
      </p:sp>
    </p:spTree>
    <p:extLst>
      <p:ext uri="{BB962C8B-B14F-4D97-AF65-F5344CB8AC3E}">
        <p14:creationId xmlns:p14="http://schemas.microsoft.com/office/powerpoint/2010/main" val="125357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5902F46-4C80-5AAF-E2F0-CFE8F45AEF95}"/>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74C15C3-DB99-347D-37D7-BA9D023629AF}"/>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REQUIREMENTS</a:t>
            </a:r>
          </a:p>
        </p:txBody>
      </p:sp>
      <p:sp>
        <p:nvSpPr>
          <p:cNvPr id="4" name="TextBox 3">
            <a:extLst>
              <a:ext uri="{FF2B5EF4-FFF2-40B4-BE49-F238E27FC236}">
                <a16:creationId xmlns:a16="http://schemas.microsoft.com/office/drawing/2014/main" id="{52433154-3AE5-11A1-0D2E-A8B45B87C68B}"/>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Functional requirements implemented by role</a:t>
            </a:r>
          </a:p>
        </p:txBody>
      </p:sp>
      <p:sp>
        <p:nvSpPr>
          <p:cNvPr id="5" name="TextBox 4">
            <a:extLst>
              <a:ext uri="{FF2B5EF4-FFF2-40B4-BE49-F238E27FC236}">
                <a16:creationId xmlns:a16="http://schemas.microsoft.com/office/drawing/2014/main" id="{60521A66-740B-19AA-52B4-6FE40E0D8543}"/>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platform is a coordinated workflow, not a collection of disconnected pages.</a:t>
            </a:r>
          </a:p>
        </p:txBody>
      </p:sp>
      <p:pic>
        <p:nvPicPr>
          <p:cNvPr id="7" name="Picture 6" descr="Universite Saint-Joseph and ESIB mark">
            <a:extLst>
              <a:ext uri="{FF2B5EF4-FFF2-40B4-BE49-F238E27FC236}">
                <a16:creationId xmlns:a16="http://schemas.microsoft.com/office/drawing/2014/main" id="{70FEDDE0-3A82-87E7-E1A2-5680910806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59E9A040-8090-26D6-0AB0-7FBE1B13426F}"/>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3726A9A-FF7D-CBED-5F8C-9277EE903F56}"/>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81DD8DFA-627A-32B9-87FC-427181F2BA65}"/>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07</a:t>
            </a:r>
          </a:p>
        </p:txBody>
      </p:sp>
      <p:sp>
        <p:nvSpPr>
          <p:cNvPr id="11" name="Rectangle: Rounded Corners 10">
            <a:extLst>
              <a:ext uri="{FF2B5EF4-FFF2-40B4-BE49-F238E27FC236}">
                <a16:creationId xmlns:a16="http://schemas.microsoft.com/office/drawing/2014/main" id="{72247CB4-70C8-981C-377F-C9F69FD2B9C2}"/>
              </a:ext>
            </a:extLst>
          </p:cNvPr>
          <p:cNvSpPr/>
          <p:nvPr/>
        </p:nvSpPr>
        <p:spPr>
          <a:xfrm>
            <a:off x="609600" y="1905000"/>
            <a:ext cx="2540000" cy="3708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0B95233-2FD7-DDDC-2508-37850526BFE7}"/>
              </a:ext>
            </a:extLst>
          </p:cNvPr>
          <p:cNvSpPr/>
          <p:nvPr/>
        </p:nvSpPr>
        <p:spPr>
          <a:xfrm>
            <a:off x="609600" y="1905000"/>
            <a:ext cx="88900" cy="37084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F3C0F3A-B229-3DEE-5BCB-16BC3E6C6C0A}"/>
              </a:ext>
            </a:extLst>
          </p:cNvPr>
          <p:cNvSpPr txBox="1"/>
          <p:nvPr/>
        </p:nvSpPr>
        <p:spPr>
          <a:xfrm>
            <a:off x="876300" y="2108200"/>
            <a:ext cx="20574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Candidate</a:t>
            </a:r>
          </a:p>
        </p:txBody>
      </p:sp>
      <p:sp>
        <p:nvSpPr>
          <p:cNvPr id="14" name="TextBox 13">
            <a:extLst>
              <a:ext uri="{FF2B5EF4-FFF2-40B4-BE49-F238E27FC236}">
                <a16:creationId xmlns:a16="http://schemas.microsoft.com/office/drawing/2014/main" id="{8440FC1D-04B8-225F-F1E9-797988A7717F}"/>
              </a:ext>
            </a:extLst>
          </p:cNvPr>
          <p:cNvSpPr txBox="1"/>
          <p:nvPr/>
        </p:nvSpPr>
        <p:spPr>
          <a:xfrm>
            <a:off x="876300" y="2603500"/>
            <a:ext cx="2057400" cy="784830"/>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Register and verify email
Submit private evidence
Build or reset profile
Choose work, training or both
Match, explore and apply</a:t>
            </a:r>
          </a:p>
        </p:txBody>
      </p:sp>
      <p:sp>
        <p:nvSpPr>
          <p:cNvPr id="15" name="Rectangle: Rounded Corners 14">
            <a:extLst>
              <a:ext uri="{FF2B5EF4-FFF2-40B4-BE49-F238E27FC236}">
                <a16:creationId xmlns:a16="http://schemas.microsoft.com/office/drawing/2014/main" id="{611A441F-D0E2-D852-592A-E5B321FAD780}"/>
              </a:ext>
            </a:extLst>
          </p:cNvPr>
          <p:cNvSpPr/>
          <p:nvPr/>
        </p:nvSpPr>
        <p:spPr>
          <a:xfrm>
            <a:off x="3352800" y="1905000"/>
            <a:ext cx="2540000" cy="3708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C614DA-C5D1-F4A9-B019-BF3D1C5F9D17}"/>
              </a:ext>
            </a:extLst>
          </p:cNvPr>
          <p:cNvSpPr/>
          <p:nvPr/>
        </p:nvSpPr>
        <p:spPr>
          <a:xfrm>
            <a:off x="3352800" y="1905000"/>
            <a:ext cx="88900" cy="37084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529F1F5-B92D-55BF-BC79-1B698FCEE422}"/>
              </a:ext>
            </a:extLst>
          </p:cNvPr>
          <p:cNvSpPr txBox="1"/>
          <p:nvPr/>
        </p:nvSpPr>
        <p:spPr>
          <a:xfrm>
            <a:off x="3619500" y="2108200"/>
            <a:ext cx="20574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Employer</a:t>
            </a:r>
          </a:p>
        </p:txBody>
      </p:sp>
      <p:sp>
        <p:nvSpPr>
          <p:cNvPr id="18" name="TextBox 17">
            <a:extLst>
              <a:ext uri="{FF2B5EF4-FFF2-40B4-BE49-F238E27FC236}">
                <a16:creationId xmlns:a16="http://schemas.microsoft.com/office/drawing/2014/main" id="{9EF517BF-1021-A782-B23B-64D6F242E4A7}"/>
              </a:ext>
            </a:extLst>
          </p:cNvPr>
          <p:cNvSpPr txBox="1"/>
          <p:nvPr/>
        </p:nvSpPr>
        <p:spPr>
          <a:xfrm>
            <a:off x="3619500" y="2603500"/>
            <a:ext cx="2057400" cy="784830"/>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Manage company profile
Publish job or training offer
Set education and abilities
Prioritize tasks and assistance
Review and update applications</a:t>
            </a:r>
          </a:p>
        </p:txBody>
      </p:sp>
      <p:sp>
        <p:nvSpPr>
          <p:cNvPr id="19" name="Rectangle: Rounded Corners 18">
            <a:extLst>
              <a:ext uri="{FF2B5EF4-FFF2-40B4-BE49-F238E27FC236}">
                <a16:creationId xmlns:a16="http://schemas.microsoft.com/office/drawing/2014/main" id="{77016BD4-0D37-1BC3-A97D-830D0CB7F31C}"/>
              </a:ext>
            </a:extLst>
          </p:cNvPr>
          <p:cNvSpPr/>
          <p:nvPr/>
        </p:nvSpPr>
        <p:spPr>
          <a:xfrm>
            <a:off x="6096000" y="1905000"/>
            <a:ext cx="2540000" cy="3708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B071163-6E11-4D17-E7C6-32A80FCCFC28}"/>
              </a:ext>
            </a:extLst>
          </p:cNvPr>
          <p:cNvSpPr/>
          <p:nvPr/>
        </p:nvSpPr>
        <p:spPr>
          <a:xfrm>
            <a:off x="6096000" y="1905000"/>
            <a:ext cx="88900" cy="37084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8590B30-3F04-9B80-6D20-D0F53A2AC9DA}"/>
              </a:ext>
            </a:extLst>
          </p:cNvPr>
          <p:cNvSpPr txBox="1"/>
          <p:nvPr/>
        </p:nvSpPr>
        <p:spPr>
          <a:xfrm>
            <a:off x="6362700" y="2108200"/>
            <a:ext cx="2057400" cy="230832"/>
          </a:xfrm>
          <a:prstGeom prst="rect">
            <a:avLst/>
          </a:prstGeom>
          <a:noFill/>
        </p:spPr>
        <p:txBody>
          <a:bodyPr vert="horz" wrap="square" lIns="0" tIns="0" rIns="0" bIns="0" rtlCol="0">
            <a:spAutoFit/>
          </a:bodyPr>
          <a:lstStyle/>
          <a:p>
            <a:r>
              <a:rPr lang="en-US" sz="1500" b="1">
                <a:solidFill>
                  <a:srgbClr val="563A4B"/>
                </a:solidFill>
                <a:latin typeface="Aptos Display" panose="020B0004020202020204" pitchFamily="34" charset="0"/>
              </a:rPr>
              <a:t>Verifier</a:t>
            </a:r>
          </a:p>
        </p:txBody>
      </p:sp>
      <p:sp>
        <p:nvSpPr>
          <p:cNvPr id="22" name="TextBox 21">
            <a:extLst>
              <a:ext uri="{FF2B5EF4-FFF2-40B4-BE49-F238E27FC236}">
                <a16:creationId xmlns:a16="http://schemas.microsoft.com/office/drawing/2014/main" id="{CA791F00-FB6A-F7A8-B3B3-0BE9B33184EF}"/>
              </a:ext>
            </a:extLst>
          </p:cNvPr>
          <p:cNvSpPr txBox="1"/>
          <p:nvPr/>
        </p:nvSpPr>
        <p:spPr>
          <a:xfrm>
            <a:off x="6362700" y="2603500"/>
            <a:ext cx="20574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Access authorized requests
Retrieve private evidence
Approve or reject verification
Record auditable decisions</a:t>
            </a:r>
          </a:p>
        </p:txBody>
      </p:sp>
      <p:sp>
        <p:nvSpPr>
          <p:cNvPr id="23" name="Rectangle: Rounded Corners 22">
            <a:extLst>
              <a:ext uri="{FF2B5EF4-FFF2-40B4-BE49-F238E27FC236}">
                <a16:creationId xmlns:a16="http://schemas.microsoft.com/office/drawing/2014/main" id="{22437A3E-DCB8-DCEE-650E-1C7EB3A0B6E1}"/>
              </a:ext>
            </a:extLst>
          </p:cNvPr>
          <p:cNvSpPr/>
          <p:nvPr/>
        </p:nvSpPr>
        <p:spPr>
          <a:xfrm>
            <a:off x="8839200" y="1905000"/>
            <a:ext cx="2540000" cy="3708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052BCE3-CF04-A29A-B814-D20B2440F53C}"/>
              </a:ext>
            </a:extLst>
          </p:cNvPr>
          <p:cNvSpPr/>
          <p:nvPr/>
        </p:nvSpPr>
        <p:spPr>
          <a:xfrm>
            <a:off x="8839200" y="1905000"/>
            <a:ext cx="88900" cy="37084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56A67E4-AA7E-4B6D-47D3-6EB6CAD47FAD}"/>
              </a:ext>
            </a:extLst>
          </p:cNvPr>
          <p:cNvSpPr txBox="1"/>
          <p:nvPr/>
        </p:nvSpPr>
        <p:spPr>
          <a:xfrm>
            <a:off x="9105900" y="2108200"/>
            <a:ext cx="2057400" cy="230832"/>
          </a:xfrm>
          <a:prstGeom prst="rect">
            <a:avLst/>
          </a:prstGeom>
          <a:noFill/>
        </p:spPr>
        <p:txBody>
          <a:bodyPr vert="horz" wrap="square" lIns="0" tIns="0" rIns="0" bIns="0" rtlCol="0">
            <a:spAutoFit/>
          </a:bodyPr>
          <a:lstStyle/>
          <a:p>
            <a:r>
              <a:rPr lang="en-US" sz="1500" b="1">
                <a:solidFill>
                  <a:srgbClr val="A64B2A"/>
                </a:solidFill>
                <a:latin typeface="Aptos Display" panose="020B0004020202020204" pitchFamily="34" charset="0"/>
              </a:rPr>
              <a:t>Administrator</a:t>
            </a:r>
          </a:p>
        </p:txBody>
      </p:sp>
      <p:sp>
        <p:nvSpPr>
          <p:cNvPr id="26" name="TextBox 25">
            <a:extLst>
              <a:ext uri="{FF2B5EF4-FFF2-40B4-BE49-F238E27FC236}">
                <a16:creationId xmlns:a16="http://schemas.microsoft.com/office/drawing/2014/main" id="{4D31D264-E090-D4C8-F5A7-E29D824E6649}"/>
              </a:ext>
            </a:extLst>
          </p:cNvPr>
          <p:cNvSpPr txBox="1"/>
          <p:nvPr/>
        </p:nvSpPr>
        <p:spPr>
          <a:xfrm>
            <a:off x="9105900" y="2603500"/>
            <a:ext cx="20574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Manage users and catalogue
Import validated role datasets
Inspect jobs and applications
Maintain controlled definitions</a:t>
            </a:r>
          </a:p>
        </p:txBody>
      </p:sp>
    </p:spTree>
    <p:extLst>
      <p:ext uri="{BB962C8B-B14F-4D97-AF65-F5344CB8AC3E}">
        <p14:creationId xmlns:p14="http://schemas.microsoft.com/office/powerpoint/2010/main" val="3284787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B40C5E-5A43-FAAD-EADB-72CEFC29E4F4}"/>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458F4EA-77BC-107C-2823-10CFC73C6996}"/>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REQUIREMENTS</a:t>
            </a:r>
          </a:p>
        </p:txBody>
      </p:sp>
      <p:sp>
        <p:nvSpPr>
          <p:cNvPr id="4" name="TextBox 3">
            <a:extLst>
              <a:ext uri="{FF2B5EF4-FFF2-40B4-BE49-F238E27FC236}">
                <a16:creationId xmlns:a16="http://schemas.microsoft.com/office/drawing/2014/main" id="{E99A0CD1-5BA6-DF3D-0FB2-0081B4C559D5}"/>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Non-functional requirements and measurable qualities</a:t>
            </a:r>
          </a:p>
        </p:txBody>
      </p:sp>
      <p:sp>
        <p:nvSpPr>
          <p:cNvPr id="5" name="TextBox 4">
            <a:extLst>
              <a:ext uri="{FF2B5EF4-FFF2-40B4-BE49-F238E27FC236}">
                <a16:creationId xmlns:a16="http://schemas.microsoft.com/office/drawing/2014/main" id="{008D7D61-A66B-79CB-E1D2-CB45610CEBF8}"/>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Quality attributes were connected to controls and evidence rather than treated as general promises.</a:t>
            </a:r>
          </a:p>
        </p:txBody>
      </p:sp>
      <p:pic>
        <p:nvPicPr>
          <p:cNvPr id="7" name="Picture 6" descr="Universite Saint-Joseph and ESIB mark">
            <a:extLst>
              <a:ext uri="{FF2B5EF4-FFF2-40B4-BE49-F238E27FC236}">
                <a16:creationId xmlns:a16="http://schemas.microsoft.com/office/drawing/2014/main" id="{0F39EB65-CF23-FD6D-6885-278232EEA3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46A30062-BEC6-178A-28DE-CA6040D16D7E}"/>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E468FDA2-F627-085A-7391-60323A21E354}"/>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88623D6E-07DF-342A-4113-CE48E6F8C701}"/>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08</a:t>
            </a:r>
          </a:p>
        </p:txBody>
      </p:sp>
      <p:sp>
        <p:nvSpPr>
          <p:cNvPr id="11" name="Rectangle: Rounded Corners 10">
            <a:extLst>
              <a:ext uri="{FF2B5EF4-FFF2-40B4-BE49-F238E27FC236}">
                <a16:creationId xmlns:a16="http://schemas.microsoft.com/office/drawing/2014/main" id="{CFC984C4-D02A-ED83-E445-C9C67900EA11}"/>
              </a:ext>
            </a:extLst>
          </p:cNvPr>
          <p:cNvSpPr/>
          <p:nvPr/>
        </p:nvSpPr>
        <p:spPr>
          <a:xfrm>
            <a:off x="609600" y="1905000"/>
            <a:ext cx="2540000" cy="3708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0AC93C6-672A-AE11-CBC8-3CDF484811E0}"/>
              </a:ext>
            </a:extLst>
          </p:cNvPr>
          <p:cNvSpPr/>
          <p:nvPr/>
        </p:nvSpPr>
        <p:spPr>
          <a:xfrm>
            <a:off x="609600" y="1905000"/>
            <a:ext cx="88900" cy="37084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231FD80B-1E84-E6E5-37EA-AE1FB155DA38}"/>
              </a:ext>
            </a:extLst>
          </p:cNvPr>
          <p:cNvSpPr txBox="1"/>
          <p:nvPr/>
        </p:nvSpPr>
        <p:spPr>
          <a:xfrm>
            <a:off x="876300" y="2108200"/>
            <a:ext cx="20574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Accessibility</a:t>
            </a:r>
          </a:p>
        </p:txBody>
      </p:sp>
      <p:sp>
        <p:nvSpPr>
          <p:cNvPr id="14" name="TextBox 13">
            <a:extLst>
              <a:ext uri="{FF2B5EF4-FFF2-40B4-BE49-F238E27FC236}">
                <a16:creationId xmlns:a16="http://schemas.microsoft.com/office/drawing/2014/main" id="{E9BB9964-68CE-DDB1-8EF1-ED215C11146D}"/>
              </a:ext>
            </a:extLst>
          </p:cNvPr>
          <p:cNvSpPr txBox="1"/>
          <p:nvPr/>
        </p:nvSpPr>
        <p:spPr>
          <a:xfrm>
            <a:off x="876300" y="2603500"/>
            <a:ext cx="2057400" cy="784830"/>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WCAG 2.1 AA target
Keyboard and assistive technology
Responsive reflow and reduced motion
Clear status and error recovery</a:t>
            </a:r>
          </a:p>
        </p:txBody>
      </p:sp>
      <p:sp>
        <p:nvSpPr>
          <p:cNvPr id="15" name="Rectangle: Rounded Corners 14">
            <a:extLst>
              <a:ext uri="{FF2B5EF4-FFF2-40B4-BE49-F238E27FC236}">
                <a16:creationId xmlns:a16="http://schemas.microsoft.com/office/drawing/2014/main" id="{59704EFB-D520-3CE4-9123-1198F60293C4}"/>
              </a:ext>
            </a:extLst>
          </p:cNvPr>
          <p:cNvSpPr/>
          <p:nvPr/>
        </p:nvSpPr>
        <p:spPr>
          <a:xfrm>
            <a:off x="3352800" y="1905000"/>
            <a:ext cx="2540000" cy="3708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DE5042-9D1E-760E-5087-18E20F5E4EF7}"/>
              </a:ext>
            </a:extLst>
          </p:cNvPr>
          <p:cNvSpPr/>
          <p:nvPr/>
        </p:nvSpPr>
        <p:spPr>
          <a:xfrm>
            <a:off x="3352800" y="1905000"/>
            <a:ext cx="88900" cy="37084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8F803151-FD36-3B54-E6C9-3187A1894678}"/>
              </a:ext>
            </a:extLst>
          </p:cNvPr>
          <p:cNvSpPr txBox="1"/>
          <p:nvPr/>
        </p:nvSpPr>
        <p:spPr>
          <a:xfrm>
            <a:off x="3619500" y="2108200"/>
            <a:ext cx="2057400" cy="230832"/>
          </a:xfrm>
          <a:prstGeom prst="rect">
            <a:avLst/>
          </a:prstGeom>
          <a:noFill/>
        </p:spPr>
        <p:txBody>
          <a:bodyPr vert="horz" wrap="square" lIns="0" tIns="0" rIns="0" bIns="0" rtlCol="0">
            <a:spAutoFit/>
          </a:bodyPr>
          <a:lstStyle/>
          <a:p>
            <a:r>
              <a:rPr lang="en-US" sz="1500" b="1">
                <a:solidFill>
                  <a:srgbClr val="563A4B"/>
                </a:solidFill>
                <a:latin typeface="Aptos Display" panose="020B0004020202020204" pitchFamily="34" charset="0"/>
              </a:rPr>
              <a:t>Security + privacy</a:t>
            </a:r>
          </a:p>
        </p:txBody>
      </p:sp>
      <p:sp>
        <p:nvSpPr>
          <p:cNvPr id="18" name="TextBox 17">
            <a:extLst>
              <a:ext uri="{FF2B5EF4-FFF2-40B4-BE49-F238E27FC236}">
                <a16:creationId xmlns:a16="http://schemas.microsoft.com/office/drawing/2014/main" id="{985996EA-2592-A672-D81F-EA9F2A70F3BC}"/>
              </a:ext>
            </a:extLst>
          </p:cNvPr>
          <p:cNvSpPr txBox="1"/>
          <p:nvPr/>
        </p:nvSpPr>
        <p:spPr>
          <a:xfrm>
            <a:off x="3619500" y="2603500"/>
            <a:ext cx="2057400" cy="109876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JWT and server-side RBAC
Private documents and bounded uploads
Consent, export, withdrawal and erasure
Audit events without sensitive payloads</a:t>
            </a:r>
          </a:p>
        </p:txBody>
      </p:sp>
      <p:sp>
        <p:nvSpPr>
          <p:cNvPr id="19" name="Rectangle: Rounded Corners 18">
            <a:extLst>
              <a:ext uri="{FF2B5EF4-FFF2-40B4-BE49-F238E27FC236}">
                <a16:creationId xmlns:a16="http://schemas.microsoft.com/office/drawing/2014/main" id="{22EF90A7-884E-143D-ED55-1C29CFA1D886}"/>
              </a:ext>
            </a:extLst>
          </p:cNvPr>
          <p:cNvSpPr/>
          <p:nvPr/>
        </p:nvSpPr>
        <p:spPr>
          <a:xfrm>
            <a:off x="6096000" y="1905000"/>
            <a:ext cx="2540000" cy="3708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057DABD2-6774-DCE0-2D50-C455AC806785}"/>
              </a:ext>
            </a:extLst>
          </p:cNvPr>
          <p:cNvSpPr/>
          <p:nvPr/>
        </p:nvSpPr>
        <p:spPr>
          <a:xfrm>
            <a:off x="6096000" y="1905000"/>
            <a:ext cx="88900" cy="37084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B78F8CF-3006-7FFE-51A8-A99D462EEB34}"/>
              </a:ext>
            </a:extLst>
          </p:cNvPr>
          <p:cNvSpPr txBox="1"/>
          <p:nvPr/>
        </p:nvSpPr>
        <p:spPr>
          <a:xfrm>
            <a:off x="6362700" y="2108200"/>
            <a:ext cx="2057400" cy="230832"/>
          </a:xfrm>
          <a:prstGeom prst="rect">
            <a:avLst/>
          </a:prstGeom>
          <a:noFill/>
        </p:spPr>
        <p:txBody>
          <a:bodyPr vert="horz" wrap="square" lIns="0" tIns="0" rIns="0" bIns="0" rtlCol="0">
            <a:spAutoFit/>
          </a:bodyPr>
          <a:lstStyle/>
          <a:p>
            <a:r>
              <a:rPr lang="en-US" sz="1500" b="1">
                <a:solidFill>
                  <a:srgbClr val="A64B2A"/>
                </a:solidFill>
                <a:latin typeface="Aptos Display" panose="020B0004020202020204" pitchFamily="34" charset="0"/>
              </a:rPr>
              <a:t>Reliability + performance</a:t>
            </a:r>
          </a:p>
        </p:txBody>
      </p:sp>
      <p:sp>
        <p:nvSpPr>
          <p:cNvPr id="22" name="TextBox 21">
            <a:extLst>
              <a:ext uri="{FF2B5EF4-FFF2-40B4-BE49-F238E27FC236}">
                <a16:creationId xmlns:a16="http://schemas.microsoft.com/office/drawing/2014/main" id="{1E6054A1-3745-5280-D790-863BE5368332}"/>
              </a:ext>
            </a:extLst>
          </p:cNvPr>
          <p:cNvSpPr txBox="1"/>
          <p:nvPr/>
        </p:nvSpPr>
        <p:spPr>
          <a:xfrm>
            <a:off x="6362700" y="2603500"/>
            <a:ext cx="2057400" cy="109876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Health endpoints and Docker boundaries
Repeatable p50 / p95 measurements
No silent rollback on email failure
Transparent cold-start and latency limits</a:t>
            </a:r>
          </a:p>
        </p:txBody>
      </p:sp>
      <p:sp>
        <p:nvSpPr>
          <p:cNvPr id="23" name="Rectangle: Rounded Corners 22">
            <a:extLst>
              <a:ext uri="{FF2B5EF4-FFF2-40B4-BE49-F238E27FC236}">
                <a16:creationId xmlns:a16="http://schemas.microsoft.com/office/drawing/2014/main" id="{31316DA8-9F5E-C931-B589-CC7A6C67E1C4}"/>
              </a:ext>
            </a:extLst>
          </p:cNvPr>
          <p:cNvSpPr/>
          <p:nvPr/>
        </p:nvSpPr>
        <p:spPr>
          <a:xfrm>
            <a:off x="8839200" y="1905000"/>
            <a:ext cx="2540000" cy="3708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ECBB45BB-C74D-4222-7DAB-93906B355F15}"/>
              </a:ext>
            </a:extLst>
          </p:cNvPr>
          <p:cNvSpPr/>
          <p:nvPr/>
        </p:nvSpPr>
        <p:spPr>
          <a:xfrm>
            <a:off x="8839200" y="1905000"/>
            <a:ext cx="88900" cy="37084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6A99CB38-A156-61DC-1B45-E9E9DBF86E3F}"/>
              </a:ext>
            </a:extLst>
          </p:cNvPr>
          <p:cNvSpPr txBox="1"/>
          <p:nvPr/>
        </p:nvSpPr>
        <p:spPr>
          <a:xfrm>
            <a:off x="9105900" y="2108200"/>
            <a:ext cx="20574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Maintainability + i18n</a:t>
            </a:r>
          </a:p>
        </p:txBody>
      </p:sp>
      <p:sp>
        <p:nvSpPr>
          <p:cNvPr id="26" name="TextBox 25">
            <a:extLst>
              <a:ext uri="{FF2B5EF4-FFF2-40B4-BE49-F238E27FC236}">
                <a16:creationId xmlns:a16="http://schemas.microsoft.com/office/drawing/2014/main" id="{354B2328-27FA-78B0-313C-45868C770E25}"/>
              </a:ext>
            </a:extLst>
          </p:cNvPr>
          <p:cNvSpPr txBox="1"/>
          <p:nvPr/>
        </p:nvSpPr>
        <p:spPr>
          <a:xfrm>
            <a:off x="9105900" y="2603500"/>
            <a:ext cx="2057400" cy="941796"/>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Component-based React interface
Controller-service-repository backend
Versioned scoring policy
Three locales with stable codes and IDs</a:t>
            </a:r>
          </a:p>
        </p:txBody>
      </p:sp>
    </p:spTree>
    <p:extLst>
      <p:ext uri="{BB962C8B-B14F-4D97-AF65-F5344CB8AC3E}">
        <p14:creationId xmlns:p14="http://schemas.microsoft.com/office/powerpoint/2010/main" val="29414480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023009-2A07-A923-76EA-7643DD7B2E1C}"/>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8FBB5C8-2330-3030-EEF5-3848666E5E7E}"/>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ACCESSIBILITY STANDARD</a:t>
            </a:r>
          </a:p>
        </p:txBody>
      </p:sp>
      <p:sp>
        <p:nvSpPr>
          <p:cNvPr id="4" name="TextBox 3">
            <a:extLst>
              <a:ext uri="{FF2B5EF4-FFF2-40B4-BE49-F238E27FC236}">
                <a16:creationId xmlns:a16="http://schemas.microsoft.com/office/drawing/2014/main" id="{3C1A8735-BC36-4A1D-9A8A-235C4C15305C}"/>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WCAG 2.1 Level AA: target, implementation and evidence</a:t>
            </a:r>
          </a:p>
        </p:txBody>
      </p:sp>
      <p:sp>
        <p:nvSpPr>
          <p:cNvPr id="5" name="TextBox 4">
            <a:extLst>
              <a:ext uri="{FF2B5EF4-FFF2-40B4-BE49-F238E27FC236}">
                <a16:creationId xmlns:a16="http://schemas.microsoft.com/office/drawing/2014/main" id="{B56ABB31-ADB3-E2D3-B712-C614F08537FC}"/>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WCAG organizes success criteria under four principles; Level AA includes all applicable Level A and AA criteria.</a:t>
            </a:r>
          </a:p>
        </p:txBody>
      </p:sp>
      <p:pic>
        <p:nvPicPr>
          <p:cNvPr id="7" name="Picture 6" descr="Universite Saint-Joseph and ESIB mark">
            <a:extLst>
              <a:ext uri="{FF2B5EF4-FFF2-40B4-BE49-F238E27FC236}">
                <a16:creationId xmlns:a16="http://schemas.microsoft.com/office/drawing/2014/main" id="{807C6C73-702A-2330-9E2D-1FD2EF452A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6B0B296F-26A1-7519-A32F-B8DF6607C5E3}"/>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6774267D-2197-C0A1-549B-BC40BABF2633}"/>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FC898CEF-D284-B5AB-1070-C0F05EC88473}"/>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09</a:t>
            </a:r>
          </a:p>
        </p:txBody>
      </p:sp>
      <p:sp>
        <p:nvSpPr>
          <p:cNvPr id="11" name="Rectangle: Rounded Corners 10">
            <a:extLst>
              <a:ext uri="{FF2B5EF4-FFF2-40B4-BE49-F238E27FC236}">
                <a16:creationId xmlns:a16="http://schemas.microsoft.com/office/drawing/2014/main" id="{8DBE12DD-2EE1-8AE1-FE2E-79E01090EA59}"/>
              </a:ext>
            </a:extLst>
          </p:cNvPr>
          <p:cNvSpPr/>
          <p:nvPr/>
        </p:nvSpPr>
        <p:spPr>
          <a:xfrm>
            <a:off x="609600" y="1841500"/>
            <a:ext cx="2540000" cy="2730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318B38D2-6A1C-4DBE-82C5-128682ABB840}"/>
              </a:ext>
            </a:extLst>
          </p:cNvPr>
          <p:cNvSpPr/>
          <p:nvPr/>
        </p:nvSpPr>
        <p:spPr>
          <a:xfrm>
            <a:off x="609600" y="1841500"/>
            <a:ext cx="88900" cy="27305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6E1F567-56F7-20C9-838E-E67AD0EB4928}"/>
              </a:ext>
            </a:extLst>
          </p:cNvPr>
          <p:cNvSpPr txBox="1"/>
          <p:nvPr/>
        </p:nvSpPr>
        <p:spPr>
          <a:xfrm>
            <a:off x="876300" y="2044700"/>
            <a:ext cx="20574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Perceivable</a:t>
            </a:r>
          </a:p>
        </p:txBody>
      </p:sp>
      <p:sp>
        <p:nvSpPr>
          <p:cNvPr id="14" name="TextBox 13">
            <a:extLst>
              <a:ext uri="{FF2B5EF4-FFF2-40B4-BE49-F238E27FC236}">
                <a16:creationId xmlns:a16="http://schemas.microsoft.com/office/drawing/2014/main" id="{E76FF0AD-1097-4FC6-C724-6038039582F9}"/>
              </a:ext>
            </a:extLst>
          </p:cNvPr>
          <p:cNvSpPr txBox="1"/>
          <p:nvPr/>
        </p:nvSpPr>
        <p:spPr>
          <a:xfrm>
            <a:off x="876300" y="2540000"/>
            <a:ext cx="20574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Labels and alternatives
Structure and headings
Status not based on colour alone
Contrast target</a:t>
            </a:r>
          </a:p>
        </p:txBody>
      </p:sp>
      <p:sp>
        <p:nvSpPr>
          <p:cNvPr id="15" name="Rectangle: Rounded Corners 14">
            <a:extLst>
              <a:ext uri="{FF2B5EF4-FFF2-40B4-BE49-F238E27FC236}">
                <a16:creationId xmlns:a16="http://schemas.microsoft.com/office/drawing/2014/main" id="{D300225D-372A-5016-BF2D-544718264F7F}"/>
              </a:ext>
            </a:extLst>
          </p:cNvPr>
          <p:cNvSpPr/>
          <p:nvPr/>
        </p:nvSpPr>
        <p:spPr>
          <a:xfrm>
            <a:off x="3352800" y="1841500"/>
            <a:ext cx="2540000" cy="2730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9650338-1505-FFE2-AE5C-21F52B3B5560}"/>
              </a:ext>
            </a:extLst>
          </p:cNvPr>
          <p:cNvSpPr/>
          <p:nvPr/>
        </p:nvSpPr>
        <p:spPr>
          <a:xfrm>
            <a:off x="3352800" y="1841500"/>
            <a:ext cx="88900" cy="27305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F5C05C61-23E1-1D96-0563-9B30EDAD1A5B}"/>
              </a:ext>
            </a:extLst>
          </p:cNvPr>
          <p:cNvSpPr txBox="1"/>
          <p:nvPr/>
        </p:nvSpPr>
        <p:spPr>
          <a:xfrm>
            <a:off x="3619500" y="2044700"/>
            <a:ext cx="20574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Operable</a:t>
            </a:r>
          </a:p>
        </p:txBody>
      </p:sp>
      <p:sp>
        <p:nvSpPr>
          <p:cNvPr id="18" name="TextBox 17">
            <a:extLst>
              <a:ext uri="{FF2B5EF4-FFF2-40B4-BE49-F238E27FC236}">
                <a16:creationId xmlns:a16="http://schemas.microsoft.com/office/drawing/2014/main" id="{573DBB7F-BA45-005D-0A99-7FB21ADDD0F6}"/>
              </a:ext>
            </a:extLst>
          </p:cNvPr>
          <p:cNvSpPr txBox="1"/>
          <p:nvPr/>
        </p:nvSpPr>
        <p:spPr>
          <a:xfrm>
            <a:off x="3619500" y="2540000"/>
            <a:ext cx="20574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Keyboard workflows
Visible focus
No pointer-only critical path
Reduced-motion support</a:t>
            </a:r>
          </a:p>
        </p:txBody>
      </p:sp>
      <p:sp>
        <p:nvSpPr>
          <p:cNvPr id="19" name="Rectangle: Rounded Corners 18">
            <a:extLst>
              <a:ext uri="{FF2B5EF4-FFF2-40B4-BE49-F238E27FC236}">
                <a16:creationId xmlns:a16="http://schemas.microsoft.com/office/drawing/2014/main" id="{0CDA7EF0-B41E-BC7B-5C76-628CD68B60AB}"/>
              </a:ext>
            </a:extLst>
          </p:cNvPr>
          <p:cNvSpPr/>
          <p:nvPr/>
        </p:nvSpPr>
        <p:spPr>
          <a:xfrm>
            <a:off x="6096000" y="1841500"/>
            <a:ext cx="2540000" cy="2730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08C1D0-11F4-3D12-6712-84132F05E848}"/>
              </a:ext>
            </a:extLst>
          </p:cNvPr>
          <p:cNvSpPr/>
          <p:nvPr/>
        </p:nvSpPr>
        <p:spPr>
          <a:xfrm>
            <a:off x="6096000" y="1841500"/>
            <a:ext cx="88900" cy="27305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E3D190C-9F75-4073-B424-84E7CFB196A6}"/>
              </a:ext>
            </a:extLst>
          </p:cNvPr>
          <p:cNvSpPr txBox="1"/>
          <p:nvPr/>
        </p:nvSpPr>
        <p:spPr>
          <a:xfrm>
            <a:off x="6362700" y="2044700"/>
            <a:ext cx="2057400" cy="230832"/>
          </a:xfrm>
          <a:prstGeom prst="rect">
            <a:avLst/>
          </a:prstGeom>
          <a:noFill/>
        </p:spPr>
        <p:txBody>
          <a:bodyPr vert="horz" wrap="square" lIns="0" tIns="0" rIns="0" bIns="0" rtlCol="0">
            <a:spAutoFit/>
          </a:bodyPr>
          <a:lstStyle/>
          <a:p>
            <a:r>
              <a:rPr lang="en-US" sz="1500" b="1">
                <a:solidFill>
                  <a:srgbClr val="A64B2A"/>
                </a:solidFill>
                <a:latin typeface="Aptos Display" panose="020B0004020202020204" pitchFamily="34" charset="0"/>
              </a:rPr>
              <a:t>Understandable</a:t>
            </a:r>
          </a:p>
        </p:txBody>
      </p:sp>
      <p:sp>
        <p:nvSpPr>
          <p:cNvPr id="22" name="TextBox 21">
            <a:extLst>
              <a:ext uri="{FF2B5EF4-FFF2-40B4-BE49-F238E27FC236}">
                <a16:creationId xmlns:a16="http://schemas.microsoft.com/office/drawing/2014/main" id="{C0448013-27C2-72E7-11CC-7BCC5D46780C}"/>
              </a:ext>
            </a:extLst>
          </p:cNvPr>
          <p:cNvSpPr txBox="1"/>
          <p:nvPr/>
        </p:nvSpPr>
        <p:spPr>
          <a:xfrm>
            <a:off x="6362700" y="2540000"/>
            <a:ext cx="20574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Consistent navigation
Instructions and linked errors
Confirmation and recovery
Plain-language feedback</a:t>
            </a:r>
          </a:p>
        </p:txBody>
      </p:sp>
      <p:sp>
        <p:nvSpPr>
          <p:cNvPr id="23" name="Rectangle: Rounded Corners 22">
            <a:extLst>
              <a:ext uri="{FF2B5EF4-FFF2-40B4-BE49-F238E27FC236}">
                <a16:creationId xmlns:a16="http://schemas.microsoft.com/office/drawing/2014/main" id="{04C7C4B6-4B36-F099-A7A4-8D66A4A52668}"/>
              </a:ext>
            </a:extLst>
          </p:cNvPr>
          <p:cNvSpPr/>
          <p:nvPr/>
        </p:nvSpPr>
        <p:spPr>
          <a:xfrm>
            <a:off x="8839200" y="1841500"/>
            <a:ext cx="2540000" cy="2730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6EAA684-78A4-673F-AC95-8F7D3F07A2EC}"/>
              </a:ext>
            </a:extLst>
          </p:cNvPr>
          <p:cNvSpPr/>
          <p:nvPr/>
        </p:nvSpPr>
        <p:spPr>
          <a:xfrm>
            <a:off x="8839200" y="1841500"/>
            <a:ext cx="88900" cy="27305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9FF64986-3419-D862-6B0B-5C48B9A12670}"/>
              </a:ext>
            </a:extLst>
          </p:cNvPr>
          <p:cNvSpPr txBox="1"/>
          <p:nvPr/>
        </p:nvSpPr>
        <p:spPr>
          <a:xfrm>
            <a:off x="9105900" y="2044700"/>
            <a:ext cx="2057400" cy="230832"/>
          </a:xfrm>
          <a:prstGeom prst="rect">
            <a:avLst/>
          </a:prstGeom>
          <a:noFill/>
        </p:spPr>
        <p:txBody>
          <a:bodyPr vert="horz" wrap="square" lIns="0" tIns="0" rIns="0" bIns="0" rtlCol="0">
            <a:spAutoFit/>
          </a:bodyPr>
          <a:lstStyle/>
          <a:p>
            <a:r>
              <a:rPr lang="en-US" sz="1500" b="1">
                <a:solidFill>
                  <a:srgbClr val="563A4B"/>
                </a:solidFill>
                <a:latin typeface="Aptos Display" panose="020B0004020202020204" pitchFamily="34" charset="0"/>
              </a:rPr>
              <a:t>Robust</a:t>
            </a:r>
          </a:p>
        </p:txBody>
      </p:sp>
      <p:sp>
        <p:nvSpPr>
          <p:cNvPr id="26" name="TextBox 25">
            <a:extLst>
              <a:ext uri="{FF2B5EF4-FFF2-40B4-BE49-F238E27FC236}">
                <a16:creationId xmlns:a16="http://schemas.microsoft.com/office/drawing/2014/main" id="{C2A44AC4-09D2-A93C-0CF0-E35347253608}"/>
              </a:ext>
            </a:extLst>
          </p:cNvPr>
          <p:cNvSpPr txBox="1"/>
          <p:nvPr/>
        </p:nvSpPr>
        <p:spPr>
          <a:xfrm>
            <a:off x="9105900" y="2540000"/>
            <a:ext cx="20574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Semantic controls
ARIA status / alert patterns
Stable focus management
JAWS-tested workflow</a:t>
            </a:r>
          </a:p>
        </p:txBody>
      </p:sp>
      <p:sp>
        <p:nvSpPr>
          <p:cNvPr id="27" name="Rectangle: Rounded Corners 26">
            <a:extLst>
              <a:ext uri="{FF2B5EF4-FFF2-40B4-BE49-F238E27FC236}">
                <a16:creationId xmlns:a16="http://schemas.microsoft.com/office/drawing/2014/main" id="{22550D61-FB29-11F5-CA69-E017825A8AF0}"/>
              </a:ext>
            </a:extLst>
          </p:cNvPr>
          <p:cNvSpPr/>
          <p:nvPr/>
        </p:nvSpPr>
        <p:spPr>
          <a:xfrm>
            <a:off x="609600" y="4851400"/>
            <a:ext cx="10972800" cy="9652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2520085-3BE7-DC1D-C053-41FF73EC18F4}"/>
              </a:ext>
            </a:extLst>
          </p:cNvPr>
          <p:cNvSpPr txBox="1"/>
          <p:nvPr/>
        </p:nvSpPr>
        <p:spPr>
          <a:xfrm>
            <a:off x="863600" y="5067300"/>
            <a:ext cx="889000" cy="153888"/>
          </a:xfrm>
          <a:prstGeom prst="rect">
            <a:avLst/>
          </a:prstGeom>
          <a:noFill/>
        </p:spPr>
        <p:txBody>
          <a:bodyPr vert="horz" wrap="square" lIns="0" tIns="0" rIns="0" bIns="0" rtlCol="0">
            <a:spAutoFit/>
          </a:bodyPr>
          <a:lstStyle/>
          <a:p>
            <a:r>
              <a:rPr lang="en-US" sz="1000" b="1">
                <a:solidFill>
                  <a:srgbClr val="157A55"/>
                </a:solidFill>
                <a:latin typeface="Aptos" panose="020B0004020202020204" pitchFamily="34" charset="0"/>
              </a:rPr>
              <a:t>Evidence</a:t>
            </a:r>
          </a:p>
        </p:txBody>
      </p:sp>
      <p:sp>
        <p:nvSpPr>
          <p:cNvPr id="29" name="TextBox 28">
            <a:extLst>
              <a:ext uri="{FF2B5EF4-FFF2-40B4-BE49-F238E27FC236}">
                <a16:creationId xmlns:a16="http://schemas.microsoft.com/office/drawing/2014/main" id="{1E9A20CE-EA9D-DFB7-E34B-F9B9C14FB363}"/>
              </a:ext>
            </a:extLst>
          </p:cNvPr>
          <p:cNvSpPr txBox="1"/>
          <p:nvPr/>
        </p:nvSpPr>
        <p:spPr>
          <a:xfrm>
            <a:off x="1778000" y="5041900"/>
            <a:ext cx="9334500" cy="146194"/>
          </a:xfrm>
          <a:prstGeom prst="rect">
            <a:avLst/>
          </a:prstGeom>
          <a:noFill/>
        </p:spPr>
        <p:txBody>
          <a:bodyPr vert="horz" wrap="square" lIns="0" tIns="0" rIns="0" bIns="0" rtlCol="0">
            <a:spAutoFit/>
          </a:bodyPr>
          <a:lstStyle/>
          <a:p>
            <a:r>
              <a:rPr lang="en-US" sz="950" b="1">
                <a:solidFill>
                  <a:srgbClr val="FFFFFF"/>
                </a:solidFill>
                <a:latin typeface="Aptos" panose="020B0004020202020204" pitchFamily="34" charset="0"/>
              </a:rPr>
              <a:t>18/18 accessibility workflow cases completed | 104 automated route-layout scenarios | JAWS registration and application completed</a:t>
            </a:r>
          </a:p>
        </p:txBody>
      </p:sp>
      <p:sp>
        <p:nvSpPr>
          <p:cNvPr id="30" name="TextBox 29">
            <a:extLst>
              <a:ext uri="{FF2B5EF4-FFF2-40B4-BE49-F238E27FC236}">
                <a16:creationId xmlns:a16="http://schemas.microsoft.com/office/drawing/2014/main" id="{AFAEC04A-50B3-C1C7-53E5-6359CFA40A38}"/>
              </a:ext>
            </a:extLst>
          </p:cNvPr>
          <p:cNvSpPr txBox="1"/>
          <p:nvPr/>
        </p:nvSpPr>
        <p:spPr>
          <a:xfrm>
            <a:off x="863600" y="5410200"/>
            <a:ext cx="10236200" cy="129266"/>
          </a:xfrm>
          <a:prstGeom prst="rect">
            <a:avLst/>
          </a:prstGeom>
          <a:noFill/>
        </p:spPr>
        <p:txBody>
          <a:bodyPr vert="horz" wrap="square" lIns="0" tIns="0" rIns="0" bIns="0" rtlCol="0">
            <a:spAutoFit/>
          </a:bodyPr>
          <a:lstStyle/>
          <a:p>
            <a:r>
              <a:rPr lang="en-US" sz="840">
                <a:solidFill>
                  <a:srgbClr val="F4D8CC"/>
                </a:solidFill>
                <a:latin typeface="Aptos" panose="020B0004020202020204" pitchFamily="34" charset="0"/>
              </a:rPr>
              <a:t>Honest boundary: 16 scenarios retained axe findings and 2 high-zoom scenarios showed overflow; therefore this is a WCAG 2.1 AA target, not a full conformance claim.</a:t>
            </a:r>
          </a:p>
        </p:txBody>
      </p:sp>
      <p:sp>
        <p:nvSpPr>
          <p:cNvPr id="31" name="TextBox 30">
            <a:extLst>
              <a:ext uri="{FF2B5EF4-FFF2-40B4-BE49-F238E27FC236}">
                <a16:creationId xmlns:a16="http://schemas.microsoft.com/office/drawing/2014/main" id="{27084BB4-45FC-8A66-69B5-66F957C5A110}"/>
              </a:ext>
            </a:extLst>
          </p:cNvPr>
          <p:cNvSpPr txBox="1"/>
          <p:nvPr/>
        </p:nvSpPr>
        <p:spPr>
          <a:xfrm>
            <a:off x="609600" y="6172200"/>
            <a:ext cx="10414000" cy="104644"/>
          </a:xfrm>
          <a:prstGeom prst="rect">
            <a:avLst/>
          </a:prstGeom>
          <a:noFill/>
        </p:spPr>
        <p:txBody>
          <a:bodyPr vert="horz" wrap="square" lIns="0" tIns="0" rIns="0" bIns="0" rtlCol="0">
            <a:spAutoFit/>
          </a:bodyPr>
          <a:lstStyle/>
          <a:p>
            <a:r>
              <a:rPr lang="en-US" sz="680">
                <a:solidFill>
                  <a:srgbClr val="5D6B80"/>
                </a:solidFill>
                <a:latin typeface="Aptos" panose="020B0004020202020204" pitchFamily="34" charset="0"/>
              </a:rPr>
              <a:t>Standard: W3C Web Content Accessibility Guidelines (WCAG) 2.1, Recommendation, Level A and AA success criteria.</a:t>
            </a:r>
          </a:p>
        </p:txBody>
      </p:sp>
    </p:spTree>
    <p:extLst>
      <p:ext uri="{BB962C8B-B14F-4D97-AF65-F5344CB8AC3E}">
        <p14:creationId xmlns:p14="http://schemas.microsoft.com/office/powerpoint/2010/main" val="9218191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9530C2-E6E9-7008-91DE-3DE9F65FBA95}"/>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24E0410-3DBB-7D82-CE97-61BCD0781DFB}"/>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SYSTEM DESIGN</a:t>
            </a:r>
          </a:p>
        </p:txBody>
      </p:sp>
      <p:sp>
        <p:nvSpPr>
          <p:cNvPr id="4" name="TextBox 3">
            <a:extLst>
              <a:ext uri="{FF2B5EF4-FFF2-40B4-BE49-F238E27FC236}">
                <a16:creationId xmlns:a16="http://schemas.microsoft.com/office/drawing/2014/main" id="{764CA714-0F18-B26C-A4D2-022597225360}"/>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Cloud architecture and explicit trust boundaries</a:t>
            </a:r>
          </a:p>
        </p:txBody>
      </p:sp>
      <p:sp>
        <p:nvSpPr>
          <p:cNvPr id="5" name="TextBox 4">
            <a:extLst>
              <a:ext uri="{FF2B5EF4-FFF2-40B4-BE49-F238E27FC236}">
                <a16:creationId xmlns:a16="http://schemas.microsoft.com/office/drawing/2014/main" id="{783137E7-B811-7F3D-CB0D-17F9AEF7A26B}"/>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browser presents the interface; Symfony remains the authoritative security and business-workflow boundary.</a:t>
            </a:r>
          </a:p>
        </p:txBody>
      </p:sp>
      <p:pic>
        <p:nvPicPr>
          <p:cNvPr id="7" name="Picture 6" descr="Universite Saint-Joseph and ESIB mark">
            <a:extLst>
              <a:ext uri="{FF2B5EF4-FFF2-40B4-BE49-F238E27FC236}">
                <a16:creationId xmlns:a16="http://schemas.microsoft.com/office/drawing/2014/main" id="{88804F4A-BA17-194B-FA6D-197ADBE45F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310355D8-C189-9065-D87C-D0BDE3C5F281}"/>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C51C6AD-BF58-7495-9E22-0C845E11ACE8}"/>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CB866F46-E16C-B2D1-CE5A-98F3F15460A4}"/>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10</a:t>
            </a:r>
          </a:p>
        </p:txBody>
      </p:sp>
      <p:sp>
        <p:nvSpPr>
          <p:cNvPr id="11" name="Rectangle: Rounded Corners 10">
            <a:extLst>
              <a:ext uri="{FF2B5EF4-FFF2-40B4-BE49-F238E27FC236}">
                <a16:creationId xmlns:a16="http://schemas.microsoft.com/office/drawing/2014/main" id="{8FDBB13F-A91E-A419-DD23-37C1AF3E2779}"/>
              </a:ext>
            </a:extLst>
          </p:cNvPr>
          <p:cNvSpPr/>
          <p:nvPr/>
        </p:nvSpPr>
        <p:spPr>
          <a:xfrm>
            <a:off x="609600" y="2387600"/>
            <a:ext cx="1778000" cy="19050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7504CBC-D7FE-880E-C0DD-BDC30FC347B9}"/>
              </a:ext>
            </a:extLst>
          </p:cNvPr>
          <p:cNvSpPr/>
          <p:nvPr/>
        </p:nvSpPr>
        <p:spPr>
          <a:xfrm>
            <a:off x="609600" y="2387600"/>
            <a:ext cx="1778000" cy="889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37913CF-4431-E256-837E-26B797AAD7C6}"/>
              </a:ext>
            </a:extLst>
          </p:cNvPr>
          <p:cNvSpPr txBox="1"/>
          <p:nvPr/>
        </p:nvSpPr>
        <p:spPr>
          <a:xfrm>
            <a:off x="736600" y="2679700"/>
            <a:ext cx="1524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React / Vite</a:t>
            </a:r>
          </a:p>
        </p:txBody>
      </p:sp>
      <p:sp>
        <p:nvSpPr>
          <p:cNvPr id="14" name="TextBox 13">
            <a:extLst>
              <a:ext uri="{FF2B5EF4-FFF2-40B4-BE49-F238E27FC236}">
                <a16:creationId xmlns:a16="http://schemas.microsoft.com/office/drawing/2014/main" id="{9321D6FD-5182-AD12-753B-0302FE9DE38F}"/>
              </a:ext>
            </a:extLst>
          </p:cNvPr>
          <p:cNvSpPr txBox="1"/>
          <p:nvPr/>
        </p:nvSpPr>
        <p:spPr>
          <a:xfrm>
            <a:off x="749300" y="3302000"/>
            <a:ext cx="1498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Static frontend
Role workspaces
i18next + RTL</a:t>
            </a:r>
          </a:p>
        </p:txBody>
      </p:sp>
      <p:cxnSp>
        <p:nvCxnSpPr>
          <p:cNvPr id="15" name="Straight Connector 14">
            <a:extLst>
              <a:ext uri="{FF2B5EF4-FFF2-40B4-BE49-F238E27FC236}">
                <a16:creationId xmlns:a16="http://schemas.microsoft.com/office/drawing/2014/main" id="{C65938B8-5133-C057-A51D-DD2F347CF5BA}"/>
              </a:ext>
            </a:extLst>
          </p:cNvPr>
          <p:cNvCxnSpPr/>
          <p:nvPr/>
        </p:nvCxnSpPr>
        <p:spPr>
          <a:xfrm>
            <a:off x="2438400" y="33401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FE0C2707-59C5-A6BF-D526-48F5B4AC0996}"/>
              </a:ext>
            </a:extLst>
          </p:cNvPr>
          <p:cNvSpPr/>
          <p:nvPr/>
        </p:nvSpPr>
        <p:spPr>
          <a:xfrm>
            <a:off x="2768600" y="2184400"/>
            <a:ext cx="1905000" cy="2311400"/>
          </a:xfrm>
          <a:prstGeom prst="roundRect">
            <a:avLst/>
          </a:prstGeom>
          <a:solidFill>
            <a:srgbClr val="FFFFFF"/>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402DCDD-9D84-FE4E-1727-226B43B83B08}"/>
              </a:ext>
            </a:extLst>
          </p:cNvPr>
          <p:cNvSpPr/>
          <p:nvPr/>
        </p:nvSpPr>
        <p:spPr>
          <a:xfrm>
            <a:off x="2768600" y="2184400"/>
            <a:ext cx="1905000" cy="889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268C8D1-11D7-B878-36F9-E89F2674F5F6}"/>
              </a:ext>
            </a:extLst>
          </p:cNvPr>
          <p:cNvSpPr txBox="1"/>
          <p:nvPr/>
        </p:nvSpPr>
        <p:spPr>
          <a:xfrm>
            <a:off x="2895600" y="2476500"/>
            <a:ext cx="1651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Symfony API</a:t>
            </a:r>
          </a:p>
        </p:txBody>
      </p:sp>
      <p:sp>
        <p:nvSpPr>
          <p:cNvPr id="19" name="TextBox 18">
            <a:extLst>
              <a:ext uri="{FF2B5EF4-FFF2-40B4-BE49-F238E27FC236}">
                <a16:creationId xmlns:a16="http://schemas.microsoft.com/office/drawing/2014/main" id="{7D824BA3-7E72-B169-EB58-09D2D1F8CC40}"/>
              </a:ext>
            </a:extLst>
          </p:cNvPr>
          <p:cNvSpPr txBox="1"/>
          <p:nvPr/>
        </p:nvSpPr>
        <p:spPr>
          <a:xfrm>
            <a:off x="2908300" y="3098800"/>
            <a:ext cx="1625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JWT + RBAC
Validation
Workflow orchestration</a:t>
            </a:r>
          </a:p>
        </p:txBody>
      </p:sp>
      <p:cxnSp>
        <p:nvCxnSpPr>
          <p:cNvPr id="20" name="Straight Connector 19">
            <a:extLst>
              <a:ext uri="{FF2B5EF4-FFF2-40B4-BE49-F238E27FC236}">
                <a16:creationId xmlns:a16="http://schemas.microsoft.com/office/drawing/2014/main" id="{30ADE8CE-AC6D-9691-E889-94253FB9E1CD}"/>
              </a:ext>
            </a:extLst>
          </p:cNvPr>
          <p:cNvCxnSpPr/>
          <p:nvPr/>
        </p:nvCxnSpPr>
        <p:spPr>
          <a:xfrm>
            <a:off x="4724400" y="33401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D37992E9-751F-220B-2FC2-1EA59B3DC602}"/>
              </a:ext>
            </a:extLst>
          </p:cNvPr>
          <p:cNvSpPr/>
          <p:nvPr/>
        </p:nvSpPr>
        <p:spPr>
          <a:xfrm>
            <a:off x="5181600" y="1714500"/>
            <a:ext cx="1905000" cy="16510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F638309-FF26-54C3-B079-DA9407E17DF5}"/>
              </a:ext>
            </a:extLst>
          </p:cNvPr>
          <p:cNvSpPr/>
          <p:nvPr/>
        </p:nvSpPr>
        <p:spPr>
          <a:xfrm>
            <a:off x="5181600" y="1714500"/>
            <a:ext cx="1905000" cy="889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32E8875D-1436-AD42-30E3-D78D54479265}"/>
              </a:ext>
            </a:extLst>
          </p:cNvPr>
          <p:cNvSpPr txBox="1"/>
          <p:nvPr/>
        </p:nvSpPr>
        <p:spPr>
          <a:xfrm>
            <a:off x="5308600" y="2006600"/>
            <a:ext cx="1651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Supabase</a:t>
            </a:r>
          </a:p>
        </p:txBody>
      </p:sp>
      <p:sp>
        <p:nvSpPr>
          <p:cNvPr id="24" name="TextBox 23">
            <a:extLst>
              <a:ext uri="{FF2B5EF4-FFF2-40B4-BE49-F238E27FC236}">
                <a16:creationId xmlns:a16="http://schemas.microsoft.com/office/drawing/2014/main" id="{7225D6DD-DAF8-A950-6FE5-A5913423C74C}"/>
              </a:ext>
            </a:extLst>
          </p:cNvPr>
          <p:cNvSpPr txBox="1"/>
          <p:nvPr/>
        </p:nvSpPr>
        <p:spPr>
          <a:xfrm>
            <a:off x="5321300" y="2628900"/>
            <a:ext cx="1625600" cy="424732"/>
          </a:xfrm>
          <a:prstGeom prst="rect">
            <a:avLst/>
          </a:prstGeom>
          <a:noFill/>
        </p:spPr>
        <p:txBody>
          <a:bodyPr vert="horz" wrap="square" lIns="0" tIns="0" rIns="0" bIns="0" rtlCol="0">
            <a:spAutoFit/>
          </a:bodyPr>
          <a:lstStyle/>
          <a:p>
            <a:pPr algn="ctr"/>
            <a:r>
              <a:rPr lang="fr-FR" sz="920">
                <a:solidFill>
                  <a:srgbClr val="17243A"/>
                </a:solidFill>
                <a:latin typeface="Aptos" panose="020B0004020202020204" pitchFamily="34" charset="0"/>
              </a:rPr>
              <a:t>PostgreSQL
Private documents
Public employer logos</a:t>
            </a:r>
            <a:endParaRPr lang="en-US" sz="920">
              <a:solidFill>
                <a:srgbClr val="17243A"/>
              </a:solidFill>
              <a:latin typeface="Aptos" panose="020B0004020202020204" pitchFamily="34" charset="0"/>
            </a:endParaRPr>
          </a:p>
        </p:txBody>
      </p:sp>
      <p:sp>
        <p:nvSpPr>
          <p:cNvPr id="25" name="Rectangle: Rounded Corners 24">
            <a:extLst>
              <a:ext uri="{FF2B5EF4-FFF2-40B4-BE49-F238E27FC236}">
                <a16:creationId xmlns:a16="http://schemas.microsoft.com/office/drawing/2014/main" id="{7ACD8D4E-D0CE-ED95-C47E-53F1835629C3}"/>
              </a:ext>
            </a:extLst>
          </p:cNvPr>
          <p:cNvSpPr/>
          <p:nvPr/>
        </p:nvSpPr>
        <p:spPr>
          <a:xfrm>
            <a:off x="5181600" y="3873500"/>
            <a:ext cx="1905000" cy="1651000"/>
          </a:xfrm>
          <a:prstGeom prst="roundRect">
            <a:avLst/>
          </a:prstGeom>
          <a:solidFill>
            <a:srgbClr val="FFFFFF"/>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704E416B-9A34-424C-4B31-131B3C7C0CA4}"/>
              </a:ext>
            </a:extLst>
          </p:cNvPr>
          <p:cNvSpPr/>
          <p:nvPr/>
        </p:nvSpPr>
        <p:spPr>
          <a:xfrm>
            <a:off x="5181600" y="3873500"/>
            <a:ext cx="1905000" cy="889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A379D31-CEF4-D3E8-FA65-3F3731130D0E}"/>
              </a:ext>
            </a:extLst>
          </p:cNvPr>
          <p:cNvSpPr txBox="1"/>
          <p:nvPr/>
        </p:nvSpPr>
        <p:spPr>
          <a:xfrm>
            <a:off x="5308600" y="4165600"/>
            <a:ext cx="1651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Scoring service</a:t>
            </a:r>
          </a:p>
        </p:txBody>
      </p:sp>
      <p:sp>
        <p:nvSpPr>
          <p:cNvPr id="28" name="TextBox 27">
            <a:extLst>
              <a:ext uri="{FF2B5EF4-FFF2-40B4-BE49-F238E27FC236}">
                <a16:creationId xmlns:a16="http://schemas.microsoft.com/office/drawing/2014/main" id="{A6EB1D9C-C309-1C2B-D4F0-FEFB3544BAE4}"/>
              </a:ext>
            </a:extLst>
          </p:cNvPr>
          <p:cNvSpPr txBox="1"/>
          <p:nvPr/>
        </p:nvSpPr>
        <p:spPr>
          <a:xfrm>
            <a:off x="5321300" y="4787900"/>
            <a:ext cx="1625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Deterministic
Versioned rules
Explainable JSON</a:t>
            </a:r>
          </a:p>
        </p:txBody>
      </p:sp>
      <p:sp>
        <p:nvSpPr>
          <p:cNvPr id="29" name="Rectangle: Rounded Corners 28">
            <a:extLst>
              <a:ext uri="{FF2B5EF4-FFF2-40B4-BE49-F238E27FC236}">
                <a16:creationId xmlns:a16="http://schemas.microsoft.com/office/drawing/2014/main" id="{85E557BB-1EB3-08FD-7AAB-91378A8ACE57}"/>
              </a:ext>
            </a:extLst>
          </p:cNvPr>
          <p:cNvSpPr/>
          <p:nvPr/>
        </p:nvSpPr>
        <p:spPr>
          <a:xfrm>
            <a:off x="7747000" y="2184400"/>
            <a:ext cx="1905000" cy="2311400"/>
          </a:xfrm>
          <a:prstGeom prst="roundRect">
            <a:avLst/>
          </a:prstGeom>
          <a:solidFill>
            <a:srgbClr val="FFFFFF"/>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7C69F2D-AEB6-59D0-883C-F6BB4F29E9A7}"/>
              </a:ext>
            </a:extLst>
          </p:cNvPr>
          <p:cNvSpPr/>
          <p:nvPr/>
        </p:nvSpPr>
        <p:spPr>
          <a:xfrm>
            <a:off x="7747000" y="2184400"/>
            <a:ext cx="1905000" cy="889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DB3280E9-E794-2778-3C14-5AA8C0761347}"/>
              </a:ext>
            </a:extLst>
          </p:cNvPr>
          <p:cNvSpPr txBox="1"/>
          <p:nvPr/>
        </p:nvSpPr>
        <p:spPr>
          <a:xfrm>
            <a:off x="7874000" y="2476500"/>
            <a:ext cx="1651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Voice / profile</a:t>
            </a:r>
          </a:p>
        </p:txBody>
      </p:sp>
      <p:sp>
        <p:nvSpPr>
          <p:cNvPr id="32" name="TextBox 31">
            <a:extLst>
              <a:ext uri="{FF2B5EF4-FFF2-40B4-BE49-F238E27FC236}">
                <a16:creationId xmlns:a16="http://schemas.microsoft.com/office/drawing/2014/main" id="{736D947A-97FE-30F6-D770-151A3DF911D9}"/>
              </a:ext>
            </a:extLst>
          </p:cNvPr>
          <p:cNvSpPr txBox="1"/>
          <p:nvPr/>
        </p:nvSpPr>
        <p:spPr>
          <a:xfrm>
            <a:off x="7886700" y="3098800"/>
            <a:ext cx="1625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Transcription
Schema-constrained AI
Safe command registry</a:t>
            </a:r>
          </a:p>
        </p:txBody>
      </p:sp>
      <p:cxnSp>
        <p:nvCxnSpPr>
          <p:cNvPr id="33" name="Straight Connector 32">
            <a:extLst>
              <a:ext uri="{FF2B5EF4-FFF2-40B4-BE49-F238E27FC236}">
                <a16:creationId xmlns:a16="http://schemas.microsoft.com/office/drawing/2014/main" id="{C09621C1-80BC-6014-C7C0-B419E84EA4B4}"/>
              </a:ext>
            </a:extLst>
          </p:cNvPr>
          <p:cNvCxnSpPr/>
          <p:nvPr/>
        </p:nvCxnSpPr>
        <p:spPr>
          <a:xfrm>
            <a:off x="9702800" y="33401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34" name="Rectangle: Rounded Corners 33">
            <a:extLst>
              <a:ext uri="{FF2B5EF4-FFF2-40B4-BE49-F238E27FC236}">
                <a16:creationId xmlns:a16="http://schemas.microsoft.com/office/drawing/2014/main" id="{49DA2FBF-45D7-ECC9-A564-8DB8AC7B19D6}"/>
              </a:ext>
            </a:extLst>
          </p:cNvPr>
          <p:cNvSpPr/>
          <p:nvPr/>
        </p:nvSpPr>
        <p:spPr>
          <a:xfrm>
            <a:off x="10083800" y="2387600"/>
            <a:ext cx="1498600" cy="19050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47922DF-0B2E-CF81-BAB4-AFBC2A97CDE6}"/>
              </a:ext>
            </a:extLst>
          </p:cNvPr>
          <p:cNvSpPr/>
          <p:nvPr/>
        </p:nvSpPr>
        <p:spPr>
          <a:xfrm>
            <a:off x="10083800" y="2387600"/>
            <a:ext cx="1498600" cy="889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FD878D07-FDC8-F875-5DB5-E2B0F7A34BF9}"/>
              </a:ext>
            </a:extLst>
          </p:cNvPr>
          <p:cNvSpPr txBox="1"/>
          <p:nvPr/>
        </p:nvSpPr>
        <p:spPr>
          <a:xfrm>
            <a:off x="10210800" y="2679700"/>
            <a:ext cx="12446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OpenAI API</a:t>
            </a:r>
          </a:p>
        </p:txBody>
      </p:sp>
      <p:sp>
        <p:nvSpPr>
          <p:cNvPr id="37" name="TextBox 36">
            <a:extLst>
              <a:ext uri="{FF2B5EF4-FFF2-40B4-BE49-F238E27FC236}">
                <a16:creationId xmlns:a16="http://schemas.microsoft.com/office/drawing/2014/main" id="{BD76FF96-925C-3462-E94A-52D08536B2E1}"/>
              </a:ext>
            </a:extLst>
          </p:cNvPr>
          <p:cNvSpPr txBox="1"/>
          <p:nvPr/>
        </p:nvSpPr>
        <p:spPr>
          <a:xfrm>
            <a:off x="10223500" y="3302000"/>
            <a:ext cx="12192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External provider
No database authority
Replaceable adapter</a:t>
            </a:r>
          </a:p>
        </p:txBody>
      </p:sp>
      <p:cxnSp>
        <p:nvCxnSpPr>
          <p:cNvPr id="38" name="Straight Connector 37">
            <a:extLst>
              <a:ext uri="{FF2B5EF4-FFF2-40B4-BE49-F238E27FC236}">
                <a16:creationId xmlns:a16="http://schemas.microsoft.com/office/drawing/2014/main" id="{03469079-17B5-398D-CF98-F545D7849161}"/>
              </a:ext>
            </a:extLst>
          </p:cNvPr>
          <p:cNvCxnSpPr/>
          <p:nvPr/>
        </p:nvCxnSpPr>
        <p:spPr>
          <a:xfrm flipV="1">
            <a:off x="4673600" y="2540000"/>
            <a:ext cx="508000" cy="444500"/>
          </a:xfrm>
          <a:prstGeom prst="line">
            <a:avLst/>
          </a:prstGeom>
          <a:ln w="25400">
            <a:solidFill>
              <a:srgbClr val="157A55"/>
            </a:solidFill>
            <a:tailEnd type="arrow"/>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4828C004-0EF1-E25D-38D9-68121027550C}"/>
              </a:ext>
            </a:extLst>
          </p:cNvPr>
          <p:cNvCxnSpPr/>
          <p:nvPr/>
        </p:nvCxnSpPr>
        <p:spPr>
          <a:xfrm>
            <a:off x="4673600" y="3581400"/>
            <a:ext cx="508000" cy="1117600"/>
          </a:xfrm>
          <a:prstGeom prst="line">
            <a:avLst/>
          </a:prstGeom>
          <a:ln w="25400">
            <a:solidFill>
              <a:srgbClr val="C27A19"/>
            </a:solidFill>
            <a:tailEnd type="arrow"/>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0EDEA157-F380-0D3B-BF9F-6917824E26BD}"/>
              </a:ext>
            </a:extLst>
          </p:cNvPr>
          <p:cNvCxnSpPr/>
          <p:nvPr/>
        </p:nvCxnSpPr>
        <p:spPr>
          <a:xfrm>
            <a:off x="7086600" y="2540000"/>
            <a:ext cx="660400" cy="444500"/>
          </a:xfrm>
          <a:prstGeom prst="line">
            <a:avLst/>
          </a:prstGeom>
          <a:ln w="25400">
            <a:solidFill>
              <a:srgbClr val="563A4B"/>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Rounded Corners 40">
            <a:extLst>
              <a:ext uri="{FF2B5EF4-FFF2-40B4-BE49-F238E27FC236}">
                <a16:creationId xmlns:a16="http://schemas.microsoft.com/office/drawing/2014/main" id="{BC937869-9C4A-AF39-026F-9AC3DD79B452}"/>
              </a:ext>
            </a:extLst>
          </p:cNvPr>
          <p:cNvSpPr/>
          <p:nvPr/>
        </p:nvSpPr>
        <p:spPr>
          <a:xfrm>
            <a:off x="1968500" y="5727700"/>
            <a:ext cx="8255000" cy="4191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60FD76E-8D00-1B64-2138-A92485A829FB}"/>
              </a:ext>
            </a:extLst>
          </p:cNvPr>
          <p:cNvSpPr txBox="1"/>
          <p:nvPr/>
        </p:nvSpPr>
        <p:spPr>
          <a:xfrm>
            <a:off x="2222500" y="5854700"/>
            <a:ext cx="7747000" cy="141577"/>
          </a:xfrm>
          <a:prstGeom prst="rect">
            <a:avLst/>
          </a:prstGeom>
          <a:noFill/>
        </p:spPr>
        <p:txBody>
          <a:bodyPr vert="horz" wrap="square" lIns="0" tIns="0" rIns="0" bIns="0" rtlCol="0">
            <a:spAutoFit/>
          </a:bodyPr>
          <a:lstStyle/>
          <a:p>
            <a:pPr algn="ctr"/>
            <a:r>
              <a:rPr lang="en-US" sz="920" b="1">
                <a:solidFill>
                  <a:srgbClr val="FFFFFF"/>
                </a:solidFill>
                <a:latin typeface="Aptos" panose="020B0004020202020204" pitchFamily="34" charset="0"/>
              </a:rPr>
              <a:t>Shared service tokens protect Symfony-to-Python calls; secrets stay server-side and HTTPS protects public origins.</a:t>
            </a:r>
          </a:p>
        </p:txBody>
      </p:sp>
    </p:spTree>
    <p:extLst>
      <p:ext uri="{BB962C8B-B14F-4D97-AF65-F5344CB8AC3E}">
        <p14:creationId xmlns:p14="http://schemas.microsoft.com/office/powerpoint/2010/main" val="42735582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14B832A-1167-A142-0114-72E287909162}"/>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B1CEE21-9C75-A780-EF6B-3777A609204D}"/>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SYSTEM DESIGN</a:t>
            </a:r>
          </a:p>
        </p:txBody>
      </p:sp>
      <p:sp>
        <p:nvSpPr>
          <p:cNvPr id="4" name="TextBox 3">
            <a:extLst>
              <a:ext uri="{FF2B5EF4-FFF2-40B4-BE49-F238E27FC236}">
                <a16:creationId xmlns:a16="http://schemas.microsoft.com/office/drawing/2014/main" id="{FEFC8286-1861-3A77-2CCA-2A39C3764C4F}"/>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Design patterns used to control complexity</a:t>
            </a:r>
          </a:p>
        </p:txBody>
      </p:sp>
      <p:sp>
        <p:nvSpPr>
          <p:cNvPr id="5" name="TextBox 4">
            <a:extLst>
              <a:ext uri="{FF2B5EF4-FFF2-40B4-BE49-F238E27FC236}">
                <a16:creationId xmlns:a16="http://schemas.microsoft.com/office/drawing/2014/main" id="{940C9F7D-BF72-569F-6253-AC6A17D014D1}"/>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implementation combines patterns at the presentation, application, integration and decision layers.</a:t>
            </a:r>
          </a:p>
        </p:txBody>
      </p:sp>
      <p:pic>
        <p:nvPicPr>
          <p:cNvPr id="7" name="Picture 6" descr="Universite Saint-Joseph and ESIB mark">
            <a:extLst>
              <a:ext uri="{FF2B5EF4-FFF2-40B4-BE49-F238E27FC236}">
                <a16:creationId xmlns:a16="http://schemas.microsoft.com/office/drawing/2014/main" id="{1C013CB3-029D-D43E-30A9-AFB983C119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7327DEB8-6BDB-BE0C-6FE0-556DF6895944}"/>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23C71FA-8798-AFD5-AC04-8A2FD375B502}"/>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2AE121E2-0C3E-1BDC-AEEC-DEBCC9A4F68D}"/>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11</a:t>
            </a:r>
          </a:p>
        </p:txBody>
      </p:sp>
      <p:sp>
        <p:nvSpPr>
          <p:cNvPr id="11" name="Rectangle: Rounded Corners 10">
            <a:extLst>
              <a:ext uri="{FF2B5EF4-FFF2-40B4-BE49-F238E27FC236}">
                <a16:creationId xmlns:a16="http://schemas.microsoft.com/office/drawing/2014/main" id="{BD03FED5-3A82-1CC2-CD50-C94E9B0C3539}"/>
              </a:ext>
            </a:extLst>
          </p:cNvPr>
          <p:cNvSpPr/>
          <p:nvPr/>
        </p:nvSpPr>
        <p:spPr>
          <a:xfrm>
            <a:off x="609600" y="18415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11E73AE-0424-CED4-3D03-8CABC1209858}"/>
              </a:ext>
            </a:extLst>
          </p:cNvPr>
          <p:cNvSpPr/>
          <p:nvPr/>
        </p:nvSpPr>
        <p:spPr>
          <a:xfrm>
            <a:off x="609600" y="1841500"/>
            <a:ext cx="88900" cy="15494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9C05D8FF-19B0-859A-9B6B-7AC5C510324A}"/>
              </a:ext>
            </a:extLst>
          </p:cNvPr>
          <p:cNvSpPr txBox="1"/>
          <p:nvPr/>
        </p:nvSpPr>
        <p:spPr>
          <a:xfrm>
            <a:off x="876300" y="2044700"/>
            <a:ext cx="29464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Layered / MVC</a:t>
            </a:r>
          </a:p>
        </p:txBody>
      </p:sp>
      <p:sp>
        <p:nvSpPr>
          <p:cNvPr id="14" name="TextBox 13">
            <a:extLst>
              <a:ext uri="{FF2B5EF4-FFF2-40B4-BE49-F238E27FC236}">
                <a16:creationId xmlns:a16="http://schemas.microsoft.com/office/drawing/2014/main" id="{F4A1D972-F992-426E-8DAB-FB27AE9B5A86}"/>
              </a:ext>
            </a:extLst>
          </p:cNvPr>
          <p:cNvSpPr txBox="1"/>
          <p:nvPr/>
        </p:nvSpPr>
        <p:spPr>
          <a:xfrm>
            <a:off x="876300" y="25400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React presentation, Symfony APIs, Doctrine persistence, isolated Python services.</a:t>
            </a:r>
          </a:p>
        </p:txBody>
      </p:sp>
      <p:sp>
        <p:nvSpPr>
          <p:cNvPr id="15" name="Rectangle: Rounded Corners 14">
            <a:extLst>
              <a:ext uri="{FF2B5EF4-FFF2-40B4-BE49-F238E27FC236}">
                <a16:creationId xmlns:a16="http://schemas.microsoft.com/office/drawing/2014/main" id="{91C9E3CF-A43E-0389-DD56-9A3EABBBE2F0}"/>
              </a:ext>
            </a:extLst>
          </p:cNvPr>
          <p:cNvSpPr/>
          <p:nvPr/>
        </p:nvSpPr>
        <p:spPr>
          <a:xfrm>
            <a:off x="4292600" y="18415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B96E1AB-39BA-C601-1047-C8ABBE2E945E}"/>
              </a:ext>
            </a:extLst>
          </p:cNvPr>
          <p:cNvSpPr/>
          <p:nvPr/>
        </p:nvSpPr>
        <p:spPr>
          <a:xfrm>
            <a:off x="4292600" y="1841500"/>
            <a:ext cx="88900" cy="15494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3865742-EFF9-41EA-DFD8-BC111C88DDEA}"/>
              </a:ext>
            </a:extLst>
          </p:cNvPr>
          <p:cNvSpPr txBox="1"/>
          <p:nvPr/>
        </p:nvSpPr>
        <p:spPr>
          <a:xfrm>
            <a:off x="4559300" y="2044700"/>
            <a:ext cx="29464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Controller-Service-Repository</a:t>
            </a:r>
          </a:p>
        </p:txBody>
      </p:sp>
      <p:sp>
        <p:nvSpPr>
          <p:cNvPr id="18" name="TextBox 17">
            <a:extLst>
              <a:ext uri="{FF2B5EF4-FFF2-40B4-BE49-F238E27FC236}">
                <a16:creationId xmlns:a16="http://schemas.microsoft.com/office/drawing/2014/main" id="{81CB34FD-3074-2437-09F1-D914F6603396}"/>
              </a:ext>
            </a:extLst>
          </p:cNvPr>
          <p:cNvSpPr txBox="1"/>
          <p:nvPr/>
        </p:nvSpPr>
        <p:spPr>
          <a:xfrm>
            <a:off x="4559300" y="25400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HTTP, orchestration and data access remain separately testable.</a:t>
            </a:r>
          </a:p>
        </p:txBody>
      </p:sp>
      <p:sp>
        <p:nvSpPr>
          <p:cNvPr id="19" name="Rectangle: Rounded Corners 18">
            <a:extLst>
              <a:ext uri="{FF2B5EF4-FFF2-40B4-BE49-F238E27FC236}">
                <a16:creationId xmlns:a16="http://schemas.microsoft.com/office/drawing/2014/main" id="{66D0B723-920A-A10B-FF59-0F7A254008C7}"/>
              </a:ext>
            </a:extLst>
          </p:cNvPr>
          <p:cNvSpPr/>
          <p:nvPr/>
        </p:nvSpPr>
        <p:spPr>
          <a:xfrm>
            <a:off x="7975600" y="18415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ADB56CED-C801-629A-8F73-F8071700B1A7}"/>
              </a:ext>
            </a:extLst>
          </p:cNvPr>
          <p:cNvSpPr/>
          <p:nvPr/>
        </p:nvSpPr>
        <p:spPr>
          <a:xfrm>
            <a:off x="7975600" y="1841500"/>
            <a:ext cx="88900" cy="15494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2553B383-F5E6-55BA-C07B-8FDCB1F769DA}"/>
              </a:ext>
            </a:extLst>
          </p:cNvPr>
          <p:cNvSpPr txBox="1"/>
          <p:nvPr/>
        </p:nvSpPr>
        <p:spPr>
          <a:xfrm>
            <a:off x="8242300" y="2044700"/>
            <a:ext cx="2946400" cy="230832"/>
          </a:xfrm>
          <a:prstGeom prst="rect">
            <a:avLst/>
          </a:prstGeom>
          <a:noFill/>
        </p:spPr>
        <p:txBody>
          <a:bodyPr vert="horz" wrap="square" lIns="0" tIns="0" rIns="0" bIns="0" rtlCol="0">
            <a:spAutoFit/>
          </a:bodyPr>
          <a:lstStyle/>
          <a:p>
            <a:r>
              <a:rPr lang="en-US" sz="1500" b="1">
                <a:solidFill>
                  <a:srgbClr val="563A4B"/>
                </a:solidFill>
                <a:latin typeface="Aptos Display" panose="020B0004020202020204" pitchFamily="34" charset="0"/>
              </a:rPr>
              <a:t>Adapter / Gateway</a:t>
            </a:r>
          </a:p>
        </p:txBody>
      </p:sp>
      <p:sp>
        <p:nvSpPr>
          <p:cNvPr id="22" name="TextBox 21">
            <a:extLst>
              <a:ext uri="{FF2B5EF4-FFF2-40B4-BE49-F238E27FC236}">
                <a16:creationId xmlns:a16="http://schemas.microsoft.com/office/drawing/2014/main" id="{700C7ED7-A332-1232-9FB3-0FEEF91096A2}"/>
              </a:ext>
            </a:extLst>
          </p:cNvPr>
          <p:cNvSpPr txBox="1"/>
          <p:nvPr/>
        </p:nvSpPr>
        <p:spPr>
          <a:xfrm>
            <a:off x="8242300" y="25400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OpenAI is accessed through bounded replaceable service contracts.</a:t>
            </a:r>
          </a:p>
        </p:txBody>
      </p:sp>
      <p:sp>
        <p:nvSpPr>
          <p:cNvPr id="23" name="Rectangle: Rounded Corners 22">
            <a:extLst>
              <a:ext uri="{FF2B5EF4-FFF2-40B4-BE49-F238E27FC236}">
                <a16:creationId xmlns:a16="http://schemas.microsoft.com/office/drawing/2014/main" id="{205C7242-9301-7726-AD87-0EB51A65ECD7}"/>
              </a:ext>
            </a:extLst>
          </p:cNvPr>
          <p:cNvSpPr/>
          <p:nvPr/>
        </p:nvSpPr>
        <p:spPr>
          <a:xfrm>
            <a:off x="609600" y="37084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4E6B71F-42CF-C179-9F55-A0D42F2773CE}"/>
              </a:ext>
            </a:extLst>
          </p:cNvPr>
          <p:cNvSpPr/>
          <p:nvPr/>
        </p:nvSpPr>
        <p:spPr>
          <a:xfrm>
            <a:off x="609600" y="3708400"/>
            <a:ext cx="88900" cy="15494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EBC904A8-3022-921E-02C9-B1F8263DC798}"/>
              </a:ext>
            </a:extLst>
          </p:cNvPr>
          <p:cNvSpPr txBox="1"/>
          <p:nvPr/>
        </p:nvSpPr>
        <p:spPr>
          <a:xfrm>
            <a:off x="876300" y="3911600"/>
            <a:ext cx="2946400" cy="230832"/>
          </a:xfrm>
          <a:prstGeom prst="rect">
            <a:avLst/>
          </a:prstGeom>
          <a:noFill/>
        </p:spPr>
        <p:txBody>
          <a:bodyPr vert="horz" wrap="square" lIns="0" tIns="0" rIns="0" bIns="0" rtlCol="0">
            <a:spAutoFit/>
          </a:bodyPr>
          <a:lstStyle/>
          <a:p>
            <a:r>
              <a:rPr lang="en-US" sz="1500" b="1">
                <a:solidFill>
                  <a:srgbClr val="A64B2A"/>
                </a:solidFill>
                <a:latin typeface="Aptos Display" panose="020B0004020202020204" pitchFamily="34" charset="0"/>
              </a:rPr>
              <a:t>Strategy / Policy</a:t>
            </a:r>
          </a:p>
        </p:txBody>
      </p:sp>
      <p:sp>
        <p:nvSpPr>
          <p:cNvPr id="26" name="TextBox 25">
            <a:extLst>
              <a:ext uri="{FF2B5EF4-FFF2-40B4-BE49-F238E27FC236}">
                <a16:creationId xmlns:a16="http://schemas.microsoft.com/office/drawing/2014/main" id="{CB685ECB-E84E-1755-BAD0-92D340B92CAA}"/>
              </a:ext>
            </a:extLst>
          </p:cNvPr>
          <p:cNvSpPr txBox="1"/>
          <p:nvPr/>
        </p:nvSpPr>
        <p:spPr>
          <a:xfrm>
            <a:off x="876300" y="44069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Versioned weights, assistance factors and eligibility gates.</a:t>
            </a:r>
          </a:p>
        </p:txBody>
      </p:sp>
      <p:sp>
        <p:nvSpPr>
          <p:cNvPr id="27" name="Rectangle: Rounded Corners 26">
            <a:extLst>
              <a:ext uri="{FF2B5EF4-FFF2-40B4-BE49-F238E27FC236}">
                <a16:creationId xmlns:a16="http://schemas.microsoft.com/office/drawing/2014/main" id="{703A363D-5FAA-8CD8-331C-D7CB3E1D9B7E}"/>
              </a:ext>
            </a:extLst>
          </p:cNvPr>
          <p:cNvSpPr/>
          <p:nvPr/>
        </p:nvSpPr>
        <p:spPr>
          <a:xfrm>
            <a:off x="4292600" y="37084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ACC91EBE-7BD1-5C6A-AAB6-DE5A1EB8A1F0}"/>
              </a:ext>
            </a:extLst>
          </p:cNvPr>
          <p:cNvSpPr/>
          <p:nvPr/>
        </p:nvSpPr>
        <p:spPr>
          <a:xfrm>
            <a:off x="4292600" y="3708400"/>
            <a:ext cx="88900" cy="15494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9B6E21D-4527-7220-0E4E-A781EA91D1ED}"/>
              </a:ext>
            </a:extLst>
          </p:cNvPr>
          <p:cNvSpPr txBox="1"/>
          <p:nvPr/>
        </p:nvSpPr>
        <p:spPr>
          <a:xfrm>
            <a:off x="4559300" y="3911600"/>
            <a:ext cx="2946400" cy="230832"/>
          </a:xfrm>
          <a:prstGeom prst="rect">
            <a:avLst/>
          </a:prstGeom>
          <a:noFill/>
        </p:spPr>
        <p:txBody>
          <a:bodyPr vert="horz" wrap="square" lIns="0" tIns="0" rIns="0" bIns="0" rtlCol="0">
            <a:spAutoFit/>
          </a:bodyPr>
          <a:lstStyle/>
          <a:p>
            <a:r>
              <a:rPr lang="en-US" sz="1500" b="1">
                <a:solidFill>
                  <a:srgbClr val="C27A19"/>
                </a:solidFill>
                <a:latin typeface="Aptos Display" panose="020B0004020202020204" pitchFamily="34" charset="0"/>
              </a:rPr>
              <a:t>Command Registry + FSM</a:t>
            </a:r>
          </a:p>
        </p:txBody>
      </p:sp>
      <p:sp>
        <p:nvSpPr>
          <p:cNvPr id="30" name="TextBox 29">
            <a:extLst>
              <a:ext uri="{FF2B5EF4-FFF2-40B4-BE49-F238E27FC236}">
                <a16:creationId xmlns:a16="http://schemas.microsoft.com/office/drawing/2014/main" id="{F60B693B-4612-0CC6-D1F9-9F5DFC497DBB}"/>
              </a:ext>
            </a:extLst>
          </p:cNvPr>
          <p:cNvSpPr txBox="1"/>
          <p:nvPr/>
        </p:nvSpPr>
        <p:spPr>
          <a:xfrm>
            <a:off x="4559300" y="44069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Allowlisted voice actions and mutually exclusive interaction states.</a:t>
            </a:r>
          </a:p>
        </p:txBody>
      </p:sp>
      <p:sp>
        <p:nvSpPr>
          <p:cNvPr id="31" name="Rectangle: Rounded Corners 30">
            <a:extLst>
              <a:ext uri="{FF2B5EF4-FFF2-40B4-BE49-F238E27FC236}">
                <a16:creationId xmlns:a16="http://schemas.microsoft.com/office/drawing/2014/main" id="{128827A9-82B4-E77D-B6A6-6A08375FC498}"/>
              </a:ext>
            </a:extLst>
          </p:cNvPr>
          <p:cNvSpPr/>
          <p:nvPr/>
        </p:nvSpPr>
        <p:spPr>
          <a:xfrm>
            <a:off x="7975600" y="37084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7D7F3C5-2FB2-026D-1AE9-89D193BB85D3}"/>
              </a:ext>
            </a:extLst>
          </p:cNvPr>
          <p:cNvSpPr/>
          <p:nvPr/>
        </p:nvSpPr>
        <p:spPr>
          <a:xfrm>
            <a:off x="7975600" y="3708400"/>
            <a:ext cx="88900" cy="15494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C96A2A6B-0856-A612-8644-5EA15FA53753}"/>
              </a:ext>
            </a:extLst>
          </p:cNvPr>
          <p:cNvSpPr txBox="1"/>
          <p:nvPr/>
        </p:nvSpPr>
        <p:spPr>
          <a:xfrm>
            <a:off x="8242300" y="3911600"/>
            <a:ext cx="29464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Audit + Immutable Snapshot</a:t>
            </a:r>
          </a:p>
        </p:txBody>
      </p:sp>
      <p:sp>
        <p:nvSpPr>
          <p:cNvPr id="34" name="TextBox 33">
            <a:extLst>
              <a:ext uri="{FF2B5EF4-FFF2-40B4-BE49-F238E27FC236}">
                <a16:creationId xmlns:a16="http://schemas.microsoft.com/office/drawing/2014/main" id="{57D0605C-2384-8596-44BD-AC6049ED1404}"/>
              </a:ext>
            </a:extLst>
          </p:cNvPr>
          <p:cNvSpPr txBox="1"/>
          <p:nvPr/>
        </p:nvSpPr>
        <p:spPr>
          <a:xfrm>
            <a:off x="8242300" y="44069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Consent, verification, status events and score context remain traceable.</a:t>
            </a:r>
          </a:p>
        </p:txBody>
      </p:sp>
      <p:sp>
        <p:nvSpPr>
          <p:cNvPr id="35" name="TextBox 34">
            <a:extLst>
              <a:ext uri="{FF2B5EF4-FFF2-40B4-BE49-F238E27FC236}">
                <a16:creationId xmlns:a16="http://schemas.microsoft.com/office/drawing/2014/main" id="{B9916F66-2C09-2299-5BAB-4CCBDBA6A004}"/>
              </a:ext>
            </a:extLst>
          </p:cNvPr>
          <p:cNvSpPr txBox="1"/>
          <p:nvPr/>
        </p:nvSpPr>
        <p:spPr>
          <a:xfrm>
            <a:off x="1905000" y="5740400"/>
            <a:ext cx="8382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Engineering value: lower coupling, safer external AI, reproducible decisions and independent verification.</a:t>
            </a:r>
          </a:p>
        </p:txBody>
      </p:sp>
    </p:spTree>
    <p:extLst>
      <p:ext uri="{BB962C8B-B14F-4D97-AF65-F5344CB8AC3E}">
        <p14:creationId xmlns:p14="http://schemas.microsoft.com/office/powerpoint/2010/main" val="2820888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4875517-C329-6A50-3BE8-D8B243CD5C53}"/>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BC72D9F-8788-9EDA-AD00-0D9CE9531AEB}"/>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SECURITY AND PRIVACY</a:t>
            </a:r>
          </a:p>
        </p:txBody>
      </p:sp>
      <p:sp>
        <p:nvSpPr>
          <p:cNvPr id="4" name="TextBox 3">
            <a:extLst>
              <a:ext uri="{FF2B5EF4-FFF2-40B4-BE49-F238E27FC236}">
                <a16:creationId xmlns:a16="http://schemas.microsoft.com/office/drawing/2014/main" id="{7267F13D-E156-54F7-D8DA-030466DECF8A}"/>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Sensitive data is controlled by the backend, not the interface</a:t>
            </a:r>
          </a:p>
        </p:txBody>
      </p:sp>
      <p:sp>
        <p:nvSpPr>
          <p:cNvPr id="5" name="TextBox 4">
            <a:extLst>
              <a:ext uri="{FF2B5EF4-FFF2-40B4-BE49-F238E27FC236}">
                <a16:creationId xmlns:a16="http://schemas.microsoft.com/office/drawing/2014/main" id="{D5F6FF4E-ED3B-FDBB-7EC8-D11C94F0A3F7}"/>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Frontend checks improve usability; Symfony authorization remains decisive for every protected request.</a:t>
            </a:r>
          </a:p>
        </p:txBody>
      </p:sp>
      <p:pic>
        <p:nvPicPr>
          <p:cNvPr id="7" name="Picture 6" descr="Universite Saint-Joseph and ESIB mark">
            <a:extLst>
              <a:ext uri="{FF2B5EF4-FFF2-40B4-BE49-F238E27FC236}">
                <a16:creationId xmlns:a16="http://schemas.microsoft.com/office/drawing/2014/main" id="{FFF847E6-B271-0D4C-D28C-FD7481996C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C2B2F492-1431-0471-E28F-00893742A2AB}"/>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680AF2F-7143-3D6E-4F48-648F973146BA}"/>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025B17A5-D06E-85FD-AF6C-F0E190CFE191}"/>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12</a:t>
            </a:r>
          </a:p>
        </p:txBody>
      </p:sp>
      <p:sp>
        <p:nvSpPr>
          <p:cNvPr id="11" name="Rectangle: Rounded Corners 10">
            <a:extLst>
              <a:ext uri="{FF2B5EF4-FFF2-40B4-BE49-F238E27FC236}">
                <a16:creationId xmlns:a16="http://schemas.microsoft.com/office/drawing/2014/main" id="{684D34E1-56B4-F4F6-9DEA-B30BF9C301FA}"/>
              </a:ext>
            </a:extLst>
          </p:cNvPr>
          <p:cNvSpPr/>
          <p:nvPr/>
        </p:nvSpPr>
        <p:spPr>
          <a:xfrm>
            <a:off x="609600" y="1879600"/>
            <a:ext cx="3302000" cy="3048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C744B1-6D91-65A5-8BA7-FFB07088FF3F}"/>
              </a:ext>
            </a:extLst>
          </p:cNvPr>
          <p:cNvSpPr/>
          <p:nvPr/>
        </p:nvSpPr>
        <p:spPr>
          <a:xfrm>
            <a:off x="609600" y="1879600"/>
            <a:ext cx="88900" cy="30480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0F96107-7F73-736A-E307-D9104F65B868}"/>
              </a:ext>
            </a:extLst>
          </p:cNvPr>
          <p:cNvSpPr txBox="1"/>
          <p:nvPr/>
        </p:nvSpPr>
        <p:spPr>
          <a:xfrm>
            <a:off x="876300" y="2082800"/>
            <a:ext cx="28194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Identity and role isolation</a:t>
            </a:r>
          </a:p>
        </p:txBody>
      </p:sp>
      <p:sp>
        <p:nvSpPr>
          <p:cNvPr id="14" name="TextBox 13">
            <a:extLst>
              <a:ext uri="{FF2B5EF4-FFF2-40B4-BE49-F238E27FC236}">
                <a16:creationId xmlns:a16="http://schemas.microsoft.com/office/drawing/2014/main" id="{1B2FF9E1-317D-728E-AECD-86B9CFD73FDE}"/>
              </a:ext>
            </a:extLst>
          </p:cNvPr>
          <p:cNvSpPr txBox="1"/>
          <p:nvPr/>
        </p:nvSpPr>
        <p:spPr>
          <a:xfrm>
            <a:off x="876300" y="2578100"/>
            <a:ext cx="28194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Email verification
JWT via X-Auth-Token
Candidate | Employer | Verifier | Admin
Anonymous, forged and cross-role rejection</a:t>
            </a:r>
          </a:p>
        </p:txBody>
      </p:sp>
      <p:sp>
        <p:nvSpPr>
          <p:cNvPr id="15" name="Rectangle: Rounded Corners 14">
            <a:extLst>
              <a:ext uri="{FF2B5EF4-FFF2-40B4-BE49-F238E27FC236}">
                <a16:creationId xmlns:a16="http://schemas.microsoft.com/office/drawing/2014/main" id="{A86EC6A7-8F77-4FEE-9D59-0FC21E7CA34F}"/>
              </a:ext>
            </a:extLst>
          </p:cNvPr>
          <p:cNvSpPr/>
          <p:nvPr/>
        </p:nvSpPr>
        <p:spPr>
          <a:xfrm>
            <a:off x="4445000" y="1879600"/>
            <a:ext cx="3302000" cy="3048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55F2BE7-9929-7B82-1288-A4533621EEF3}"/>
              </a:ext>
            </a:extLst>
          </p:cNvPr>
          <p:cNvSpPr/>
          <p:nvPr/>
        </p:nvSpPr>
        <p:spPr>
          <a:xfrm>
            <a:off x="4445000" y="1879600"/>
            <a:ext cx="88900" cy="30480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B78014C-DA55-DF28-5B3D-D19066DC166E}"/>
              </a:ext>
            </a:extLst>
          </p:cNvPr>
          <p:cNvSpPr txBox="1"/>
          <p:nvPr/>
        </p:nvSpPr>
        <p:spPr>
          <a:xfrm>
            <a:off x="4711700" y="2082800"/>
            <a:ext cx="2819400" cy="230832"/>
          </a:xfrm>
          <a:prstGeom prst="rect">
            <a:avLst/>
          </a:prstGeom>
          <a:noFill/>
        </p:spPr>
        <p:txBody>
          <a:bodyPr vert="horz" wrap="square" lIns="0" tIns="0" rIns="0" bIns="0" rtlCol="0">
            <a:spAutoFit/>
          </a:bodyPr>
          <a:lstStyle/>
          <a:p>
            <a:r>
              <a:rPr lang="en-US" sz="1500" b="1">
                <a:solidFill>
                  <a:srgbClr val="563A4B"/>
                </a:solidFill>
                <a:latin typeface="Aptos Display" panose="020B0004020202020204" pitchFamily="34" charset="0"/>
              </a:rPr>
              <a:t>Private evidence and uploads</a:t>
            </a:r>
          </a:p>
        </p:txBody>
      </p:sp>
      <p:sp>
        <p:nvSpPr>
          <p:cNvPr id="18" name="TextBox 17">
            <a:extLst>
              <a:ext uri="{FF2B5EF4-FFF2-40B4-BE49-F238E27FC236}">
                <a16:creationId xmlns:a16="http://schemas.microsoft.com/office/drawing/2014/main" id="{E6CFD980-6936-4497-A316-34BFA15BDCB0}"/>
              </a:ext>
            </a:extLst>
          </p:cNvPr>
          <p:cNvSpPr txBox="1"/>
          <p:nvPr/>
        </p:nvSpPr>
        <p:spPr>
          <a:xfrm>
            <a:off x="4711700" y="2578100"/>
            <a:ext cx="28194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Private candidate-verification bucket
Private application documents
Public employer logos only
MIME and size restrictions</a:t>
            </a:r>
          </a:p>
        </p:txBody>
      </p:sp>
      <p:sp>
        <p:nvSpPr>
          <p:cNvPr id="19" name="Rectangle: Rounded Corners 18">
            <a:extLst>
              <a:ext uri="{FF2B5EF4-FFF2-40B4-BE49-F238E27FC236}">
                <a16:creationId xmlns:a16="http://schemas.microsoft.com/office/drawing/2014/main" id="{CDABBA2F-8AD6-CACF-00F4-70D9C59B3C6A}"/>
              </a:ext>
            </a:extLst>
          </p:cNvPr>
          <p:cNvSpPr/>
          <p:nvPr/>
        </p:nvSpPr>
        <p:spPr>
          <a:xfrm>
            <a:off x="8280400" y="1879600"/>
            <a:ext cx="3302000" cy="3048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4B0C97B-C79E-6A25-BEF2-172A4329B70A}"/>
              </a:ext>
            </a:extLst>
          </p:cNvPr>
          <p:cNvSpPr/>
          <p:nvPr/>
        </p:nvSpPr>
        <p:spPr>
          <a:xfrm>
            <a:off x="8280400" y="1879600"/>
            <a:ext cx="88900" cy="30480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C9A720F-0579-0AC6-C7CB-6954116D7434}"/>
              </a:ext>
            </a:extLst>
          </p:cNvPr>
          <p:cNvSpPr txBox="1"/>
          <p:nvPr/>
        </p:nvSpPr>
        <p:spPr>
          <a:xfrm>
            <a:off x="8547100" y="2082800"/>
            <a:ext cx="28194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Consent and auditability</a:t>
            </a:r>
          </a:p>
        </p:txBody>
      </p:sp>
      <p:sp>
        <p:nvSpPr>
          <p:cNvPr id="22" name="TextBox 21">
            <a:extLst>
              <a:ext uri="{FF2B5EF4-FFF2-40B4-BE49-F238E27FC236}">
                <a16:creationId xmlns:a16="http://schemas.microsoft.com/office/drawing/2014/main" id="{4352B508-1555-1844-4FE5-E56E8FF44D29}"/>
              </a:ext>
            </a:extLst>
          </p:cNvPr>
          <p:cNvSpPr txBox="1"/>
          <p:nvPr/>
        </p:nvSpPr>
        <p:spPr>
          <a:xfrm>
            <a:off x="8547100" y="2578100"/>
            <a:ext cx="2819400" cy="627864"/>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Explicit AI consent
No unconfirmed suggestion saved
Export, withdrawal and account erasure
Audited status and verifier decisions</a:t>
            </a:r>
          </a:p>
        </p:txBody>
      </p:sp>
      <p:sp>
        <p:nvSpPr>
          <p:cNvPr id="23" name="Rectangle: Rounded Corners 22">
            <a:extLst>
              <a:ext uri="{FF2B5EF4-FFF2-40B4-BE49-F238E27FC236}">
                <a16:creationId xmlns:a16="http://schemas.microsoft.com/office/drawing/2014/main" id="{A2939431-A23B-AB1A-8226-DE54F45D1EE5}"/>
              </a:ext>
            </a:extLst>
          </p:cNvPr>
          <p:cNvSpPr/>
          <p:nvPr/>
        </p:nvSpPr>
        <p:spPr>
          <a:xfrm>
            <a:off x="1397000" y="5257800"/>
            <a:ext cx="9398000" cy="6350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B884DFBF-4978-32CC-B187-8348DE4CAF72}"/>
              </a:ext>
            </a:extLst>
          </p:cNvPr>
          <p:cNvSpPr txBox="1"/>
          <p:nvPr/>
        </p:nvSpPr>
        <p:spPr>
          <a:xfrm>
            <a:off x="1714500" y="5448300"/>
            <a:ext cx="8763000" cy="153888"/>
          </a:xfrm>
          <a:prstGeom prst="rect">
            <a:avLst/>
          </a:prstGeom>
          <a:noFill/>
        </p:spPr>
        <p:txBody>
          <a:bodyPr vert="horz" wrap="square" lIns="0" tIns="0" rIns="0" bIns="0" rtlCol="0">
            <a:spAutoFit/>
          </a:bodyPr>
          <a:lstStyle/>
          <a:p>
            <a:pPr algn="ctr"/>
            <a:r>
              <a:rPr lang="en-US" sz="1000" b="1">
                <a:solidFill>
                  <a:srgbClr val="FFFFFF"/>
                </a:solidFill>
                <a:latin typeface="Aptos" panose="020B0004020202020204" pitchFamily="34" charset="0"/>
              </a:rPr>
              <a:t>Evidence: 51/51 prerequisite route checks passed | Final security register: 19/20 | Open upload-validation defect retained</a:t>
            </a:r>
          </a:p>
        </p:txBody>
      </p:sp>
    </p:spTree>
    <p:extLst>
      <p:ext uri="{BB962C8B-B14F-4D97-AF65-F5344CB8AC3E}">
        <p14:creationId xmlns:p14="http://schemas.microsoft.com/office/powerpoint/2010/main" val="29187978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BB4CDE8-99B7-8DF4-D21F-0BCDACCE570D}"/>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D36C921-0F0D-188E-D5E3-3C609FC886C4}"/>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IMPLEMENTED DEPLOYMENT</a:t>
            </a:r>
          </a:p>
        </p:txBody>
      </p:sp>
      <p:sp>
        <p:nvSpPr>
          <p:cNvPr id="4" name="TextBox 3">
            <a:extLst>
              <a:ext uri="{FF2B5EF4-FFF2-40B4-BE49-F238E27FC236}">
                <a16:creationId xmlns:a16="http://schemas.microsoft.com/office/drawing/2014/main" id="{C4B486C8-E52A-BD29-6511-6252D63B1569}"/>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Render and Supabase staging topology</a:t>
            </a:r>
          </a:p>
        </p:txBody>
      </p:sp>
      <p:sp>
        <p:nvSpPr>
          <p:cNvPr id="5" name="TextBox 4">
            <a:extLst>
              <a:ext uri="{FF2B5EF4-FFF2-40B4-BE49-F238E27FC236}">
                <a16:creationId xmlns:a16="http://schemas.microsoft.com/office/drawing/2014/main" id="{E3854004-9986-02FE-D4B1-DBDC8A6B18FE}"/>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deployed system proves multi-service integration over public HTTPS; it is a staging prototype, not a production SLA.</a:t>
            </a:r>
          </a:p>
        </p:txBody>
      </p:sp>
      <p:pic>
        <p:nvPicPr>
          <p:cNvPr id="7" name="Picture 6" descr="Universite Saint-Joseph and ESIB mark">
            <a:extLst>
              <a:ext uri="{FF2B5EF4-FFF2-40B4-BE49-F238E27FC236}">
                <a16:creationId xmlns:a16="http://schemas.microsoft.com/office/drawing/2014/main" id="{49FD4B14-7A4A-7084-18A7-D83382A1FE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EB1ACAC4-B68E-D91D-910A-71B78A034474}"/>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7E2FC71-6E44-E667-54D6-B1A506446912}"/>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977ABDD3-F556-BE94-CE2D-8366E454D173}"/>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13</a:t>
            </a:r>
          </a:p>
        </p:txBody>
      </p:sp>
      <p:sp>
        <p:nvSpPr>
          <p:cNvPr id="11" name="Rectangle: Rounded Corners 10">
            <a:extLst>
              <a:ext uri="{FF2B5EF4-FFF2-40B4-BE49-F238E27FC236}">
                <a16:creationId xmlns:a16="http://schemas.microsoft.com/office/drawing/2014/main" id="{7D5B8A0A-F7B7-2406-6F45-691E5C87F891}"/>
              </a:ext>
            </a:extLst>
          </p:cNvPr>
          <p:cNvSpPr/>
          <p:nvPr/>
        </p:nvSpPr>
        <p:spPr>
          <a:xfrm>
            <a:off x="609600" y="1841500"/>
            <a:ext cx="5334000" cy="2984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Render Blueprint showing four deployed services">
            <a:extLst>
              <a:ext uri="{FF2B5EF4-FFF2-40B4-BE49-F238E27FC236}">
                <a16:creationId xmlns:a16="http://schemas.microsoft.com/office/drawing/2014/main" id="{2D9AA346-022D-E0D2-E714-B7823FD83CA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7700" y="2265203"/>
            <a:ext cx="5257800" cy="2137094"/>
          </a:xfrm>
          <a:prstGeom prst="rect">
            <a:avLst/>
          </a:prstGeom>
        </p:spPr>
      </p:pic>
      <p:sp>
        <p:nvSpPr>
          <p:cNvPr id="14" name="Rectangle: Rounded Corners 13">
            <a:extLst>
              <a:ext uri="{FF2B5EF4-FFF2-40B4-BE49-F238E27FC236}">
                <a16:creationId xmlns:a16="http://schemas.microsoft.com/office/drawing/2014/main" id="{93DF92C7-1ABF-9AAB-824C-8BEA1873EBE4}"/>
              </a:ext>
            </a:extLst>
          </p:cNvPr>
          <p:cNvSpPr/>
          <p:nvPr/>
        </p:nvSpPr>
        <p:spPr>
          <a:xfrm>
            <a:off x="6248400" y="1841500"/>
            <a:ext cx="5334000" cy="2984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Supabase storage buckets and upload restrictions">
            <a:extLst>
              <a:ext uri="{FF2B5EF4-FFF2-40B4-BE49-F238E27FC236}">
                <a16:creationId xmlns:a16="http://schemas.microsoft.com/office/drawing/2014/main" id="{134FF9CC-1556-2CB4-497E-E2169B98B4D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86500" y="1986370"/>
            <a:ext cx="5257800" cy="2694760"/>
          </a:xfrm>
          <a:prstGeom prst="rect">
            <a:avLst/>
          </a:prstGeom>
        </p:spPr>
      </p:pic>
      <p:sp>
        <p:nvSpPr>
          <p:cNvPr id="17" name="TextBox 16">
            <a:extLst>
              <a:ext uri="{FF2B5EF4-FFF2-40B4-BE49-F238E27FC236}">
                <a16:creationId xmlns:a16="http://schemas.microsoft.com/office/drawing/2014/main" id="{DCAED10B-B89C-3B94-CFCB-B6E72B1A0943}"/>
              </a:ext>
            </a:extLst>
          </p:cNvPr>
          <p:cNvSpPr txBox="1"/>
          <p:nvPr/>
        </p:nvSpPr>
        <p:spPr>
          <a:xfrm>
            <a:off x="609600" y="4965700"/>
            <a:ext cx="5334000" cy="169277"/>
          </a:xfrm>
          <a:prstGeom prst="rect">
            <a:avLst/>
          </a:prstGeom>
          <a:noFill/>
        </p:spPr>
        <p:txBody>
          <a:bodyPr vert="horz" wrap="square" lIns="0" tIns="0" rIns="0" bIns="0" rtlCol="0">
            <a:spAutoFit/>
          </a:bodyPr>
          <a:lstStyle/>
          <a:p>
            <a:pPr algn="ctr"/>
            <a:r>
              <a:rPr lang="en-US" sz="1100" b="1">
                <a:solidFill>
                  <a:srgbClr val="0B1F49"/>
                </a:solidFill>
                <a:latin typeface="Aptos Display" panose="020B0004020202020204" pitchFamily="34" charset="0"/>
              </a:rPr>
              <a:t>Render Blueprint</a:t>
            </a:r>
          </a:p>
        </p:txBody>
      </p:sp>
      <p:sp>
        <p:nvSpPr>
          <p:cNvPr id="18" name="TextBox 17">
            <a:extLst>
              <a:ext uri="{FF2B5EF4-FFF2-40B4-BE49-F238E27FC236}">
                <a16:creationId xmlns:a16="http://schemas.microsoft.com/office/drawing/2014/main" id="{ACB822AF-4042-C80D-2659-9A86253785DC}"/>
              </a:ext>
            </a:extLst>
          </p:cNvPr>
          <p:cNvSpPr txBox="1"/>
          <p:nvPr/>
        </p:nvSpPr>
        <p:spPr>
          <a:xfrm>
            <a:off x="825500" y="5270500"/>
            <a:ext cx="4902200" cy="141577"/>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React static site + Symfony API + voice/profile service + scoring service</a:t>
            </a:r>
          </a:p>
        </p:txBody>
      </p:sp>
      <p:sp>
        <p:nvSpPr>
          <p:cNvPr id="19" name="TextBox 18">
            <a:extLst>
              <a:ext uri="{FF2B5EF4-FFF2-40B4-BE49-F238E27FC236}">
                <a16:creationId xmlns:a16="http://schemas.microsoft.com/office/drawing/2014/main" id="{C070E6C3-DD5F-9B13-3CFA-9852D55DED12}"/>
              </a:ext>
            </a:extLst>
          </p:cNvPr>
          <p:cNvSpPr txBox="1"/>
          <p:nvPr/>
        </p:nvSpPr>
        <p:spPr>
          <a:xfrm>
            <a:off x="6248400" y="4965700"/>
            <a:ext cx="5334000" cy="169277"/>
          </a:xfrm>
          <a:prstGeom prst="rect">
            <a:avLst/>
          </a:prstGeom>
          <a:noFill/>
        </p:spPr>
        <p:txBody>
          <a:bodyPr vert="horz" wrap="square" lIns="0" tIns="0" rIns="0" bIns="0" rtlCol="0">
            <a:spAutoFit/>
          </a:bodyPr>
          <a:lstStyle/>
          <a:p>
            <a:pPr algn="ctr"/>
            <a:r>
              <a:rPr lang="en-US" sz="1100" b="1">
                <a:solidFill>
                  <a:srgbClr val="0B1F49"/>
                </a:solidFill>
                <a:latin typeface="Aptos Display" panose="020B0004020202020204" pitchFamily="34" charset="0"/>
              </a:rPr>
              <a:t>Supabase data layer</a:t>
            </a:r>
          </a:p>
        </p:txBody>
      </p:sp>
      <p:sp>
        <p:nvSpPr>
          <p:cNvPr id="20" name="TextBox 19">
            <a:extLst>
              <a:ext uri="{FF2B5EF4-FFF2-40B4-BE49-F238E27FC236}">
                <a16:creationId xmlns:a16="http://schemas.microsoft.com/office/drawing/2014/main" id="{B4ECFFAA-5E46-546D-1A3D-79808168D4CC}"/>
              </a:ext>
            </a:extLst>
          </p:cNvPr>
          <p:cNvSpPr txBox="1"/>
          <p:nvPr/>
        </p:nvSpPr>
        <p:spPr>
          <a:xfrm>
            <a:off x="6464300" y="5270500"/>
            <a:ext cx="4902200" cy="141577"/>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SSL PostgreSQL pooler + three purpose-specific storage buckets</a:t>
            </a:r>
          </a:p>
        </p:txBody>
      </p:sp>
    </p:spTree>
    <p:extLst>
      <p:ext uri="{BB962C8B-B14F-4D97-AF65-F5344CB8AC3E}">
        <p14:creationId xmlns:p14="http://schemas.microsoft.com/office/powerpoint/2010/main" val="17086246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4DBFC8-506D-462B-4592-70A434EEF1A3}"/>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D0940FD-E56A-D64C-899F-CF9BFE3B8E6B}"/>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CANDIDATE WORKFLOW</a:t>
            </a:r>
          </a:p>
        </p:txBody>
      </p:sp>
      <p:sp>
        <p:nvSpPr>
          <p:cNvPr id="4" name="TextBox 3">
            <a:extLst>
              <a:ext uri="{FF2B5EF4-FFF2-40B4-BE49-F238E27FC236}">
                <a16:creationId xmlns:a16="http://schemas.microsoft.com/office/drawing/2014/main" id="{1F868FEC-2AD8-CDD8-3618-AB53BC0A77ED}"/>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AI-assisted profile: advisory, consent-gated and reversible</a:t>
            </a:r>
          </a:p>
        </p:txBody>
      </p:sp>
      <p:sp>
        <p:nvSpPr>
          <p:cNvPr id="5" name="TextBox 4">
            <a:extLst>
              <a:ext uri="{FF2B5EF4-FFF2-40B4-BE49-F238E27FC236}">
                <a16:creationId xmlns:a16="http://schemas.microsoft.com/office/drawing/2014/main" id="{B2F30264-681F-5870-D63B-98A27FCF1DD5}"/>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candidate can type or speak; every AI result remains a suggestion until explicit confirmation.</a:t>
            </a:r>
          </a:p>
        </p:txBody>
      </p:sp>
      <p:pic>
        <p:nvPicPr>
          <p:cNvPr id="7" name="Picture 6" descr="Universite Saint-Joseph and ESIB mark">
            <a:extLst>
              <a:ext uri="{FF2B5EF4-FFF2-40B4-BE49-F238E27FC236}">
                <a16:creationId xmlns:a16="http://schemas.microsoft.com/office/drawing/2014/main" id="{959803E5-C13F-DA43-C852-0EBF75FE1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DC01685B-6FAE-55C5-10EF-486EDEB36649}"/>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81390AF-0FBA-C0BC-8377-A20783EAD6AA}"/>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548CC5DD-2873-8FD8-0549-DB916DC6E67F}"/>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14</a:t>
            </a:r>
          </a:p>
        </p:txBody>
      </p:sp>
      <p:sp>
        <p:nvSpPr>
          <p:cNvPr id="11" name="Rectangle: Rounded Corners 10">
            <a:extLst>
              <a:ext uri="{FF2B5EF4-FFF2-40B4-BE49-F238E27FC236}">
                <a16:creationId xmlns:a16="http://schemas.microsoft.com/office/drawing/2014/main" id="{1C31E97B-4598-838C-2C52-1BFD8D71876B}"/>
              </a:ext>
            </a:extLst>
          </p:cNvPr>
          <p:cNvSpPr/>
          <p:nvPr/>
        </p:nvSpPr>
        <p:spPr>
          <a:xfrm>
            <a:off x="609600" y="2222500"/>
            <a:ext cx="1524000" cy="24130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8D7BA04-5B05-10E7-EABD-8A8B4396D13B}"/>
              </a:ext>
            </a:extLst>
          </p:cNvPr>
          <p:cNvSpPr/>
          <p:nvPr/>
        </p:nvSpPr>
        <p:spPr>
          <a:xfrm>
            <a:off x="609600" y="2222500"/>
            <a:ext cx="1524000" cy="889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21DF147-8F4B-24DD-46B2-9473304FCA08}"/>
              </a:ext>
            </a:extLst>
          </p:cNvPr>
          <p:cNvSpPr txBox="1"/>
          <p:nvPr/>
        </p:nvSpPr>
        <p:spPr>
          <a:xfrm>
            <a:off x="7366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Describe</a:t>
            </a:r>
          </a:p>
        </p:txBody>
      </p:sp>
      <p:sp>
        <p:nvSpPr>
          <p:cNvPr id="14" name="TextBox 13">
            <a:extLst>
              <a:ext uri="{FF2B5EF4-FFF2-40B4-BE49-F238E27FC236}">
                <a16:creationId xmlns:a16="http://schemas.microsoft.com/office/drawing/2014/main" id="{7BC9A742-4E46-A2C3-D19B-4510B74CD0D1}"/>
              </a:ext>
            </a:extLst>
          </p:cNvPr>
          <p:cNvSpPr txBox="1"/>
          <p:nvPr/>
        </p:nvSpPr>
        <p:spPr>
          <a:xfrm>
            <a:off x="7493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Select EN, FR or AR; type or record.</a:t>
            </a:r>
          </a:p>
        </p:txBody>
      </p:sp>
      <p:cxnSp>
        <p:nvCxnSpPr>
          <p:cNvPr id="15" name="Straight Connector 14">
            <a:extLst>
              <a:ext uri="{FF2B5EF4-FFF2-40B4-BE49-F238E27FC236}">
                <a16:creationId xmlns:a16="http://schemas.microsoft.com/office/drawing/2014/main" id="{3FEE4537-EAFF-18A0-8508-DD945BCC0BAA}"/>
              </a:ext>
            </a:extLst>
          </p:cNvPr>
          <p:cNvCxnSpPr/>
          <p:nvPr/>
        </p:nvCxnSpPr>
        <p:spPr>
          <a:xfrm>
            <a:off x="2184400" y="34290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AC14EBC8-C0F6-1B22-8966-1BB4F19155BB}"/>
              </a:ext>
            </a:extLst>
          </p:cNvPr>
          <p:cNvSpPr/>
          <p:nvPr/>
        </p:nvSpPr>
        <p:spPr>
          <a:xfrm>
            <a:off x="2438400" y="2222500"/>
            <a:ext cx="1524000" cy="24130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C9BA68A-8805-E828-EA77-30842F2D1BE4}"/>
              </a:ext>
            </a:extLst>
          </p:cNvPr>
          <p:cNvSpPr/>
          <p:nvPr/>
        </p:nvSpPr>
        <p:spPr>
          <a:xfrm>
            <a:off x="2438400" y="2222500"/>
            <a:ext cx="1524000" cy="889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6DFB6B0-FCEC-F220-739D-ADE8E2ECAAAA}"/>
              </a:ext>
            </a:extLst>
          </p:cNvPr>
          <p:cNvSpPr txBox="1"/>
          <p:nvPr/>
        </p:nvSpPr>
        <p:spPr>
          <a:xfrm>
            <a:off x="25654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Edit transcript</a:t>
            </a:r>
          </a:p>
        </p:txBody>
      </p:sp>
      <p:sp>
        <p:nvSpPr>
          <p:cNvPr id="19" name="TextBox 18">
            <a:extLst>
              <a:ext uri="{FF2B5EF4-FFF2-40B4-BE49-F238E27FC236}">
                <a16:creationId xmlns:a16="http://schemas.microsoft.com/office/drawing/2014/main" id="{4575ABFE-273C-E5B2-5C9A-5EE91401A716}"/>
              </a:ext>
            </a:extLst>
          </p:cNvPr>
          <p:cNvSpPr txBox="1"/>
          <p:nvPr/>
        </p:nvSpPr>
        <p:spPr>
          <a:xfrm>
            <a:off x="25781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Correct speech-to-text before processing.</a:t>
            </a:r>
          </a:p>
        </p:txBody>
      </p:sp>
      <p:cxnSp>
        <p:nvCxnSpPr>
          <p:cNvPr id="20" name="Straight Connector 19">
            <a:extLst>
              <a:ext uri="{FF2B5EF4-FFF2-40B4-BE49-F238E27FC236}">
                <a16:creationId xmlns:a16="http://schemas.microsoft.com/office/drawing/2014/main" id="{A0B5FB1B-1F23-6CEF-F33E-F29E8AB46485}"/>
              </a:ext>
            </a:extLst>
          </p:cNvPr>
          <p:cNvCxnSpPr/>
          <p:nvPr/>
        </p:nvCxnSpPr>
        <p:spPr>
          <a:xfrm>
            <a:off x="4013200" y="34290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48ECD6F3-7CB6-B02F-B8FE-CD8FBC685A66}"/>
              </a:ext>
            </a:extLst>
          </p:cNvPr>
          <p:cNvSpPr/>
          <p:nvPr/>
        </p:nvSpPr>
        <p:spPr>
          <a:xfrm>
            <a:off x="4267200" y="2222500"/>
            <a:ext cx="1524000" cy="2413000"/>
          </a:xfrm>
          <a:prstGeom prst="roundRect">
            <a:avLst/>
          </a:prstGeom>
          <a:solidFill>
            <a:srgbClr val="FFFFFF"/>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EEDEB85-F322-E6FA-F6EF-4B7911E7854A}"/>
              </a:ext>
            </a:extLst>
          </p:cNvPr>
          <p:cNvSpPr/>
          <p:nvPr/>
        </p:nvSpPr>
        <p:spPr>
          <a:xfrm>
            <a:off x="4267200" y="2222500"/>
            <a:ext cx="1524000" cy="889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A7568FB-914B-4D8B-56A9-CF62809B87C7}"/>
              </a:ext>
            </a:extLst>
          </p:cNvPr>
          <p:cNvSpPr txBox="1"/>
          <p:nvPr/>
        </p:nvSpPr>
        <p:spPr>
          <a:xfrm>
            <a:off x="43942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Consent</a:t>
            </a:r>
          </a:p>
        </p:txBody>
      </p:sp>
      <p:sp>
        <p:nvSpPr>
          <p:cNvPr id="24" name="TextBox 23">
            <a:extLst>
              <a:ext uri="{FF2B5EF4-FFF2-40B4-BE49-F238E27FC236}">
                <a16:creationId xmlns:a16="http://schemas.microsoft.com/office/drawing/2014/main" id="{A5215A4A-0773-5B20-4BDB-F88F4FED76F8}"/>
              </a:ext>
            </a:extLst>
          </p:cNvPr>
          <p:cNvSpPr txBox="1"/>
          <p:nvPr/>
        </p:nvSpPr>
        <p:spPr>
          <a:xfrm>
            <a:off x="44069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Approve sending the text to the assistant.</a:t>
            </a:r>
          </a:p>
        </p:txBody>
      </p:sp>
      <p:cxnSp>
        <p:nvCxnSpPr>
          <p:cNvPr id="25" name="Straight Connector 24">
            <a:extLst>
              <a:ext uri="{FF2B5EF4-FFF2-40B4-BE49-F238E27FC236}">
                <a16:creationId xmlns:a16="http://schemas.microsoft.com/office/drawing/2014/main" id="{C9DE3229-FE26-EA1E-017D-B10D30EB9DE5}"/>
              </a:ext>
            </a:extLst>
          </p:cNvPr>
          <p:cNvCxnSpPr/>
          <p:nvPr/>
        </p:nvCxnSpPr>
        <p:spPr>
          <a:xfrm>
            <a:off x="5842000" y="34290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9FDD4764-3D03-C3B3-75C6-B71E5DDE909B}"/>
              </a:ext>
            </a:extLst>
          </p:cNvPr>
          <p:cNvSpPr/>
          <p:nvPr/>
        </p:nvSpPr>
        <p:spPr>
          <a:xfrm>
            <a:off x="6096000" y="2222500"/>
            <a:ext cx="1524000" cy="2413000"/>
          </a:xfrm>
          <a:prstGeom prst="roundRect">
            <a:avLst/>
          </a:prstGeom>
          <a:solidFill>
            <a:srgbClr val="FFFFFF"/>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3B7562C-7206-87F5-2C14-2262F22B2DDE}"/>
              </a:ext>
            </a:extLst>
          </p:cNvPr>
          <p:cNvSpPr/>
          <p:nvPr/>
        </p:nvSpPr>
        <p:spPr>
          <a:xfrm>
            <a:off x="6096000" y="2222500"/>
            <a:ext cx="1524000" cy="889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C1E90082-EF12-9EF4-718D-F1E714BFE802}"/>
              </a:ext>
            </a:extLst>
          </p:cNvPr>
          <p:cNvSpPr txBox="1"/>
          <p:nvPr/>
        </p:nvSpPr>
        <p:spPr>
          <a:xfrm>
            <a:off x="62230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Interpret</a:t>
            </a:r>
          </a:p>
        </p:txBody>
      </p:sp>
      <p:sp>
        <p:nvSpPr>
          <p:cNvPr id="29" name="TextBox 28">
            <a:extLst>
              <a:ext uri="{FF2B5EF4-FFF2-40B4-BE49-F238E27FC236}">
                <a16:creationId xmlns:a16="http://schemas.microsoft.com/office/drawing/2014/main" id="{BFD370CC-A277-91F5-ABC3-51CC6D08D207}"/>
              </a:ext>
            </a:extLst>
          </p:cNvPr>
          <p:cNvSpPr txBox="1"/>
          <p:nvPr/>
        </p:nvSpPr>
        <p:spPr>
          <a:xfrm>
            <a:off x="6235700" y="3136900"/>
            <a:ext cx="1244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Return schema-constrained suggestions.</a:t>
            </a:r>
          </a:p>
        </p:txBody>
      </p:sp>
      <p:cxnSp>
        <p:nvCxnSpPr>
          <p:cNvPr id="30" name="Straight Connector 29">
            <a:extLst>
              <a:ext uri="{FF2B5EF4-FFF2-40B4-BE49-F238E27FC236}">
                <a16:creationId xmlns:a16="http://schemas.microsoft.com/office/drawing/2014/main" id="{000EEAEA-955C-6B60-A397-C2B47D205EA6}"/>
              </a:ext>
            </a:extLst>
          </p:cNvPr>
          <p:cNvCxnSpPr/>
          <p:nvPr/>
        </p:nvCxnSpPr>
        <p:spPr>
          <a:xfrm>
            <a:off x="7670800" y="34290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97DBE3C7-186A-51B7-138F-C435B9876390}"/>
              </a:ext>
            </a:extLst>
          </p:cNvPr>
          <p:cNvSpPr/>
          <p:nvPr/>
        </p:nvSpPr>
        <p:spPr>
          <a:xfrm>
            <a:off x="7924800" y="2222500"/>
            <a:ext cx="1524000" cy="2413000"/>
          </a:xfrm>
          <a:prstGeom prst="roundRect">
            <a:avLst/>
          </a:prstGeom>
          <a:solidFill>
            <a:srgbClr val="FFFFFF"/>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5AB90C30-70C6-8005-C492-57F74D3EC2D7}"/>
              </a:ext>
            </a:extLst>
          </p:cNvPr>
          <p:cNvSpPr/>
          <p:nvPr/>
        </p:nvSpPr>
        <p:spPr>
          <a:xfrm>
            <a:off x="7924800" y="2222500"/>
            <a:ext cx="1524000" cy="889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7EF6EC2A-16DD-6D42-F644-8DED98E18083}"/>
              </a:ext>
            </a:extLst>
          </p:cNvPr>
          <p:cNvSpPr txBox="1"/>
          <p:nvPr/>
        </p:nvSpPr>
        <p:spPr>
          <a:xfrm>
            <a:off x="80518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Review</a:t>
            </a:r>
          </a:p>
        </p:txBody>
      </p:sp>
      <p:sp>
        <p:nvSpPr>
          <p:cNvPr id="34" name="TextBox 33">
            <a:extLst>
              <a:ext uri="{FF2B5EF4-FFF2-40B4-BE49-F238E27FC236}">
                <a16:creationId xmlns:a16="http://schemas.microsoft.com/office/drawing/2014/main" id="{03B0BEC2-29A0-B24D-1CAE-8856E2EDF3EF}"/>
              </a:ext>
            </a:extLst>
          </p:cNvPr>
          <p:cNvSpPr txBox="1"/>
          <p:nvPr/>
        </p:nvSpPr>
        <p:spPr>
          <a:xfrm>
            <a:off x="80645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Accept, edit or reject every item.</a:t>
            </a:r>
          </a:p>
        </p:txBody>
      </p:sp>
      <p:cxnSp>
        <p:nvCxnSpPr>
          <p:cNvPr id="35" name="Straight Connector 34">
            <a:extLst>
              <a:ext uri="{FF2B5EF4-FFF2-40B4-BE49-F238E27FC236}">
                <a16:creationId xmlns:a16="http://schemas.microsoft.com/office/drawing/2014/main" id="{DE1CB4DF-EA17-C363-AE19-EFCC5712984F}"/>
              </a:ext>
            </a:extLst>
          </p:cNvPr>
          <p:cNvCxnSpPr/>
          <p:nvPr/>
        </p:nvCxnSpPr>
        <p:spPr>
          <a:xfrm>
            <a:off x="9499600" y="34290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DBD64EC3-18C8-1A35-61D1-1172C15E40D7}"/>
              </a:ext>
            </a:extLst>
          </p:cNvPr>
          <p:cNvSpPr/>
          <p:nvPr/>
        </p:nvSpPr>
        <p:spPr>
          <a:xfrm>
            <a:off x="9753600" y="2222500"/>
            <a:ext cx="1524000" cy="24130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7E449F03-7908-7FAD-C62C-E126DA3C7170}"/>
              </a:ext>
            </a:extLst>
          </p:cNvPr>
          <p:cNvSpPr/>
          <p:nvPr/>
        </p:nvSpPr>
        <p:spPr>
          <a:xfrm>
            <a:off x="9753600" y="2222500"/>
            <a:ext cx="1524000" cy="889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019582A0-BF6B-66B8-8131-20C83405C10B}"/>
              </a:ext>
            </a:extLst>
          </p:cNvPr>
          <p:cNvSpPr txBox="1"/>
          <p:nvPr/>
        </p:nvSpPr>
        <p:spPr>
          <a:xfrm>
            <a:off x="98806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Confirm</a:t>
            </a:r>
          </a:p>
        </p:txBody>
      </p:sp>
      <p:sp>
        <p:nvSpPr>
          <p:cNvPr id="39" name="TextBox 38">
            <a:extLst>
              <a:ext uri="{FF2B5EF4-FFF2-40B4-BE49-F238E27FC236}">
                <a16:creationId xmlns:a16="http://schemas.microsoft.com/office/drawing/2014/main" id="{4989B00C-6912-56A1-6E4C-614956F38941}"/>
              </a:ext>
            </a:extLst>
          </p:cNvPr>
          <p:cNvSpPr txBox="1"/>
          <p:nvPr/>
        </p:nvSpPr>
        <p:spPr>
          <a:xfrm>
            <a:off x="9893300" y="3136900"/>
            <a:ext cx="1244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Symfony validates and saves selected values only.</a:t>
            </a:r>
          </a:p>
        </p:txBody>
      </p:sp>
      <p:sp>
        <p:nvSpPr>
          <p:cNvPr id="40" name="Rectangle: Rounded Corners 39">
            <a:extLst>
              <a:ext uri="{FF2B5EF4-FFF2-40B4-BE49-F238E27FC236}">
                <a16:creationId xmlns:a16="http://schemas.microsoft.com/office/drawing/2014/main" id="{4B916823-B363-650F-8923-4D112BC7F306}"/>
              </a:ext>
            </a:extLst>
          </p:cNvPr>
          <p:cNvSpPr/>
          <p:nvPr/>
        </p:nvSpPr>
        <p:spPr>
          <a:xfrm>
            <a:off x="3492500" y="4953000"/>
            <a:ext cx="5207000" cy="1041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descr="Candidate profile builder with optional AI assistance">
            <a:extLst>
              <a:ext uri="{FF2B5EF4-FFF2-40B4-BE49-F238E27FC236}">
                <a16:creationId xmlns:a16="http://schemas.microsoft.com/office/drawing/2014/main" id="{0DD3C4F5-6228-D8B9-440E-D11F198A2E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23840" y="4991100"/>
            <a:ext cx="1544320" cy="965200"/>
          </a:xfrm>
          <a:prstGeom prst="rect">
            <a:avLst/>
          </a:prstGeom>
        </p:spPr>
      </p:pic>
    </p:spTree>
    <p:extLst>
      <p:ext uri="{BB962C8B-B14F-4D97-AF65-F5344CB8AC3E}">
        <p14:creationId xmlns:p14="http://schemas.microsoft.com/office/powerpoint/2010/main" val="34571760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26E9DE4-74A7-13E1-366B-22D093D53523}"/>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1F169A6-309D-C03E-3975-49D9B3C8EB10}"/>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AI PROFILE EVIDENCE</a:t>
            </a:r>
          </a:p>
        </p:txBody>
      </p:sp>
      <p:sp>
        <p:nvSpPr>
          <p:cNvPr id="4" name="TextBox 3">
            <a:extLst>
              <a:ext uri="{FF2B5EF4-FFF2-40B4-BE49-F238E27FC236}">
                <a16:creationId xmlns:a16="http://schemas.microsoft.com/office/drawing/2014/main" id="{D3395FF2-FDCC-1C48-02E6-85CD69E0639F}"/>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Structured suggestions in English, French and Arabic</a:t>
            </a:r>
          </a:p>
        </p:txBody>
      </p:sp>
      <p:sp>
        <p:nvSpPr>
          <p:cNvPr id="5" name="TextBox 4">
            <a:extLst>
              <a:ext uri="{FF2B5EF4-FFF2-40B4-BE49-F238E27FC236}">
                <a16:creationId xmlns:a16="http://schemas.microsoft.com/office/drawing/2014/main" id="{A19E1903-E319-0E10-5729-39DCB3B5FBAC}"/>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Sixty gold-standard narratives covered clean and imperfect wording, abilities, preferences, positions, tasks and safety boundaries.</a:t>
            </a:r>
          </a:p>
        </p:txBody>
      </p:sp>
      <p:pic>
        <p:nvPicPr>
          <p:cNvPr id="7" name="Picture 6" descr="Universite Saint-Joseph and ESIB mark">
            <a:extLst>
              <a:ext uri="{FF2B5EF4-FFF2-40B4-BE49-F238E27FC236}">
                <a16:creationId xmlns:a16="http://schemas.microsoft.com/office/drawing/2014/main" id="{1D4415FB-14AE-948B-F58A-52BF3806FB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053711BA-DCD2-9B8B-3913-75E7C740AA29}"/>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CA33C87-AE9C-62A2-0A5F-43E8363D6E2F}"/>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7BFF81D9-DC4E-3A77-034E-63DD282DE1E1}"/>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15</a:t>
            </a:r>
          </a:p>
        </p:txBody>
      </p:sp>
      <p:sp>
        <p:nvSpPr>
          <p:cNvPr id="11" name="Rectangle: Rounded Corners 10">
            <a:extLst>
              <a:ext uri="{FF2B5EF4-FFF2-40B4-BE49-F238E27FC236}">
                <a16:creationId xmlns:a16="http://schemas.microsoft.com/office/drawing/2014/main" id="{0E763430-429B-58C0-051B-C5A782DF7632}"/>
              </a:ext>
            </a:extLst>
          </p:cNvPr>
          <p:cNvSpPr/>
          <p:nvPr/>
        </p:nvSpPr>
        <p:spPr>
          <a:xfrm>
            <a:off x="609600" y="1841500"/>
            <a:ext cx="3429000" cy="2984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English AI profile suggestion evidence">
            <a:extLst>
              <a:ext uri="{FF2B5EF4-FFF2-40B4-BE49-F238E27FC236}">
                <a16:creationId xmlns:a16="http://schemas.microsoft.com/office/drawing/2014/main" id="{D69848CF-44D4-C393-D756-407B0343FFF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100" y="1905000"/>
            <a:ext cx="3302000" cy="15195892"/>
          </a:xfrm>
          <a:prstGeom prst="rect">
            <a:avLst/>
          </a:prstGeom>
        </p:spPr>
      </p:pic>
      <p:sp>
        <p:nvSpPr>
          <p:cNvPr id="14" name="Rectangle 13">
            <a:extLst>
              <a:ext uri="{FF2B5EF4-FFF2-40B4-BE49-F238E27FC236}">
                <a16:creationId xmlns:a16="http://schemas.microsoft.com/office/drawing/2014/main" id="{AA618539-4899-0E4B-7415-9FB16DEA724F}"/>
              </a:ext>
            </a:extLst>
          </p:cNvPr>
          <p:cNvSpPr/>
          <p:nvPr/>
        </p:nvSpPr>
        <p:spPr>
          <a:xfrm>
            <a:off x="609600" y="4826000"/>
            <a:ext cx="3429000" cy="1524000"/>
          </a:xfrm>
          <a:prstGeom prst="rect">
            <a:avLst/>
          </a:prstGeom>
          <a:solidFill>
            <a:srgbClr val="FBFAF7"/>
          </a:solidFill>
          <a:ln w="10160">
            <a:solidFill>
              <a:srgbClr val="FB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4A965045-56BA-13CF-A5F5-69950BE0F565}"/>
              </a:ext>
            </a:extLst>
          </p:cNvPr>
          <p:cNvCxnSpPr/>
          <p:nvPr/>
        </p:nvCxnSpPr>
        <p:spPr>
          <a:xfrm>
            <a:off x="609600" y="4826000"/>
            <a:ext cx="34290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41D64208-FA80-6972-1F7D-C063D62CCAF1}"/>
              </a:ext>
            </a:extLst>
          </p:cNvPr>
          <p:cNvSpPr/>
          <p:nvPr/>
        </p:nvSpPr>
        <p:spPr>
          <a:xfrm>
            <a:off x="4381500" y="1841500"/>
            <a:ext cx="3429000" cy="2984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French AI profile suggestion evidence">
            <a:extLst>
              <a:ext uri="{FF2B5EF4-FFF2-40B4-BE49-F238E27FC236}">
                <a16:creationId xmlns:a16="http://schemas.microsoft.com/office/drawing/2014/main" id="{39236538-736E-F54B-E366-7DD23165E03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5000" y="1905000"/>
            <a:ext cx="3302000" cy="15602074"/>
          </a:xfrm>
          <a:prstGeom prst="rect">
            <a:avLst/>
          </a:prstGeom>
        </p:spPr>
      </p:pic>
      <p:sp>
        <p:nvSpPr>
          <p:cNvPr id="19" name="Rectangle 18">
            <a:extLst>
              <a:ext uri="{FF2B5EF4-FFF2-40B4-BE49-F238E27FC236}">
                <a16:creationId xmlns:a16="http://schemas.microsoft.com/office/drawing/2014/main" id="{B4101C90-7226-568F-34F4-40EE53A09C34}"/>
              </a:ext>
            </a:extLst>
          </p:cNvPr>
          <p:cNvSpPr/>
          <p:nvPr/>
        </p:nvSpPr>
        <p:spPr>
          <a:xfrm>
            <a:off x="4381500" y="4826000"/>
            <a:ext cx="3429000" cy="1524000"/>
          </a:xfrm>
          <a:prstGeom prst="rect">
            <a:avLst/>
          </a:prstGeom>
          <a:solidFill>
            <a:srgbClr val="FBFAF7"/>
          </a:solidFill>
          <a:ln w="10160">
            <a:solidFill>
              <a:srgbClr val="FB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Connector 19">
            <a:extLst>
              <a:ext uri="{FF2B5EF4-FFF2-40B4-BE49-F238E27FC236}">
                <a16:creationId xmlns:a16="http://schemas.microsoft.com/office/drawing/2014/main" id="{2C7F6A99-48A5-9AD6-02C8-0595FFDF9321}"/>
              </a:ext>
            </a:extLst>
          </p:cNvPr>
          <p:cNvCxnSpPr/>
          <p:nvPr/>
        </p:nvCxnSpPr>
        <p:spPr>
          <a:xfrm>
            <a:off x="4381500" y="4826000"/>
            <a:ext cx="34290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7CF34986-BCC2-4731-62DD-C1A84986E2D6}"/>
              </a:ext>
            </a:extLst>
          </p:cNvPr>
          <p:cNvSpPr/>
          <p:nvPr/>
        </p:nvSpPr>
        <p:spPr>
          <a:xfrm>
            <a:off x="8153400" y="1841500"/>
            <a:ext cx="3429000" cy="2984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Picture 22" descr="Arabic RTL AI profile suggestion evidence">
            <a:extLst>
              <a:ext uri="{FF2B5EF4-FFF2-40B4-BE49-F238E27FC236}">
                <a16:creationId xmlns:a16="http://schemas.microsoft.com/office/drawing/2014/main" id="{DAD4CCA9-FAA8-EB70-56F1-672809DC902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216900" y="1905000"/>
            <a:ext cx="3302000" cy="12840046"/>
          </a:xfrm>
          <a:prstGeom prst="rect">
            <a:avLst/>
          </a:prstGeom>
        </p:spPr>
      </p:pic>
      <p:sp>
        <p:nvSpPr>
          <p:cNvPr id="24" name="Rectangle 23">
            <a:extLst>
              <a:ext uri="{FF2B5EF4-FFF2-40B4-BE49-F238E27FC236}">
                <a16:creationId xmlns:a16="http://schemas.microsoft.com/office/drawing/2014/main" id="{CCD3E8AC-2110-5A77-8CB9-2510B310DE61}"/>
              </a:ext>
            </a:extLst>
          </p:cNvPr>
          <p:cNvSpPr/>
          <p:nvPr/>
        </p:nvSpPr>
        <p:spPr>
          <a:xfrm>
            <a:off x="8153400" y="4826000"/>
            <a:ext cx="3429000" cy="1524000"/>
          </a:xfrm>
          <a:prstGeom prst="rect">
            <a:avLst/>
          </a:prstGeom>
          <a:solidFill>
            <a:srgbClr val="FBFAF7"/>
          </a:solidFill>
          <a:ln w="10160">
            <a:solidFill>
              <a:srgbClr val="FBFAF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FB53A40C-13DE-E09A-C2FB-8C7087A4A3FA}"/>
              </a:ext>
            </a:extLst>
          </p:cNvPr>
          <p:cNvCxnSpPr/>
          <p:nvPr/>
        </p:nvCxnSpPr>
        <p:spPr>
          <a:xfrm>
            <a:off x="8153400" y="4826000"/>
            <a:ext cx="34290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8D8445EC-D3C7-5F02-CFD7-BF29E69FB5AE}"/>
              </a:ext>
            </a:extLst>
          </p:cNvPr>
          <p:cNvSpPr txBox="1"/>
          <p:nvPr/>
        </p:nvSpPr>
        <p:spPr>
          <a:xfrm>
            <a:off x="609600" y="4978400"/>
            <a:ext cx="3429000" cy="153888"/>
          </a:xfrm>
          <a:prstGeom prst="rect">
            <a:avLst/>
          </a:prstGeom>
          <a:noFill/>
        </p:spPr>
        <p:txBody>
          <a:bodyPr vert="horz" wrap="square" lIns="0" tIns="0" rIns="0" bIns="0" rtlCol="0">
            <a:spAutoFit/>
          </a:bodyPr>
          <a:lstStyle/>
          <a:p>
            <a:pPr algn="ctr"/>
            <a:r>
              <a:rPr lang="en-US" sz="1000" b="1">
                <a:solidFill>
                  <a:srgbClr val="1565D8"/>
                </a:solidFill>
                <a:latin typeface="Aptos" panose="020B0004020202020204" pitchFamily="34" charset="0"/>
              </a:rPr>
              <a:t>ENGLISH</a:t>
            </a:r>
          </a:p>
        </p:txBody>
      </p:sp>
      <p:sp>
        <p:nvSpPr>
          <p:cNvPr id="27" name="TextBox 26">
            <a:extLst>
              <a:ext uri="{FF2B5EF4-FFF2-40B4-BE49-F238E27FC236}">
                <a16:creationId xmlns:a16="http://schemas.microsoft.com/office/drawing/2014/main" id="{81AB0D2A-2382-4327-AAE8-85180B643626}"/>
              </a:ext>
            </a:extLst>
          </p:cNvPr>
          <p:cNvSpPr txBox="1"/>
          <p:nvPr/>
        </p:nvSpPr>
        <p:spPr>
          <a:xfrm>
            <a:off x="4381500" y="4978400"/>
            <a:ext cx="3429000" cy="153888"/>
          </a:xfrm>
          <a:prstGeom prst="rect">
            <a:avLst/>
          </a:prstGeom>
          <a:noFill/>
        </p:spPr>
        <p:txBody>
          <a:bodyPr vert="horz" wrap="square" lIns="0" tIns="0" rIns="0" bIns="0" rtlCol="0">
            <a:spAutoFit/>
          </a:bodyPr>
          <a:lstStyle/>
          <a:p>
            <a:pPr algn="ctr"/>
            <a:r>
              <a:rPr lang="en-US" sz="1000" b="1">
                <a:solidFill>
                  <a:srgbClr val="157A55"/>
                </a:solidFill>
                <a:latin typeface="Aptos" panose="020B0004020202020204" pitchFamily="34" charset="0"/>
              </a:rPr>
              <a:t>FRENCH</a:t>
            </a:r>
          </a:p>
        </p:txBody>
      </p:sp>
      <p:sp>
        <p:nvSpPr>
          <p:cNvPr id="28" name="TextBox 27">
            <a:extLst>
              <a:ext uri="{FF2B5EF4-FFF2-40B4-BE49-F238E27FC236}">
                <a16:creationId xmlns:a16="http://schemas.microsoft.com/office/drawing/2014/main" id="{DCFA0DEA-50BA-7F70-C37A-D9FCABB112A4}"/>
              </a:ext>
            </a:extLst>
          </p:cNvPr>
          <p:cNvSpPr txBox="1"/>
          <p:nvPr/>
        </p:nvSpPr>
        <p:spPr>
          <a:xfrm>
            <a:off x="8153400" y="4978400"/>
            <a:ext cx="3429000" cy="153888"/>
          </a:xfrm>
          <a:prstGeom prst="rect">
            <a:avLst/>
          </a:prstGeom>
          <a:noFill/>
        </p:spPr>
        <p:txBody>
          <a:bodyPr vert="horz" wrap="square" lIns="0" tIns="0" rIns="0" bIns="0" rtlCol="0">
            <a:spAutoFit/>
          </a:bodyPr>
          <a:lstStyle/>
          <a:p>
            <a:pPr algn="ctr"/>
            <a:r>
              <a:rPr lang="en-US" sz="1000" b="1">
                <a:solidFill>
                  <a:srgbClr val="A64B2A"/>
                </a:solidFill>
                <a:latin typeface="Aptos" panose="020B0004020202020204" pitchFamily="34" charset="0"/>
              </a:rPr>
              <a:t>ARABIC + RTL</a:t>
            </a:r>
          </a:p>
        </p:txBody>
      </p:sp>
      <p:sp>
        <p:nvSpPr>
          <p:cNvPr id="29" name="Rectangle: Rounded Corners 28">
            <a:extLst>
              <a:ext uri="{FF2B5EF4-FFF2-40B4-BE49-F238E27FC236}">
                <a16:creationId xmlns:a16="http://schemas.microsoft.com/office/drawing/2014/main" id="{9B2F8BD9-B533-8AEB-2E27-19066863C48D}"/>
              </a:ext>
            </a:extLst>
          </p:cNvPr>
          <p:cNvSpPr/>
          <p:nvPr/>
        </p:nvSpPr>
        <p:spPr>
          <a:xfrm>
            <a:off x="1968500" y="5461000"/>
            <a:ext cx="8255000" cy="5588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E4393EA-02AE-04C2-0FA6-91E3671FE535}"/>
              </a:ext>
            </a:extLst>
          </p:cNvPr>
          <p:cNvSpPr txBox="1"/>
          <p:nvPr/>
        </p:nvSpPr>
        <p:spPr>
          <a:xfrm>
            <a:off x="2222500" y="5626100"/>
            <a:ext cx="7747000" cy="146194"/>
          </a:xfrm>
          <a:prstGeom prst="rect">
            <a:avLst/>
          </a:prstGeom>
          <a:noFill/>
        </p:spPr>
        <p:txBody>
          <a:bodyPr vert="horz" wrap="square" lIns="0" tIns="0" rIns="0" bIns="0" rtlCol="0">
            <a:spAutoFit/>
          </a:bodyPr>
          <a:lstStyle/>
          <a:p>
            <a:pPr algn="ctr"/>
            <a:r>
              <a:rPr lang="en-US" sz="950" b="1">
                <a:solidFill>
                  <a:srgbClr val="FFFFFF"/>
                </a:solidFill>
                <a:latin typeface="Aptos" panose="020B0004020202020204" pitchFamily="34" charset="0"/>
              </a:rPr>
              <a:t>53/60 passed (88.3%) | 7 failures retained | Main weakness: explicit Both work-and-training preference could be omitted</a:t>
            </a:r>
          </a:p>
        </p:txBody>
      </p:sp>
    </p:spTree>
    <p:extLst>
      <p:ext uri="{BB962C8B-B14F-4D97-AF65-F5344CB8AC3E}">
        <p14:creationId xmlns:p14="http://schemas.microsoft.com/office/powerpoint/2010/main" val="24236350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CFB3FF-D6AB-0608-9A78-8076D7595823}"/>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D55F605-F596-F5C0-9B09-16D4DC9B804D}"/>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VOICE INTERACTION</a:t>
            </a:r>
          </a:p>
        </p:txBody>
      </p:sp>
      <p:sp>
        <p:nvSpPr>
          <p:cNvPr id="4" name="TextBox 3">
            <a:extLst>
              <a:ext uri="{FF2B5EF4-FFF2-40B4-BE49-F238E27FC236}">
                <a16:creationId xmlns:a16="http://schemas.microsoft.com/office/drawing/2014/main" id="{C169EC34-36B2-99BD-7B07-20CC103A7F75}"/>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Bounded voice-navigation execution path</a:t>
            </a:r>
          </a:p>
        </p:txBody>
      </p:sp>
      <p:sp>
        <p:nvSpPr>
          <p:cNvPr id="5" name="TextBox 4">
            <a:extLst>
              <a:ext uri="{FF2B5EF4-FFF2-40B4-BE49-F238E27FC236}">
                <a16:creationId xmlns:a16="http://schemas.microsoft.com/office/drawing/2014/main" id="{1A20F425-F908-7C35-9820-C2248B0D3646}"/>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Natural language proposes an action; only the deterministic registry may authorize and execute it.</a:t>
            </a:r>
          </a:p>
        </p:txBody>
      </p:sp>
      <p:pic>
        <p:nvPicPr>
          <p:cNvPr id="7" name="Picture 6" descr="Universite Saint-Joseph and ESIB mark">
            <a:extLst>
              <a:ext uri="{FF2B5EF4-FFF2-40B4-BE49-F238E27FC236}">
                <a16:creationId xmlns:a16="http://schemas.microsoft.com/office/drawing/2014/main" id="{0D2F2E47-C3D4-F725-2484-264196B83CE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5F3FAF3B-0A61-78FC-167F-8F28AC9C3EF6}"/>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72B5FB6-BB95-C119-1667-27560A24C2D9}"/>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52C3DD58-B14A-7231-32B0-DB1D1B7FD7C4}"/>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16</a:t>
            </a:r>
          </a:p>
        </p:txBody>
      </p:sp>
      <p:sp>
        <p:nvSpPr>
          <p:cNvPr id="11" name="Rectangle: Rounded Corners 10">
            <a:extLst>
              <a:ext uri="{FF2B5EF4-FFF2-40B4-BE49-F238E27FC236}">
                <a16:creationId xmlns:a16="http://schemas.microsoft.com/office/drawing/2014/main" id="{C09874C2-8B28-80DE-E907-71B3C08428BF}"/>
              </a:ext>
            </a:extLst>
          </p:cNvPr>
          <p:cNvSpPr/>
          <p:nvPr/>
        </p:nvSpPr>
        <p:spPr>
          <a:xfrm>
            <a:off x="355600" y="2286000"/>
            <a:ext cx="1422400" cy="19685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DC9E9C2-F453-C6B0-51DA-79E7D2138329}"/>
              </a:ext>
            </a:extLst>
          </p:cNvPr>
          <p:cNvSpPr/>
          <p:nvPr/>
        </p:nvSpPr>
        <p:spPr>
          <a:xfrm>
            <a:off x="355600" y="2286000"/>
            <a:ext cx="1422400" cy="889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20D2A11-1F5A-AE9D-B959-A2FD370B6839}"/>
              </a:ext>
            </a:extLst>
          </p:cNvPr>
          <p:cNvSpPr txBox="1"/>
          <p:nvPr/>
        </p:nvSpPr>
        <p:spPr>
          <a:xfrm>
            <a:off x="482600" y="2578100"/>
            <a:ext cx="11684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Record</a:t>
            </a:r>
          </a:p>
        </p:txBody>
      </p:sp>
      <p:sp>
        <p:nvSpPr>
          <p:cNvPr id="14" name="TextBox 13">
            <a:extLst>
              <a:ext uri="{FF2B5EF4-FFF2-40B4-BE49-F238E27FC236}">
                <a16:creationId xmlns:a16="http://schemas.microsoft.com/office/drawing/2014/main" id="{294FC3BB-399E-974B-2A9B-05C20B852C1C}"/>
              </a:ext>
            </a:extLst>
          </p:cNvPr>
          <p:cNvSpPr txBox="1"/>
          <p:nvPr/>
        </p:nvSpPr>
        <p:spPr>
          <a:xfrm>
            <a:off x="495300" y="3200400"/>
            <a:ext cx="1143000" cy="141577"/>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WebM / Opus</a:t>
            </a:r>
          </a:p>
        </p:txBody>
      </p:sp>
      <p:cxnSp>
        <p:nvCxnSpPr>
          <p:cNvPr id="15" name="Straight Connector 14">
            <a:extLst>
              <a:ext uri="{FF2B5EF4-FFF2-40B4-BE49-F238E27FC236}">
                <a16:creationId xmlns:a16="http://schemas.microsoft.com/office/drawing/2014/main" id="{0D03824F-165A-BA70-18C3-D214B0105FF4}"/>
              </a:ext>
            </a:extLst>
          </p:cNvPr>
          <p:cNvCxnSpPr/>
          <p:nvPr/>
        </p:nvCxnSpPr>
        <p:spPr>
          <a:xfrm>
            <a:off x="1828800" y="327025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722F1855-DF2D-B2AE-E182-C565D5181AE2}"/>
              </a:ext>
            </a:extLst>
          </p:cNvPr>
          <p:cNvSpPr/>
          <p:nvPr/>
        </p:nvSpPr>
        <p:spPr>
          <a:xfrm>
            <a:off x="2006600" y="2286000"/>
            <a:ext cx="1422400" cy="19685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B5CBE10-C2AF-8605-2516-7BFBE171D6FE}"/>
              </a:ext>
            </a:extLst>
          </p:cNvPr>
          <p:cNvSpPr/>
          <p:nvPr/>
        </p:nvSpPr>
        <p:spPr>
          <a:xfrm>
            <a:off x="2006600" y="2286000"/>
            <a:ext cx="1422400" cy="889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5FC123D-8BDB-5789-B91D-4267111868AF}"/>
              </a:ext>
            </a:extLst>
          </p:cNvPr>
          <p:cNvSpPr txBox="1"/>
          <p:nvPr/>
        </p:nvSpPr>
        <p:spPr>
          <a:xfrm>
            <a:off x="2133600" y="2578100"/>
            <a:ext cx="11684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Transcribe</a:t>
            </a:r>
          </a:p>
        </p:txBody>
      </p:sp>
      <p:sp>
        <p:nvSpPr>
          <p:cNvPr id="19" name="TextBox 18">
            <a:extLst>
              <a:ext uri="{FF2B5EF4-FFF2-40B4-BE49-F238E27FC236}">
                <a16:creationId xmlns:a16="http://schemas.microsoft.com/office/drawing/2014/main" id="{6434A7BC-4125-3102-1B64-035AF51975EC}"/>
              </a:ext>
            </a:extLst>
          </p:cNvPr>
          <p:cNvSpPr txBox="1"/>
          <p:nvPr/>
        </p:nvSpPr>
        <p:spPr>
          <a:xfrm>
            <a:off x="2146300" y="3200400"/>
            <a:ext cx="1143000" cy="141577"/>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Whisper-1</a:t>
            </a:r>
          </a:p>
        </p:txBody>
      </p:sp>
      <p:cxnSp>
        <p:nvCxnSpPr>
          <p:cNvPr id="20" name="Straight Connector 19">
            <a:extLst>
              <a:ext uri="{FF2B5EF4-FFF2-40B4-BE49-F238E27FC236}">
                <a16:creationId xmlns:a16="http://schemas.microsoft.com/office/drawing/2014/main" id="{1A1D98CA-1D52-C49B-3312-6497663053F7}"/>
              </a:ext>
            </a:extLst>
          </p:cNvPr>
          <p:cNvCxnSpPr/>
          <p:nvPr/>
        </p:nvCxnSpPr>
        <p:spPr>
          <a:xfrm>
            <a:off x="3479800" y="327025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6890627D-C78E-22D7-8DD1-8F925AC36A60}"/>
              </a:ext>
            </a:extLst>
          </p:cNvPr>
          <p:cNvSpPr/>
          <p:nvPr/>
        </p:nvSpPr>
        <p:spPr>
          <a:xfrm>
            <a:off x="3657600" y="2286000"/>
            <a:ext cx="1422400" cy="1968500"/>
          </a:xfrm>
          <a:prstGeom prst="roundRect">
            <a:avLst/>
          </a:prstGeom>
          <a:solidFill>
            <a:srgbClr val="FFFFFF"/>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650A2476-C4C9-386D-BCC9-53C8C56B0B02}"/>
              </a:ext>
            </a:extLst>
          </p:cNvPr>
          <p:cNvSpPr/>
          <p:nvPr/>
        </p:nvSpPr>
        <p:spPr>
          <a:xfrm>
            <a:off x="3657600" y="2286000"/>
            <a:ext cx="1422400" cy="889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75458DC-FF67-E853-5E54-E512B62B0170}"/>
              </a:ext>
            </a:extLst>
          </p:cNvPr>
          <p:cNvSpPr txBox="1"/>
          <p:nvPr/>
        </p:nvSpPr>
        <p:spPr>
          <a:xfrm>
            <a:off x="3784600" y="2578100"/>
            <a:ext cx="11684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Classify</a:t>
            </a:r>
          </a:p>
        </p:txBody>
      </p:sp>
      <p:sp>
        <p:nvSpPr>
          <p:cNvPr id="24" name="TextBox 23">
            <a:extLst>
              <a:ext uri="{FF2B5EF4-FFF2-40B4-BE49-F238E27FC236}">
                <a16:creationId xmlns:a16="http://schemas.microsoft.com/office/drawing/2014/main" id="{3315191E-2252-AB7C-1645-B7801D006A98}"/>
              </a:ext>
            </a:extLst>
          </p:cNvPr>
          <p:cNvSpPr txBox="1"/>
          <p:nvPr/>
        </p:nvSpPr>
        <p:spPr>
          <a:xfrm>
            <a:off x="3797300" y="3200400"/>
            <a:ext cx="11430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Navigate / action / question</a:t>
            </a:r>
          </a:p>
        </p:txBody>
      </p:sp>
      <p:cxnSp>
        <p:nvCxnSpPr>
          <p:cNvPr id="25" name="Straight Connector 24">
            <a:extLst>
              <a:ext uri="{FF2B5EF4-FFF2-40B4-BE49-F238E27FC236}">
                <a16:creationId xmlns:a16="http://schemas.microsoft.com/office/drawing/2014/main" id="{15433055-DAF6-C1C4-28EC-1FAD65785C36}"/>
              </a:ext>
            </a:extLst>
          </p:cNvPr>
          <p:cNvCxnSpPr/>
          <p:nvPr/>
        </p:nvCxnSpPr>
        <p:spPr>
          <a:xfrm>
            <a:off x="5130800" y="327025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9519F1A9-2F70-E7C8-7ADE-5EE623DBEA5F}"/>
              </a:ext>
            </a:extLst>
          </p:cNvPr>
          <p:cNvSpPr/>
          <p:nvPr/>
        </p:nvSpPr>
        <p:spPr>
          <a:xfrm>
            <a:off x="5308600" y="2286000"/>
            <a:ext cx="1422400" cy="1968500"/>
          </a:xfrm>
          <a:prstGeom prst="roundRect">
            <a:avLst/>
          </a:prstGeom>
          <a:solidFill>
            <a:srgbClr val="FFFFFF"/>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DF89E0B-0E31-BA06-0446-CD4B57121FE7}"/>
              </a:ext>
            </a:extLst>
          </p:cNvPr>
          <p:cNvSpPr/>
          <p:nvPr/>
        </p:nvSpPr>
        <p:spPr>
          <a:xfrm>
            <a:off x="5308600" y="2286000"/>
            <a:ext cx="1422400" cy="889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8BF5D999-8126-4D18-86A8-288B043E8F8D}"/>
              </a:ext>
            </a:extLst>
          </p:cNvPr>
          <p:cNvSpPr txBox="1"/>
          <p:nvPr/>
        </p:nvSpPr>
        <p:spPr>
          <a:xfrm>
            <a:off x="5435600" y="2578100"/>
            <a:ext cx="11684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Propose</a:t>
            </a:r>
          </a:p>
        </p:txBody>
      </p:sp>
      <p:sp>
        <p:nvSpPr>
          <p:cNvPr id="29" name="TextBox 28">
            <a:extLst>
              <a:ext uri="{FF2B5EF4-FFF2-40B4-BE49-F238E27FC236}">
                <a16:creationId xmlns:a16="http://schemas.microsoft.com/office/drawing/2014/main" id="{FC01B4A1-807B-96FB-7A86-1F45DAA5F757}"/>
              </a:ext>
            </a:extLst>
          </p:cNvPr>
          <p:cNvSpPr txBox="1"/>
          <p:nvPr/>
        </p:nvSpPr>
        <p:spPr>
          <a:xfrm>
            <a:off x="5448300" y="3200400"/>
            <a:ext cx="1143000" cy="141577"/>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Canonical command</a:t>
            </a:r>
          </a:p>
        </p:txBody>
      </p:sp>
      <p:cxnSp>
        <p:nvCxnSpPr>
          <p:cNvPr id="30" name="Straight Connector 29">
            <a:extLst>
              <a:ext uri="{FF2B5EF4-FFF2-40B4-BE49-F238E27FC236}">
                <a16:creationId xmlns:a16="http://schemas.microsoft.com/office/drawing/2014/main" id="{7EF59995-9940-DE60-FF8B-D08F29D07A23}"/>
              </a:ext>
            </a:extLst>
          </p:cNvPr>
          <p:cNvCxnSpPr/>
          <p:nvPr/>
        </p:nvCxnSpPr>
        <p:spPr>
          <a:xfrm>
            <a:off x="6781800" y="327025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2DBFD686-9C7D-ACEC-D779-E7784F19A10D}"/>
              </a:ext>
            </a:extLst>
          </p:cNvPr>
          <p:cNvSpPr/>
          <p:nvPr/>
        </p:nvSpPr>
        <p:spPr>
          <a:xfrm>
            <a:off x="6959600" y="2286000"/>
            <a:ext cx="1422400" cy="1968500"/>
          </a:xfrm>
          <a:prstGeom prst="roundRect">
            <a:avLst/>
          </a:prstGeom>
          <a:solidFill>
            <a:srgbClr val="FFFFFF"/>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9B7CCF0-904A-BC64-0248-656DD3CA18B9}"/>
              </a:ext>
            </a:extLst>
          </p:cNvPr>
          <p:cNvSpPr/>
          <p:nvPr/>
        </p:nvSpPr>
        <p:spPr>
          <a:xfrm>
            <a:off x="6959600" y="2286000"/>
            <a:ext cx="1422400" cy="889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DECFD75-3216-99CA-93FC-095954362C8D}"/>
              </a:ext>
            </a:extLst>
          </p:cNvPr>
          <p:cNvSpPr txBox="1"/>
          <p:nvPr/>
        </p:nvSpPr>
        <p:spPr>
          <a:xfrm>
            <a:off x="7086600" y="2578100"/>
            <a:ext cx="11684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Authorize</a:t>
            </a:r>
          </a:p>
        </p:txBody>
      </p:sp>
      <p:sp>
        <p:nvSpPr>
          <p:cNvPr id="34" name="TextBox 33">
            <a:extLst>
              <a:ext uri="{FF2B5EF4-FFF2-40B4-BE49-F238E27FC236}">
                <a16:creationId xmlns:a16="http://schemas.microsoft.com/office/drawing/2014/main" id="{F58726D0-768A-A673-48A0-4DAD60AC753F}"/>
              </a:ext>
            </a:extLst>
          </p:cNvPr>
          <p:cNvSpPr txBox="1"/>
          <p:nvPr/>
        </p:nvSpPr>
        <p:spPr>
          <a:xfrm>
            <a:off x="7099300" y="3200400"/>
            <a:ext cx="1143000" cy="141577"/>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Page + role registry</a:t>
            </a:r>
          </a:p>
        </p:txBody>
      </p:sp>
      <p:cxnSp>
        <p:nvCxnSpPr>
          <p:cNvPr id="35" name="Straight Connector 34">
            <a:extLst>
              <a:ext uri="{FF2B5EF4-FFF2-40B4-BE49-F238E27FC236}">
                <a16:creationId xmlns:a16="http://schemas.microsoft.com/office/drawing/2014/main" id="{B1AF1865-426E-D61B-4918-11280F985E65}"/>
              </a:ext>
            </a:extLst>
          </p:cNvPr>
          <p:cNvCxnSpPr/>
          <p:nvPr/>
        </p:nvCxnSpPr>
        <p:spPr>
          <a:xfrm>
            <a:off x="8432800" y="327025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0EF72656-AADA-9107-8CE6-696CB84C02AB}"/>
              </a:ext>
            </a:extLst>
          </p:cNvPr>
          <p:cNvSpPr/>
          <p:nvPr/>
        </p:nvSpPr>
        <p:spPr>
          <a:xfrm>
            <a:off x="8610600" y="2286000"/>
            <a:ext cx="1422400" cy="19685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9FB3068-00EB-B5E9-452B-41EC35E86A9B}"/>
              </a:ext>
            </a:extLst>
          </p:cNvPr>
          <p:cNvSpPr/>
          <p:nvPr/>
        </p:nvSpPr>
        <p:spPr>
          <a:xfrm>
            <a:off x="8610600" y="2286000"/>
            <a:ext cx="1422400" cy="889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5F09FA4D-1015-8014-C1FF-F3A6201421E1}"/>
              </a:ext>
            </a:extLst>
          </p:cNvPr>
          <p:cNvSpPr txBox="1"/>
          <p:nvPr/>
        </p:nvSpPr>
        <p:spPr>
          <a:xfrm>
            <a:off x="8737600" y="2578100"/>
            <a:ext cx="11684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Execute</a:t>
            </a:r>
          </a:p>
        </p:txBody>
      </p:sp>
      <p:sp>
        <p:nvSpPr>
          <p:cNvPr id="39" name="TextBox 38">
            <a:extLst>
              <a:ext uri="{FF2B5EF4-FFF2-40B4-BE49-F238E27FC236}">
                <a16:creationId xmlns:a16="http://schemas.microsoft.com/office/drawing/2014/main" id="{76A780FB-B720-D88B-7FB4-355A3E410935}"/>
              </a:ext>
            </a:extLst>
          </p:cNvPr>
          <p:cNvSpPr txBox="1"/>
          <p:nvPr/>
        </p:nvSpPr>
        <p:spPr>
          <a:xfrm>
            <a:off x="8750300" y="3200400"/>
            <a:ext cx="1143000" cy="141577"/>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Fixed React behavior</a:t>
            </a:r>
          </a:p>
        </p:txBody>
      </p:sp>
      <p:cxnSp>
        <p:nvCxnSpPr>
          <p:cNvPr id="40" name="Straight Connector 39">
            <a:extLst>
              <a:ext uri="{FF2B5EF4-FFF2-40B4-BE49-F238E27FC236}">
                <a16:creationId xmlns:a16="http://schemas.microsoft.com/office/drawing/2014/main" id="{FA0C266A-F7FA-7BA4-FD7D-DF94B121386A}"/>
              </a:ext>
            </a:extLst>
          </p:cNvPr>
          <p:cNvCxnSpPr/>
          <p:nvPr/>
        </p:nvCxnSpPr>
        <p:spPr>
          <a:xfrm>
            <a:off x="10083800" y="327025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41" name="Rectangle: Rounded Corners 40">
            <a:extLst>
              <a:ext uri="{FF2B5EF4-FFF2-40B4-BE49-F238E27FC236}">
                <a16:creationId xmlns:a16="http://schemas.microsoft.com/office/drawing/2014/main" id="{01B9B702-56F1-4863-6D63-85835EBDDB9D}"/>
              </a:ext>
            </a:extLst>
          </p:cNvPr>
          <p:cNvSpPr/>
          <p:nvPr/>
        </p:nvSpPr>
        <p:spPr>
          <a:xfrm>
            <a:off x="10261600" y="2286000"/>
            <a:ext cx="1422400" cy="19685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C494BEE2-9F0B-E7FE-35F5-BC6AF9A0C6E4}"/>
              </a:ext>
            </a:extLst>
          </p:cNvPr>
          <p:cNvSpPr/>
          <p:nvPr/>
        </p:nvSpPr>
        <p:spPr>
          <a:xfrm>
            <a:off x="10261600" y="2286000"/>
            <a:ext cx="1422400" cy="889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BFE10D92-7664-F07B-6AF5-F8A69DA13322}"/>
              </a:ext>
            </a:extLst>
          </p:cNvPr>
          <p:cNvSpPr txBox="1"/>
          <p:nvPr/>
        </p:nvSpPr>
        <p:spPr>
          <a:xfrm>
            <a:off x="10388600" y="2578100"/>
            <a:ext cx="11684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Feedback</a:t>
            </a:r>
          </a:p>
        </p:txBody>
      </p:sp>
      <p:sp>
        <p:nvSpPr>
          <p:cNvPr id="44" name="TextBox 43">
            <a:extLst>
              <a:ext uri="{FF2B5EF4-FFF2-40B4-BE49-F238E27FC236}">
                <a16:creationId xmlns:a16="http://schemas.microsoft.com/office/drawing/2014/main" id="{38DB85AF-7F7D-18D4-0550-B0D3703A2CEF}"/>
              </a:ext>
            </a:extLst>
          </p:cNvPr>
          <p:cNvSpPr txBox="1"/>
          <p:nvPr/>
        </p:nvSpPr>
        <p:spPr>
          <a:xfrm>
            <a:off x="10401300" y="3200400"/>
            <a:ext cx="1143000" cy="141577"/>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Visual + spoken</a:t>
            </a:r>
          </a:p>
        </p:txBody>
      </p:sp>
      <p:sp>
        <p:nvSpPr>
          <p:cNvPr id="45" name="Rectangle: Rounded Corners 44">
            <a:extLst>
              <a:ext uri="{FF2B5EF4-FFF2-40B4-BE49-F238E27FC236}">
                <a16:creationId xmlns:a16="http://schemas.microsoft.com/office/drawing/2014/main" id="{45DF5CCE-03DF-E16F-34F4-9C4B85030C17}"/>
              </a:ext>
            </a:extLst>
          </p:cNvPr>
          <p:cNvSpPr/>
          <p:nvPr/>
        </p:nvSpPr>
        <p:spPr>
          <a:xfrm>
            <a:off x="736600" y="4660900"/>
            <a:ext cx="10718800" cy="1168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8536F1A6-ED4B-2BD0-27B0-E5FC310246C4}"/>
              </a:ext>
            </a:extLst>
          </p:cNvPr>
          <p:cNvSpPr txBox="1"/>
          <p:nvPr/>
        </p:nvSpPr>
        <p:spPr>
          <a:xfrm>
            <a:off x="990600" y="4902200"/>
            <a:ext cx="1397000" cy="153888"/>
          </a:xfrm>
          <a:prstGeom prst="rect">
            <a:avLst/>
          </a:prstGeom>
          <a:noFill/>
        </p:spPr>
        <p:txBody>
          <a:bodyPr vert="horz" wrap="square" lIns="0" tIns="0" rIns="0" bIns="0" rtlCol="0">
            <a:spAutoFit/>
          </a:bodyPr>
          <a:lstStyle/>
          <a:p>
            <a:r>
              <a:rPr lang="en-US" sz="1000" b="1">
                <a:solidFill>
                  <a:srgbClr val="563A4B"/>
                </a:solidFill>
                <a:latin typeface="Aptos" panose="020B0004020202020204" pitchFamily="34" charset="0"/>
              </a:rPr>
              <a:t>Safety boundary</a:t>
            </a:r>
          </a:p>
        </p:txBody>
      </p:sp>
      <p:sp>
        <p:nvSpPr>
          <p:cNvPr id="47" name="TextBox 46">
            <a:extLst>
              <a:ext uri="{FF2B5EF4-FFF2-40B4-BE49-F238E27FC236}">
                <a16:creationId xmlns:a16="http://schemas.microsoft.com/office/drawing/2014/main" id="{46465A15-673E-48E7-DF26-DA6273F5EAD2}"/>
              </a:ext>
            </a:extLst>
          </p:cNvPr>
          <p:cNvSpPr txBox="1"/>
          <p:nvPr/>
        </p:nvSpPr>
        <p:spPr>
          <a:xfrm>
            <a:off x="2540000" y="4851400"/>
            <a:ext cx="8509000" cy="146194"/>
          </a:xfrm>
          <a:prstGeom prst="rect">
            <a:avLst/>
          </a:prstGeom>
          <a:noFill/>
        </p:spPr>
        <p:txBody>
          <a:bodyPr vert="horz" wrap="square" lIns="0" tIns="0" rIns="0" bIns="0" rtlCol="0">
            <a:spAutoFit/>
          </a:bodyPr>
          <a:lstStyle/>
          <a:p>
            <a:r>
              <a:rPr lang="en-US" sz="950">
                <a:solidFill>
                  <a:srgbClr val="17243A"/>
                </a:solidFill>
                <a:latin typeface="Aptos" panose="020B0004020202020204" pitchFamily="34" charset="0"/>
              </a:rPr>
              <a:t>Unregistered routes and cross-role actions are rejected. Submission and reset require confirmation. Context is sanitized and bounded to six turns.</a:t>
            </a:r>
          </a:p>
        </p:txBody>
      </p:sp>
      <p:sp>
        <p:nvSpPr>
          <p:cNvPr id="48" name="TextBox 47">
            <a:extLst>
              <a:ext uri="{FF2B5EF4-FFF2-40B4-BE49-F238E27FC236}">
                <a16:creationId xmlns:a16="http://schemas.microsoft.com/office/drawing/2014/main" id="{8804C349-E229-467B-85D2-405E413C0779}"/>
              </a:ext>
            </a:extLst>
          </p:cNvPr>
          <p:cNvSpPr txBox="1"/>
          <p:nvPr/>
        </p:nvSpPr>
        <p:spPr>
          <a:xfrm>
            <a:off x="990600" y="5384800"/>
            <a:ext cx="10033000" cy="133883"/>
          </a:xfrm>
          <a:prstGeom prst="rect">
            <a:avLst/>
          </a:prstGeom>
          <a:noFill/>
        </p:spPr>
        <p:txBody>
          <a:bodyPr vert="horz" wrap="square" lIns="0" tIns="0" rIns="0" bIns="0" rtlCol="0">
            <a:spAutoFit/>
          </a:bodyPr>
          <a:lstStyle/>
          <a:p>
            <a:r>
              <a:rPr lang="en-US" sz="870" b="1">
                <a:solidFill>
                  <a:srgbClr val="0B1F49"/>
                </a:solidFill>
                <a:latin typeface="Aptos" panose="020B0004020202020204" pitchFamily="34" charset="0"/>
              </a:rPr>
              <a:t>Evidence: 57/57 automated registry/action-safety checks passed. Quiet commands worked reliably; background noise and dictated email characters required correction in some trials.</a:t>
            </a:r>
          </a:p>
        </p:txBody>
      </p:sp>
    </p:spTree>
    <p:extLst>
      <p:ext uri="{BB962C8B-B14F-4D97-AF65-F5344CB8AC3E}">
        <p14:creationId xmlns:p14="http://schemas.microsoft.com/office/powerpoint/2010/main" val="622416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5B31BD-BB5D-228B-669F-1A57D5BE8E44}"/>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7345B11-E715-5D9E-2D84-D7933E7BF4BD}"/>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CORE DECISION ENGINE</a:t>
            </a:r>
          </a:p>
        </p:txBody>
      </p:sp>
      <p:sp>
        <p:nvSpPr>
          <p:cNvPr id="4" name="TextBox 3">
            <a:extLst>
              <a:ext uri="{FF2B5EF4-FFF2-40B4-BE49-F238E27FC236}">
                <a16:creationId xmlns:a16="http://schemas.microsoft.com/office/drawing/2014/main" id="{15891D8F-07E5-B011-C732-C11E2B2B6345}"/>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Deterministic compatibility: explainable by construction</a:t>
            </a:r>
          </a:p>
        </p:txBody>
      </p:sp>
      <p:sp>
        <p:nvSpPr>
          <p:cNvPr id="5" name="TextBox 4">
            <a:extLst>
              <a:ext uri="{FF2B5EF4-FFF2-40B4-BE49-F238E27FC236}">
                <a16:creationId xmlns:a16="http://schemas.microsoft.com/office/drawing/2014/main" id="{ADEE0821-FC69-EDB3-BF5F-A217396DED40}"/>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Matching uses controlled expert assessments rather than a learned model trained on unavailable employment outcomes.</a:t>
            </a:r>
          </a:p>
        </p:txBody>
      </p:sp>
      <p:pic>
        <p:nvPicPr>
          <p:cNvPr id="7" name="Picture 6" descr="Universite Saint-Joseph and ESIB mark">
            <a:extLst>
              <a:ext uri="{FF2B5EF4-FFF2-40B4-BE49-F238E27FC236}">
                <a16:creationId xmlns:a16="http://schemas.microsoft.com/office/drawing/2014/main" id="{3706F7B1-36DA-00E0-C409-C9FED3F56A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57A0910F-2C67-704B-C557-0C5DADDEE312}"/>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9AF3787-F12C-6246-43A0-3D47B04BC753}"/>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354D80D0-83C3-A90B-FE4E-E8DD0C6364F2}"/>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17</a:t>
            </a:r>
          </a:p>
        </p:txBody>
      </p:sp>
      <p:sp>
        <p:nvSpPr>
          <p:cNvPr id="11" name="Rectangle: Rounded Corners 10">
            <a:extLst>
              <a:ext uri="{FF2B5EF4-FFF2-40B4-BE49-F238E27FC236}">
                <a16:creationId xmlns:a16="http://schemas.microsoft.com/office/drawing/2014/main" id="{D5B19AC2-11C0-4F32-8355-13AC7F3DB206}"/>
              </a:ext>
            </a:extLst>
          </p:cNvPr>
          <p:cNvSpPr/>
          <p:nvPr/>
        </p:nvSpPr>
        <p:spPr>
          <a:xfrm>
            <a:off x="609600" y="1841500"/>
            <a:ext cx="6350000" cy="38100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646E994-8770-05EB-128C-042DF86DB4BD}"/>
              </a:ext>
            </a:extLst>
          </p:cNvPr>
          <p:cNvSpPr txBox="1"/>
          <p:nvPr/>
        </p:nvSpPr>
        <p:spPr>
          <a:xfrm>
            <a:off x="965200" y="2209800"/>
            <a:ext cx="2286000" cy="261610"/>
          </a:xfrm>
          <a:prstGeom prst="rect">
            <a:avLst/>
          </a:prstGeom>
          <a:noFill/>
        </p:spPr>
        <p:txBody>
          <a:bodyPr vert="horz" wrap="square" lIns="0" tIns="0" rIns="0" bIns="0" rtlCol="0">
            <a:spAutoFit/>
          </a:bodyPr>
          <a:lstStyle/>
          <a:p>
            <a:r>
              <a:rPr lang="en-US" sz="1700" b="1">
                <a:solidFill>
                  <a:srgbClr val="FFFFFF"/>
                </a:solidFill>
                <a:latin typeface="Aptos Display" panose="020B0004020202020204" pitchFamily="34" charset="0"/>
              </a:rPr>
              <a:t>Task score</a:t>
            </a:r>
          </a:p>
        </p:txBody>
      </p:sp>
      <p:sp>
        <p:nvSpPr>
          <p:cNvPr id="13" name="TextBox 12">
            <a:extLst>
              <a:ext uri="{FF2B5EF4-FFF2-40B4-BE49-F238E27FC236}">
                <a16:creationId xmlns:a16="http://schemas.microsoft.com/office/drawing/2014/main" id="{0088012D-0A47-8161-C7F6-3B24127652BB}"/>
              </a:ext>
            </a:extLst>
          </p:cNvPr>
          <p:cNvSpPr txBox="1"/>
          <p:nvPr/>
        </p:nvSpPr>
        <p:spPr>
          <a:xfrm>
            <a:off x="965200" y="2794000"/>
            <a:ext cx="5334000" cy="200055"/>
          </a:xfrm>
          <a:prstGeom prst="rect">
            <a:avLst/>
          </a:prstGeom>
          <a:noFill/>
        </p:spPr>
        <p:txBody>
          <a:bodyPr vert="horz" wrap="square" lIns="0" tIns="0" rIns="0" bIns="0" rtlCol="0">
            <a:spAutoFit/>
          </a:bodyPr>
          <a:lstStyle/>
          <a:p>
            <a:r>
              <a:rPr lang="en-US" sz="1300" b="1">
                <a:solidFill>
                  <a:srgbClr val="FFFFFF"/>
                </a:solidFill>
                <a:latin typeface="Aptos" panose="020B0004020202020204" pitchFamily="34" charset="0"/>
              </a:rPr>
              <a:t>Sum(adjusted weight x feasibility factor)</a:t>
            </a:r>
          </a:p>
        </p:txBody>
      </p:sp>
      <p:cxnSp>
        <p:nvCxnSpPr>
          <p:cNvPr id="14" name="Straight Connector 13">
            <a:extLst>
              <a:ext uri="{FF2B5EF4-FFF2-40B4-BE49-F238E27FC236}">
                <a16:creationId xmlns:a16="http://schemas.microsoft.com/office/drawing/2014/main" id="{972AE5A9-48E8-8F73-1B05-DCACDF3BE623}"/>
              </a:ext>
            </a:extLst>
          </p:cNvPr>
          <p:cNvCxnSpPr/>
          <p:nvPr/>
        </p:nvCxnSpPr>
        <p:spPr>
          <a:xfrm>
            <a:off x="965200" y="3187700"/>
            <a:ext cx="4673600" cy="0"/>
          </a:xfrm>
          <a:prstGeom prst="line">
            <a:avLst/>
          </a:prstGeom>
          <a:ln w="16510">
            <a:solidFill>
              <a:srgbClr val="DDE7F5"/>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EF25B12-8791-9F61-49AE-C3B510C24548}"/>
              </a:ext>
            </a:extLst>
          </p:cNvPr>
          <p:cNvSpPr txBox="1"/>
          <p:nvPr/>
        </p:nvSpPr>
        <p:spPr>
          <a:xfrm>
            <a:off x="965200" y="3378200"/>
            <a:ext cx="5334000" cy="200055"/>
          </a:xfrm>
          <a:prstGeom prst="rect">
            <a:avLst/>
          </a:prstGeom>
          <a:noFill/>
        </p:spPr>
        <p:txBody>
          <a:bodyPr vert="horz" wrap="square" lIns="0" tIns="0" rIns="0" bIns="0" rtlCol="0">
            <a:spAutoFit/>
          </a:bodyPr>
          <a:lstStyle/>
          <a:p>
            <a:r>
              <a:rPr lang="en-US" sz="1300" b="1">
                <a:solidFill>
                  <a:srgbClr val="FFFFFF"/>
                </a:solidFill>
                <a:latin typeface="Aptos" panose="020B0004020202020204" pitchFamily="34" charset="0"/>
              </a:rPr>
              <a:t>Sum(adjusted weight)  x 100</a:t>
            </a:r>
          </a:p>
        </p:txBody>
      </p:sp>
      <p:sp>
        <p:nvSpPr>
          <p:cNvPr id="16" name="TextBox 15">
            <a:extLst>
              <a:ext uri="{FF2B5EF4-FFF2-40B4-BE49-F238E27FC236}">
                <a16:creationId xmlns:a16="http://schemas.microsoft.com/office/drawing/2014/main" id="{25083194-359D-E2C3-63E7-37073695B2AA}"/>
              </a:ext>
            </a:extLst>
          </p:cNvPr>
          <p:cNvSpPr txBox="1"/>
          <p:nvPr/>
        </p:nvSpPr>
        <p:spPr>
          <a:xfrm>
            <a:off x="965200" y="4064000"/>
            <a:ext cx="5397500" cy="603242"/>
          </a:xfrm>
          <a:prstGeom prst="rect">
            <a:avLst/>
          </a:prstGeom>
          <a:noFill/>
        </p:spPr>
        <p:txBody>
          <a:bodyPr vert="horz" wrap="square" lIns="0" tIns="0" rIns="0" bIns="0" rtlCol="0">
            <a:spAutoFit/>
          </a:bodyPr>
          <a:lstStyle/>
          <a:p>
            <a:r>
              <a:rPr lang="en-US" sz="980">
                <a:solidFill>
                  <a:srgbClr val="DDE7F5"/>
                </a:solidFill>
                <a:latin typeface="Aptos" panose="020B0004020202020204" pitchFamily="34" charset="0"/>
              </a:rPr>
              <a:t>Feasibility: 1.00 feasible | 0.75 with offered assistance | 0.00 avoid
Important task multiplier: 1.5
Practical abilities: 25% and education: 10% when configured
Unsafe mandatory tasks and required abilities remain explicit gates</a:t>
            </a:r>
          </a:p>
        </p:txBody>
      </p:sp>
      <p:sp>
        <p:nvSpPr>
          <p:cNvPr id="17" name="Rectangle: Rounded Corners 16">
            <a:extLst>
              <a:ext uri="{FF2B5EF4-FFF2-40B4-BE49-F238E27FC236}">
                <a16:creationId xmlns:a16="http://schemas.microsoft.com/office/drawing/2014/main" id="{75BA2F12-7594-1FD6-B272-465D15A1DC94}"/>
              </a:ext>
            </a:extLst>
          </p:cNvPr>
          <p:cNvSpPr/>
          <p:nvPr/>
        </p:nvSpPr>
        <p:spPr>
          <a:xfrm>
            <a:off x="7493000" y="1841500"/>
            <a:ext cx="4089400" cy="2794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Candidate compatibility results with explanation">
            <a:extLst>
              <a:ext uri="{FF2B5EF4-FFF2-40B4-BE49-F238E27FC236}">
                <a16:creationId xmlns:a16="http://schemas.microsoft.com/office/drawing/2014/main" id="{B772119B-B7DC-124E-722B-9C8644782F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31100" y="1984375"/>
            <a:ext cx="4013200" cy="2508250"/>
          </a:xfrm>
          <a:prstGeom prst="rect">
            <a:avLst/>
          </a:prstGeom>
        </p:spPr>
      </p:pic>
      <p:sp>
        <p:nvSpPr>
          <p:cNvPr id="20" name="Rectangle: Rounded Corners 19">
            <a:extLst>
              <a:ext uri="{FF2B5EF4-FFF2-40B4-BE49-F238E27FC236}">
                <a16:creationId xmlns:a16="http://schemas.microsoft.com/office/drawing/2014/main" id="{AA305D9D-FDC4-6E89-5FC1-DCF85FFEA330}"/>
              </a:ext>
            </a:extLst>
          </p:cNvPr>
          <p:cNvSpPr/>
          <p:nvPr/>
        </p:nvSpPr>
        <p:spPr>
          <a:xfrm>
            <a:off x="7493000" y="4851400"/>
            <a:ext cx="40894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5A452632-8764-BED9-4254-95C5BD0F803D}"/>
              </a:ext>
            </a:extLst>
          </p:cNvPr>
          <p:cNvSpPr/>
          <p:nvPr/>
        </p:nvSpPr>
        <p:spPr>
          <a:xfrm>
            <a:off x="7493000" y="4851400"/>
            <a:ext cx="63500" cy="9144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CAECE34-B60F-FB9B-E8CF-CDE8D3AEDD89}"/>
              </a:ext>
            </a:extLst>
          </p:cNvPr>
          <p:cNvSpPr txBox="1"/>
          <p:nvPr/>
        </p:nvSpPr>
        <p:spPr>
          <a:xfrm>
            <a:off x="7696200" y="4991100"/>
            <a:ext cx="37846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45 / 45</a:t>
            </a:r>
          </a:p>
        </p:txBody>
      </p:sp>
      <p:sp>
        <p:nvSpPr>
          <p:cNvPr id="23" name="TextBox 22">
            <a:extLst>
              <a:ext uri="{FF2B5EF4-FFF2-40B4-BE49-F238E27FC236}">
                <a16:creationId xmlns:a16="http://schemas.microsoft.com/office/drawing/2014/main" id="{39539226-402D-74D2-CD6D-EC2929F358D6}"/>
              </a:ext>
            </a:extLst>
          </p:cNvPr>
          <p:cNvSpPr txBox="1"/>
          <p:nvPr/>
        </p:nvSpPr>
        <p:spPr>
          <a:xfrm>
            <a:off x="7696200" y="5397500"/>
            <a:ext cx="37846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staging formula, eligibility and determinism cases passed</a:t>
            </a:r>
          </a:p>
        </p:txBody>
      </p:sp>
    </p:spTree>
    <p:extLst>
      <p:ext uri="{BB962C8B-B14F-4D97-AF65-F5344CB8AC3E}">
        <p14:creationId xmlns:p14="http://schemas.microsoft.com/office/powerpoint/2010/main" val="38163938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71B05B-BCE5-BD42-EE74-31FDEF06CF67}"/>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A573AC9-4E41-11AC-A5D8-3C40226E55E9}"/>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EMPLOYER WORKFLOW</a:t>
            </a:r>
          </a:p>
        </p:txBody>
      </p:sp>
      <p:sp>
        <p:nvSpPr>
          <p:cNvPr id="4" name="TextBox 3">
            <a:extLst>
              <a:ext uri="{FF2B5EF4-FFF2-40B4-BE49-F238E27FC236}">
                <a16:creationId xmlns:a16="http://schemas.microsoft.com/office/drawing/2014/main" id="{8ABFF721-C42B-B255-A35C-7868BC887914}"/>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From controlled role to published job or training program</a:t>
            </a:r>
          </a:p>
        </p:txBody>
      </p:sp>
      <p:sp>
        <p:nvSpPr>
          <p:cNvPr id="5" name="TextBox 4">
            <a:extLst>
              <a:ext uri="{FF2B5EF4-FFF2-40B4-BE49-F238E27FC236}">
                <a16:creationId xmlns:a16="http://schemas.microsoft.com/office/drawing/2014/main" id="{6FF38BF0-1CF0-8014-93CC-964EF37C4B6B}"/>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Employers configure the real opportunity; the catalogue supplies consistent tasks and matching inputs.</a:t>
            </a:r>
          </a:p>
        </p:txBody>
      </p:sp>
      <p:pic>
        <p:nvPicPr>
          <p:cNvPr id="7" name="Picture 6" descr="Universite Saint-Joseph and ESIB mark">
            <a:extLst>
              <a:ext uri="{FF2B5EF4-FFF2-40B4-BE49-F238E27FC236}">
                <a16:creationId xmlns:a16="http://schemas.microsoft.com/office/drawing/2014/main" id="{F9FF6270-66D4-E683-BABE-E810AE259E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14794FCD-72E9-8E6F-5D9B-2D3063A64F27}"/>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5E98844-FE1B-AD11-123D-AE32284BEDED}"/>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9D46C89E-0E01-518C-EB32-A91580DA11F6}"/>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18</a:t>
            </a:r>
          </a:p>
        </p:txBody>
      </p:sp>
      <p:sp>
        <p:nvSpPr>
          <p:cNvPr id="11" name="Rectangle: Rounded Corners 10">
            <a:extLst>
              <a:ext uri="{FF2B5EF4-FFF2-40B4-BE49-F238E27FC236}">
                <a16:creationId xmlns:a16="http://schemas.microsoft.com/office/drawing/2014/main" id="{D9EC87E6-BFB8-07C8-1AD2-FF5DC74EE809}"/>
              </a:ext>
            </a:extLst>
          </p:cNvPr>
          <p:cNvSpPr/>
          <p:nvPr/>
        </p:nvSpPr>
        <p:spPr>
          <a:xfrm>
            <a:off x="609600" y="2222500"/>
            <a:ext cx="1524000" cy="22860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0916548-6A31-DC3C-C1B1-08B4168CDF7D}"/>
              </a:ext>
            </a:extLst>
          </p:cNvPr>
          <p:cNvSpPr/>
          <p:nvPr/>
        </p:nvSpPr>
        <p:spPr>
          <a:xfrm>
            <a:off x="609600" y="2222500"/>
            <a:ext cx="1524000" cy="889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73B6DF1D-3451-D627-5232-C579168A713E}"/>
              </a:ext>
            </a:extLst>
          </p:cNvPr>
          <p:cNvSpPr txBox="1"/>
          <p:nvPr/>
        </p:nvSpPr>
        <p:spPr>
          <a:xfrm>
            <a:off x="7366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Choose type</a:t>
            </a:r>
          </a:p>
        </p:txBody>
      </p:sp>
      <p:sp>
        <p:nvSpPr>
          <p:cNvPr id="14" name="TextBox 13">
            <a:extLst>
              <a:ext uri="{FF2B5EF4-FFF2-40B4-BE49-F238E27FC236}">
                <a16:creationId xmlns:a16="http://schemas.microsoft.com/office/drawing/2014/main" id="{DD7DDD6F-0ACB-B06E-AFD6-757384E95767}"/>
              </a:ext>
            </a:extLst>
          </p:cNvPr>
          <p:cNvSpPr txBox="1"/>
          <p:nvPr/>
        </p:nvSpPr>
        <p:spPr>
          <a:xfrm>
            <a:off x="7493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Job or hospitality training</a:t>
            </a:r>
          </a:p>
        </p:txBody>
      </p:sp>
      <p:cxnSp>
        <p:nvCxnSpPr>
          <p:cNvPr id="15" name="Straight Connector 14">
            <a:extLst>
              <a:ext uri="{FF2B5EF4-FFF2-40B4-BE49-F238E27FC236}">
                <a16:creationId xmlns:a16="http://schemas.microsoft.com/office/drawing/2014/main" id="{CB015AE0-7042-132C-0D13-B182EE45FDA1}"/>
              </a:ext>
            </a:extLst>
          </p:cNvPr>
          <p:cNvCxnSpPr/>
          <p:nvPr/>
        </p:nvCxnSpPr>
        <p:spPr>
          <a:xfrm>
            <a:off x="2184400" y="33655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D93560E2-6884-0EC1-3A3E-30C43D7D5DA8}"/>
              </a:ext>
            </a:extLst>
          </p:cNvPr>
          <p:cNvSpPr/>
          <p:nvPr/>
        </p:nvSpPr>
        <p:spPr>
          <a:xfrm>
            <a:off x="2438400" y="2222500"/>
            <a:ext cx="1524000" cy="22860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CAABA31-3796-DD63-D439-19AAA191E09A}"/>
              </a:ext>
            </a:extLst>
          </p:cNvPr>
          <p:cNvSpPr/>
          <p:nvPr/>
        </p:nvSpPr>
        <p:spPr>
          <a:xfrm>
            <a:off x="2438400" y="2222500"/>
            <a:ext cx="1524000" cy="889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E1E3D5D2-B43D-ED1F-8FC1-198A5C0EC050}"/>
              </a:ext>
            </a:extLst>
          </p:cNvPr>
          <p:cNvSpPr txBox="1"/>
          <p:nvPr/>
        </p:nvSpPr>
        <p:spPr>
          <a:xfrm>
            <a:off x="25654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Choose role</a:t>
            </a:r>
          </a:p>
        </p:txBody>
      </p:sp>
      <p:sp>
        <p:nvSpPr>
          <p:cNvPr id="19" name="TextBox 18">
            <a:extLst>
              <a:ext uri="{FF2B5EF4-FFF2-40B4-BE49-F238E27FC236}">
                <a16:creationId xmlns:a16="http://schemas.microsoft.com/office/drawing/2014/main" id="{50B0998A-01F5-2934-4F97-3D16E4FF0F3C}"/>
              </a:ext>
            </a:extLst>
          </p:cNvPr>
          <p:cNvSpPr txBox="1"/>
          <p:nvPr/>
        </p:nvSpPr>
        <p:spPr>
          <a:xfrm>
            <a:off x="25781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One of 15 controlled positions</a:t>
            </a:r>
          </a:p>
        </p:txBody>
      </p:sp>
      <p:cxnSp>
        <p:nvCxnSpPr>
          <p:cNvPr id="20" name="Straight Connector 19">
            <a:extLst>
              <a:ext uri="{FF2B5EF4-FFF2-40B4-BE49-F238E27FC236}">
                <a16:creationId xmlns:a16="http://schemas.microsoft.com/office/drawing/2014/main" id="{BF7C9994-737D-D2DA-2048-E6D9F6952D4E}"/>
              </a:ext>
            </a:extLst>
          </p:cNvPr>
          <p:cNvCxnSpPr/>
          <p:nvPr/>
        </p:nvCxnSpPr>
        <p:spPr>
          <a:xfrm>
            <a:off x="4013200" y="33655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F10ED664-8A0E-954F-ED68-FCA66A37BF79}"/>
              </a:ext>
            </a:extLst>
          </p:cNvPr>
          <p:cNvSpPr/>
          <p:nvPr/>
        </p:nvSpPr>
        <p:spPr>
          <a:xfrm>
            <a:off x="4267200" y="2222500"/>
            <a:ext cx="1524000" cy="2286000"/>
          </a:xfrm>
          <a:prstGeom prst="roundRect">
            <a:avLst/>
          </a:prstGeom>
          <a:solidFill>
            <a:srgbClr val="FFFFFF"/>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1D2D553D-E9A9-879E-68B0-8576FC0029F6}"/>
              </a:ext>
            </a:extLst>
          </p:cNvPr>
          <p:cNvSpPr/>
          <p:nvPr/>
        </p:nvSpPr>
        <p:spPr>
          <a:xfrm>
            <a:off x="4267200" y="2222500"/>
            <a:ext cx="1524000" cy="889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76166DCF-90CC-949C-46BE-7D6BE29D1673}"/>
              </a:ext>
            </a:extLst>
          </p:cNvPr>
          <p:cNvSpPr txBox="1"/>
          <p:nvPr/>
        </p:nvSpPr>
        <p:spPr>
          <a:xfrm>
            <a:off x="43942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Load tasks</a:t>
            </a:r>
          </a:p>
        </p:txBody>
      </p:sp>
      <p:sp>
        <p:nvSpPr>
          <p:cNvPr id="24" name="TextBox 23">
            <a:extLst>
              <a:ext uri="{FF2B5EF4-FFF2-40B4-BE49-F238E27FC236}">
                <a16:creationId xmlns:a16="http://schemas.microsoft.com/office/drawing/2014/main" id="{177D0196-233C-71A8-AA5B-7A624A1C4462}"/>
              </a:ext>
            </a:extLst>
          </p:cNvPr>
          <p:cNvSpPr txBox="1"/>
          <p:nvPr/>
        </p:nvSpPr>
        <p:spPr>
          <a:xfrm>
            <a:off x="44069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Approved catalogue duties</a:t>
            </a:r>
          </a:p>
        </p:txBody>
      </p:sp>
      <p:cxnSp>
        <p:nvCxnSpPr>
          <p:cNvPr id="25" name="Straight Connector 24">
            <a:extLst>
              <a:ext uri="{FF2B5EF4-FFF2-40B4-BE49-F238E27FC236}">
                <a16:creationId xmlns:a16="http://schemas.microsoft.com/office/drawing/2014/main" id="{2BB5F57D-E21C-F90E-DAC6-B532A839B18E}"/>
              </a:ext>
            </a:extLst>
          </p:cNvPr>
          <p:cNvCxnSpPr/>
          <p:nvPr/>
        </p:nvCxnSpPr>
        <p:spPr>
          <a:xfrm>
            <a:off x="5842000" y="33655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4FC07597-D2F1-3F27-9AEC-E55E2EA1AC16}"/>
              </a:ext>
            </a:extLst>
          </p:cNvPr>
          <p:cNvSpPr/>
          <p:nvPr/>
        </p:nvSpPr>
        <p:spPr>
          <a:xfrm>
            <a:off x="6096000" y="2222500"/>
            <a:ext cx="1524000" cy="2286000"/>
          </a:xfrm>
          <a:prstGeom prst="roundRect">
            <a:avLst/>
          </a:prstGeom>
          <a:solidFill>
            <a:srgbClr val="FFFFFF"/>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2CA606C6-F896-A59E-7F8A-A047A53E9BE9}"/>
              </a:ext>
            </a:extLst>
          </p:cNvPr>
          <p:cNvSpPr/>
          <p:nvPr/>
        </p:nvSpPr>
        <p:spPr>
          <a:xfrm>
            <a:off x="6096000" y="2222500"/>
            <a:ext cx="1524000" cy="889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6D7D108F-4B8B-1082-FB4E-27313F4B54E6}"/>
              </a:ext>
            </a:extLst>
          </p:cNvPr>
          <p:cNvSpPr txBox="1"/>
          <p:nvPr/>
        </p:nvSpPr>
        <p:spPr>
          <a:xfrm>
            <a:off x="62230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Set requirements</a:t>
            </a:r>
          </a:p>
        </p:txBody>
      </p:sp>
      <p:sp>
        <p:nvSpPr>
          <p:cNvPr id="29" name="TextBox 28">
            <a:extLst>
              <a:ext uri="{FF2B5EF4-FFF2-40B4-BE49-F238E27FC236}">
                <a16:creationId xmlns:a16="http://schemas.microsoft.com/office/drawing/2014/main" id="{0DBEA6E7-B698-8D49-3288-16F303F828B2}"/>
              </a:ext>
            </a:extLst>
          </p:cNvPr>
          <p:cNvSpPr txBox="1"/>
          <p:nvPr/>
        </p:nvSpPr>
        <p:spPr>
          <a:xfrm>
            <a:off x="62357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Education and practical abilities</a:t>
            </a:r>
          </a:p>
        </p:txBody>
      </p:sp>
      <p:cxnSp>
        <p:nvCxnSpPr>
          <p:cNvPr id="30" name="Straight Connector 29">
            <a:extLst>
              <a:ext uri="{FF2B5EF4-FFF2-40B4-BE49-F238E27FC236}">
                <a16:creationId xmlns:a16="http://schemas.microsoft.com/office/drawing/2014/main" id="{3242FF1A-4AC1-DFC1-B359-CE861101C958}"/>
              </a:ext>
            </a:extLst>
          </p:cNvPr>
          <p:cNvCxnSpPr/>
          <p:nvPr/>
        </p:nvCxnSpPr>
        <p:spPr>
          <a:xfrm>
            <a:off x="7670800" y="33655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E707638E-8070-8A9F-E34F-64587DCF8EF2}"/>
              </a:ext>
            </a:extLst>
          </p:cNvPr>
          <p:cNvSpPr/>
          <p:nvPr/>
        </p:nvSpPr>
        <p:spPr>
          <a:xfrm>
            <a:off x="7924800" y="2222500"/>
            <a:ext cx="1524000" cy="2286000"/>
          </a:xfrm>
          <a:prstGeom prst="roundRect">
            <a:avLst/>
          </a:prstGeom>
          <a:solidFill>
            <a:srgbClr val="FFFFFF"/>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002237F-AEFB-C91B-24A8-10014AB05D9E}"/>
              </a:ext>
            </a:extLst>
          </p:cNvPr>
          <p:cNvSpPr/>
          <p:nvPr/>
        </p:nvSpPr>
        <p:spPr>
          <a:xfrm>
            <a:off x="7924800" y="2222500"/>
            <a:ext cx="1524000" cy="889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BAABAF51-3BC6-DC1C-0428-068612FBA90B}"/>
              </a:ext>
            </a:extLst>
          </p:cNvPr>
          <p:cNvSpPr txBox="1"/>
          <p:nvPr/>
        </p:nvSpPr>
        <p:spPr>
          <a:xfrm>
            <a:off x="80518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Set support</a:t>
            </a:r>
          </a:p>
        </p:txBody>
      </p:sp>
      <p:sp>
        <p:nvSpPr>
          <p:cNvPr id="34" name="TextBox 33">
            <a:extLst>
              <a:ext uri="{FF2B5EF4-FFF2-40B4-BE49-F238E27FC236}">
                <a16:creationId xmlns:a16="http://schemas.microsoft.com/office/drawing/2014/main" id="{22ECC9C1-1F77-7973-F688-81A388EF98C4}"/>
              </a:ext>
            </a:extLst>
          </p:cNvPr>
          <p:cNvSpPr txBox="1"/>
          <p:nvPr/>
        </p:nvSpPr>
        <p:spPr>
          <a:xfrm>
            <a:off x="80645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Important tasks and assistance</a:t>
            </a:r>
          </a:p>
        </p:txBody>
      </p:sp>
      <p:cxnSp>
        <p:nvCxnSpPr>
          <p:cNvPr id="35" name="Straight Connector 34">
            <a:extLst>
              <a:ext uri="{FF2B5EF4-FFF2-40B4-BE49-F238E27FC236}">
                <a16:creationId xmlns:a16="http://schemas.microsoft.com/office/drawing/2014/main" id="{4AAB6EE6-9BB1-A983-1C94-AE28BB9C762A}"/>
              </a:ext>
            </a:extLst>
          </p:cNvPr>
          <p:cNvCxnSpPr/>
          <p:nvPr/>
        </p:nvCxnSpPr>
        <p:spPr>
          <a:xfrm>
            <a:off x="9499600" y="33655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A977D09D-1493-2080-A934-2BBC52ECC1F5}"/>
              </a:ext>
            </a:extLst>
          </p:cNvPr>
          <p:cNvSpPr/>
          <p:nvPr/>
        </p:nvSpPr>
        <p:spPr>
          <a:xfrm>
            <a:off x="9753600" y="2222500"/>
            <a:ext cx="1524000" cy="22860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18A32D6B-7023-85CF-CFAB-33E907605546}"/>
              </a:ext>
            </a:extLst>
          </p:cNvPr>
          <p:cNvSpPr/>
          <p:nvPr/>
        </p:nvSpPr>
        <p:spPr>
          <a:xfrm>
            <a:off x="9753600" y="2222500"/>
            <a:ext cx="1524000" cy="889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9FAAB7A1-5882-049D-7335-190DE45714A0}"/>
              </a:ext>
            </a:extLst>
          </p:cNvPr>
          <p:cNvSpPr txBox="1"/>
          <p:nvPr/>
        </p:nvSpPr>
        <p:spPr>
          <a:xfrm>
            <a:off x="9880600" y="2514600"/>
            <a:ext cx="1270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Publish</a:t>
            </a:r>
          </a:p>
        </p:txBody>
      </p:sp>
      <p:sp>
        <p:nvSpPr>
          <p:cNvPr id="39" name="TextBox 38">
            <a:extLst>
              <a:ext uri="{FF2B5EF4-FFF2-40B4-BE49-F238E27FC236}">
                <a16:creationId xmlns:a16="http://schemas.microsoft.com/office/drawing/2014/main" id="{EBB21E43-608E-D6E9-7251-174937D6BD39}"/>
              </a:ext>
            </a:extLst>
          </p:cNvPr>
          <p:cNvSpPr txBox="1"/>
          <p:nvPr/>
        </p:nvSpPr>
        <p:spPr>
          <a:xfrm>
            <a:off x="9893300" y="3136900"/>
            <a:ext cx="1244600" cy="283154"/>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Backend validation and matching</a:t>
            </a:r>
          </a:p>
        </p:txBody>
      </p:sp>
      <p:sp>
        <p:nvSpPr>
          <p:cNvPr id="40" name="Rectangle: Rounded Corners 39">
            <a:extLst>
              <a:ext uri="{FF2B5EF4-FFF2-40B4-BE49-F238E27FC236}">
                <a16:creationId xmlns:a16="http://schemas.microsoft.com/office/drawing/2014/main" id="{C81DEDCC-4808-A610-70FA-5BB897A29146}"/>
              </a:ext>
            </a:extLst>
          </p:cNvPr>
          <p:cNvSpPr/>
          <p:nvPr/>
        </p:nvSpPr>
        <p:spPr>
          <a:xfrm>
            <a:off x="3492500" y="4851400"/>
            <a:ext cx="5207000" cy="1206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2" name="Picture 41" descr="Employer job or training requirements screen">
            <a:extLst>
              <a:ext uri="{FF2B5EF4-FFF2-40B4-BE49-F238E27FC236}">
                <a16:creationId xmlns:a16="http://schemas.microsoft.com/office/drawing/2014/main" id="{B5A56720-5AA0-8E39-6246-32ADBC6B59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91760" y="4889500"/>
            <a:ext cx="1808480" cy="1130300"/>
          </a:xfrm>
          <a:prstGeom prst="rect">
            <a:avLst/>
          </a:prstGeom>
        </p:spPr>
      </p:pic>
    </p:spTree>
    <p:extLst>
      <p:ext uri="{BB962C8B-B14F-4D97-AF65-F5344CB8AC3E}">
        <p14:creationId xmlns:p14="http://schemas.microsoft.com/office/powerpoint/2010/main" val="371515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3FFA8E-F214-01B6-06A8-1C4F50908BE0}"/>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EFD6B9C-900D-88EC-C33E-830EC1F3B0E4}"/>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INTEGRATED WORKFLOW</a:t>
            </a:r>
          </a:p>
        </p:txBody>
      </p:sp>
      <p:sp>
        <p:nvSpPr>
          <p:cNvPr id="4" name="TextBox 3">
            <a:extLst>
              <a:ext uri="{FF2B5EF4-FFF2-40B4-BE49-F238E27FC236}">
                <a16:creationId xmlns:a16="http://schemas.microsoft.com/office/drawing/2014/main" id="{64C31884-03CA-CD56-6C69-BD16246E1747}"/>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Human-controlled recruitment and auditable outcomes</a:t>
            </a:r>
          </a:p>
        </p:txBody>
      </p:sp>
      <p:sp>
        <p:nvSpPr>
          <p:cNvPr id="5" name="TextBox 4">
            <a:extLst>
              <a:ext uri="{FF2B5EF4-FFF2-40B4-BE49-F238E27FC236}">
                <a16:creationId xmlns:a16="http://schemas.microsoft.com/office/drawing/2014/main" id="{569C2DDC-4402-14FB-7EAB-BC7726F3E8C9}"/>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Each role contributes a bounded decision; no single AI response creates an employment outcome.</a:t>
            </a:r>
          </a:p>
        </p:txBody>
      </p:sp>
      <p:pic>
        <p:nvPicPr>
          <p:cNvPr id="7" name="Picture 6" descr="Universite Saint-Joseph and ESIB mark">
            <a:extLst>
              <a:ext uri="{FF2B5EF4-FFF2-40B4-BE49-F238E27FC236}">
                <a16:creationId xmlns:a16="http://schemas.microsoft.com/office/drawing/2014/main" id="{CAA64FC7-1C08-9C5A-4F89-6DF577D4A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767A9C67-2F3E-F981-4568-02AB9FCB8FB6}"/>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A30DFDC-C149-AFDC-B7B8-A45310A3B2B2}"/>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F7951B82-C86D-4710-20DD-F3E11042A7C2}"/>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19</a:t>
            </a:r>
          </a:p>
        </p:txBody>
      </p:sp>
      <p:sp>
        <p:nvSpPr>
          <p:cNvPr id="11" name="Rectangle: Rounded Corners 10">
            <a:extLst>
              <a:ext uri="{FF2B5EF4-FFF2-40B4-BE49-F238E27FC236}">
                <a16:creationId xmlns:a16="http://schemas.microsoft.com/office/drawing/2014/main" id="{28E52881-8222-B2B2-CCA6-CD68EBA23E2A}"/>
              </a:ext>
            </a:extLst>
          </p:cNvPr>
          <p:cNvSpPr/>
          <p:nvPr/>
        </p:nvSpPr>
        <p:spPr>
          <a:xfrm>
            <a:off x="609600" y="2260600"/>
            <a:ext cx="1905000" cy="24130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5C5905-B88C-BCD3-8926-B4BB294A9D55}"/>
              </a:ext>
            </a:extLst>
          </p:cNvPr>
          <p:cNvSpPr/>
          <p:nvPr/>
        </p:nvSpPr>
        <p:spPr>
          <a:xfrm>
            <a:off x="609600" y="2260600"/>
            <a:ext cx="1905000" cy="889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83659DD-33BE-9B2E-7212-1C1CD3080DDB}"/>
              </a:ext>
            </a:extLst>
          </p:cNvPr>
          <p:cNvSpPr txBox="1"/>
          <p:nvPr/>
        </p:nvSpPr>
        <p:spPr>
          <a:xfrm>
            <a:off x="736600" y="2552700"/>
            <a:ext cx="1651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Candidate</a:t>
            </a:r>
          </a:p>
        </p:txBody>
      </p:sp>
      <p:sp>
        <p:nvSpPr>
          <p:cNvPr id="14" name="TextBox 13">
            <a:extLst>
              <a:ext uri="{FF2B5EF4-FFF2-40B4-BE49-F238E27FC236}">
                <a16:creationId xmlns:a16="http://schemas.microsoft.com/office/drawing/2014/main" id="{A8733F9F-8E82-7E52-4811-E52548BEDABE}"/>
              </a:ext>
            </a:extLst>
          </p:cNvPr>
          <p:cNvSpPr txBox="1"/>
          <p:nvPr/>
        </p:nvSpPr>
        <p:spPr>
          <a:xfrm>
            <a:off x="749300" y="3175000"/>
            <a:ext cx="1625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Verified profile
Interests + abilities
Chooses opportunity</a:t>
            </a:r>
          </a:p>
        </p:txBody>
      </p:sp>
      <p:cxnSp>
        <p:nvCxnSpPr>
          <p:cNvPr id="15" name="Straight Connector 14">
            <a:extLst>
              <a:ext uri="{FF2B5EF4-FFF2-40B4-BE49-F238E27FC236}">
                <a16:creationId xmlns:a16="http://schemas.microsoft.com/office/drawing/2014/main" id="{4655023C-C2F1-9726-D8F4-52C8B9715F75}"/>
              </a:ext>
            </a:extLst>
          </p:cNvPr>
          <p:cNvCxnSpPr/>
          <p:nvPr/>
        </p:nvCxnSpPr>
        <p:spPr>
          <a:xfrm>
            <a:off x="2565400" y="34671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16" name="Rectangle: Rounded Corners 15">
            <a:extLst>
              <a:ext uri="{FF2B5EF4-FFF2-40B4-BE49-F238E27FC236}">
                <a16:creationId xmlns:a16="http://schemas.microsoft.com/office/drawing/2014/main" id="{C77C26A8-4F2E-A2D4-3C0E-2E0807FD5816}"/>
              </a:ext>
            </a:extLst>
          </p:cNvPr>
          <p:cNvSpPr/>
          <p:nvPr/>
        </p:nvSpPr>
        <p:spPr>
          <a:xfrm>
            <a:off x="3022600" y="2260600"/>
            <a:ext cx="1905000" cy="24130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8149862-D3C4-C32B-079C-453ED55F1BFD}"/>
              </a:ext>
            </a:extLst>
          </p:cNvPr>
          <p:cNvSpPr/>
          <p:nvPr/>
        </p:nvSpPr>
        <p:spPr>
          <a:xfrm>
            <a:off x="3022600" y="2260600"/>
            <a:ext cx="1905000" cy="889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98B0152C-26E5-F0B9-3C86-AAAC02A85D00}"/>
              </a:ext>
            </a:extLst>
          </p:cNvPr>
          <p:cNvSpPr txBox="1"/>
          <p:nvPr/>
        </p:nvSpPr>
        <p:spPr>
          <a:xfrm>
            <a:off x="3149600" y="2552700"/>
            <a:ext cx="1651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Compatibility</a:t>
            </a:r>
          </a:p>
        </p:txBody>
      </p:sp>
      <p:sp>
        <p:nvSpPr>
          <p:cNvPr id="19" name="TextBox 18">
            <a:extLst>
              <a:ext uri="{FF2B5EF4-FFF2-40B4-BE49-F238E27FC236}">
                <a16:creationId xmlns:a16="http://schemas.microsoft.com/office/drawing/2014/main" id="{E19F7174-38D9-079B-36BC-FC93C8F26E38}"/>
              </a:ext>
            </a:extLst>
          </p:cNvPr>
          <p:cNvSpPr txBox="1"/>
          <p:nvPr/>
        </p:nvSpPr>
        <p:spPr>
          <a:xfrm>
            <a:off x="3162300" y="3175000"/>
            <a:ext cx="1625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Deterministic score
Task explanation
Eligibility gates</a:t>
            </a:r>
          </a:p>
        </p:txBody>
      </p:sp>
      <p:cxnSp>
        <p:nvCxnSpPr>
          <p:cNvPr id="20" name="Straight Connector 19">
            <a:extLst>
              <a:ext uri="{FF2B5EF4-FFF2-40B4-BE49-F238E27FC236}">
                <a16:creationId xmlns:a16="http://schemas.microsoft.com/office/drawing/2014/main" id="{CF2E0990-E545-A011-2492-3FBA28060537}"/>
              </a:ext>
            </a:extLst>
          </p:cNvPr>
          <p:cNvCxnSpPr/>
          <p:nvPr/>
        </p:nvCxnSpPr>
        <p:spPr>
          <a:xfrm>
            <a:off x="4978400" y="34671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AFD1D76A-8B5A-D2DD-0CFB-6FF0013AF91D}"/>
              </a:ext>
            </a:extLst>
          </p:cNvPr>
          <p:cNvSpPr/>
          <p:nvPr/>
        </p:nvSpPr>
        <p:spPr>
          <a:xfrm>
            <a:off x="5435600" y="2260600"/>
            <a:ext cx="1905000" cy="2413000"/>
          </a:xfrm>
          <a:prstGeom prst="roundRect">
            <a:avLst/>
          </a:prstGeom>
          <a:solidFill>
            <a:srgbClr val="FFFFFF"/>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35CE2CC3-87A2-0112-65B8-06450C0B0421}"/>
              </a:ext>
            </a:extLst>
          </p:cNvPr>
          <p:cNvSpPr/>
          <p:nvPr/>
        </p:nvSpPr>
        <p:spPr>
          <a:xfrm>
            <a:off x="5435600" y="2260600"/>
            <a:ext cx="1905000" cy="889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00A4409-360D-FFB6-A523-9D3AF1AAD436}"/>
              </a:ext>
            </a:extLst>
          </p:cNvPr>
          <p:cNvSpPr txBox="1"/>
          <p:nvPr/>
        </p:nvSpPr>
        <p:spPr>
          <a:xfrm>
            <a:off x="5562600" y="2552700"/>
            <a:ext cx="1651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Application</a:t>
            </a:r>
          </a:p>
        </p:txBody>
      </p:sp>
      <p:sp>
        <p:nvSpPr>
          <p:cNvPr id="24" name="TextBox 23">
            <a:extLst>
              <a:ext uri="{FF2B5EF4-FFF2-40B4-BE49-F238E27FC236}">
                <a16:creationId xmlns:a16="http://schemas.microsoft.com/office/drawing/2014/main" id="{D2B58EF6-AC76-A357-A9EE-93EB9D4D3EAE}"/>
              </a:ext>
            </a:extLst>
          </p:cNvPr>
          <p:cNvSpPr txBox="1"/>
          <p:nvPr/>
        </p:nvSpPr>
        <p:spPr>
          <a:xfrm>
            <a:off x="5575300" y="3175000"/>
            <a:ext cx="1625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Candidate confirms
Documents stay private
Snapshot recorded</a:t>
            </a:r>
          </a:p>
        </p:txBody>
      </p:sp>
      <p:cxnSp>
        <p:nvCxnSpPr>
          <p:cNvPr id="25" name="Straight Connector 24">
            <a:extLst>
              <a:ext uri="{FF2B5EF4-FFF2-40B4-BE49-F238E27FC236}">
                <a16:creationId xmlns:a16="http://schemas.microsoft.com/office/drawing/2014/main" id="{3271D20B-555A-B2FE-0D5D-5AF20ABD8249}"/>
              </a:ext>
            </a:extLst>
          </p:cNvPr>
          <p:cNvCxnSpPr/>
          <p:nvPr/>
        </p:nvCxnSpPr>
        <p:spPr>
          <a:xfrm>
            <a:off x="7391400" y="34671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00D9961B-94E8-8688-7D00-E44B5F30257D}"/>
              </a:ext>
            </a:extLst>
          </p:cNvPr>
          <p:cNvSpPr/>
          <p:nvPr/>
        </p:nvSpPr>
        <p:spPr>
          <a:xfrm>
            <a:off x="7848600" y="2260600"/>
            <a:ext cx="1905000" cy="2413000"/>
          </a:xfrm>
          <a:prstGeom prst="roundRect">
            <a:avLst/>
          </a:prstGeom>
          <a:solidFill>
            <a:srgbClr val="FFFFFF"/>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8A7CAFC-C473-0956-5117-17DE1043C40C}"/>
              </a:ext>
            </a:extLst>
          </p:cNvPr>
          <p:cNvSpPr/>
          <p:nvPr/>
        </p:nvSpPr>
        <p:spPr>
          <a:xfrm>
            <a:off x="7848600" y="2260600"/>
            <a:ext cx="1905000" cy="889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7813203A-5BE4-3DE0-4075-47CD5261D3BA}"/>
              </a:ext>
            </a:extLst>
          </p:cNvPr>
          <p:cNvSpPr txBox="1"/>
          <p:nvPr/>
        </p:nvSpPr>
        <p:spPr>
          <a:xfrm>
            <a:off x="7975600" y="2552700"/>
            <a:ext cx="1651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Employer</a:t>
            </a:r>
          </a:p>
        </p:txBody>
      </p:sp>
      <p:sp>
        <p:nvSpPr>
          <p:cNvPr id="29" name="TextBox 28">
            <a:extLst>
              <a:ext uri="{FF2B5EF4-FFF2-40B4-BE49-F238E27FC236}">
                <a16:creationId xmlns:a16="http://schemas.microsoft.com/office/drawing/2014/main" id="{61E1B09E-4CB1-EB19-F190-01833200729A}"/>
              </a:ext>
            </a:extLst>
          </p:cNvPr>
          <p:cNvSpPr txBox="1"/>
          <p:nvPr/>
        </p:nvSpPr>
        <p:spPr>
          <a:xfrm>
            <a:off x="7988300" y="3175000"/>
            <a:ext cx="16256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Reviews application
Changes status
Offers human decision</a:t>
            </a:r>
          </a:p>
        </p:txBody>
      </p:sp>
      <p:cxnSp>
        <p:nvCxnSpPr>
          <p:cNvPr id="30" name="Straight Connector 29">
            <a:extLst>
              <a:ext uri="{FF2B5EF4-FFF2-40B4-BE49-F238E27FC236}">
                <a16:creationId xmlns:a16="http://schemas.microsoft.com/office/drawing/2014/main" id="{F8663CA1-FED1-1D80-1B95-66AB4784C313}"/>
              </a:ext>
            </a:extLst>
          </p:cNvPr>
          <p:cNvCxnSpPr/>
          <p:nvPr/>
        </p:nvCxnSpPr>
        <p:spPr>
          <a:xfrm>
            <a:off x="9804400" y="3467100"/>
            <a:ext cx="266700" cy="0"/>
          </a:xfrm>
          <a:prstGeom prst="line">
            <a:avLst/>
          </a:prstGeom>
          <a:ln w="29210">
            <a:solidFill>
              <a:srgbClr val="CBD5E1"/>
            </a:solidFill>
            <a:tailEnd type="arrow"/>
          </a:ln>
        </p:spPr>
        <p:style>
          <a:lnRef idx="2">
            <a:schemeClr val="accent1"/>
          </a:lnRef>
          <a:fillRef idx="0">
            <a:schemeClr val="accent1"/>
          </a:fillRef>
          <a:effectRef idx="1">
            <a:schemeClr val="accent1"/>
          </a:effectRef>
          <a:fontRef idx="minor">
            <a:schemeClr val="tx1"/>
          </a:fontRef>
        </p:style>
      </p:cxnSp>
      <p:sp>
        <p:nvSpPr>
          <p:cNvPr id="31" name="Rectangle: Rounded Corners 30">
            <a:extLst>
              <a:ext uri="{FF2B5EF4-FFF2-40B4-BE49-F238E27FC236}">
                <a16:creationId xmlns:a16="http://schemas.microsoft.com/office/drawing/2014/main" id="{2FC8F390-14FD-A780-49A5-A6BAB62349FD}"/>
              </a:ext>
            </a:extLst>
          </p:cNvPr>
          <p:cNvSpPr/>
          <p:nvPr/>
        </p:nvSpPr>
        <p:spPr>
          <a:xfrm>
            <a:off x="10261600" y="2260600"/>
            <a:ext cx="1320800" cy="2413000"/>
          </a:xfrm>
          <a:prstGeom prst="roundRect">
            <a:avLst/>
          </a:prstGeom>
          <a:solidFill>
            <a:srgbClr val="FFFFFF"/>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B2D9F538-B53B-EB9A-E9D4-7C2ECD0AFCBE}"/>
              </a:ext>
            </a:extLst>
          </p:cNvPr>
          <p:cNvSpPr/>
          <p:nvPr/>
        </p:nvSpPr>
        <p:spPr>
          <a:xfrm>
            <a:off x="10261600" y="2260600"/>
            <a:ext cx="1320800" cy="889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F9AC9117-CBF5-C382-FC2D-4826DDA1A238}"/>
              </a:ext>
            </a:extLst>
          </p:cNvPr>
          <p:cNvSpPr txBox="1"/>
          <p:nvPr/>
        </p:nvSpPr>
        <p:spPr>
          <a:xfrm>
            <a:off x="10388600" y="2552700"/>
            <a:ext cx="10668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Outcome audit</a:t>
            </a:r>
          </a:p>
        </p:txBody>
      </p:sp>
      <p:sp>
        <p:nvSpPr>
          <p:cNvPr id="34" name="TextBox 33">
            <a:extLst>
              <a:ext uri="{FF2B5EF4-FFF2-40B4-BE49-F238E27FC236}">
                <a16:creationId xmlns:a16="http://schemas.microsoft.com/office/drawing/2014/main" id="{8077E63B-66B2-70F6-4E43-96BB8163A103}"/>
              </a:ext>
            </a:extLst>
          </p:cNvPr>
          <p:cNvSpPr txBox="1"/>
          <p:nvPr/>
        </p:nvSpPr>
        <p:spPr>
          <a:xfrm>
            <a:off x="10401300" y="3175000"/>
            <a:ext cx="1041400" cy="424732"/>
          </a:xfrm>
          <a:prstGeom prst="rect">
            <a:avLst/>
          </a:prstGeom>
          <a:noFill/>
        </p:spPr>
        <p:txBody>
          <a:bodyPr vert="horz" wrap="square" lIns="0" tIns="0" rIns="0" bIns="0" rtlCol="0">
            <a:spAutoFit/>
          </a:bodyPr>
          <a:lstStyle/>
          <a:p>
            <a:pPr algn="ctr"/>
            <a:r>
              <a:rPr lang="en-US" sz="920">
                <a:solidFill>
                  <a:srgbClr val="17243A"/>
                </a:solidFill>
                <a:latin typeface="Aptos" panose="020B0004020202020204" pitchFamily="34" charset="0"/>
              </a:rPr>
              <a:t>Previous/new status
Actor + timestamp
Notification result</a:t>
            </a:r>
          </a:p>
        </p:txBody>
      </p:sp>
      <p:sp>
        <p:nvSpPr>
          <p:cNvPr id="35" name="TextBox 34">
            <a:extLst>
              <a:ext uri="{FF2B5EF4-FFF2-40B4-BE49-F238E27FC236}">
                <a16:creationId xmlns:a16="http://schemas.microsoft.com/office/drawing/2014/main" id="{5E970693-D31D-D34C-7926-5E355B2FD49C}"/>
              </a:ext>
            </a:extLst>
          </p:cNvPr>
          <p:cNvSpPr txBox="1"/>
          <p:nvPr/>
        </p:nvSpPr>
        <p:spPr>
          <a:xfrm>
            <a:off x="1778000" y="5308600"/>
            <a:ext cx="8636000" cy="169277"/>
          </a:xfrm>
          <a:prstGeom prst="rect">
            <a:avLst/>
          </a:prstGeom>
          <a:noFill/>
        </p:spPr>
        <p:txBody>
          <a:bodyPr vert="horz" wrap="square" lIns="0" tIns="0" rIns="0" bIns="0" rtlCol="0">
            <a:spAutoFit/>
          </a:bodyPr>
          <a:lstStyle/>
          <a:p>
            <a:pPr algn="ctr"/>
            <a:r>
              <a:rPr lang="en-US" sz="1100" b="1">
                <a:solidFill>
                  <a:srgbClr val="0B1F49"/>
                </a:solidFill>
                <a:latin typeface="Aptos Display" panose="020B0004020202020204" pitchFamily="34" charset="0"/>
              </a:rPr>
              <a:t>Verifier authorizes disability-card evidence | Administrator maintains controlled catalogues and users</a:t>
            </a:r>
          </a:p>
        </p:txBody>
      </p:sp>
    </p:spTree>
    <p:extLst>
      <p:ext uri="{BB962C8B-B14F-4D97-AF65-F5344CB8AC3E}">
        <p14:creationId xmlns:p14="http://schemas.microsoft.com/office/powerpoint/2010/main" val="10277493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F048EE-CA95-312A-F84D-443D8841A4A1}"/>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39C3C10-F545-1A3E-43D8-7E55A4FFD9E4}"/>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VERIFICATION METHODOLOGY</a:t>
            </a:r>
          </a:p>
        </p:txBody>
      </p:sp>
      <p:sp>
        <p:nvSpPr>
          <p:cNvPr id="4" name="TextBox 3">
            <a:extLst>
              <a:ext uri="{FF2B5EF4-FFF2-40B4-BE49-F238E27FC236}">
                <a16:creationId xmlns:a16="http://schemas.microsoft.com/office/drawing/2014/main" id="{D088B350-AFE6-CB82-B977-C8D429187CB4}"/>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Evidence was layered from functions to real users</a:t>
            </a:r>
          </a:p>
        </p:txBody>
      </p:sp>
      <p:sp>
        <p:nvSpPr>
          <p:cNvPr id="5" name="TextBox 4">
            <a:extLst>
              <a:ext uri="{FF2B5EF4-FFF2-40B4-BE49-F238E27FC236}">
                <a16:creationId xmlns:a16="http://schemas.microsoft.com/office/drawing/2014/main" id="{843A4A14-3167-A795-F30C-389A22A948E0}"/>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Passing sign-in alone was a prerequisite; evaluation focused on output correctness, safety, accessibility and quality.</a:t>
            </a:r>
          </a:p>
        </p:txBody>
      </p:sp>
      <p:pic>
        <p:nvPicPr>
          <p:cNvPr id="7" name="Picture 6" descr="Universite Saint-Joseph and ESIB mark">
            <a:extLst>
              <a:ext uri="{FF2B5EF4-FFF2-40B4-BE49-F238E27FC236}">
                <a16:creationId xmlns:a16="http://schemas.microsoft.com/office/drawing/2014/main" id="{8DD63B76-C5E0-70F3-6166-F0E897461A2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0CF6EB81-204F-B160-448B-52DE5940B18B}"/>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CC403096-47F3-4C1B-F564-B17E5F6BC552}"/>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37C3FB37-8EBD-551F-57BC-83207B7E0F16}"/>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20</a:t>
            </a:r>
          </a:p>
        </p:txBody>
      </p:sp>
      <p:sp>
        <p:nvSpPr>
          <p:cNvPr id="11" name="Rectangle: Rounded Corners 10">
            <a:extLst>
              <a:ext uri="{FF2B5EF4-FFF2-40B4-BE49-F238E27FC236}">
                <a16:creationId xmlns:a16="http://schemas.microsoft.com/office/drawing/2014/main" id="{A11509E9-7506-D91D-86A6-2B6F1D109CFF}"/>
              </a:ext>
            </a:extLst>
          </p:cNvPr>
          <p:cNvSpPr/>
          <p:nvPr/>
        </p:nvSpPr>
        <p:spPr>
          <a:xfrm>
            <a:off x="1524000" y="4978400"/>
            <a:ext cx="9144000" cy="609600"/>
          </a:xfrm>
          <a:prstGeom prst="roundRect">
            <a:avLst/>
          </a:prstGeom>
          <a:solidFill>
            <a:srgbClr val="FFFFFF"/>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96E403B-7477-D525-3AE7-96AE37797FF4}"/>
              </a:ext>
            </a:extLst>
          </p:cNvPr>
          <p:cNvSpPr/>
          <p:nvPr/>
        </p:nvSpPr>
        <p:spPr>
          <a:xfrm>
            <a:off x="1524000" y="4978400"/>
            <a:ext cx="88900" cy="6096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36695ED2-0BAC-FFE2-CCC3-A8FFAD0564C9}"/>
              </a:ext>
            </a:extLst>
          </p:cNvPr>
          <p:cNvSpPr txBox="1"/>
          <p:nvPr/>
        </p:nvSpPr>
        <p:spPr>
          <a:xfrm>
            <a:off x="1752600" y="5080000"/>
            <a:ext cx="4937760" cy="161583"/>
          </a:xfrm>
          <a:prstGeom prst="rect">
            <a:avLst/>
          </a:prstGeom>
          <a:noFill/>
        </p:spPr>
        <p:txBody>
          <a:bodyPr vert="horz" wrap="square" lIns="0" tIns="0" rIns="0" bIns="0" rtlCol="0">
            <a:spAutoFit/>
          </a:bodyPr>
          <a:lstStyle/>
          <a:p>
            <a:r>
              <a:rPr lang="en-US" sz="1050" b="1">
                <a:solidFill>
                  <a:srgbClr val="563A4B"/>
                </a:solidFill>
                <a:latin typeface="Aptos" panose="020B0004020202020204" pitchFamily="34" charset="0"/>
              </a:rPr>
              <a:t>Human and assistive-technology evaluation</a:t>
            </a:r>
          </a:p>
        </p:txBody>
      </p:sp>
      <p:sp>
        <p:nvSpPr>
          <p:cNvPr id="14" name="TextBox 13">
            <a:extLst>
              <a:ext uri="{FF2B5EF4-FFF2-40B4-BE49-F238E27FC236}">
                <a16:creationId xmlns:a16="http://schemas.microsoft.com/office/drawing/2014/main" id="{CFC85CE9-D1EC-0C7E-81E6-597014129B9C}"/>
              </a:ext>
            </a:extLst>
          </p:cNvPr>
          <p:cNvSpPr txBox="1"/>
          <p:nvPr/>
        </p:nvSpPr>
        <p:spPr>
          <a:xfrm>
            <a:off x="6644640" y="5080000"/>
            <a:ext cx="3749040" cy="129266"/>
          </a:xfrm>
          <a:prstGeom prst="rect">
            <a:avLst/>
          </a:prstGeom>
          <a:noFill/>
        </p:spPr>
        <p:txBody>
          <a:bodyPr vert="horz" wrap="square" lIns="0" tIns="0" rIns="0" bIns="0" rtlCol="0">
            <a:spAutoFit/>
          </a:bodyPr>
          <a:lstStyle/>
          <a:p>
            <a:r>
              <a:rPr lang="en-US" sz="840">
                <a:solidFill>
                  <a:srgbClr val="17243A"/>
                </a:solidFill>
                <a:latin typeface="Aptos" panose="020B0004020202020204" pitchFamily="34" charset="0"/>
              </a:rPr>
              <a:t>20-person Arc en Ciel session + separate JAWS workflow</a:t>
            </a:r>
          </a:p>
        </p:txBody>
      </p:sp>
      <p:sp>
        <p:nvSpPr>
          <p:cNvPr id="15" name="Rectangle: Rounded Corners 14">
            <a:extLst>
              <a:ext uri="{FF2B5EF4-FFF2-40B4-BE49-F238E27FC236}">
                <a16:creationId xmlns:a16="http://schemas.microsoft.com/office/drawing/2014/main" id="{842335FB-5A95-CFF0-9918-0F28F25AE30C}"/>
              </a:ext>
            </a:extLst>
          </p:cNvPr>
          <p:cNvSpPr/>
          <p:nvPr/>
        </p:nvSpPr>
        <p:spPr>
          <a:xfrm>
            <a:off x="2095500" y="4216400"/>
            <a:ext cx="8001000" cy="609600"/>
          </a:xfrm>
          <a:prstGeom prst="roundRect">
            <a:avLst/>
          </a:prstGeom>
          <a:solidFill>
            <a:srgbClr val="FFFFFF"/>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C05D886-8115-2415-58DF-FF5E8B2C50D7}"/>
              </a:ext>
            </a:extLst>
          </p:cNvPr>
          <p:cNvSpPr/>
          <p:nvPr/>
        </p:nvSpPr>
        <p:spPr>
          <a:xfrm>
            <a:off x="2095500" y="4216400"/>
            <a:ext cx="88900" cy="6096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5DB7BD70-5EE4-391C-1068-750F0E89D177}"/>
              </a:ext>
            </a:extLst>
          </p:cNvPr>
          <p:cNvSpPr txBox="1"/>
          <p:nvPr/>
        </p:nvSpPr>
        <p:spPr>
          <a:xfrm>
            <a:off x="2324100" y="4318000"/>
            <a:ext cx="4320540" cy="161583"/>
          </a:xfrm>
          <a:prstGeom prst="rect">
            <a:avLst/>
          </a:prstGeom>
          <a:noFill/>
        </p:spPr>
        <p:txBody>
          <a:bodyPr vert="horz" wrap="square" lIns="0" tIns="0" rIns="0" bIns="0" rtlCol="0">
            <a:spAutoFit/>
          </a:bodyPr>
          <a:lstStyle/>
          <a:p>
            <a:r>
              <a:rPr lang="en-US" sz="1050" b="1">
                <a:solidFill>
                  <a:srgbClr val="A64B2A"/>
                </a:solidFill>
                <a:latin typeface="Aptos" panose="020B0004020202020204" pitchFamily="34" charset="0"/>
              </a:rPr>
              <a:t>Cloud staging quality register</a:t>
            </a:r>
          </a:p>
        </p:txBody>
      </p:sp>
      <p:sp>
        <p:nvSpPr>
          <p:cNvPr id="18" name="TextBox 17">
            <a:extLst>
              <a:ext uri="{FF2B5EF4-FFF2-40B4-BE49-F238E27FC236}">
                <a16:creationId xmlns:a16="http://schemas.microsoft.com/office/drawing/2014/main" id="{E70A747A-9974-C99B-7A94-3862088928A9}"/>
              </a:ext>
            </a:extLst>
          </p:cNvPr>
          <p:cNvSpPr txBox="1"/>
          <p:nvPr/>
        </p:nvSpPr>
        <p:spPr>
          <a:xfrm>
            <a:off x="6576060" y="4318000"/>
            <a:ext cx="3280410" cy="129266"/>
          </a:xfrm>
          <a:prstGeom prst="rect">
            <a:avLst/>
          </a:prstGeom>
          <a:noFill/>
        </p:spPr>
        <p:txBody>
          <a:bodyPr vert="horz" wrap="square" lIns="0" tIns="0" rIns="0" bIns="0" rtlCol="0">
            <a:spAutoFit/>
          </a:bodyPr>
          <a:lstStyle/>
          <a:p>
            <a:r>
              <a:rPr lang="en-US" sz="840">
                <a:solidFill>
                  <a:srgbClr val="17243A"/>
                </a:solidFill>
                <a:latin typeface="Aptos" panose="020B0004020202020204" pitchFamily="34" charset="0"/>
              </a:rPr>
              <a:t>310 planned and executed cases across ten areas</a:t>
            </a:r>
          </a:p>
        </p:txBody>
      </p:sp>
      <p:sp>
        <p:nvSpPr>
          <p:cNvPr id="19" name="Rectangle: Rounded Corners 18">
            <a:extLst>
              <a:ext uri="{FF2B5EF4-FFF2-40B4-BE49-F238E27FC236}">
                <a16:creationId xmlns:a16="http://schemas.microsoft.com/office/drawing/2014/main" id="{594A32ED-BBCC-DF2E-66F9-703B6A2A4BF8}"/>
              </a:ext>
            </a:extLst>
          </p:cNvPr>
          <p:cNvSpPr/>
          <p:nvPr/>
        </p:nvSpPr>
        <p:spPr>
          <a:xfrm>
            <a:off x="2667000" y="3454400"/>
            <a:ext cx="6858000" cy="609600"/>
          </a:xfrm>
          <a:prstGeom prst="roundRect">
            <a:avLst/>
          </a:prstGeom>
          <a:solidFill>
            <a:srgbClr val="FFFFFF"/>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F75FFBD-9DDA-C657-0D5B-C79E99273388}"/>
              </a:ext>
            </a:extLst>
          </p:cNvPr>
          <p:cNvSpPr/>
          <p:nvPr/>
        </p:nvSpPr>
        <p:spPr>
          <a:xfrm>
            <a:off x="2667000" y="3454400"/>
            <a:ext cx="88900" cy="609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121A59C6-75C9-BE25-337A-357276FC420C}"/>
              </a:ext>
            </a:extLst>
          </p:cNvPr>
          <p:cNvSpPr txBox="1"/>
          <p:nvPr/>
        </p:nvSpPr>
        <p:spPr>
          <a:xfrm>
            <a:off x="2895600" y="3556000"/>
            <a:ext cx="3703320" cy="161583"/>
          </a:xfrm>
          <a:prstGeom prst="rect">
            <a:avLst/>
          </a:prstGeom>
          <a:noFill/>
        </p:spPr>
        <p:txBody>
          <a:bodyPr vert="horz" wrap="square" lIns="0" tIns="0" rIns="0" bIns="0" rtlCol="0">
            <a:spAutoFit/>
          </a:bodyPr>
          <a:lstStyle/>
          <a:p>
            <a:r>
              <a:rPr lang="en-US" sz="1050" b="1">
                <a:solidFill>
                  <a:srgbClr val="1565D8"/>
                </a:solidFill>
                <a:latin typeface="Aptos" panose="020B0004020202020204" pitchFamily="34" charset="0"/>
              </a:rPr>
              <a:t>Browser end-to-end and integration</a:t>
            </a:r>
          </a:p>
        </p:txBody>
      </p:sp>
      <p:sp>
        <p:nvSpPr>
          <p:cNvPr id="22" name="TextBox 21">
            <a:extLst>
              <a:ext uri="{FF2B5EF4-FFF2-40B4-BE49-F238E27FC236}">
                <a16:creationId xmlns:a16="http://schemas.microsoft.com/office/drawing/2014/main" id="{69C85C23-0F1F-EA19-D754-725192D518A9}"/>
              </a:ext>
            </a:extLst>
          </p:cNvPr>
          <p:cNvSpPr txBox="1"/>
          <p:nvPr/>
        </p:nvSpPr>
        <p:spPr>
          <a:xfrm>
            <a:off x="6507480" y="3556000"/>
            <a:ext cx="2811780" cy="129266"/>
          </a:xfrm>
          <a:prstGeom prst="rect">
            <a:avLst/>
          </a:prstGeom>
          <a:noFill/>
        </p:spPr>
        <p:txBody>
          <a:bodyPr vert="horz" wrap="square" lIns="0" tIns="0" rIns="0" bIns="0" rtlCol="0">
            <a:spAutoFit/>
          </a:bodyPr>
          <a:lstStyle/>
          <a:p>
            <a:r>
              <a:rPr lang="en-US" sz="840">
                <a:solidFill>
                  <a:srgbClr val="17243A"/>
                </a:solidFill>
                <a:latin typeface="Aptos" panose="020B0004020202020204" pitchFamily="34" charset="0"/>
              </a:rPr>
              <a:t>26/26 browser scenarios + 25/25 API checks</a:t>
            </a:r>
          </a:p>
        </p:txBody>
      </p:sp>
      <p:sp>
        <p:nvSpPr>
          <p:cNvPr id="23" name="Rectangle: Rounded Corners 22">
            <a:extLst>
              <a:ext uri="{FF2B5EF4-FFF2-40B4-BE49-F238E27FC236}">
                <a16:creationId xmlns:a16="http://schemas.microsoft.com/office/drawing/2014/main" id="{8651B1AC-CA23-C96B-0E0E-51DA3A97027C}"/>
              </a:ext>
            </a:extLst>
          </p:cNvPr>
          <p:cNvSpPr/>
          <p:nvPr/>
        </p:nvSpPr>
        <p:spPr>
          <a:xfrm>
            <a:off x="3238500" y="2692400"/>
            <a:ext cx="5715000" cy="6096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FD9FEDFF-BD35-5E14-924C-323412D3974D}"/>
              </a:ext>
            </a:extLst>
          </p:cNvPr>
          <p:cNvSpPr/>
          <p:nvPr/>
        </p:nvSpPr>
        <p:spPr>
          <a:xfrm>
            <a:off x="3238500" y="2692400"/>
            <a:ext cx="88900" cy="6096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23EE82D-B4CA-D6F1-A691-AC4D4C00F803}"/>
              </a:ext>
            </a:extLst>
          </p:cNvPr>
          <p:cNvSpPr txBox="1"/>
          <p:nvPr/>
        </p:nvSpPr>
        <p:spPr>
          <a:xfrm>
            <a:off x="3467100" y="2794000"/>
            <a:ext cx="3086100" cy="161583"/>
          </a:xfrm>
          <a:prstGeom prst="rect">
            <a:avLst/>
          </a:prstGeom>
          <a:noFill/>
        </p:spPr>
        <p:txBody>
          <a:bodyPr vert="horz" wrap="square" lIns="0" tIns="0" rIns="0" bIns="0" rtlCol="0">
            <a:spAutoFit/>
          </a:bodyPr>
          <a:lstStyle/>
          <a:p>
            <a:r>
              <a:rPr lang="en-US" sz="1050" b="1">
                <a:solidFill>
                  <a:srgbClr val="157A55"/>
                </a:solidFill>
                <a:latin typeface="Aptos" panose="020B0004020202020204" pitchFamily="34" charset="0"/>
              </a:rPr>
              <a:t>Service and decision tests</a:t>
            </a:r>
          </a:p>
        </p:txBody>
      </p:sp>
      <p:sp>
        <p:nvSpPr>
          <p:cNvPr id="26" name="TextBox 25">
            <a:extLst>
              <a:ext uri="{FF2B5EF4-FFF2-40B4-BE49-F238E27FC236}">
                <a16:creationId xmlns:a16="http://schemas.microsoft.com/office/drawing/2014/main" id="{DDF17F0A-6FC9-F0A5-E3EB-98C25D858C07}"/>
              </a:ext>
            </a:extLst>
          </p:cNvPr>
          <p:cNvSpPr txBox="1"/>
          <p:nvPr/>
        </p:nvSpPr>
        <p:spPr>
          <a:xfrm>
            <a:off x="6438900" y="2794000"/>
            <a:ext cx="2343150" cy="129266"/>
          </a:xfrm>
          <a:prstGeom prst="rect">
            <a:avLst/>
          </a:prstGeom>
          <a:noFill/>
        </p:spPr>
        <p:txBody>
          <a:bodyPr vert="horz" wrap="square" lIns="0" tIns="0" rIns="0" bIns="0" rtlCol="0">
            <a:spAutoFit/>
          </a:bodyPr>
          <a:lstStyle/>
          <a:p>
            <a:r>
              <a:rPr lang="en-US" sz="840">
                <a:solidFill>
                  <a:srgbClr val="17243A"/>
                </a:solidFill>
                <a:latin typeface="Aptos" panose="020B0004020202020204" pitchFamily="34" charset="0"/>
              </a:rPr>
              <a:t>57/57 voice/action safety + 17/17 scoring</a:t>
            </a:r>
          </a:p>
        </p:txBody>
      </p:sp>
      <p:sp>
        <p:nvSpPr>
          <p:cNvPr id="27" name="Rectangle: Rounded Corners 26">
            <a:extLst>
              <a:ext uri="{FF2B5EF4-FFF2-40B4-BE49-F238E27FC236}">
                <a16:creationId xmlns:a16="http://schemas.microsoft.com/office/drawing/2014/main" id="{4BC6D0AA-F698-EA12-9210-A83DA8F9A887}"/>
              </a:ext>
            </a:extLst>
          </p:cNvPr>
          <p:cNvSpPr/>
          <p:nvPr/>
        </p:nvSpPr>
        <p:spPr>
          <a:xfrm>
            <a:off x="3810000" y="1930400"/>
            <a:ext cx="4572000" cy="609600"/>
          </a:xfrm>
          <a:prstGeom prst="roundRect">
            <a:avLst/>
          </a:prstGeom>
          <a:solidFill>
            <a:srgbClr val="FFFFFF"/>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B4AC8EF0-0413-B462-8D8C-70731AD5F41D}"/>
              </a:ext>
            </a:extLst>
          </p:cNvPr>
          <p:cNvSpPr/>
          <p:nvPr/>
        </p:nvSpPr>
        <p:spPr>
          <a:xfrm>
            <a:off x="3810000" y="1930400"/>
            <a:ext cx="88900" cy="6096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E675787-3105-2DAD-E3F1-303831DFCF2E}"/>
              </a:ext>
            </a:extLst>
          </p:cNvPr>
          <p:cNvSpPr txBox="1"/>
          <p:nvPr/>
        </p:nvSpPr>
        <p:spPr>
          <a:xfrm>
            <a:off x="4038600" y="2032000"/>
            <a:ext cx="2468880" cy="161583"/>
          </a:xfrm>
          <a:prstGeom prst="rect">
            <a:avLst/>
          </a:prstGeom>
          <a:noFill/>
        </p:spPr>
        <p:txBody>
          <a:bodyPr vert="horz" wrap="square" lIns="0" tIns="0" rIns="0" bIns="0" rtlCol="0">
            <a:spAutoFit/>
          </a:bodyPr>
          <a:lstStyle/>
          <a:p>
            <a:r>
              <a:rPr lang="en-US" sz="1050" b="1">
                <a:solidFill>
                  <a:srgbClr val="C27A19"/>
                </a:solidFill>
                <a:latin typeface="Aptos" panose="020B0004020202020204" pitchFamily="34" charset="0"/>
              </a:rPr>
              <a:t>Static and contract checks</a:t>
            </a:r>
          </a:p>
        </p:txBody>
      </p:sp>
      <p:sp>
        <p:nvSpPr>
          <p:cNvPr id="30" name="TextBox 29">
            <a:extLst>
              <a:ext uri="{FF2B5EF4-FFF2-40B4-BE49-F238E27FC236}">
                <a16:creationId xmlns:a16="http://schemas.microsoft.com/office/drawing/2014/main" id="{5E8E3FB9-8227-B48D-2B99-F0834A851DFB}"/>
              </a:ext>
            </a:extLst>
          </p:cNvPr>
          <p:cNvSpPr txBox="1"/>
          <p:nvPr/>
        </p:nvSpPr>
        <p:spPr>
          <a:xfrm>
            <a:off x="6370320" y="2032000"/>
            <a:ext cx="1874520" cy="258532"/>
          </a:xfrm>
          <a:prstGeom prst="rect">
            <a:avLst/>
          </a:prstGeom>
          <a:noFill/>
        </p:spPr>
        <p:txBody>
          <a:bodyPr vert="horz" wrap="square" lIns="0" tIns="0" rIns="0" bIns="0" rtlCol="0">
            <a:spAutoFit/>
          </a:bodyPr>
          <a:lstStyle/>
          <a:p>
            <a:r>
              <a:rPr lang="en-US" sz="840">
                <a:solidFill>
                  <a:srgbClr val="17243A"/>
                </a:solidFill>
                <a:latin typeface="Aptos" panose="020B0004020202020204" pitchFamily="34" charset="0"/>
              </a:rPr>
              <a:t>Schemas, translations, syntax, routes and build</a:t>
            </a:r>
          </a:p>
        </p:txBody>
      </p:sp>
    </p:spTree>
    <p:extLst>
      <p:ext uri="{BB962C8B-B14F-4D97-AF65-F5344CB8AC3E}">
        <p14:creationId xmlns:p14="http://schemas.microsoft.com/office/powerpoint/2010/main" val="22301598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9FB510-1B89-7AE4-FB71-63C03BD4ABFC}"/>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D72FF40F-B682-FC4C-12B9-B38BA51F4351}"/>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FINAL VERIFICATION</a:t>
            </a:r>
          </a:p>
        </p:txBody>
      </p:sp>
      <p:sp>
        <p:nvSpPr>
          <p:cNvPr id="4" name="TextBox 3">
            <a:extLst>
              <a:ext uri="{FF2B5EF4-FFF2-40B4-BE49-F238E27FC236}">
                <a16:creationId xmlns:a16="http://schemas.microsoft.com/office/drawing/2014/main" id="{4FA2DAC5-E7D2-25DB-88FB-9BE6D4B97920}"/>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All 310 planned staging cases were completed</a:t>
            </a:r>
          </a:p>
        </p:txBody>
      </p:sp>
      <p:sp>
        <p:nvSpPr>
          <p:cNvPr id="5" name="TextBox 4">
            <a:extLst>
              <a:ext uri="{FF2B5EF4-FFF2-40B4-BE49-F238E27FC236}">
                <a16:creationId xmlns:a16="http://schemas.microsoft.com/office/drawing/2014/main" id="{EE8F0A36-1EDF-9450-26B7-57CBC5BA3565}"/>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register preserves first-run failures and noisy partials instead of hiding them behind the final result.</a:t>
            </a:r>
          </a:p>
        </p:txBody>
      </p:sp>
      <p:pic>
        <p:nvPicPr>
          <p:cNvPr id="7" name="Picture 6" descr="Universite Saint-Joseph and ESIB mark">
            <a:extLst>
              <a:ext uri="{FF2B5EF4-FFF2-40B4-BE49-F238E27FC236}">
                <a16:creationId xmlns:a16="http://schemas.microsoft.com/office/drawing/2014/main" id="{BE69BD55-9E52-5BFD-F779-CDE8DF86D7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F517C17B-FAAD-AFFE-F1FA-14C3D27EE3EB}"/>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A16E1E4-B04E-48EA-E7C3-24BC04010867}"/>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1B6922D2-2D8F-4F38-15A4-A1F30ACB8B65}"/>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21</a:t>
            </a:r>
          </a:p>
        </p:txBody>
      </p:sp>
      <p:sp>
        <p:nvSpPr>
          <p:cNvPr id="11" name="Rectangle: Rounded Corners 10">
            <a:extLst>
              <a:ext uri="{FF2B5EF4-FFF2-40B4-BE49-F238E27FC236}">
                <a16:creationId xmlns:a16="http://schemas.microsoft.com/office/drawing/2014/main" id="{D5212812-0E30-5688-E98D-EB7E680C34AC}"/>
              </a:ext>
            </a:extLst>
          </p:cNvPr>
          <p:cNvSpPr/>
          <p:nvPr/>
        </p:nvSpPr>
        <p:spPr>
          <a:xfrm>
            <a:off x="609600" y="1905000"/>
            <a:ext cx="3683000" cy="36830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2D97AA3-9A13-1AFF-7CAE-F01F1E9B83EF}"/>
              </a:ext>
            </a:extLst>
          </p:cNvPr>
          <p:cNvSpPr txBox="1"/>
          <p:nvPr/>
        </p:nvSpPr>
        <p:spPr>
          <a:xfrm>
            <a:off x="990600" y="2387600"/>
            <a:ext cx="2921000" cy="692497"/>
          </a:xfrm>
          <a:prstGeom prst="rect">
            <a:avLst/>
          </a:prstGeom>
          <a:noFill/>
        </p:spPr>
        <p:txBody>
          <a:bodyPr vert="horz" wrap="square" lIns="0" tIns="0" rIns="0" bIns="0" rtlCol="0">
            <a:spAutoFit/>
          </a:bodyPr>
          <a:lstStyle/>
          <a:p>
            <a:pPr algn="ctr"/>
            <a:r>
              <a:rPr lang="en-US" sz="4500" b="1">
                <a:solidFill>
                  <a:srgbClr val="FFFFFF"/>
                </a:solidFill>
                <a:latin typeface="Aptos Display" panose="020B0004020202020204" pitchFamily="34" charset="0"/>
              </a:rPr>
              <a:t>93.2%</a:t>
            </a:r>
          </a:p>
        </p:txBody>
      </p:sp>
      <p:sp>
        <p:nvSpPr>
          <p:cNvPr id="13" name="TextBox 12">
            <a:extLst>
              <a:ext uri="{FF2B5EF4-FFF2-40B4-BE49-F238E27FC236}">
                <a16:creationId xmlns:a16="http://schemas.microsoft.com/office/drawing/2014/main" id="{19A56982-D7C8-E5A5-120D-B1814CA88DC0}"/>
              </a:ext>
            </a:extLst>
          </p:cNvPr>
          <p:cNvSpPr txBox="1"/>
          <p:nvPr/>
        </p:nvSpPr>
        <p:spPr>
          <a:xfrm>
            <a:off x="990600" y="3390900"/>
            <a:ext cx="2921000" cy="169277"/>
          </a:xfrm>
          <a:prstGeom prst="rect">
            <a:avLst/>
          </a:prstGeom>
          <a:noFill/>
        </p:spPr>
        <p:txBody>
          <a:bodyPr vert="horz" wrap="square" lIns="0" tIns="0" rIns="0" bIns="0" rtlCol="0">
            <a:spAutoFit/>
          </a:bodyPr>
          <a:lstStyle/>
          <a:p>
            <a:pPr algn="ctr"/>
            <a:r>
              <a:rPr lang="en-US" sz="1100" b="1">
                <a:solidFill>
                  <a:srgbClr val="157A55"/>
                </a:solidFill>
                <a:latin typeface="Aptos" panose="020B0004020202020204" pitchFamily="34" charset="0"/>
              </a:rPr>
              <a:t>FINAL PASS RATE</a:t>
            </a:r>
          </a:p>
        </p:txBody>
      </p:sp>
      <p:sp>
        <p:nvSpPr>
          <p:cNvPr id="14" name="TextBox 13">
            <a:extLst>
              <a:ext uri="{FF2B5EF4-FFF2-40B4-BE49-F238E27FC236}">
                <a16:creationId xmlns:a16="http://schemas.microsoft.com/office/drawing/2014/main" id="{49F19642-E4B8-6386-0F09-4A1A53F355A4}"/>
              </a:ext>
            </a:extLst>
          </p:cNvPr>
          <p:cNvSpPr txBox="1"/>
          <p:nvPr/>
        </p:nvSpPr>
        <p:spPr>
          <a:xfrm>
            <a:off x="990600" y="4064000"/>
            <a:ext cx="2921000" cy="600164"/>
          </a:xfrm>
          <a:prstGeom prst="rect">
            <a:avLst/>
          </a:prstGeom>
          <a:noFill/>
        </p:spPr>
        <p:txBody>
          <a:bodyPr vert="horz" wrap="square" lIns="0" tIns="0" rIns="0" bIns="0" rtlCol="0">
            <a:spAutoFit/>
          </a:bodyPr>
          <a:lstStyle/>
          <a:p>
            <a:pPr algn="ctr"/>
            <a:r>
              <a:rPr lang="en-US" sz="1300" b="1">
                <a:solidFill>
                  <a:srgbClr val="DDE7F5"/>
                </a:solidFill>
                <a:latin typeface="Aptos" panose="020B0004020202020204" pitchFamily="34" charset="0"/>
              </a:rPr>
              <a:t>289 final passes
21 retained failures
0 blocked / not run</a:t>
            </a:r>
          </a:p>
        </p:txBody>
      </p:sp>
      <p:sp>
        <p:nvSpPr>
          <p:cNvPr id="15" name="TextBox 14">
            <a:extLst>
              <a:ext uri="{FF2B5EF4-FFF2-40B4-BE49-F238E27FC236}">
                <a16:creationId xmlns:a16="http://schemas.microsoft.com/office/drawing/2014/main" id="{7DC802F7-1B9E-5C39-A2F0-A3C139C33423}"/>
              </a:ext>
            </a:extLst>
          </p:cNvPr>
          <p:cNvSpPr txBox="1"/>
          <p:nvPr/>
        </p:nvSpPr>
        <p:spPr>
          <a:xfrm>
            <a:off x="4953000" y="1968500"/>
            <a:ext cx="3175000" cy="246221"/>
          </a:xfrm>
          <a:prstGeom prst="rect">
            <a:avLst/>
          </a:prstGeom>
          <a:noFill/>
        </p:spPr>
        <p:txBody>
          <a:bodyPr vert="horz" wrap="square" lIns="0" tIns="0" rIns="0" bIns="0" rtlCol="0">
            <a:spAutoFit/>
          </a:bodyPr>
          <a:lstStyle/>
          <a:p>
            <a:r>
              <a:rPr lang="en-US" sz="1600" b="1">
                <a:solidFill>
                  <a:srgbClr val="0B1F49"/>
                </a:solidFill>
                <a:latin typeface="Aptos Display" panose="020B0004020202020204" pitchFamily="34" charset="0"/>
              </a:rPr>
              <a:t>First execution</a:t>
            </a:r>
          </a:p>
        </p:txBody>
      </p:sp>
      <p:sp>
        <p:nvSpPr>
          <p:cNvPr id="16" name="Rectangle: Rounded Corners 15">
            <a:extLst>
              <a:ext uri="{FF2B5EF4-FFF2-40B4-BE49-F238E27FC236}">
                <a16:creationId xmlns:a16="http://schemas.microsoft.com/office/drawing/2014/main" id="{9C8690DB-8428-5668-80A3-99C67359C72A}"/>
              </a:ext>
            </a:extLst>
          </p:cNvPr>
          <p:cNvSpPr/>
          <p:nvPr/>
        </p:nvSpPr>
        <p:spPr>
          <a:xfrm>
            <a:off x="4953000" y="2603500"/>
            <a:ext cx="1905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63D53DC-96F0-C7F9-5284-EE55E8AC93AE}"/>
              </a:ext>
            </a:extLst>
          </p:cNvPr>
          <p:cNvSpPr/>
          <p:nvPr/>
        </p:nvSpPr>
        <p:spPr>
          <a:xfrm>
            <a:off x="4953000" y="2603500"/>
            <a:ext cx="63500" cy="9144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CE0F4065-DE8A-CB35-A1C7-E70CEC8F7671}"/>
              </a:ext>
            </a:extLst>
          </p:cNvPr>
          <p:cNvSpPr txBox="1"/>
          <p:nvPr/>
        </p:nvSpPr>
        <p:spPr>
          <a:xfrm>
            <a:off x="5156200" y="2743200"/>
            <a:ext cx="1600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274</a:t>
            </a:r>
          </a:p>
        </p:txBody>
      </p:sp>
      <p:sp>
        <p:nvSpPr>
          <p:cNvPr id="19" name="TextBox 18">
            <a:extLst>
              <a:ext uri="{FF2B5EF4-FFF2-40B4-BE49-F238E27FC236}">
                <a16:creationId xmlns:a16="http://schemas.microsoft.com/office/drawing/2014/main" id="{90ED9DEC-ACEB-DFE7-249A-1E37D2498347}"/>
              </a:ext>
            </a:extLst>
          </p:cNvPr>
          <p:cNvSpPr txBox="1"/>
          <p:nvPr/>
        </p:nvSpPr>
        <p:spPr>
          <a:xfrm>
            <a:off x="5156200" y="3149600"/>
            <a:ext cx="16002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passed directly</a:t>
            </a:r>
          </a:p>
        </p:txBody>
      </p:sp>
      <p:sp>
        <p:nvSpPr>
          <p:cNvPr id="20" name="Rectangle: Rounded Corners 19">
            <a:extLst>
              <a:ext uri="{FF2B5EF4-FFF2-40B4-BE49-F238E27FC236}">
                <a16:creationId xmlns:a16="http://schemas.microsoft.com/office/drawing/2014/main" id="{4BF2D320-5520-7A0B-888F-3201AB1CEA00}"/>
              </a:ext>
            </a:extLst>
          </p:cNvPr>
          <p:cNvSpPr/>
          <p:nvPr/>
        </p:nvSpPr>
        <p:spPr>
          <a:xfrm>
            <a:off x="7188200" y="2603500"/>
            <a:ext cx="1905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A05729A6-3D4B-7264-787C-2334C4788AE1}"/>
              </a:ext>
            </a:extLst>
          </p:cNvPr>
          <p:cNvSpPr/>
          <p:nvPr/>
        </p:nvSpPr>
        <p:spPr>
          <a:xfrm>
            <a:off x="7188200" y="2603500"/>
            <a:ext cx="63500" cy="9144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A3A7FB5-B33A-FA2C-00AA-CC875F67F4C5}"/>
              </a:ext>
            </a:extLst>
          </p:cNvPr>
          <p:cNvSpPr txBox="1"/>
          <p:nvPr/>
        </p:nvSpPr>
        <p:spPr>
          <a:xfrm>
            <a:off x="7391400" y="2743200"/>
            <a:ext cx="1600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15</a:t>
            </a:r>
          </a:p>
        </p:txBody>
      </p:sp>
      <p:sp>
        <p:nvSpPr>
          <p:cNvPr id="23" name="TextBox 22">
            <a:extLst>
              <a:ext uri="{FF2B5EF4-FFF2-40B4-BE49-F238E27FC236}">
                <a16:creationId xmlns:a16="http://schemas.microsoft.com/office/drawing/2014/main" id="{A75E95FB-6343-D5E5-6FF0-0B3B41D8215E}"/>
              </a:ext>
            </a:extLst>
          </p:cNvPr>
          <p:cNvSpPr txBox="1"/>
          <p:nvPr/>
        </p:nvSpPr>
        <p:spPr>
          <a:xfrm>
            <a:off x="7391400" y="3149600"/>
            <a:ext cx="16002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partial in noisy transcription</a:t>
            </a:r>
          </a:p>
        </p:txBody>
      </p:sp>
      <p:sp>
        <p:nvSpPr>
          <p:cNvPr id="24" name="Rectangle: Rounded Corners 23">
            <a:extLst>
              <a:ext uri="{FF2B5EF4-FFF2-40B4-BE49-F238E27FC236}">
                <a16:creationId xmlns:a16="http://schemas.microsoft.com/office/drawing/2014/main" id="{C35DD423-8DF3-1022-5CD5-1FA96292CC12}"/>
              </a:ext>
            </a:extLst>
          </p:cNvPr>
          <p:cNvSpPr/>
          <p:nvPr/>
        </p:nvSpPr>
        <p:spPr>
          <a:xfrm>
            <a:off x="9423400" y="2603500"/>
            <a:ext cx="1905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F8712560-81A6-EBCB-7E28-7201CFFC9F20}"/>
              </a:ext>
            </a:extLst>
          </p:cNvPr>
          <p:cNvSpPr/>
          <p:nvPr/>
        </p:nvSpPr>
        <p:spPr>
          <a:xfrm>
            <a:off x="9423400" y="2603500"/>
            <a:ext cx="63500" cy="9144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388A91D0-9ED3-63DD-96A1-436824470C18}"/>
              </a:ext>
            </a:extLst>
          </p:cNvPr>
          <p:cNvSpPr txBox="1"/>
          <p:nvPr/>
        </p:nvSpPr>
        <p:spPr>
          <a:xfrm>
            <a:off x="9626600" y="2743200"/>
            <a:ext cx="1600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21</a:t>
            </a:r>
          </a:p>
        </p:txBody>
      </p:sp>
      <p:sp>
        <p:nvSpPr>
          <p:cNvPr id="27" name="TextBox 26">
            <a:extLst>
              <a:ext uri="{FF2B5EF4-FFF2-40B4-BE49-F238E27FC236}">
                <a16:creationId xmlns:a16="http://schemas.microsoft.com/office/drawing/2014/main" id="{5146081B-4D0E-0E4F-D65B-915FA31A586C}"/>
              </a:ext>
            </a:extLst>
          </p:cNvPr>
          <p:cNvSpPr txBox="1"/>
          <p:nvPr/>
        </p:nvSpPr>
        <p:spPr>
          <a:xfrm>
            <a:off x="9626600" y="3149600"/>
            <a:ext cx="1600200" cy="1384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failed and retained</a:t>
            </a:r>
          </a:p>
        </p:txBody>
      </p:sp>
      <p:sp>
        <p:nvSpPr>
          <p:cNvPr id="28" name="Rectangle: Rounded Corners 27">
            <a:extLst>
              <a:ext uri="{FF2B5EF4-FFF2-40B4-BE49-F238E27FC236}">
                <a16:creationId xmlns:a16="http://schemas.microsoft.com/office/drawing/2014/main" id="{680CB31C-9E28-8439-D6D0-72BAF4EEBB71}"/>
              </a:ext>
            </a:extLst>
          </p:cNvPr>
          <p:cNvSpPr/>
          <p:nvPr/>
        </p:nvSpPr>
        <p:spPr>
          <a:xfrm>
            <a:off x="4953000" y="4064000"/>
            <a:ext cx="6375400" cy="1143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DD568F23-169D-8131-3F34-F7D9FA222FA9}"/>
              </a:ext>
            </a:extLst>
          </p:cNvPr>
          <p:cNvSpPr txBox="1"/>
          <p:nvPr/>
        </p:nvSpPr>
        <p:spPr>
          <a:xfrm>
            <a:off x="5232400" y="4305300"/>
            <a:ext cx="2286000" cy="169277"/>
          </a:xfrm>
          <a:prstGeom prst="rect">
            <a:avLst/>
          </a:prstGeom>
          <a:noFill/>
        </p:spPr>
        <p:txBody>
          <a:bodyPr vert="horz" wrap="square" lIns="0" tIns="0" rIns="0" bIns="0" rtlCol="0">
            <a:spAutoFit/>
          </a:bodyPr>
          <a:lstStyle/>
          <a:p>
            <a:r>
              <a:rPr lang="en-US" sz="1100" b="1">
                <a:solidFill>
                  <a:srgbClr val="A64B2A"/>
                </a:solidFill>
                <a:latin typeface="Aptos" panose="020B0004020202020204" pitchFamily="34" charset="0"/>
              </a:rPr>
              <a:t>Retest interpretation</a:t>
            </a:r>
          </a:p>
        </p:txBody>
      </p:sp>
      <p:sp>
        <p:nvSpPr>
          <p:cNvPr id="30" name="TextBox 29">
            <a:extLst>
              <a:ext uri="{FF2B5EF4-FFF2-40B4-BE49-F238E27FC236}">
                <a16:creationId xmlns:a16="http://schemas.microsoft.com/office/drawing/2014/main" id="{B8C3834E-0A41-213F-A774-78C2C702587A}"/>
              </a:ext>
            </a:extLst>
          </p:cNvPr>
          <p:cNvSpPr txBox="1"/>
          <p:nvPr/>
        </p:nvSpPr>
        <p:spPr>
          <a:xfrm>
            <a:off x="5232400" y="4686300"/>
            <a:ext cx="5715000" cy="286232"/>
          </a:xfrm>
          <a:prstGeom prst="rect">
            <a:avLst/>
          </a:prstGeom>
          <a:noFill/>
        </p:spPr>
        <p:txBody>
          <a:bodyPr vert="horz" wrap="square" lIns="0" tIns="0" rIns="0" bIns="0" rtlCol="0">
            <a:spAutoFit/>
          </a:bodyPr>
          <a:lstStyle/>
          <a:p>
            <a:r>
              <a:rPr lang="en-US" sz="930">
                <a:solidFill>
                  <a:srgbClr val="17243A"/>
                </a:solidFill>
                <a:latin typeface="Aptos" panose="020B0004020202020204" pitchFamily="34" charset="0"/>
              </a:rPr>
              <a:t>The 15 noisy cases passed after repetition or manual correction. Failures were not silently reclassified; they remain visible in the workbook and report.</a:t>
            </a:r>
          </a:p>
        </p:txBody>
      </p:sp>
      <p:sp>
        <p:nvSpPr>
          <p:cNvPr id="31" name="TextBox 30">
            <a:extLst>
              <a:ext uri="{FF2B5EF4-FFF2-40B4-BE49-F238E27FC236}">
                <a16:creationId xmlns:a16="http://schemas.microsoft.com/office/drawing/2014/main" id="{070216B4-DCC1-096E-3A83-B2D4B0E47C69}"/>
              </a:ext>
            </a:extLst>
          </p:cNvPr>
          <p:cNvSpPr txBox="1"/>
          <p:nvPr/>
        </p:nvSpPr>
        <p:spPr>
          <a:xfrm>
            <a:off x="4953000" y="5511800"/>
            <a:ext cx="6350000" cy="115416"/>
          </a:xfrm>
          <a:prstGeom prst="rect">
            <a:avLst/>
          </a:prstGeom>
          <a:noFill/>
        </p:spPr>
        <p:txBody>
          <a:bodyPr vert="horz" wrap="square" lIns="0" tIns="0" rIns="0" bIns="0" rtlCol="0">
            <a:spAutoFit/>
          </a:bodyPr>
          <a:lstStyle/>
          <a:p>
            <a:r>
              <a:rPr lang="en-US" sz="750">
                <a:solidFill>
                  <a:srgbClr val="5D6B80"/>
                </a:solidFill>
                <a:latin typeface="Aptos" panose="020B0004020202020204" pitchFamily="34" charset="0"/>
              </a:rPr>
              <a:t>Evidence: JoIn Final Test Register - Master Register, Dashboard, Defects and Evidence Index.</a:t>
            </a:r>
          </a:p>
        </p:txBody>
      </p:sp>
    </p:spTree>
    <p:extLst>
      <p:ext uri="{BB962C8B-B14F-4D97-AF65-F5344CB8AC3E}">
        <p14:creationId xmlns:p14="http://schemas.microsoft.com/office/powerpoint/2010/main" val="3542088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DE1B162-9443-6D15-AB35-D83098214CAE}"/>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B140D34-09AA-328F-5FE5-8B6701763806}"/>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FINAL VERIFICATION</a:t>
            </a:r>
          </a:p>
        </p:txBody>
      </p:sp>
      <p:sp>
        <p:nvSpPr>
          <p:cNvPr id="4" name="TextBox 3">
            <a:extLst>
              <a:ext uri="{FF2B5EF4-FFF2-40B4-BE49-F238E27FC236}">
                <a16:creationId xmlns:a16="http://schemas.microsoft.com/office/drawing/2014/main" id="{F718D77A-AD18-3299-F313-05871A4320D0}"/>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Results by engineering test area</a:t>
            </a:r>
          </a:p>
        </p:txBody>
      </p:sp>
      <p:sp>
        <p:nvSpPr>
          <p:cNvPr id="5" name="TextBox 4">
            <a:extLst>
              <a:ext uri="{FF2B5EF4-FFF2-40B4-BE49-F238E27FC236}">
                <a16:creationId xmlns:a16="http://schemas.microsoft.com/office/drawing/2014/main" id="{25734409-F083-6B27-EBDE-8DFC3B0D99F5}"/>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Final pass rate is useful only when read together with each area, target and open defect.</a:t>
            </a:r>
          </a:p>
        </p:txBody>
      </p:sp>
      <p:pic>
        <p:nvPicPr>
          <p:cNvPr id="7" name="Picture 6" descr="Universite Saint-Joseph and ESIB mark">
            <a:extLst>
              <a:ext uri="{FF2B5EF4-FFF2-40B4-BE49-F238E27FC236}">
                <a16:creationId xmlns:a16="http://schemas.microsoft.com/office/drawing/2014/main" id="{6520D836-4D5B-8114-1EDC-49BCBF9CAA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A7F2550D-1AE3-77C9-9203-A31E5DDFB107}"/>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307768F6-4DB0-99F5-4315-7414EEB56604}"/>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3E41748D-4B5B-BCBF-0F1E-226E290E2C28}"/>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22</a:t>
            </a:r>
          </a:p>
        </p:txBody>
      </p:sp>
      <p:sp>
        <p:nvSpPr>
          <p:cNvPr id="11" name="TextBox 10">
            <a:extLst>
              <a:ext uri="{FF2B5EF4-FFF2-40B4-BE49-F238E27FC236}">
                <a16:creationId xmlns:a16="http://schemas.microsoft.com/office/drawing/2014/main" id="{F79620AB-EBF0-C0D8-C468-A20C4ECFBCCE}"/>
              </a:ext>
            </a:extLst>
          </p:cNvPr>
          <p:cNvSpPr txBox="1"/>
          <p:nvPr/>
        </p:nvSpPr>
        <p:spPr>
          <a:xfrm>
            <a:off x="609600" y="18415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AI profile suggestions</a:t>
            </a:r>
          </a:p>
        </p:txBody>
      </p:sp>
      <p:sp>
        <p:nvSpPr>
          <p:cNvPr id="12" name="Rectangle: Rounded Corners 11">
            <a:extLst>
              <a:ext uri="{FF2B5EF4-FFF2-40B4-BE49-F238E27FC236}">
                <a16:creationId xmlns:a16="http://schemas.microsoft.com/office/drawing/2014/main" id="{A37B2BF3-7783-1CA1-2929-8FB55BA8A6FB}"/>
              </a:ext>
            </a:extLst>
          </p:cNvPr>
          <p:cNvSpPr/>
          <p:nvPr/>
        </p:nvSpPr>
        <p:spPr>
          <a:xfrm>
            <a:off x="2705100" y="18669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4CE669C9-8A9D-0397-A6F4-EA9585BCC4B8}"/>
              </a:ext>
            </a:extLst>
          </p:cNvPr>
          <p:cNvSpPr/>
          <p:nvPr/>
        </p:nvSpPr>
        <p:spPr>
          <a:xfrm>
            <a:off x="2705100" y="1866900"/>
            <a:ext cx="2074608" cy="152400"/>
          </a:xfrm>
          <a:prstGeom prst="round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0136AC4-BC17-32CF-1F95-7342E418666A}"/>
              </a:ext>
            </a:extLst>
          </p:cNvPr>
          <p:cNvSpPr txBox="1"/>
          <p:nvPr/>
        </p:nvSpPr>
        <p:spPr>
          <a:xfrm>
            <a:off x="5118100" y="1828800"/>
            <a:ext cx="635000" cy="135422"/>
          </a:xfrm>
          <a:prstGeom prst="rect">
            <a:avLst/>
          </a:prstGeom>
          <a:noFill/>
        </p:spPr>
        <p:txBody>
          <a:bodyPr vert="horz" wrap="square" lIns="0" tIns="0" rIns="0" bIns="0" rtlCol="0">
            <a:spAutoFit/>
          </a:bodyPr>
          <a:lstStyle/>
          <a:p>
            <a:pPr algn="r"/>
            <a:r>
              <a:rPr lang="en-US" sz="880" b="1">
                <a:solidFill>
                  <a:srgbClr val="A64B2A"/>
                </a:solidFill>
                <a:latin typeface="Aptos" panose="020B0004020202020204" pitchFamily="34" charset="0"/>
              </a:rPr>
              <a:t>88.3%</a:t>
            </a:r>
          </a:p>
        </p:txBody>
      </p:sp>
      <p:sp>
        <p:nvSpPr>
          <p:cNvPr id="15" name="TextBox 14">
            <a:extLst>
              <a:ext uri="{FF2B5EF4-FFF2-40B4-BE49-F238E27FC236}">
                <a16:creationId xmlns:a16="http://schemas.microsoft.com/office/drawing/2014/main" id="{BBE943FA-F417-EE73-201E-65F052A78CB0}"/>
              </a:ext>
            </a:extLst>
          </p:cNvPr>
          <p:cNvSpPr txBox="1"/>
          <p:nvPr/>
        </p:nvSpPr>
        <p:spPr>
          <a:xfrm>
            <a:off x="609600" y="22860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Voice transcription</a:t>
            </a:r>
          </a:p>
        </p:txBody>
      </p:sp>
      <p:sp>
        <p:nvSpPr>
          <p:cNvPr id="16" name="Rectangle: Rounded Corners 15">
            <a:extLst>
              <a:ext uri="{FF2B5EF4-FFF2-40B4-BE49-F238E27FC236}">
                <a16:creationId xmlns:a16="http://schemas.microsoft.com/office/drawing/2014/main" id="{369A473C-1F2F-B960-8FCC-8E6B5BDA00AB}"/>
              </a:ext>
            </a:extLst>
          </p:cNvPr>
          <p:cNvSpPr/>
          <p:nvPr/>
        </p:nvSpPr>
        <p:spPr>
          <a:xfrm>
            <a:off x="2705100" y="23114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Rounded Corners 16">
            <a:extLst>
              <a:ext uri="{FF2B5EF4-FFF2-40B4-BE49-F238E27FC236}">
                <a16:creationId xmlns:a16="http://schemas.microsoft.com/office/drawing/2014/main" id="{BF56952B-A3CF-70B0-00CD-5101D5A11C10}"/>
              </a:ext>
            </a:extLst>
          </p:cNvPr>
          <p:cNvSpPr/>
          <p:nvPr/>
        </p:nvSpPr>
        <p:spPr>
          <a:xfrm>
            <a:off x="2705100" y="2311400"/>
            <a:ext cx="2349500" cy="152400"/>
          </a:xfrm>
          <a:prstGeom prst="round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64B5678-95E2-B53E-AFF8-4652E4024E94}"/>
              </a:ext>
            </a:extLst>
          </p:cNvPr>
          <p:cNvSpPr txBox="1"/>
          <p:nvPr/>
        </p:nvSpPr>
        <p:spPr>
          <a:xfrm>
            <a:off x="5118100" y="2273300"/>
            <a:ext cx="635000" cy="135422"/>
          </a:xfrm>
          <a:prstGeom prst="rect">
            <a:avLst/>
          </a:prstGeom>
          <a:noFill/>
        </p:spPr>
        <p:txBody>
          <a:bodyPr vert="horz" wrap="square" lIns="0" tIns="0" rIns="0" bIns="0" rtlCol="0">
            <a:spAutoFit/>
          </a:bodyPr>
          <a:lstStyle/>
          <a:p>
            <a:pPr algn="r"/>
            <a:r>
              <a:rPr lang="en-US" sz="880" b="1">
                <a:solidFill>
                  <a:srgbClr val="157A55"/>
                </a:solidFill>
                <a:latin typeface="Aptos" panose="020B0004020202020204" pitchFamily="34" charset="0"/>
              </a:rPr>
              <a:t>100.0%</a:t>
            </a:r>
          </a:p>
        </p:txBody>
      </p:sp>
      <p:sp>
        <p:nvSpPr>
          <p:cNvPr id="19" name="TextBox 18">
            <a:extLst>
              <a:ext uri="{FF2B5EF4-FFF2-40B4-BE49-F238E27FC236}">
                <a16:creationId xmlns:a16="http://schemas.microsoft.com/office/drawing/2014/main" id="{9F35F1DC-8883-5005-CD7E-E04154D4F5A2}"/>
              </a:ext>
            </a:extLst>
          </p:cNvPr>
          <p:cNvSpPr txBox="1"/>
          <p:nvPr/>
        </p:nvSpPr>
        <p:spPr>
          <a:xfrm>
            <a:off x="609600" y="27305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Voice navigation</a:t>
            </a:r>
          </a:p>
        </p:txBody>
      </p:sp>
      <p:sp>
        <p:nvSpPr>
          <p:cNvPr id="20" name="Rectangle: Rounded Corners 19">
            <a:extLst>
              <a:ext uri="{FF2B5EF4-FFF2-40B4-BE49-F238E27FC236}">
                <a16:creationId xmlns:a16="http://schemas.microsoft.com/office/drawing/2014/main" id="{B5385B24-2349-86BA-A561-2C4131FAA3AD}"/>
              </a:ext>
            </a:extLst>
          </p:cNvPr>
          <p:cNvSpPr/>
          <p:nvPr/>
        </p:nvSpPr>
        <p:spPr>
          <a:xfrm>
            <a:off x="2705100" y="27559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8E3E7AE9-D19B-F91A-A857-F28BF6179327}"/>
              </a:ext>
            </a:extLst>
          </p:cNvPr>
          <p:cNvSpPr/>
          <p:nvPr/>
        </p:nvSpPr>
        <p:spPr>
          <a:xfrm>
            <a:off x="2705100" y="2755900"/>
            <a:ext cx="2349500" cy="152400"/>
          </a:xfrm>
          <a:prstGeom prst="round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3D030EF0-11D7-67D9-B8ED-BF58C0779C80}"/>
              </a:ext>
            </a:extLst>
          </p:cNvPr>
          <p:cNvSpPr txBox="1"/>
          <p:nvPr/>
        </p:nvSpPr>
        <p:spPr>
          <a:xfrm>
            <a:off x="5118100" y="2717800"/>
            <a:ext cx="635000" cy="135422"/>
          </a:xfrm>
          <a:prstGeom prst="rect">
            <a:avLst/>
          </a:prstGeom>
          <a:noFill/>
        </p:spPr>
        <p:txBody>
          <a:bodyPr vert="horz" wrap="square" lIns="0" tIns="0" rIns="0" bIns="0" rtlCol="0">
            <a:spAutoFit/>
          </a:bodyPr>
          <a:lstStyle/>
          <a:p>
            <a:pPr algn="r"/>
            <a:r>
              <a:rPr lang="en-US" sz="880" b="1">
                <a:solidFill>
                  <a:srgbClr val="157A55"/>
                </a:solidFill>
                <a:latin typeface="Aptos" panose="020B0004020202020204" pitchFamily="34" charset="0"/>
              </a:rPr>
              <a:t>100.0%</a:t>
            </a:r>
          </a:p>
        </p:txBody>
      </p:sp>
      <p:sp>
        <p:nvSpPr>
          <p:cNvPr id="23" name="TextBox 22">
            <a:extLst>
              <a:ext uri="{FF2B5EF4-FFF2-40B4-BE49-F238E27FC236}">
                <a16:creationId xmlns:a16="http://schemas.microsoft.com/office/drawing/2014/main" id="{724DAD0E-DB6F-1D39-214F-20A855F1088D}"/>
              </a:ext>
            </a:extLst>
          </p:cNvPr>
          <p:cNvSpPr txBox="1"/>
          <p:nvPr/>
        </p:nvSpPr>
        <p:spPr>
          <a:xfrm>
            <a:off x="609600" y="31750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Matching engine</a:t>
            </a:r>
          </a:p>
        </p:txBody>
      </p:sp>
      <p:sp>
        <p:nvSpPr>
          <p:cNvPr id="24" name="Rectangle: Rounded Corners 23">
            <a:extLst>
              <a:ext uri="{FF2B5EF4-FFF2-40B4-BE49-F238E27FC236}">
                <a16:creationId xmlns:a16="http://schemas.microsoft.com/office/drawing/2014/main" id="{7D7B24F5-288D-1CBD-7E73-8F5EC39FA04E}"/>
              </a:ext>
            </a:extLst>
          </p:cNvPr>
          <p:cNvSpPr/>
          <p:nvPr/>
        </p:nvSpPr>
        <p:spPr>
          <a:xfrm>
            <a:off x="2705100" y="32004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Rounded Corners 24">
            <a:extLst>
              <a:ext uri="{FF2B5EF4-FFF2-40B4-BE49-F238E27FC236}">
                <a16:creationId xmlns:a16="http://schemas.microsoft.com/office/drawing/2014/main" id="{5E33DC7F-1278-61E3-7FA4-A2603A40DFB2}"/>
              </a:ext>
            </a:extLst>
          </p:cNvPr>
          <p:cNvSpPr/>
          <p:nvPr/>
        </p:nvSpPr>
        <p:spPr>
          <a:xfrm>
            <a:off x="2705100" y="3200400"/>
            <a:ext cx="2349500" cy="152400"/>
          </a:xfrm>
          <a:prstGeom prst="round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0BF3D05-4F87-3336-BC0E-30B0A8D2A7ED}"/>
              </a:ext>
            </a:extLst>
          </p:cNvPr>
          <p:cNvSpPr txBox="1"/>
          <p:nvPr/>
        </p:nvSpPr>
        <p:spPr>
          <a:xfrm>
            <a:off x="5118100" y="3162300"/>
            <a:ext cx="635000" cy="135422"/>
          </a:xfrm>
          <a:prstGeom prst="rect">
            <a:avLst/>
          </a:prstGeom>
          <a:noFill/>
        </p:spPr>
        <p:txBody>
          <a:bodyPr vert="horz" wrap="square" lIns="0" tIns="0" rIns="0" bIns="0" rtlCol="0">
            <a:spAutoFit/>
          </a:bodyPr>
          <a:lstStyle/>
          <a:p>
            <a:pPr algn="r"/>
            <a:r>
              <a:rPr lang="en-US" sz="880" b="1">
                <a:solidFill>
                  <a:srgbClr val="157A55"/>
                </a:solidFill>
                <a:latin typeface="Aptos" panose="020B0004020202020204" pitchFamily="34" charset="0"/>
              </a:rPr>
              <a:t>100.0%</a:t>
            </a:r>
          </a:p>
        </p:txBody>
      </p:sp>
      <p:sp>
        <p:nvSpPr>
          <p:cNvPr id="27" name="TextBox 26">
            <a:extLst>
              <a:ext uri="{FF2B5EF4-FFF2-40B4-BE49-F238E27FC236}">
                <a16:creationId xmlns:a16="http://schemas.microsoft.com/office/drawing/2014/main" id="{62D099CB-E6F0-FACB-E381-0FC3A625B25E}"/>
              </a:ext>
            </a:extLst>
          </p:cNvPr>
          <p:cNvSpPr txBox="1"/>
          <p:nvPr/>
        </p:nvSpPr>
        <p:spPr>
          <a:xfrm>
            <a:off x="609600" y="36195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Complete workflows</a:t>
            </a:r>
          </a:p>
        </p:txBody>
      </p:sp>
      <p:sp>
        <p:nvSpPr>
          <p:cNvPr id="28" name="Rectangle: Rounded Corners 27">
            <a:extLst>
              <a:ext uri="{FF2B5EF4-FFF2-40B4-BE49-F238E27FC236}">
                <a16:creationId xmlns:a16="http://schemas.microsoft.com/office/drawing/2014/main" id="{B87F1555-8543-ED2D-73FA-A7AD32C2AAF2}"/>
              </a:ext>
            </a:extLst>
          </p:cNvPr>
          <p:cNvSpPr/>
          <p:nvPr/>
        </p:nvSpPr>
        <p:spPr>
          <a:xfrm>
            <a:off x="2705100" y="36449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Rounded Corners 28">
            <a:extLst>
              <a:ext uri="{FF2B5EF4-FFF2-40B4-BE49-F238E27FC236}">
                <a16:creationId xmlns:a16="http://schemas.microsoft.com/office/drawing/2014/main" id="{25CCDE94-CF64-889A-049F-4AA8C80B6475}"/>
              </a:ext>
            </a:extLst>
          </p:cNvPr>
          <p:cNvSpPr/>
          <p:nvPr/>
        </p:nvSpPr>
        <p:spPr>
          <a:xfrm>
            <a:off x="2705100" y="3644900"/>
            <a:ext cx="2349500" cy="152400"/>
          </a:xfrm>
          <a:prstGeom prst="round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FE143F59-CDB6-0A27-8281-EBDAEE2DF8C2}"/>
              </a:ext>
            </a:extLst>
          </p:cNvPr>
          <p:cNvSpPr txBox="1"/>
          <p:nvPr/>
        </p:nvSpPr>
        <p:spPr>
          <a:xfrm>
            <a:off x="5118100" y="3606800"/>
            <a:ext cx="635000" cy="135422"/>
          </a:xfrm>
          <a:prstGeom prst="rect">
            <a:avLst/>
          </a:prstGeom>
          <a:noFill/>
        </p:spPr>
        <p:txBody>
          <a:bodyPr vert="horz" wrap="square" lIns="0" tIns="0" rIns="0" bIns="0" rtlCol="0">
            <a:spAutoFit/>
          </a:bodyPr>
          <a:lstStyle/>
          <a:p>
            <a:pPr algn="r"/>
            <a:r>
              <a:rPr lang="en-US" sz="880" b="1">
                <a:solidFill>
                  <a:srgbClr val="157A55"/>
                </a:solidFill>
                <a:latin typeface="Aptos" panose="020B0004020202020204" pitchFamily="34" charset="0"/>
              </a:rPr>
              <a:t>100.0%</a:t>
            </a:r>
          </a:p>
        </p:txBody>
      </p:sp>
      <p:sp>
        <p:nvSpPr>
          <p:cNvPr id="31" name="TextBox 30">
            <a:extLst>
              <a:ext uri="{FF2B5EF4-FFF2-40B4-BE49-F238E27FC236}">
                <a16:creationId xmlns:a16="http://schemas.microsoft.com/office/drawing/2014/main" id="{66DD8EB5-F9F6-0F62-9637-A9F3B6D4DB53}"/>
              </a:ext>
            </a:extLst>
          </p:cNvPr>
          <p:cNvSpPr txBox="1"/>
          <p:nvPr/>
        </p:nvSpPr>
        <p:spPr>
          <a:xfrm>
            <a:off x="6438900" y="18415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Security + privacy</a:t>
            </a:r>
          </a:p>
        </p:txBody>
      </p:sp>
      <p:sp>
        <p:nvSpPr>
          <p:cNvPr id="32" name="Rectangle: Rounded Corners 31">
            <a:extLst>
              <a:ext uri="{FF2B5EF4-FFF2-40B4-BE49-F238E27FC236}">
                <a16:creationId xmlns:a16="http://schemas.microsoft.com/office/drawing/2014/main" id="{3DACAB6D-23C7-E447-F86B-0193B9A96B28}"/>
              </a:ext>
            </a:extLst>
          </p:cNvPr>
          <p:cNvSpPr/>
          <p:nvPr/>
        </p:nvSpPr>
        <p:spPr>
          <a:xfrm>
            <a:off x="8534400" y="18669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Rounded Corners 32">
            <a:extLst>
              <a:ext uri="{FF2B5EF4-FFF2-40B4-BE49-F238E27FC236}">
                <a16:creationId xmlns:a16="http://schemas.microsoft.com/office/drawing/2014/main" id="{84A5E1CC-3AC2-8D59-93E8-C0C3217450E5}"/>
              </a:ext>
            </a:extLst>
          </p:cNvPr>
          <p:cNvSpPr/>
          <p:nvPr/>
        </p:nvSpPr>
        <p:spPr>
          <a:xfrm>
            <a:off x="8534400" y="1866900"/>
            <a:ext cx="2232025" cy="152400"/>
          </a:xfrm>
          <a:prstGeom prst="round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D80A3210-3480-203C-B49E-0533A164A30C}"/>
              </a:ext>
            </a:extLst>
          </p:cNvPr>
          <p:cNvSpPr txBox="1"/>
          <p:nvPr/>
        </p:nvSpPr>
        <p:spPr>
          <a:xfrm>
            <a:off x="10947400" y="1828800"/>
            <a:ext cx="635000" cy="135422"/>
          </a:xfrm>
          <a:prstGeom prst="rect">
            <a:avLst/>
          </a:prstGeom>
          <a:noFill/>
        </p:spPr>
        <p:txBody>
          <a:bodyPr vert="horz" wrap="square" lIns="0" tIns="0" rIns="0" bIns="0" rtlCol="0">
            <a:spAutoFit/>
          </a:bodyPr>
          <a:lstStyle/>
          <a:p>
            <a:pPr algn="r"/>
            <a:r>
              <a:rPr lang="en-US" sz="880" b="1">
                <a:solidFill>
                  <a:srgbClr val="A64B2A"/>
                </a:solidFill>
                <a:latin typeface="Aptos" panose="020B0004020202020204" pitchFamily="34" charset="0"/>
              </a:rPr>
              <a:t>95.0%</a:t>
            </a:r>
          </a:p>
        </p:txBody>
      </p:sp>
      <p:sp>
        <p:nvSpPr>
          <p:cNvPr id="35" name="TextBox 34">
            <a:extLst>
              <a:ext uri="{FF2B5EF4-FFF2-40B4-BE49-F238E27FC236}">
                <a16:creationId xmlns:a16="http://schemas.microsoft.com/office/drawing/2014/main" id="{3A5365A9-5AE5-4154-2B5D-B4E729A00BCA}"/>
              </a:ext>
            </a:extLst>
          </p:cNvPr>
          <p:cNvSpPr txBox="1"/>
          <p:nvPr/>
        </p:nvSpPr>
        <p:spPr>
          <a:xfrm>
            <a:off x="6438900" y="22860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Accessibility</a:t>
            </a:r>
          </a:p>
        </p:txBody>
      </p:sp>
      <p:sp>
        <p:nvSpPr>
          <p:cNvPr id="36" name="Rectangle: Rounded Corners 35">
            <a:extLst>
              <a:ext uri="{FF2B5EF4-FFF2-40B4-BE49-F238E27FC236}">
                <a16:creationId xmlns:a16="http://schemas.microsoft.com/office/drawing/2014/main" id="{8DD67068-A268-2191-5819-9D368E4FC7D2}"/>
              </a:ext>
            </a:extLst>
          </p:cNvPr>
          <p:cNvSpPr/>
          <p:nvPr/>
        </p:nvSpPr>
        <p:spPr>
          <a:xfrm>
            <a:off x="8534400" y="23114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Rounded Corners 36">
            <a:extLst>
              <a:ext uri="{FF2B5EF4-FFF2-40B4-BE49-F238E27FC236}">
                <a16:creationId xmlns:a16="http://schemas.microsoft.com/office/drawing/2014/main" id="{004F7C54-DE54-895E-015B-22BABE0C30B4}"/>
              </a:ext>
            </a:extLst>
          </p:cNvPr>
          <p:cNvSpPr/>
          <p:nvPr/>
        </p:nvSpPr>
        <p:spPr>
          <a:xfrm>
            <a:off x="8534400" y="2311400"/>
            <a:ext cx="2349500" cy="152400"/>
          </a:xfrm>
          <a:prstGeom prst="round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9A0F45D5-658A-CF5C-29AD-80AB404FBB4C}"/>
              </a:ext>
            </a:extLst>
          </p:cNvPr>
          <p:cNvSpPr txBox="1"/>
          <p:nvPr/>
        </p:nvSpPr>
        <p:spPr>
          <a:xfrm>
            <a:off x="10947400" y="2273300"/>
            <a:ext cx="635000" cy="135422"/>
          </a:xfrm>
          <a:prstGeom prst="rect">
            <a:avLst/>
          </a:prstGeom>
          <a:noFill/>
        </p:spPr>
        <p:txBody>
          <a:bodyPr vert="horz" wrap="square" lIns="0" tIns="0" rIns="0" bIns="0" rtlCol="0">
            <a:spAutoFit/>
          </a:bodyPr>
          <a:lstStyle/>
          <a:p>
            <a:pPr algn="r"/>
            <a:r>
              <a:rPr lang="en-US" sz="880" b="1">
                <a:solidFill>
                  <a:srgbClr val="157A55"/>
                </a:solidFill>
                <a:latin typeface="Aptos" panose="020B0004020202020204" pitchFamily="34" charset="0"/>
              </a:rPr>
              <a:t>100.0%</a:t>
            </a:r>
          </a:p>
        </p:txBody>
      </p:sp>
      <p:sp>
        <p:nvSpPr>
          <p:cNvPr id="39" name="TextBox 38">
            <a:extLst>
              <a:ext uri="{FF2B5EF4-FFF2-40B4-BE49-F238E27FC236}">
                <a16:creationId xmlns:a16="http://schemas.microsoft.com/office/drawing/2014/main" id="{AD65782D-17FF-7A3F-ED46-E4377BEA36AE}"/>
              </a:ext>
            </a:extLst>
          </p:cNvPr>
          <p:cNvSpPr txBox="1"/>
          <p:nvPr/>
        </p:nvSpPr>
        <p:spPr>
          <a:xfrm>
            <a:off x="6438900" y="27305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Multilingual + RTL</a:t>
            </a:r>
          </a:p>
        </p:txBody>
      </p:sp>
      <p:sp>
        <p:nvSpPr>
          <p:cNvPr id="40" name="Rectangle: Rounded Corners 39">
            <a:extLst>
              <a:ext uri="{FF2B5EF4-FFF2-40B4-BE49-F238E27FC236}">
                <a16:creationId xmlns:a16="http://schemas.microsoft.com/office/drawing/2014/main" id="{83C21057-934B-F756-A60B-38C4659B89F0}"/>
              </a:ext>
            </a:extLst>
          </p:cNvPr>
          <p:cNvSpPr/>
          <p:nvPr/>
        </p:nvSpPr>
        <p:spPr>
          <a:xfrm>
            <a:off x="8534400" y="27559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Rounded Corners 40">
            <a:extLst>
              <a:ext uri="{FF2B5EF4-FFF2-40B4-BE49-F238E27FC236}">
                <a16:creationId xmlns:a16="http://schemas.microsoft.com/office/drawing/2014/main" id="{EFC5CB02-9D3D-1206-D521-F4D92E276195}"/>
              </a:ext>
            </a:extLst>
          </p:cNvPr>
          <p:cNvSpPr/>
          <p:nvPr/>
        </p:nvSpPr>
        <p:spPr>
          <a:xfrm>
            <a:off x="8534400" y="2755900"/>
            <a:ext cx="2349500" cy="152400"/>
          </a:xfrm>
          <a:prstGeom prst="round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8FA23BC3-A02E-3D36-02BA-A92A6B4C66C6}"/>
              </a:ext>
            </a:extLst>
          </p:cNvPr>
          <p:cNvSpPr txBox="1"/>
          <p:nvPr/>
        </p:nvSpPr>
        <p:spPr>
          <a:xfrm>
            <a:off x="10947400" y="2717800"/>
            <a:ext cx="635000" cy="135422"/>
          </a:xfrm>
          <a:prstGeom prst="rect">
            <a:avLst/>
          </a:prstGeom>
          <a:noFill/>
        </p:spPr>
        <p:txBody>
          <a:bodyPr vert="horz" wrap="square" lIns="0" tIns="0" rIns="0" bIns="0" rtlCol="0">
            <a:spAutoFit/>
          </a:bodyPr>
          <a:lstStyle/>
          <a:p>
            <a:pPr algn="r"/>
            <a:r>
              <a:rPr lang="en-US" sz="880" b="1">
                <a:solidFill>
                  <a:srgbClr val="157A55"/>
                </a:solidFill>
                <a:latin typeface="Aptos" panose="020B0004020202020204" pitchFamily="34" charset="0"/>
              </a:rPr>
              <a:t>100.0%</a:t>
            </a:r>
          </a:p>
        </p:txBody>
      </p:sp>
      <p:sp>
        <p:nvSpPr>
          <p:cNvPr id="43" name="TextBox 42">
            <a:extLst>
              <a:ext uri="{FF2B5EF4-FFF2-40B4-BE49-F238E27FC236}">
                <a16:creationId xmlns:a16="http://schemas.microsoft.com/office/drawing/2014/main" id="{B12E6D76-AA51-7CCF-07B9-13DAE41A2B62}"/>
              </a:ext>
            </a:extLst>
          </p:cNvPr>
          <p:cNvSpPr txBox="1"/>
          <p:nvPr/>
        </p:nvSpPr>
        <p:spPr>
          <a:xfrm>
            <a:off x="6438900" y="31750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Browser + device</a:t>
            </a:r>
          </a:p>
        </p:txBody>
      </p:sp>
      <p:sp>
        <p:nvSpPr>
          <p:cNvPr id="44" name="Rectangle: Rounded Corners 43">
            <a:extLst>
              <a:ext uri="{FF2B5EF4-FFF2-40B4-BE49-F238E27FC236}">
                <a16:creationId xmlns:a16="http://schemas.microsoft.com/office/drawing/2014/main" id="{A2B2672C-4D9F-814B-4AB5-EADFEF63D4DE}"/>
              </a:ext>
            </a:extLst>
          </p:cNvPr>
          <p:cNvSpPr/>
          <p:nvPr/>
        </p:nvSpPr>
        <p:spPr>
          <a:xfrm>
            <a:off x="8534400" y="32004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44">
            <a:extLst>
              <a:ext uri="{FF2B5EF4-FFF2-40B4-BE49-F238E27FC236}">
                <a16:creationId xmlns:a16="http://schemas.microsoft.com/office/drawing/2014/main" id="{CDE0C4AF-29C2-E9B6-5DB2-2489D370392F}"/>
              </a:ext>
            </a:extLst>
          </p:cNvPr>
          <p:cNvSpPr/>
          <p:nvPr/>
        </p:nvSpPr>
        <p:spPr>
          <a:xfrm>
            <a:off x="8534400" y="3200400"/>
            <a:ext cx="2349500" cy="152400"/>
          </a:xfrm>
          <a:prstGeom prst="round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D8F0148D-1FD3-D52C-5A38-9D4015EA8D53}"/>
              </a:ext>
            </a:extLst>
          </p:cNvPr>
          <p:cNvSpPr txBox="1"/>
          <p:nvPr/>
        </p:nvSpPr>
        <p:spPr>
          <a:xfrm>
            <a:off x="10947400" y="3162300"/>
            <a:ext cx="635000" cy="135422"/>
          </a:xfrm>
          <a:prstGeom prst="rect">
            <a:avLst/>
          </a:prstGeom>
          <a:noFill/>
        </p:spPr>
        <p:txBody>
          <a:bodyPr vert="horz" wrap="square" lIns="0" tIns="0" rIns="0" bIns="0" rtlCol="0">
            <a:spAutoFit/>
          </a:bodyPr>
          <a:lstStyle/>
          <a:p>
            <a:pPr algn="r"/>
            <a:r>
              <a:rPr lang="en-US" sz="880" b="1">
                <a:solidFill>
                  <a:srgbClr val="157A55"/>
                </a:solidFill>
                <a:latin typeface="Aptos" panose="020B0004020202020204" pitchFamily="34" charset="0"/>
              </a:rPr>
              <a:t>100.0%</a:t>
            </a:r>
          </a:p>
        </p:txBody>
      </p:sp>
      <p:sp>
        <p:nvSpPr>
          <p:cNvPr id="47" name="TextBox 46">
            <a:extLst>
              <a:ext uri="{FF2B5EF4-FFF2-40B4-BE49-F238E27FC236}">
                <a16:creationId xmlns:a16="http://schemas.microsoft.com/office/drawing/2014/main" id="{54B2F0C0-29AB-4C17-4582-44B6F20B030F}"/>
              </a:ext>
            </a:extLst>
          </p:cNvPr>
          <p:cNvSpPr txBox="1"/>
          <p:nvPr/>
        </p:nvSpPr>
        <p:spPr>
          <a:xfrm>
            <a:off x="6438900" y="3619500"/>
            <a:ext cx="2032000" cy="135422"/>
          </a:xfrm>
          <a:prstGeom prst="rect">
            <a:avLst/>
          </a:prstGeom>
          <a:noFill/>
        </p:spPr>
        <p:txBody>
          <a:bodyPr vert="horz" wrap="square" lIns="0" tIns="0" rIns="0" bIns="0" rtlCol="0">
            <a:spAutoFit/>
          </a:bodyPr>
          <a:lstStyle/>
          <a:p>
            <a:r>
              <a:rPr lang="en-US" sz="880" b="1">
                <a:solidFill>
                  <a:srgbClr val="17243A"/>
                </a:solidFill>
                <a:latin typeface="Aptos" panose="020B0004020202020204" pitchFamily="34" charset="0"/>
              </a:rPr>
              <a:t>Performance + reliability</a:t>
            </a:r>
          </a:p>
        </p:txBody>
      </p:sp>
      <p:sp>
        <p:nvSpPr>
          <p:cNvPr id="48" name="Rectangle: Rounded Corners 47">
            <a:extLst>
              <a:ext uri="{FF2B5EF4-FFF2-40B4-BE49-F238E27FC236}">
                <a16:creationId xmlns:a16="http://schemas.microsoft.com/office/drawing/2014/main" id="{4B66E379-C9C7-62E5-7273-66270DDF9BE2}"/>
              </a:ext>
            </a:extLst>
          </p:cNvPr>
          <p:cNvSpPr/>
          <p:nvPr/>
        </p:nvSpPr>
        <p:spPr>
          <a:xfrm>
            <a:off x="8534400" y="3644900"/>
            <a:ext cx="2349500" cy="152400"/>
          </a:xfrm>
          <a:prstGeom prst="roundRect">
            <a:avLst/>
          </a:prstGeom>
          <a:solidFill>
            <a:srgbClr val="E9EEF5"/>
          </a:solidFill>
          <a:ln w="10160">
            <a:solidFill>
              <a:srgbClr val="E9EEF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Rounded Corners 48">
            <a:extLst>
              <a:ext uri="{FF2B5EF4-FFF2-40B4-BE49-F238E27FC236}">
                <a16:creationId xmlns:a16="http://schemas.microsoft.com/office/drawing/2014/main" id="{2BD44784-3ECF-986F-9D2B-2E73CF981196}"/>
              </a:ext>
            </a:extLst>
          </p:cNvPr>
          <p:cNvSpPr/>
          <p:nvPr/>
        </p:nvSpPr>
        <p:spPr>
          <a:xfrm>
            <a:off x="8534400" y="3644900"/>
            <a:ext cx="1219391" cy="152400"/>
          </a:xfrm>
          <a:prstGeom prst="round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6E0D7381-5C8E-2C80-2E4B-9CD4586451F9}"/>
              </a:ext>
            </a:extLst>
          </p:cNvPr>
          <p:cNvSpPr txBox="1"/>
          <p:nvPr/>
        </p:nvSpPr>
        <p:spPr>
          <a:xfrm>
            <a:off x="10947400" y="3606800"/>
            <a:ext cx="635000" cy="135422"/>
          </a:xfrm>
          <a:prstGeom prst="rect">
            <a:avLst/>
          </a:prstGeom>
          <a:noFill/>
        </p:spPr>
        <p:txBody>
          <a:bodyPr vert="horz" wrap="square" lIns="0" tIns="0" rIns="0" bIns="0" rtlCol="0">
            <a:spAutoFit/>
          </a:bodyPr>
          <a:lstStyle/>
          <a:p>
            <a:pPr algn="r"/>
            <a:r>
              <a:rPr lang="en-US" sz="880" b="1">
                <a:solidFill>
                  <a:srgbClr val="563A4B"/>
                </a:solidFill>
                <a:latin typeface="Aptos" panose="020B0004020202020204" pitchFamily="34" charset="0"/>
              </a:rPr>
              <a:t>51.9%</a:t>
            </a:r>
          </a:p>
        </p:txBody>
      </p:sp>
      <p:sp>
        <p:nvSpPr>
          <p:cNvPr id="51" name="Rectangle: Rounded Corners 50">
            <a:extLst>
              <a:ext uri="{FF2B5EF4-FFF2-40B4-BE49-F238E27FC236}">
                <a16:creationId xmlns:a16="http://schemas.microsoft.com/office/drawing/2014/main" id="{47A3458E-EAF5-6A25-6057-834487B8DD61}"/>
              </a:ext>
            </a:extLst>
          </p:cNvPr>
          <p:cNvSpPr/>
          <p:nvPr/>
        </p:nvSpPr>
        <p:spPr>
          <a:xfrm>
            <a:off x="1079500" y="4508500"/>
            <a:ext cx="10033000" cy="12700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CF46F715-2E35-4133-AC98-97B2CAD6E915}"/>
              </a:ext>
            </a:extLst>
          </p:cNvPr>
          <p:cNvSpPr txBox="1"/>
          <p:nvPr/>
        </p:nvSpPr>
        <p:spPr>
          <a:xfrm>
            <a:off x="1397000" y="4749800"/>
            <a:ext cx="3810000" cy="184666"/>
          </a:xfrm>
          <a:prstGeom prst="rect">
            <a:avLst/>
          </a:prstGeom>
          <a:noFill/>
        </p:spPr>
        <p:txBody>
          <a:bodyPr vert="horz" wrap="square" lIns="0" tIns="0" rIns="0" bIns="0" rtlCol="0">
            <a:spAutoFit/>
          </a:bodyPr>
          <a:lstStyle/>
          <a:p>
            <a:r>
              <a:rPr lang="en-US" sz="1200" b="1">
                <a:solidFill>
                  <a:srgbClr val="FFFFFF"/>
                </a:solidFill>
                <a:latin typeface="Aptos Display" panose="020B0004020202020204" pitchFamily="34" charset="0"/>
              </a:rPr>
              <a:t>Read the pattern, not only the average</a:t>
            </a:r>
          </a:p>
        </p:txBody>
      </p:sp>
      <p:sp>
        <p:nvSpPr>
          <p:cNvPr id="53" name="TextBox 52">
            <a:extLst>
              <a:ext uri="{FF2B5EF4-FFF2-40B4-BE49-F238E27FC236}">
                <a16:creationId xmlns:a16="http://schemas.microsoft.com/office/drawing/2014/main" id="{DA6288B3-1446-EFAC-E4B2-1212879EC0B1}"/>
              </a:ext>
            </a:extLst>
          </p:cNvPr>
          <p:cNvSpPr txBox="1"/>
          <p:nvPr/>
        </p:nvSpPr>
        <p:spPr>
          <a:xfrm>
            <a:off x="1397000" y="5181600"/>
            <a:ext cx="9271000" cy="307777"/>
          </a:xfrm>
          <a:prstGeom prst="rect">
            <a:avLst/>
          </a:prstGeom>
          <a:noFill/>
        </p:spPr>
        <p:txBody>
          <a:bodyPr vert="horz" wrap="square" lIns="0" tIns="0" rIns="0" bIns="0" rtlCol="0">
            <a:spAutoFit/>
          </a:bodyPr>
          <a:lstStyle/>
          <a:p>
            <a:r>
              <a:rPr lang="en-US" sz="1000">
                <a:solidFill>
                  <a:srgbClr val="DDE7F5"/>
                </a:solidFill>
                <a:latin typeface="Aptos" panose="020B0004020202020204" pitchFamily="34" charset="0"/>
              </a:rPr>
              <a:t>Strong functional correctness and language coverage. Improvement work is concentrated in AI preference extraction, one upload behavior, and staging latency under load.</a:t>
            </a:r>
          </a:p>
        </p:txBody>
      </p:sp>
    </p:spTree>
    <p:extLst>
      <p:ext uri="{BB962C8B-B14F-4D97-AF65-F5344CB8AC3E}">
        <p14:creationId xmlns:p14="http://schemas.microsoft.com/office/powerpoint/2010/main" val="8072485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A1B6CA-8300-F4E1-CF4F-2F7B423E4332}"/>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44EFEFD-77CE-F9AE-FF0C-CF7571360DF5}"/>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ENGINEERING FINDINGS</a:t>
            </a:r>
          </a:p>
        </p:txBody>
      </p:sp>
      <p:sp>
        <p:nvSpPr>
          <p:cNvPr id="4" name="TextBox 3">
            <a:extLst>
              <a:ext uri="{FF2B5EF4-FFF2-40B4-BE49-F238E27FC236}">
                <a16:creationId xmlns:a16="http://schemas.microsoft.com/office/drawing/2014/main" id="{1A4496C2-B123-58F3-2D43-A66C48B876A0}"/>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Testing produced actionable defects, not only pass counts</a:t>
            </a:r>
          </a:p>
        </p:txBody>
      </p:sp>
      <p:sp>
        <p:nvSpPr>
          <p:cNvPr id="5" name="TextBox 4">
            <a:extLst>
              <a:ext uri="{FF2B5EF4-FFF2-40B4-BE49-F238E27FC236}">
                <a16:creationId xmlns:a16="http://schemas.microsoft.com/office/drawing/2014/main" id="{37A99CAD-36F2-8914-F73A-4D14B3CAF38D}"/>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A final-year engineering project should explain what failed, why it matters and what should change next.</a:t>
            </a:r>
          </a:p>
        </p:txBody>
      </p:sp>
      <p:pic>
        <p:nvPicPr>
          <p:cNvPr id="7" name="Picture 6" descr="Universite Saint-Joseph and ESIB mark">
            <a:extLst>
              <a:ext uri="{FF2B5EF4-FFF2-40B4-BE49-F238E27FC236}">
                <a16:creationId xmlns:a16="http://schemas.microsoft.com/office/drawing/2014/main" id="{170C990E-EFCA-8C98-D201-28B2B0190B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C7681F7D-D567-81DF-2735-A775B43CDEA5}"/>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5A1A37A1-F98C-0823-C417-47E485BE8978}"/>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5F5FD118-F5AB-DE6D-003F-41A9C7992B78}"/>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23</a:t>
            </a:r>
          </a:p>
        </p:txBody>
      </p:sp>
      <p:sp>
        <p:nvSpPr>
          <p:cNvPr id="11" name="Rectangle: Rounded Corners 10">
            <a:extLst>
              <a:ext uri="{FF2B5EF4-FFF2-40B4-BE49-F238E27FC236}">
                <a16:creationId xmlns:a16="http://schemas.microsoft.com/office/drawing/2014/main" id="{00E3D2A8-6AD2-35BC-2138-047A0C518D76}"/>
              </a:ext>
            </a:extLst>
          </p:cNvPr>
          <p:cNvSpPr/>
          <p:nvPr/>
        </p:nvSpPr>
        <p:spPr>
          <a:xfrm>
            <a:off x="609600" y="18415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BA12696-1E56-FB8E-8A00-6FD52AA10E16}"/>
              </a:ext>
            </a:extLst>
          </p:cNvPr>
          <p:cNvSpPr/>
          <p:nvPr/>
        </p:nvSpPr>
        <p:spPr>
          <a:xfrm>
            <a:off x="609600" y="1841500"/>
            <a:ext cx="88900" cy="15494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BFA8FC04-884A-BA9F-5F00-CDDEB53630F2}"/>
              </a:ext>
            </a:extLst>
          </p:cNvPr>
          <p:cNvSpPr txBox="1"/>
          <p:nvPr/>
        </p:nvSpPr>
        <p:spPr>
          <a:xfrm>
            <a:off x="876300" y="2044700"/>
            <a:ext cx="2946400" cy="230832"/>
          </a:xfrm>
          <a:prstGeom prst="rect">
            <a:avLst/>
          </a:prstGeom>
          <a:noFill/>
        </p:spPr>
        <p:txBody>
          <a:bodyPr vert="horz" wrap="square" lIns="0" tIns="0" rIns="0" bIns="0" rtlCol="0">
            <a:spAutoFit/>
          </a:bodyPr>
          <a:lstStyle/>
          <a:p>
            <a:r>
              <a:rPr lang="en-US" sz="1500" b="1">
                <a:solidFill>
                  <a:srgbClr val="A64B2A"/>
                </a:solidFill>
                <a:latin typeface="Aptos Display" panose="020B0004020202020204" pitchFamily="34" charset="0"/>
              </a:rPr>
              <a:t>AI preference extraction</a:t>
            </a:r>
          </a:p>
        </p:txBody>
      </p:sp>
      <p:sp>
        <p:nvSpPr>
          <p:cNvPr id="14" name="TextBox 13">
            <a:extLst>
              <a:ext uri="{FF2B5EF4-FFF2-40B4-BE49-F238E27FC236}">
                <a16:creationId xmlns:a16="http://schemas.microsoft.com/office/drawing/2014/main" id="{CFF8360A-D87F-8040-314C-D28A4EA080CD}"/>
              </a:ext>
            </a:extLst>
          </p:cNvPr>
          <p:cNvSpPr txBox="1"/>
          <p:nvPr/>
        </p:nvSpPr>
        <p:spPr>
          <a:xfrm>
            <a:off x="876300" y="25400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Explicit Both work-and-training wording was intermittently omitted.</a:t>
            </a:r>
          </a:p>
        </p:txBody>
      </p:sp>
      <p:sp>
        <p:nvSpPr>
          <p:cNvPr id="15" name="Rectangle: Rounded Corners 14">
            <a:extLst>
              <a:ext uri="{FF2B5EF4-FFF2-40B4-BE49-F238E27FC236}">
                <a16:creationId xmlns:a16="http://schemas.microsoft.com/office/drawing/2014/main" id="{97FF6E97-B665-7E7E-4BCC-41F6CFFA0991}"/>
              </a:ext>
            </a:extLst>
          </p:cNvPr>
          <p:cNvSpPr/>
          <p:nvPr/>
        </p:nvSpPr>
        <p:spPr>
          <a:xfrm>
            <a:off x="4292600" y="18415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F8075DB-40BD-83B1-6C51-A5B77513999A}"/>
              </a:ext>
            </a:extLst>
          </p:cNvPr>
          <p:cNvSpPr/>
          <p:nvPr/>
        </p:nvSpPr>
        <p:spPr>
          <a:xfrm>
            <a:off x="4292600" y="1841500"/>
            <a:ext cx="88900" cy="15494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2DAAB990-AB11-9DCE-92D1-E6C919FBE7F5}"/>
              </a:ext>
            </a:extLst>
          </p:cNvPr>
          <p:cNvSpPr txBox="1"/>
          <p:nvPr/>
        </p:nvSpPr>
        <p:spPr>
          <a:xfrm>
            <a:off x="4559300" y="2044700"/>
            <a:ext cx="29464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Contrast and zoom reflow</a:t>
            </a:r>
          </a:p>
        </p:txBody>
      </p:sp>
      <p:sp>
        <p:nvSpPr>
          <p:cNvPr id="18" name="TextBox 17">
            <a:extLst>
              <a:ext uri="{FF2B5EF4-FFF2-40B4-BE49-F238E27FC236}">
                <a16:creationId xmlns:a16="http://schemas.microsoft.com/office/drawing/2014/main" id="{D33506D0-02CD-7485-A1EB-03565F53748D}"/>
              </a:ext>
            </a:extLst>
          </p:cNvPr>
          <p:cNvSpPr txBox="1"/>
          <p:nvPr/>
        </p:nvSpPr>
        <p:spPr>
          <a:xfrm>
            <a:off x="4559300" y="25400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Helper text contrast and high-zoom candidate header overflow need remediation.</a:t>
            </a:r>
          </a:p>
        </p:txBody>
      </p:sp>
      <p:sp>
        <p:nvSpPr>
          <p:cNvPr id="19" name="Rectangle: Rounded Corners 18">
            <a:extLst>
              <a:ext uri="{FF2B5EF4-FFF2-40B4-BE49-F238E27FC236}">
                <a16:creationId xmlns:a16="http://schemas.microsoft.com/office/drawing/2014/main" id="{06829783-4BFB-8DA5-7F79-8514AAC089E4}"/>
              </a:ext>
            </a:extLst>
          </p:cNvPr>
          <p:cNvSpPr/>
          <p:nvPr/>
        </p:nvSpPr>
        <p:spPr>
          <a:xfrm>
            <a:off x="7975600" y="18415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D469276-0620-2814-262B-09E904D97A3C}"/>
              </a:ext>
            </a:extLst>
          </p:cNvPr>
          <p:cNvSpPr/>
          <p:nvPr/>
        </p:nvSpPr>
        <p:spPr>
          <a:xfrm>
            <a:off x="7975600" y="1841500"/>
            <a:ext cx="88900" cy="15494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F14E4056-C816-9A4F-12AB-E5E2A3AC3CA5}"/>
              </a:ext>
            </a:extLst>
          </p:cNvPr>
          <p:cNvSpPr txBox="1"/>
          <p:nvPr/>
        </p:nvSpPr>
        <p:spPr>
          <a:xfrm>
            <a:off x="8242300" y="2044700"/>
            <a:ext cx="2946400" cy="230832"/>
          </a:xfrm>
          <a:prstGeom prst="rect">
            <a:avLst/>
          </a:prstGeom>
          <a:noFill/>
        </p:spPr>
        <p:txBody>
          <a:bodyPr vert="horz" wrap="square" lIns="0" tIns="0" rIns="0" bIns="0" rtlCol="0">
            <a:spAutoFit/>
          </a:bodyPr>
          <a:lstStyle/>
          <a:p>
            <a:r>
              <a:rPr lang="en-US" sz="1500" b="1">
                <a:solidFill>
                  <a:srgbClr val="563A4B"/>
                </a:solidFill>
                <a:latin typeface="Aptos Display" panose="020B0004020202020204" pitchFamily="34" charset="0"/>
              </a:rPr>
              <a:t>Oversized upload behavior</a:t>
            </a:r>
          </a:p>
        </p:txBody>
      </p:sp>
      <p:sp>
        <p:nvSpPr>
          <p:cNvPr id="22" name="TextBox 21">
            <a:extLst>
              <a:ext uri="{FF2B5EF4-FFF2-40B4-BE49-F238E27FC236}">
                <a16:creationId xmlns:a16="http://schemas.microsoft.com/office/drawing/2014/main" id="{F9678630-FB2B-572B-1D81-62F300CFFABE}"/>
              </a:ext>
            </a:extLst>
          </p:cNvPr>
          <p:cNvSpPr txBox="1"/>
          <p:nvPr/>
        </p:nvSpPr>
        <p:spPr>
          <a:xfrm>
            <a:off x="8242300" y="25400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PHP could drop the file while an application record was still created.</a:t>
            </a:r>
          </a:p>
        </p:txBody>
      </p:sp>
      <p:sp>
        <p:nvSpPr>
          <p:cNvPr id="23" name="Rectangle: Rounded Corners 22">
            <a:extLst>
              <a:ext uri="{FF2B5EF4-FFF2-40B4-BE49-F238E27FC236}">
                <a16:creationId xmlns:a16="http://schemas.microsoft.com/office/drawing/2014/main" id="{F39FAFF4-B2D9-6335-69D3-F116A1BEBF89}"/>
              </a:ext>
            </a:extLst>
          </p:cNvPr>
          <p:cNvSpPr/>
          <p:nvPr/>
        </p:nvSpPr>
        <p:spPr>
          <a:xfrm>
            <a:off x="609600" y="37084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2260FA88-F5ED-337D-BA62-50A74DFFD024}"/>
              </a:ext>
            </a:extLst>
          </p:cNvPr>
          <p:cNvSpPr/>
          <p:nvPr/>
        </p:nvSpPr>
        <p:spPr>
          <a:xfrm>
            <a:off x="609600" y="3708400"/>
            <a:ext cx="88900" cy="15494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A58D049-6936-2537-4BA3-29FE6BDD27A0}"/>
              </a:ext>
            </a:extLst>
          </p:cNvPr>
          <p:cNvSpPr txBox="1"/>
          <p:nvPr/>
        </p:nvSpPr>
        <p:spPr>
          <a:xfrm>
            <a:off x="876300" y="3911600"/>
            <a:ext cx="2946400" cy="230832"/>
          </a:xfrm>
          <a:prstGeom prst="rect">
            <a:avLst/>
          </a:prstGeom>
          <a:noFill/>
        </p:spPr>
        <p:txBody>
          <a:bodyPr vert="horz" wrap="square" lIns="0" tIns="0" rIns="0" bIns="0" rtlCol="0">
            <a:spAutoFit/>
          </a:bodyPr>
          <a:lstStyle/>
          <a:p>
            <a:r>
              <a:rPr lang="en-US" sz="1500" b="1">
                <a:solidFill>
                  <a:srgbClr val="C27A19"/>
                </a:solidFill>
                <a:latin typeface="Aptos Display" panose="020B0004020202020204" pitchFamily="34" charset="0"/>
              </a:rPr>
              <a:t>Write-operation latency</a:t>
            </a:r>
          </a:p>
        </p:txBody>
      </p:sp>
      <p:sp>
        <p:nvSpPr>
          <p:cNvPr id="26" name="TextBox 25">
            <a:extLst>
              <a:ext uri="{FF2B5EF4-FFF2-40B4-BE49-F238E27FC236}">
                <a16:creationId xmlns:a16="http://schemas.microsoft.com/office/drawing/2014/main" id="{D17E67F6-FCD3-DFBD-EACE-02BE6C505B78}"/>
              </a:ext>
            </a:extLst>
          </p:cNvPr>
          <p:cNvSpPr txBox="1"/>
          <p:nvPr/>
        </p:nvSpPr>
        <p:spPr>
          <a:xfrm>
            <a:off x="876300" y="44069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Publishing and application p95 exceeded the one-second target in four cases.</a:t>
            </a:r>
          </a:p>
        </p:txBody>
      </p:sp>
      <p:sp>
        <p:nvSpPr>
          <p:cNvPr id="27" name="Rectangle: Rounded Corners 26">
            <a:extLst>
              <a:ext uri="{FF2B5EF4-FFF2-40B4-BE49-F238E27FC236}">
                <a16:creationId xmlns:a16="http://schemas.microsoft.com/office/drawing/2014/main" id="{98928483-F145-34D6-3AE4-48B6297C0F25}"/>
              </a:ext>
            </a:extLst>
          </p:cNvPr>
          <p:cNvSpPr/>
          <p:nvPr/>
        </p:nvSpPr>
        <p:spPr>
          <a:xfrm>
            <a:off x="4292600" y="37084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099CA57-74C9-B96C-FB29-8077A7F633D9}"/>
              </a:ext>
            </a:extLst>
          </p:cNvPr>
          <p:cNvSpPr/>
          <p:nvPr/>
        </p:nvSpPr>
        <p:spPr>
          <a:xfrm>
            <a:off x="4292600" y="3708400"/>
            <a:ext cx="88900" cy="15494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7A1FECF2-FF1F-A19D-B0EE-3A793F9B2DD9}"/>
              </a:ext>
            </a:extLst>
          </p:cNvPr>
          <p:cNvSpPr txBox="1"/>
          <p:nvPr/>
        </p:nvSpPr>
        <p:spPr>
          <a:xfrm>
            <a:off x="4559300" y="3911600"/>
            <a:ext cx="29464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Free-tier cold starts</a:t>
            </a:r>
          </a:p>
        </p:txBody>
      </p:sp>
      <p:sp>
        <p:nvSpPr>
          <p:cNvPr id="30" name="TextBox 29">
            <a:extLst>
              <a:ext uri="{FF2B5EF4-FFF2-40B4-BE49-F238E27FC236}">
                <a16:creationId xmlns:a16="http://schemas.microsoft.com/office/drawing/2014/main" id="{A8D628DD-1D51-72E6-4218-ED07DFD7BE01}"/>
              </a:ext>
            </a:extLst>
          </p:cNvPr>
          <p:cNvSpPr txBox="1"/>
          <p:nvPr/>
        </p:nvSpPr>
        <p:spPr>
          <a:xfrm>
            <a:off x="4559300" y="44069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Healthy services may require warm-up; temporary 503s were observed.</a:t>
            </a:r>
          </a:p>
        </p:txBody>
      </p:sp>
      <p:sp>
        <p:nvSpPr>
          <p:cNvPr id="31" name="Rectangle: Rounded Corners 30">
            <a:extLst>
              <a:ext uri="{FF2B5EF4-FFF2-40B4-BE49-F238E27FC236}">
                <a16:creationId xmlns:a16="http://schemas.microsoft.com/office/drawing/2014/main" id="{ABD695CB-273E-974F-9B52-C3C97EC02DDE}"/>
              </a:ext>
            </a:extLst>
          </p:cNvPr>
          <p:cNvSpPr/>
          <p:nvPr/>
        </p:nvSpPr>
        <p:spPr>
          <a:xfrm>
            <a:off x="7975600" y="3708400"/>
            <a:ext cx="3429000" cy="1549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FE124F36-058B-CCDA-98A3-D1DD4F3A94C0}"/>
              </a:ext>
            </a:extLst>
          </p:cNvPr>
          <p:cNvSpPr/>
          <p:nvPr/>
        </p:nvSpPr>
        <p:spPr>
          <a:xfrm>
            <a:off x="7975600" y="3708400"/>
            <a:ext cx="88900" cy="15494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8FBB4661-2EAE-633F-1294-F37063551D29}"/>
              </a:ext>
            </a:extLst>
          </p:cNvPr>
          <p:cNvSpPr txBox="1"/>
          <p:nvPr/>
        </p:nvSpPr>
        <p:spPr>
          <a:xfrm>
            <a:off x="8242300" y="3911600"/>
            <a:ext cx="2946400" cy="230832"/>
          </a:xfrm>
          <a:prstGeom prst="rect">
            <a:avLst/>
          </a:prstGeom>
          <a:noFill/>
        </p:spPr>
        <p:txBody>
          <a:bodyPr vert="horz" wrap="square" lIns="0" tIns="0" rIns="0" bIns="0" rtlCol="0">
            <a:spAutoFit/>
          </a:bodyPr>
          <a:lstStyle/>
          <a:p>
            <a:r>
              <a:rPr lang="en-US" sz="1500" b="1">
                <a:solidFill>
                  <a:srgbClr val="A64B2A"/>
                </a:solidFill>
                <a:latin typeface="Aptos Display" panose="020B0004020202020204" pitchFamily="34" charset="0"/>
              </a:rPr>
              <a:t>Acoustic robustness</a:t>
            </a:r>
          </a:p>
        </p:txBody>
      </p:sp>
      <p:sp>
        <p:nvSpPr>
          <p:cNvPr id="34" name="TextBox 33">
            <a:extLst>
              <a:ext uri="{FF2B5EF4-FFF2-40B4-BE49-F238E27FC236}">
                <a16:creationId xmlns:a16="http://schemas.microsoft.com/office/drawing/2014/main" id="{BF462E48-FC2C-3C67-C575-854C1BB850B3}"/>
              </a:ext>
            </a:extLst>
          </p:cNvPr>
          <p:cNvSpPr txBox="1"/>
          <p:nvPr/>
        </p:nvSpPr>
        <p:spPr>
          <a:xfrm>
            <a:off x="8242300" y="4406900"/>
            <a:ext cx="2946400" cy="313932"/>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Noise and dictated email characters can require repetition or editing.</a:t>
            </a:r>
          </a:p>
        </p:txBody>
      </p:sp>
      <p:sp>
        <p:nvSpPr>
          <p:cNvPr id="35" name="TextBox 34">
            <a:extLst>
              <a:ext uri="{FF2B5EF4-FFF2-40B4-BE49-F238E27FC236}">
                <a16:creationId xmlns:a16="http://schemas.microsoft.com/office/drawing/2014/main" id="{23D4B261-8A0C-06EC-B6F5-EE947A017C56}"/>
              </a:ext>
            </a:extLst>
          </p:cNvPr>
          <p:cNvSpPr txBox="1"/>
          <p:nvPr/>
        </p:nvSpPr>
        <p:spPr>
          <a:xfrm>
            <a:off x="1778000" y="5740400"/>
            <a:ext cx="8636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Engineering response: preserve failures, prioritize by risk, correct, retest and retain traceable evidence.</a:t>
            </a:r>
          </a:p>
        </p:txBody>
      </p:sp>
    </p:spTree>
    <p:extLst>
      <p:ext uri="{BB962C8B-B14F-4D97-AF65-F5344CB8AC3E}">
        <p14:creationId xmlns:p14="http://schemas.microsoft.com/office/powerpoint/2010/main" val="1138205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A98AFC-917B-0A05-8B3E-E8978887C9B9}"/>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C16CFE2-53B3-E00B-05C7-CE6FDC22CDB6}"/>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HUMAN-CENTRED VALIDATION</a:t>
            </a:r>
          </a:p>
        </p:txBody>
      </p:sp>
      <p:sp>
        <p:nvSpPr>
          <p:cNvPr id="4" name="TextBox 3">
            <a:extLst>
              <a:ext uri="{FF2B5EF4-FFF2-40B4-BE49-F238E27FC236}">
                <a16:creationId xmlns:a16="http://schemas.microsoft.com/office/drawing/2014/main" id="{2F8179C8-10D8-FF42-6DF4-0098B783B0F5}"/>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The platform was evaluated with its intended users</a:t>
            </a:r>
          </a:p>
        </p:txBody>
      </p:sp>
      <p:sp>
        <p:nvSpPr>
          <p:cNvPr id="5" name="TextBox 4">
            <a:extLst>
              <a:ext uri="{FF2B5EF4-FFF2-40B4-BE49-F238E27FC236}">
                <a16:creationId xmlns:a16="http://schemas.microsoft.com/office/drawing/2014/main" id="{0BC78097-7284-C1CA-DEDB-F17AA369259A}"/>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Human evidence complements automated checks; photographs document sessions but do not prove universal accessibility.</a:t>
            </a:r>
          </a:p>
        </p:txBody>
      </p:sp>
      <p:pic>
        <p:nvPicPr>
          <p:cNvPr id="7" name="Picture 6" descr="Universite Saint-Joseph and ESIB mark">
            <a:extLst>
              <a:ext uri="{FF2B5EF4-FFF2-40B4-BE49-F238E27FC236}">
                <a16:creationId xmlns:a16="http://schemas.microsoft.com/office/drawing/2014/main" id="{DAAC3CD6-DD41-E9CC-AE31-CB553A0A3B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30017EAC-14BC-6D60-5BD4-64C535C29438}"/>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8E59CB3-349A-67AE-49C7-0B70F9253D4F}"/>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9CB67339-AFF4-DE30-F316-0D1ED0FE7A69}"/>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24</a:t>
            </a:r>
          </a:p>
        </p:txBody>
      </p:sp>
      <p:sp>
        <p:nvSpPr>
          <p:cNvPr id="11" name="Rectangle: Rounded Corners 10">
            <a:extLst>
              <a:ext uri="{FF2B5EF4-FFF2-40B4-BE49-F238E27FC236}">
                <a16:creationId xmlns:a16="http://schemas.microsoft.com/office/drawing/2014/main" id="{E2DF16D1-822D-B28E-A248-56C094AF03F5}"/>
              </a:ext>
            </a:extLst>
          </p:cNvPr>
          <p:cNvSpPr/>
          <p:nvPr/>
        </p:nvSpPr>
        <p:spPr>
          <a:xfrm>
            <a:off x="609600" y="1841500"/>
            <a:ext cx="3365500" cy="3111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Noelle Marie Gabrielle testing with JAWS on her adapted device">
            <a:extLst>
              <a:ext uri="{FF2B5EF4-FFF2-40B4-BE49-F238E27FC236}">
                <a16:creationId xmlns:a16="http://schemas.microsoft.com/office/drawing/2014/main" id="{C2DD5DAC-853B-428D-EC7D-FBB974A12C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71690" y="1879600"/>
            <a:ext cx="1841319" cy="3035300"/>
          </a:xfrm>
          <a:prstGeom prst="rect">
            <a:avLst/>
          </a:prstGeom>
        </p:spPr>
      </p:pic>
      <p:sp>
        <p:nvSpPr>
          <p:cNvPr id="14" name="Rectangle: Rounded Corners 13">
            <a:extLst>
              <a:ext uri="{FF2B5EF4-FFF2-40B4-BE49-F238E27FC236}">
                <a16:creationId xmlns:a16="http://schemas.microsoft.com/office/drawing/2014/main" id="{71E14804-FD1F-F6E1-26D8-C36CD0B282E7}"/>
              </a:ext>
            </a:extLst>
          </p:cNvPr>
          <p:cNvSpPr/>
          <p:nvPr/>
        </p:nvSpPr>
        <p:spPr>
          <a:xfrm>
            <a:off x="4406900" y="1841500"/>
            <a:ext cx="3365500" cy="3111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Arc en Ciel group accessibility and usability session">
            <a:extLst>
              <a:ext uri="{FF2B5EF4-FFF2-40B4-BE49-F238E27FC236}">
                <a16:creationId xmlns:a16="http://schemas.microsoft.com/office/drawing/2014/main" id="{DF609144-3731-B9F8-8A4C-6545B8AB515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5000" y="2163763"/>
            <a:ext cx="3289300" cy="2466975"/>
          </a:xfrm>
          <a:prstGeom prst="rect">
            <a:avLst/>
          </a:prstGeom>
        </p:spPr>
      </p:pic>
      <p:sp>
        <p:nvSpPr>
          <p:cNvPr id="17" name="Rectangle: Rounded Corners 16">
            <a:extLst>
              <a:ext uri="{FF2B5EF4-FFF2-40B4-BE49-F238E27FC236}">
                <a16:creationId xmlns:a16="http://schemas.microsoft.com/office/drawing/2014/main" id="{2615D938-16F3-454A-15D4-DC55172CD71A}"/>
              </a:ext>
            </a:extLst>
          </p:cNvPr>
          <p:cNvSpPr/>
          <p:nvPr/>
        </p:nvSpPr>
        <p:spPr>
          <a:xfrm>
            <a:off x="8204200" y="1841500"/>
            <a:ext cx="3365500" cy="31115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descr="Participant P01 interacting with the Arabic profile workflow">
            <a:extLst>
              <a:ext uri="{FF2B5EF4-FFF2-40B4-BE49-F238E27FC236}">
                <a16:creationId xmlns:a16="http://schemas.microsoft.com/office/drawing/2014/main" id="{467DF8C4-6223-4C7A-2946-158C28F1A3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748713" y="1879600"/>
            <a:ext cx="2276475" cy="3035300"/>
          </a:xfrm>
          <a:prstGeom prst="rect">
            <a:avLst/>
          </a:prstGeom>
        </p:spPr>
      </p:pic>
      <p:sp>
        <p:nvSpPr>
          <p:cNvPr id="20" name="TextBox 19">
            <a:extLst>
              <a:ext uri="{FF2B5EF4-FFF2-40B4-BE49-F238E27FC236}">
                <a16:creationId xmlns:a16="http://schemas.microsoft.com/office/drawing/2014/main" id="{DC73713D-BFC1-8BA5-7880-8D024152A769}"/>
              </a:ext>
            </a:extLst>
          </p:cNvPr>
          <p:cNvSpPr txBox="1"/>
          <p:nvPr/>
        </p:nvSpPr>
        <p:spPr>
          <a:xfrm>
            <a:off x="609600" y="5092700"/>
            <a:ext cx="3365500" cy="169277"/>
          </a:xfrm>
          <a:prstGeom prst="rect">
            <a:avLst/>
          </a:prstGeom>
          <a:noFill/>
        </p:spPr>
        <p:txBody>
          <a:bodyPr vert="horz" wrap="square" lIns="0" tIns="0" rIns="0" bIns="0" rtlCol="0">
            <a:spAutoFit/>
          </a:bodyPr>
          <a:lstStyle/>
          <a:p>
            <a:pPr algn="ctr"/>
            <a:r>
              <a:rPr lang="en-US" sz="1100" b="1">
                <a:solidFill>
                  <a:srgbClr val="0B1F49"/>
                </a:solidFill>
                <a:latin typeface="Aptos Display" panose="020B0004020202020204" pitchFamily="34" charset="0"/>
              </a:rPr>
              <a:t>JAWS evaluation</a:t>
            </a:r>
          </a:p>
        </p:txBody>
      </p:sp>
      <p:sp>
        <p:nvSpPr>
          <p:cNvPr id="21" name="TextBox 20">
            <a:extLst>
              <a:ext uri="{FF2B5EF4-FFF2-40B4-BE49-F238E27FC236}">
                <a16:creationId xmlns:a16="http://schemas.microsoft.com/office/drawing/2014/main" id="{81F64CEA-52D0-452C-08AC-9BA3972A2E6D}"/>
              </a:ext>
            </a:extLst>
          </p:cNvPr>
          <p:cNvSpPr txBox="1"/>
          <p:nvPr/>
        </p:nvSpPr>
        <p:spPr>
          <a:xfrm>
            <a:off x="736600" y="5422900"/>
            <a:ext cx="3111500" cy="267766"/>
          </a:xfrm>
          <a:prstGeom prst="rect">
            <a:avLst/>
          </a:prstGeom>
          <a:noFill/>
        </p:spPr>
        <p:txBody>
          <a:bodyPr vert="horz" wrap="square" lIns="0" tIns="0" rIns="0" bIns="0" rtlCol="0">
            <a:spAutoFit/>
          </a:bodyPr>
          <a:lstStyle/>
          <a:p>
            <a:pPr algn="ctr"/>
            <a:r>
              <a:rPr lang="en-US" sz="870">
                <a:solidFill>
                  <a:srgbClr val="17243A"/>
                </a:solidFill>
                <a:latin typeface="Aptos" panose="020B0004020202020204" pitchFamily="34" charset="0"/>
              </a:rPr>
              <a:t>Noelle completed navigation, registration and job-application interaction on her adapted device.</a:t>
            </a:r>
          </a:p>
        </p:txBody>
      </p:sp>
      <p:sp>
        <p:nvSpPr>
          <p:cNvPr id="22" name="TextBox 21">
            <a:extLst>
              <a:ext uri="{FF2B5EF4-FFF2-40B4-BE49-F238E27FC236}">
                <a16:creationId xmlns:a16="http://schemas.microsoft.com/office/drawing/2014/main" id="{5E503C7A-2642-387E-7108-46F9544BF710}"/>
              </a:ext>
            </a:extLst>
          </p:cNvPr>
          <p:cNvSpPr txBox="1"/>
          <p:nvPr/>
        </p:nvSpPr>
        <p:spPr>
          <a:xfrm>
            <a:off x="4406900" y="5092700"/>
            <a:ext cx="3365500" cy="169277"/>
          </a:xfrm>
          <a:prstGeom prst="rect">
            <a:avLst/>
          </a:prstGeom>
          <a:noFill/>
        </p:spPr>
        <p:txBody>
          <a:bodyPr vert="horz" wrap="square" lIns="0" tIns="0" rIns="0" bIns="0" rtlCol="0">
            <a:spAutoFit/>
          </a:bodyPr>
          <a:lstStyle/>
          <a:p>
            <a:pPr algn="ctr"/>
            <a:r>
              <a:rPr lang="en-US" sz="1100" b="1">
                <a:solidFill>
                  <a:srgbClr val="0B1F49"/>
                </a:solidFill>
                <a:latin typeface="Aptos Display" panose="020B0004020202020204" pitchFamily="34" charset="0"/>
              </a:rPr>
              <a:t>Arc en Ciel: 20 participants</a:t>
            </a:r>
          </a:p>
        </p:txBody>
      </p:sp>
      <p:sp>
        <p:nvSpPr>
          <p:cNvPr id="23" name="TextBox 22">
            <a:extLst>
              <a:ext uri="{FF2B5EF4-FFF2-40B4-BE49-F238E27FC236}">
                <a16:creationId xmlns:a16="http://schemas.microsoft.com/office/drawing/2014/main" id="{4216D3F7-4620-4A5C-B203-B2B4404FDF5B}"/>
              </a:ext>
            </a:extLst>
          </p:cNvPr>
          <p:cNvSpPr txBox="1"/>
          <p:nvPr/>
        </p:nvSpPr>
        <p:spPr>
          <a:xfrm>
            <a:off x="4533900" y="5422900"/>
            <a:ext cx="3111500" cy="267766"/>
          </a:xfrm>
          <a:prstGeom prst="rect">
            <a:avLst/>
          </a:prstGeom>
          <a:noFill/>
        </p:spPr>
        <p:txBody>
          <a:bodyPr vert="horz" wrap="square" lIns="0" tIns="0" rIns="0" bIns="0" rtlCol="0">
            <a:spAutoFit/>
          </a:bodyPr>
          <a:lstStyle/>
          <a:p>
            <a:pPr algn="ctr"/>
            <a:r>
              <a:rPr lang="en-US" sz="870">
                <a:solidFill>
                  <a:srgbClr val="17243A"/>
                </a:solidFill>
                <a:latin typeface="Aptos" panose="020B0004020202020204" pitchFamily="34" charset="0"/>
              </a:rPr>
              <a:t>Users with different needs interacted with the main platform workflows in a real setting.</a:t>
            </a:r>
          </a:p>
        </p:txBody>
      </p:sp>
      <p:sp>
        <p:nvSpPr>
          <p:cNvPr id="24" name="TextBox 23">
            <a:extLst>
              <a:ext uri="{FF2B5EF4-FFF2-40B4-BE49-F238E27FC236}">
                <a16:creationId xmlns:a16="http://schemas.microsoft.com/office/drawing/2014/main" id="{443DAEEA-64D5-2FB9-D168-73816A72A202}"/>
              </a:ext>
            </a:extLst>
          </p:cNvPr>
          <p:cNvSpPr txBox="1"/>
          <p:nvPr/>
        </p:nvSpPr>
        <p:spPr>
          <a:xfrm>
            <a:off x="8204200" y="5092700"/>
            <a:ext cx="3365500" cy="169277"/>
          </a:xfrm>
          <a:prstGeom prst="rect">
            <a:avLst/>
          </a:prstGeom>
          <a:noFill/>
        </p:spPr>
        <p:txBody>
          <a:bodyPr vert="horz" wrap="square" lIns="0" tIns="0" rIns="0" bIns="0" rtlCol="0">
            <a:spAutoFit/>
          </a:bodyPr>
          <a:lstStyle/>
          <a:p>
            <a:pPr algn="ctr"/>
            <a:r>
              <a:rPr lang="en-US" sz="1100" b="1">
                <a:solidFill>
                  <a:srgbClr val="0B1F49"/>
                </a:solidFill>
                <a:latin typeface="Aptos Display" panose="020B0004020202020204" pitchFamily="34" charset="0"/>
              </a:rPr>
              <a:t>Accessibility in context</a:t>
            </a:r>
          </a:p>
        </p:txBody>
      </p:sp>
      <p:sp>
        <p:nvSpPr>
          <p:cNvPr id="25" name="TextBox 24">
            <a:extLst>
              <a:ext uri="{FF2B5EF4-FFF2-40B4-BE49-F238E27FC236}">
                <a16:creationId xmlns:a16="http://schemas.microsoft.com/office/drawing/2014/main" id="{160E2DDE-4A35-438C-C2D1-DC76BDD50E36}"/>
              </a:ext>
            </a:extLst>
          </p:cNvPr>
          <p:cNvSpPr txBox="1"/>
          <p:nvPr/>
        </p:nvSpPr>
        <p:spPr>
          <a:xfrm>
            <a:off x="8331200" y="5422900"/>
            <a:ext cx="3111500" cy="267766"/>
          </a:xfrm>
          <a:prstGeom prst="rect">
            <a:avLst/>
          </a:prstGeom>
          <a:noFill/>
        </p:spPr>
        <p:txBody>
          <a:bodyPr vert="horz" wrap="square" lIns="0" tIns="0" rIns="0" bIns="0" rtlCol="0">
            <a:spAutoFit/>
          </a:bodyPr>
          <a:lstStyle/>
          <a:p>
            <a:pPr algn="ctr"/>
            <a:r>
              <a:rPr lang="en-US" sz="870">
                <a:solidFill>
                  <a:srgbClr val="17243A"/>
                </a:solidFill>
                <a:latin typeface="Aptos" panose="020B0004020202020204" pitchFamily="34" charset="0"/>
              </a:rPr>
              <a:t>Simple steps, Arabic support and voice assistance helped broaden participation.</a:t>
            </a:r>
          </a:p>
        </p:txBody>
      </p:sp>
    </p:spTree>
    <p:extLst>
      <p:ext uri="{BB962C8B-B14F-4D97-AF65-F5344CB8AC3E}">
        <p14:creationId xmlns:p14="http://schemas.microsoft.com/office/powerpoint/2010/main" val="42719113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38005CC-267A-EF83-19FA-86B5F0F20BC2}"/>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CF2C7A4-051E-5CC5-F40C-FB7573225064}"/>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PERFORMANCE AND RELIABILITY</a:t>
            </a:r>
          </a:p>
        </p:txBody>
      </p:sp>
      <p:sp>
        <p:nvSpPr>
          <p:cNvPr id="4" name="TextBox 3">
            <a:extLst>
              <a:ext uri="{FF2B5EF4-FFF2-40B4-BE49-F238E27FC236}">
                <a16:creationId xmlns:a16="http://schemas.microsoft.com/office/drawing/2014/main" id="{3237225C-8DFC-EBB3-A52C-BFAD124AE0AA}"/>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Functionality held; free-tier latency did not always meet the target</a:t>
            </a:r>
          </a:p>
        </p:txBody>
      </p:sp>
      <p:sp>
        <p:nvSpPr>
          <p:cNvPr id="5" name="TextBox 4">
            <a:extLst>
              <a:ext uri="{FF2B5EF4-FFF2-40B4-BE49-F238E27FC236}">
                <a16:creationId xmlns:a16="http://schemas.microsoft.com/office/drawing/2014/main" id="{1B4519D8-149C-DEA2-6105-CC61B93BDC8F}"/>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Availability and response-time quality were evaluated separately.</a:t>
            </a:r>
          </a:p>
        </p:txBody>
      </p:sp>
      <p:pic>
        <p:nvPicPr>
          <p:cNvPr id="7" name="Picture 6" descr="Universite Saint-Joseph and ESIB mark">
            <a:extLst>
              <a:ext uri="{FF2B5EF4-FFF2-40B4-BE49-F238E27FC236}">
                <a16:creationId xmlns:a16="http://schemas.microsoft.com/office/drawing/2014/main" id="{5AFC482D-2641-D6B9-2766-8BEE6AD1D3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17DBAF15-6AFD-FC77-F907-F29E47765029}"/>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8A524D9B-A8BD-9D92-0C62-3B0490CC877A}"/>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D3AE0DA9-EE89-8029-8C55-168C4734B550}"/>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25</a:t>
            </a:r>
          </a:p>
        </p:txBody>
      </p:sp>
      <p:sp>
        <p:nvSpPr>
          <p:cNvPr id="11" name="Rectangle: Rounded Corners 10">
            <a:extLst>
              <a:ext uri="{FF2B5EF4-FFF2-40B4-BE49-F238E27FC236}">
                <a16:creationId xmlns:a16="http://schemas.microsoft.com/office/drawing/2014/main" id="{390708F5-7895-ED29-5805-C4A488445CD2}"/>
              </a:ext>
            </a:extLst>
          </p:cNvPr>
          <p:cNvSpPr/>
          <p:nvPr/>
        </p:nvSpPr>
        <p:spPr>
          <a:xfrm>
            <a:off x="609600" y="1905000"/>
            <a:ext cx="5080000" cy="3175000"/>
          </a:xfrm>
          <a:prstGeom prst="roundRect">
            <a:avLst/>
          </a:prstGeom>
          <a:solidFill>
            <a:srgbClr val="FFFFFF"/>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D21DC112-5872-416A-7984-D02DD5AC5CB3}"/>
              </a:ext>
            </a:extLst>
          </p:cNvPr>
          <p:cNvSpPr txBox="1"/>
          <p:nvPr/>
        </p:nvSpPr>
        <p:spPr>
          <a:xfrm>
            <a:off x="914400" y="2235200"/>
            <a:ext cx="4191000" cy="261610"/>
          </a:xfrm>
          <a:prstGeom prst="rect">
            <a:avLst/>
          </a:prstGeom>
          <a:noFill/>
        </p:spPr>
        <p:txBody>
          <a:bodyPr vert="horz" wrap="square" lIns="0" tIns="0" rIns="0" bIns="0" rtlCol="0">
            <a:spAutoFit/>
          </a:bodyPr>
          <a:lstStyle/>
          <a:p>
            <a:r>
              <a:rPr lang="en-US" sz="1700" b="1">
                <a:solidFill>
                  <a:srgbClr val="157A55"/>
                </a:solidFill>
                <a:latin typeface="Aptos Display" panose="020B0004020202020204" pitchFamily="34" charset="0"/>
              </a:rPr>
              <a:t>Functional reliability</a:t>
            </a:r>
          </a:p>
        </p:txBody>
      </p:sp>
      <p:sp>
        <p:nvSpPr>
          <p:cNvPr id="13" name="Rectangle: Rounded Corners 12">
            <a:extLst>
              <a:ext uri="{FF2B5EF4-FFF2-40B4-BE49-F238E27FC236}">
                <a16:creationId xmlns:a16="http://schemas.microsoft.com/office/drawing/2014/main" id="{94FBECC4-7F0B-8709-657A-5DDC5E79604A}"/>
              </a:ext>
            </a:extLst>
          </p:cNvPr>
          <p:cNvSpPr/>
          <p:nvPr/>
        </p:nvSpPr>
        <p:spPr>
          <a:xfrm>
            <a:off x="914400" y="2819400"/>
            <a:ext cx="2032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BFA2393-BBE2-3FA1-E3D2-93B4824AC0C1}"/>
              </a:ext>
            </a:extLst>
          </p:cNvPr>
          <p:cNvSpPr/>
          <p:nvPr/>
        </p:nvSpPr>
        <p:spPr>
          <a:xfrm>
            <a:off x="914400" y="2819400"/>
            <a:ext cx="63500" cy="9144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35A9AA3-9A81-2B59-0316-F33BB7EF2395}"/>
              </a:ext>
            </a:extLst>
          </p:cNvPr>
          <p:cNvSpPr txBox="1"/>
          <p:nvPr/>
        </p:nvSpPr>
        <p:spPr>
          <a:xfrm>
            <a:off x="1117600" y="2959100"/>
            <a:ext cx="1727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144 / 144</a:t>
            </a:r>
          </a:p>
        </p:txBody>
      </p:sp>
      <p:sp>
        <p:nvSpPr>
          <p:cNvPr id="16" name="TextBox 15">
            <a:extLst>
              <a:ext uri="{FF2B5EF4-FFF2-40B4-BE49-F238E27FC236}">
                <a16:creationId xmlns:a16="http://schemas.microsoft.com/office/drawing/2014/main" id="{EE6A1EC7-C085-A062-CFC3-085218FA7391}"/>
              </a:ext>
            </a:extLst>
          </p:cNvPr>
          <p:cNvSpPr txBox="1"/>
          <p:nvPr/>
        </p:nvSpPr>
        <p:spPr>
          <a:xfrm>
            <a:off x="1117600" y="3365500"/>
            <a:ext cx="1727200" cy="2769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shared-load responses succeeded with zero 5xx</a:t>
            </a:r>
          </a:p>
        </p:txBody>
      </p:sp>
      <p:sp>
        <p:nvSpPr>
          <p:cNvPr id="17" name="Rectangle: Rounded Corners 16">
            <a:extLst>
              <a:ext uri="{FF2B5EF4-FFF2-40B4-BE49-F238E27FC236}">
                <a16:creationId xmlns:a16="http://schemas.microsoft.com/office/drawing/2014/main" id="{FFF05057-944F-AA75-14EC-FD1B592B3F9D}"/>
              </a:ext>
            </a:extLst>
          </p:cNvPr>
          <p:cNvSpPr/>
          <p:nvPr/>
        </p:nvSpPr>
        <p:spPr>
          <a:xfrm>
            <a:off x="3200400" y="2819400"/>
            <a:ext cx="2032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CF0D7E04-8571-2DB1-3EE7-F96E597280F9}"/>
              </a:ext>
            </a:extLst>
          </p:cNvPr>
          <p:cNvSpPr/>
          <p:nvPr/>
        </p:nvSpPr>
        <p:spPr>
          <a:xfrm>
            <a:off x="3200400" y="2819400"/>
            <a:ext cx="63500" cy="9144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E32F23D6-2940-EAE5-F3AD-0CFCC2F01ED6}"/>
              </a:ext>
            </a:extLst>
          </p:cNvPr>
          <p:cNvSpPr txBox="1"/>
          <p:nvPr/>
        </p:nvSpPr>
        <p:spPr>
          <a:xfrm>
            <a:off x="3403600" y="2959100"/>
            <a:ext cx="1727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96 / 96</a:t>
            </a:r>
          </a:p>
        </p:txBody>
      </p:sp>
      <p:sp>
        <p:nvSpPr>
          <p:cNvPr id="20" name="TextBox 19">
            <a:extLst>
              <a:ext uri="{FF2B5EF4-FFF2-40B4-BE49-F238E27FC236}">
                <a16:creationId xmlns:a16="http://schemas.microsoft.com/office/drawing/2014/main" id="{ED4C72F1-4F4E-442E-55EB-E54D29B08708}"/>
              </a:ext>
            </a:extLst>
          </p:cNvPr>
          <p:cNvSpPr txBox="1"/>
          <p:nvPr/>
        </p:nvSpPr>
        <p:spPr>
          <a:xfrm>
            <a:off x="3403600" y="3365500"/>
            <a:ext cx="1727200" cy="2769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publish/application mutations returned HTTP 201</a:t>
            </a:r>
          </a:p>
        </p:txBody>
      </p:sp>
      <p:sp>
        <p:nvSpPr>
          <p:cNvPr id="21" name="TextBox 20">
            <a:extLst>
              <a:ext uri="{FF2B5EF4-FFF2-40B4-BE49-F238E27FC236}">
                <a16:creationId xmlns:a16="http://schemas.microsoft.com/office/drawing/2014/main" id="{AC420554-0359-29E0-2A24-B92D537E3907}"/>
              </a:ext>
            </a:extLst>
          </p:cNvPr>
          <p:cNvSpPr txBox="1"/>
          <p:nvPr/>
        </p:nvSpPr>
        <p:spPr>
          <a:xfrm>
            <a:off x="914400" y="4127500"/>
            <a:ext cx="4191000" cy="307777"/>
          </a:xfrm>
          <a:prstGeom prst="rect">
            <a:avLst/>
          </a:prstGeom>
          <a:noFill/>
        </p:spPr>
        <p:txBody>
          <a:bodyPr vert="horz" wrap="square" lIns="0" tIns="0" rIns="0" bIns="0" rtlCol="0">
            <a:spAutoFit/>
          </a:bodyPr>
          <a:lstStyle/>
          <a:p>
            <a:r>
              <a:rPr lang="en-US" sz="1000">
                <a:solidFill>
                  <a:srgbClr val="17243A"/>
                </a:solidFill>
                <a:latin typeface="Aptos" panose="020B0004020202020204" pitchFamily="34" charset="0"/>
              </a:rPr>
              <a:t>The deployed services produced the expected functional output after health warm-up.</a:t>
            </a:r>
          </a:p>
        </p:txBody>
      </p:sp>
      <p:sp>
        <p:nvSpPr>
          <p:cNvPr id="22" name="Rectangle: Rounded Corners 21">
            <a:extLst>
              <a:ext uri="{FF2B5EF4-FFF2-40B4-BE49-F238E27FC236}">
                <a16:creationId xmlns:a16="http://schemas.microsoft.com/office/drawing/2014/main" id="{03385192-3252-F2BB-4C6B-51893FFBFAA3}"/>
              </a:ext>
            </a:extLst>
          </p:cNvPr>
          <p:cNvSpPr/>
          <p:nvPr/>
        </p:nvSpPr>
        <p:spPr>
          <a:xfrm>
            <a:off x="6502400" y="1905000"/>
            <a:ext cx="5080000" cy="3175000"/>
          </a:xfrm>
          <a:prstGeom prst="roundRect">
            <a:avLst/>
          </a:prstGeom>
          <a:solidFill>
            <a:srgbClr val="FFFFFF"/>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3192600-AE3E-D6F5-62E3-30167B525557}"/>
              </a:ext>
            </a:extLst>
          </p:cNvPr>
          <p:cNvSpPr txBox="1"/>
          <p:nvPr/>
        </p:nvSpPr>
        <p:spPr>
          <a:xfrm>
            <a:off x="6807200" y="2235200"/>
            <a:ext cx="4191000" cy="261610"/>
          </a:xfrm>
          <a:prstGeom prst="rect">
            <a:avLst/>
          </a:prstGeom>
          <a:noFill/>
        </p:spPr>
        <p:txBody>
          <a:bodyPr vert="horz" wrap="square" lIns="0" tIns="0" rIns="0" bIns="0" rtlCol="0">
            <a:spAutoFit/>
          </a:bodyPr>
          <a:lstStyle/>
          <a:p>
            <a:r>
              <a:rPr lang="en-US" sz="1700" b="1">
                <a:solidFill>
                  <a:srgbClr val="563A4B"/>
                </a:solidFill>
                <a:latin typeface="Aptos Display" panose="020B0004020202020204" pitchFamily="34" charset="0"/>
              </a:rPr>
              <a:t>Latency and dependency limits</a:t>
            </a:r>
          </a:p>
        </p:txBody>
      </p:sp>
      <p:sp>
        <p:nvSpPr>
          <p:cNvPr id="24" name="Rectangle: Rounded Corners 23">
            <a:extLst>
              <a:ext uri="{FF2B5EF4-FFF2-40B4-BE49-F238E27FC236}">
                <a16:creationId xmlns:a16="http://schemas.microsoft.com/office/drawing/2014/main" id="{F4C06FF7-0F53-1324-080D-755C1718FA94}"/>
              </a:ext>
            </a:extLst>
          </p:cNvPr>
          <p:cNvSpPr/>
          <p:nvPr/>
        </p:nvSpPr>
        <p:spPr>
          <a:xfrm>
            <a:off x="6807200" y="2819400"/>
            <a:ext cx="2032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41317981-2888-76FC-E460-DA493A85379D}"/>
              </a:ext>
            </a:extLst>
          </p:cNvPr>
          <p:cNvSpPr/>
          <p:nvPr/>
        </p:nvSpPr>
        <p:spPr>
          <a:xfrm>
            <a:off x="6807200" y="2819400"/>
            <a:ext cx="63500" cy="914400"/>
          </a:xfrm>
          <a:prstGeom prst="rect">
            <a:avLst/>
          </a:prstGeom>
          <a:solidFill>
            <a:srgbClr val="563A4B"/>
          </a:solidFill>
          <a:ln w="10160">
            <a:solidFill>
              <a:srgbClr val="563A4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BCB5352-A16B-44E3-6685-D6D7BB9C4543}"/>
              </a:ext>
            </a:extLst>
          </p:cNvPr>
          <p:cNvSpPr txBox="1"/>
          <p:nvPr/>
        </p:nvSpPr>
        <p:spPr>
          <a:xfrm>
            <a:off x="7010400" y="2959100"/>
            <a:ext cx="1727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3 / 9</a:t>
            </a:r>
          </a:p>
        </p:txBody>
      </p:sp>
      <p:sp>
        <p:nvSpPr>
          <p:cNvPr id="27" name="TextBox 26">
            <a:extLst>
              <a:ext uri="{FF2B5EF4-FFF2-40B4-BE49-F238E27FC236}">
                <a16:creationId xmlns:a16="http://schemas.microsoft.com/office/drawing/2014/main" id="{804598F9-2585-C751-0435-E9E243157BF1}"/>
              </a:ext>
            </a:extLst>
          </p:cNvPr>
          <p:cNvSpPr txBox="1"/>
          <p:nvPr/>
        </p:nvSpPr>
        <p:spPr>
          <a:xfrm>
            <a:off x="7010400" y="3365500"/>
            <a:ext cx="1727200" cy="2769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shared-load latency cases met threshold</a:t>
            </a:r>
          </a:p>
        </p:txBody>
      </p:sp>
      <p:sp>
        <p:nvSpPr>
          <p:cNvPr id="28" name="Rectangle: Rounded Corners 27">
            <a:extLst>
              <a:ext uri="{FF2B5EF4-FFF2-40B4-BE49-F238E27FC236}">
                <a16:creationId xmlns:a16="http://schemas.microsoft.com/office/drawing/2014/main" id="{4E97F08A-331A-47DF-C5BA-3BA4DE7E5EF1}"/>
              </a:ext>
            </a:extLst>
          </p:cNvPr>
          <p:cNvSpPr/>
          <p:nvPr/>
        </p:nvSpPr>
        <p:spPr>
          <a:xfrm>
            <a:off x="9093200" y="2819400"/>
            <a:ext cx="2032000" cy="914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0F7CA666-F6C9-E54D-9ECE-4F6F832DB1C1}"/>
              </a:ext>
            </a:extLst>
          </p:cNvPr>
          <p:cNvSpPr/>
          <p:nvPr/>
        </p:nvSpPr>
        <p:spPr>
          <a:xfrm>
            <a:off x="9093200" y="2819400"/>
            <a:ext cx="63500" cy="914400"/>
          </a:xfrm>
          <a:prstGeom prst="rect">
            <a:avLst/>
          </a:prstGeom>
          <a:solidFill>
            <a:srgbClr val="C27A19"/>
          </a:solidFill>
          <a:ln w="10160">
            <a:solidFill>
              <a:srgbClr val="C27A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194F6994-EF1F-F2A9-D9A5-D90D2A43BB32}"/>
              </a:ext>
            </a:extLst>
          </p:cNvPr>
          <p:cNvSpPr txBox="1"/>
          <p:nvPr/>
        </p:nvSpPr>
        <p:spPr>
          <a:xfrm>
            <a:off x="9296400" y="2959100"/>
            <a:ext cx="1727200" cy="338554"/>
          </a:xfrm>
          <a:prstGeom prst="rect">
            <a:avLst/>
          </a:prstGeom>
          <a:noFill/>
        </p:spPr>
        <p:txBody>
          <a:bodyPr vert="horz" wrap="square" lIns="0" tIns="0" rIns="0" bIns="0" rtlCol="0">
            <a:spAutoFit/>
          </a:bodyPr>
          <a:lstStyle/>
          <a:p>
            <a:r>
              <a:rPr lang="en-US" sz="2200" b="1">
                <a:solidFill>
                  <a:srgbClr val="0B1F49"/>
                </a:solidFill>
                <a:latin typeface="Aptos Display" panose="020B0004020202020204" pitchFamily="34" charset="0"/>
              </a:rPr>
              <a:t>4 / 6</a:t>
            </a:r>
          </a:p>
        </p:txBody>
      </p:sp>
      <p:sp>
        <p:nvSpPr>
          <p:cNvPr id="31" name="TextBox 30">
            <a:extLst>
              <a:ext uri="{FF2B5EF4-FFF2-40B4-BE49-F238E27FC236}">
                <a16:creationId xmlns:a16="http://schemas.microsoft.com/office/drawing/2014/main" id="{D442F5A5-75EC-A714-7BD0-828C180DFAC8}"/>
              </a:ext>
            </a:extLst>
          </p:cNvPr>
          <p:cNvSpPr txBox="1"/>
          <p:nvPr/>
        </p:nvSpPr>
        <p:spPr>
          <a:xfrm>
            <a:off x="9296400" y="3365500"/>
            <a:ext cx="1727200" cy="276999"/>
          </a:xfrm>
          <a:prstGeom prst="rect">
            <a:avLst/>
          </a:prstGeom>
          <a:noFill/>
        </p:spPr>
        <p:txBody>
          <a:bodyPr vert="horz" wrap="square" lIns="0" tIns="0" rIns="0" bIns="0" rtlCol="0">
            <a:spAutoFit/>
          </a:bodyPr>
          <a:lstStyle/>
          <a:p>
            <a:r>
              <a:rPr lang="en-US" sz="900">
                <a:solidFill>
                  <a:srgbClr val="5D6B80"/>
                </a:solidFill>
                <a:latin typeface="Aptos" panose="020B0004020202020204" pitchFamily="34" charset="0"/>
              </a:rPr>
              <a:t>write p95 checks exceeded one second</a:t>
            </a:r>
          </a:p>
        </p:txBody>
      </p:sp>
      <p:sp>
        <p:nvSpPr>
          <p:cNvPr id="32" name="TextBox 31">
            <a:extLst>
              <a:ext uri="{FF2B5EF4-FFF2-40B4-BE49-F238E27FC236}">
                <a16:creationId xmlns:a16="http://schemas.microsoft.com/office/drawing/2014/main" id="{2046E7F2-EFAC-280D-84C6-2D25E69C5EC6}"/>
              </a:ext>
            </a:extLst>
          </p:cNvPr>
          <p:cNvSpPr txBox="1"/>
          <p:nvPr/>
        </p:nvSpPr>
        <p:spPr>
          <a:xfrm>
            <a:off x="6807200" y="4127500"/>
            <a:ext cx="4191000" cy="461665"/>
          </a:xfrm>
          <a:prstGeom prst="rect">
            <a:avLst/>
          </a:prstGeom>
          <a:noFill/>
        </p:spPr>
        <p:txBody>
          <a:bodyPr vert="horz" wrap="square" lIns="0" tIns="0" rIns="0" bIns="0" rtlCol="0">
            <a:spAutoFit/>
          </a:bodyPr>
          <a:lstStyle/>
          <a:p>
            <a:r>
              <a:rPr lang="en-US" sz="1000">
                <a:solidFill>
                  <a:srgbClr val="17243A"/>
                </a:solidFill>
                <a:latin typeface="Aptos" panose="020B0004020202020204" pitchFamily="34" charset="0"/>
              </a:rPr>
              <a:t>Free-service cold starts and external AI availability remain staging constraints. Local bundle budgets passed after removing a blocking external font request.</a:t>
            </a:r>
          </a:p>
        </p:txBody>
      </p:sp>
      <p:sp>
        <p:nvSpPr>
          <p:cNvPr id="33" name="TextBox 32">
            <a:extLst>
              <a:ext uri="{FF2B5EF4-FFF2-40B4-BE49-F238E27FC236}">
                <a16:creationId xmlns:a16="http://schemas.microsoft.com/office/drawing/2014/main" id="{E7A39B54-6328-B250-BBEC-2FF0B4E742D0}"/>
              </a:ext>
            </a:extLst>
          </p:cNvPr>
          <p:cNvSpPr txBox="1"/>
          <p:nvPr/>
        </p:nvSpPr>
        <p:spPr>
          <a:xfrm>
            <a:off x="1778000" y="5524500"/>
            <a:ext cx="8636000" cy="184666"/>
          </a:xfrm>
          <a:prstGeom prst="rect">
            <a:avLst/>
          </a:prstGeom>
          <a:noFill/>
        </p:spPr>
        <p:txBody>
          <a:bodyPr vert="horz" wrap="square" lIns="0" tIns="0" rIns="0" bIns="0" rtlCol="0">
            <a:spAutoFit/>
          </a:bodyPr>
          <a:lstStyle/>
          <a:p>
            <a:pPr algn="ctr"/>
            <a:r>
              <a:rPr lang="en-US" sz="1200" b="1">
                <a:solidFill>
                  <a:srgbClr val="0B1F49"/>
                </a:solidFill>
                <a:latin typeface="Aptos Display" panose="020B0004020202020204" pitchFamily="34" charset="0"/>
              </a:rPr>
              <a:t>Conclusion: functionally usable staging evidence, but no production availability or capacity claim.</a:t>
            </a:r>
          </a:p>
        </p:txBody>
      </p:sp>
    </p:spTree>
    <p:extLst>
      <p:ext uri="{BB962C8B-B14F-4D97-AF65-F5344CB8AC3E}">
        <p14:creationId xmlns:p14="http://schemas.microsoft.com/office/powerpoint/2010/main" val="21625587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7420A40-90ED-E283-0AC5-CB67E0122660}"/>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0DF1CC9-8CE9-C519-9B3A-22985CA3A04E}"/>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COST, SCALABILITY AND ROADMAP</a:t>
            </a:r>
          </a:p>
        </p:txBody>
      </p:sp>
      <p:sp>
        <p:nvSpPr>
          <p:cNvPr id="4" name="TextBox 3">
            <a:extLst>
              <a:ext uri="{FF2B5EF4-FFF2-40B4-BE49-F238E27FC236}">
                <a16:creationId xmlns:a16="http://schemas.microsoft.com/office/drawing/2014/main" id="{BF0A2D0E-7987-156D-6641-EA965E3D8E3E}"/>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Control paid AI first; scale only from measured bottlenecks</a:t>
            </a:r>
          </a:p>
        </p:txBody>
      </p:sp>
      <p:sp>
        <p:nvSpPr>
          <p:cNvPr id="5" name="TextBox 4">
            <a:extLst>
              <a:ext uri="{FF2B5EF4-FFF2-40B4-BE49-F238E27FC236}">
                <a16:creationId xmlns:a16="http://schemas.microsoft.com/office/drawing/2014/main" id="{1003F623-E24D-F38C-636E-55FB8118FE83}"/>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prototype uses free staging resources, but production must govern API usage, capacity and sensitive-data handling.</a:t>
            </a:r>
          </a:p>
        </p:txBody>
      </p:sp>
      <p:pic>
        <p:nvPicPr>
          <p:cNvPr id="7" name="Picture 6" descr="Universite Saint-Joseph and ESIB mark">
            <a:extLst>
              <a:ext uri="{FF2B5EF4-FFF2-40B4-BE49-F238E27FC236}">
                <a16:creationId xmlns:a16="http://schemas.microsoft.com/office/drawing/2014/main" id="{A978EB17-B593-F7F4-28BF-3D4B4325E2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1AE85A5D-BA34-183A-2233-026C1F53ECE6}"/>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06721439-C820-4F84-77A9-8F771F138C65}"/>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C8435610-30A9-F43F-2FEC-CFB0DD35A9DD}"/>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26</a:t>
            </a:r>
          </a:p>
        </p:txBody>
      </p:sp>
      <p:sp>
        <p:nvSpPr>
          <p:cNvPr id="11" name="Rectangle: Rounded Corners 10">
            <a:extLst>
              <a:ext uri="{FF2B5EF4-FFF2-40B4-BE49-F238E27FC236}">
                <a16:creationId xmlns:a16="http://schemas.microsoft.com/office/drawing/2014/main" id="{2F7A5B80-BAC6-0991-8C81-2FC726DFA19E}"/>
              </a:ext>
            </a:extLst>
          </p:cNvPr>
          <p:cNvSpPr/>
          <p:nvPr/>
        </p:nvSpPr>
        <p:spPr>
          <a:xfrm>
            <a:off x="609600" y="1841500"/>
            <a:ext cx="3175000" cy="3302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E6E4300-60EA-6361-8D8D-9BC6C946AD6F}"/>
              </a:ext>
            </a:extLst>
          </p:cNvPr>
          <p:cNvSpPr/>
          <p:nvPr/>
        </p:nvSpPr>
        <p:spPr>
          <a:xfrm>
            <a:off x="609600" y="1841500"/>
            <a:ext cx="88900" cy="33020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F509726A-38F5-674D-628B-ECB86E544D1B}"/>
              </a:ext>
            </a:extLst>
          </p:cNvPr>
          <p:cNvSpPr txBox="1"/>
          <p:nvPr/>
        </p:nvSpPr>
        <p:spPr>
          <a:xfrm>
            <a:off x="876300" y="2044700"/>
            <a:ext cx="26924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Current bounded design</a:t>
            </a:r>
          </a:p>
        </p:txBody>
      </p:sp>
      <p:sp>
        <p:nvSpPr>
          <p:cNvPr id="14" name="TextBox 13">
            <a:extLst>
              <a:ext uri="{FF2B5EF4-FFF2-40B4-BE49-F238E27FC236}">
                <a16:creationId xmlns:a16="http://schemas.microsoft.com/office/drawing/2014/main" id="{9070A8E8-7BC9-B2F8-59E5-3E693A4F3BCA}"/>
              </a:ext>
            </a:extLst>
          </p:cNvPr>
          <p:cNvSpPr txBox="1"/>
          <p:nvPr/>
        </p:nvSpPr>
        <p:spPr>
          <a:xfrm>
            <a:off x="876300" y="2540000"/>
            <a:ext cx="2692400" cy="784830"/>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10 MB maximum voice payload
500-character voice transcript bound
4,000-character profile narrative
Six sanitized context turns
Manual edit and confirmation fallback</a:t>
            </a:r>
          </a:p>
        </p:txBody>
      </p:sp>
      <p:sp>
        <p:nvSpPr>
          <p:cNvPr id="15" name="Rectangle: Rounded Corners 14">
            <a:extLst>
              <a:ext uri="{FF2B5EF4-FFF2-40B4-BE49-F238E27FC236}">
                <a16:creationId xmlns:a16="http://schemas.microsoft.com/office/drawing/2014/main" id="{B7E42EC8-DAE9-0481-FE13-846E784A4242}"/>
              </a:ext>
            </a:extLst>
          </p:cNvPr>
          <p:cNvSpPr/>
          <p:nvPr/>
        </p:nvSpPr>
        <p:spPr>
          <a:xfrm>
            <a:off x="4508500" y="1841500"/>
            <a:ext cx="3175000" cy="3302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801D49-9A61-5F0A-1B41-E42F5501181E}"/>
              </a:ext>
            </a:extLst>
          </p:cNvPr>
          <p:cNvSpPr/>
          <p:nvPr/>
        </p:nvSpPr>
        <p:spPr>
          <a:xfrm>
            <a:off x="4508500" y="1841500"/>
            <a:ext cx="88900" cy="33020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398AEA6-99EB-76BF-C81E-A84D33276EE3}"/>
              </a:ext>
            </a:extLst>
          </p:cNvPr>
          <p:cNvSpPr txBox="1"/>
          <p:nvPr/>
        </p:nvSpPr>
        <p:spPr>
          <a:xfrm>
            <a:off x="4775200" y="2044700"/>
            <a:ext cx="26924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Production cost controls</a:t>
            </a:r>
          </a:p>
        </p:txBody>
      </p:sp>
      <p:sp>
        <p:nvSpPr>
          <p:cNvPr id="18" name="TextBox 17">
            <a:extLst>
              <a:ext uri="{FF2B5EF4-FFF2-40B4-BE49-F238E27FC236}">
                <a16:creationId xmlns:a16="http://schemas.microsoft.com/office/drawing/2014/main" id="{B5E0BB6D-350B-35F6-46D2-B675E2F90AC5}"/>
              </a:ext>
            </a:extLst>
          </p:cNvPr>
          <p:cNvSpPr txBox="1"/>
          <p:nvPr/>
        </p:nvSpPr>
        <p:spPr>
          <a:xfrm>
            <a:off x="4775200" y="2540000"/>
            <a:ext cx="2692400" cy="784830"/>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Per-user daily AI and voice quotas
Rate limits and cooldowns
Budget alarms and usage dashboards
Lower-cost model for classification
Browser speech fallback where suitable</a:t>
            </a:r>
          </a:p>
        </p:txBody>
      </p:sp>
      <p:sp>
        <p:nvSpPr>
          <p:cNvPr id="19" name="Rectangle: Rounded Corners 18">
            <a:extLst>
              <a:ext uri="{FF2B5EF4-FFF2-40B4-BE49-F238E27FC236}">
                <a16:creationId xmlns:a16="http://schemas.microsoft.com/office/drawing/2014/main" id="{1D68BAF8-CACA-5C75-CF27-A0A109575FBE}"/>
              </a:ext>
            </a:extLst>
          </p:cNvPr>
          <p:cNvSpPr/>
          <p:nvPr/>
        </p:nvSpPr>
        <p:spPr>
          <a:xfrm>
            <a:off x="8407400" y="1841500"/>
            <a:ext cx="3175000" cy="3302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D5D2D45-48D6-EF81-A348-6966BB041633}"/>
              </a:ext>
            </a:extLst>
          </p:cNvPr>
          <p:cNvSpPr/>
          <p:nvPr/>
        </p:nvSpPr>
        <p:spPr>
          <a:xfrm>
            <a:off x="8407400" y="1841500"/>
            <a:ext cx="88900" cy="3302000"/>
          </a:xfrm>
          <a:prstGeom prst="rect">
            <a:avLst/>
          </a:prstGeom>
          <a:solidFill>
            <a:srgbClr val="A64B2A"/>
          </a:solidFill>
          <a:ln w="10160">
            <a:solidFill>
              <a:srgbClr val="A64B2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63290FF4-E0AF-3C18-B448-8B54C89F546B}"/>
              </a:ext>
            </a:extLst>
          </p:cNvPr>
          <p:cNvSpPr txBox="1"/>
          <p:nvPr/>
        </p:nvSpPr>
        <p:spPr>
          <a:xfrm>
            <a:off x="8674100" y="2044700"/>
            <a:ext cx="2692400" cy="230832"/>
          </a:xfrm>
          <a:prstGeom prst="rect">
            <a:avLst/>
          </a:prstGeom>
          <a:noFill/>
        </p:spPr>
        <p:txBody>
          <a:bodyPr vert="horz" wrap="square" lIns="0" tIns="0" rIns="0" bIns="0" rtlCol="0">
            <a:spAutoFit/>
          </a:bodyPr>
          <a:lstStyle/>
          <a:p>
            <a:r>
              <a:rPr lang="en-US" sz="1500" b="1">
                <a:solidFill>
                  <a:srgbClr val="A64B2A"/>
                </a:solidFill>
                <a:latin typeface="Aptos Display" panose="020B0004020202020204" pitchFamily="34" charset="0"/>
              </a:rPr>
              <a:t>Measured scaling plan</a:t>
            </a:r>
          </a:p>
        </p:txBody>
      </p:sp>
      <p:sp>
        <p:nvSpPr>
          <p:cNvPr id="22" name="TextBox 21">
            <a:extLst>
              <a:ext uri="{FF2B5EF4-FFF2-40B4-BE49-F238E27FC236}">
                <a16:creationId xmlns:a16="http://schemas.microsoft.com/office/drawing/2014/main" id="{768F892D-4AA7-23D8-3830-B8AF4D8B2CDC}"/>
              </a:ext>
            </a:extLst>
          </p:cNvPr>
          <p:cNvSpPr txBox="1"/>
          <p:nvPr/>
        </p:nvSpPr>
        <p:spPr>
          <a:xfrm>
            <a:off x="8674100" y="2540000"/>
            <a:ext cx="2692400" cy="784830"/>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Warm non-sleeping capacity when justified
Profile slow queries and database writes
Queue burst work where appropriate
Cache only safe public catalogues
Never casually cache private profile output</a:t>
            </a:r>
          </a:p>
        </p:txBody>
      </p:sp>
      <p:sp>
        <p:nvSpPr>
          <p:cNvPr id="23" name="Rectangle: Rounded Corners 22">
            <a:extLst>
              <a:ext uri="{FF2B5EF4-FFF2-40B4-BE49-F238E27FC236}">
                <a16:creationId xmlns:a16="http://schemas.microsoft.com/office/drawing/2014/main" id="{B870F8E7-0F7F-41FB-02B6-BD5A6E96731E}"/>
              </a:ext>
            </a:extLst>
          </p:cNvPr>
          <p:cNvSpPr/>
          <p:nvPr/>
        </p:nvSpPr>
        <p:spPr>
          <a:xfrm>
            <a:off x="1524000" y="5461000"/>
            <a:ext cx="9144000" cy="5588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64C051B3-BD33-3320-F200-95D8EB3B9FAA}"/>
              </a:ext>
            </a:extLst>
          </p:cNvPr>
          <p:cNvSpPr txBox="1"/>
          <p:nvPr/>
        </p:nvSpPr>
        <p:spPr>
          <a:xfrm>
            <a:off x="1841500" y="5626100"/>
            <a:ext cx="8509000" cy="147733"/>
          </a:xfrm>
          <a:prstGeom prst="rect">
            <a:avLst/>
          </a:prstGeom>
          <a:noFill/>
        </p:spPr>
        <p:txBody>
          <a:bodyPr vert="horz" wrap="square" lIns="0" tIns="0" rIns="0" bIns="0" rtlCol="0">
            <a:spAutoFit/>
          </a:bodyPr>
          <a:lstStyle/>
          <a:p>
            <a:pPr algn="ctr"/>
            <a:r>
              <a:rPr lang="en-US" sz="960" b="1">
                <a:solidFill>
                  <a:srgbClr val="FFFFFF"/>
                </a:solidFill>
                <a:latin typeface="Aptos" panose="020B0004020202020204" pitchFamily="34" charset="0"/>
              </a:rPr>
              <a:t>Why no cache yet? Measurements point first to cold starts, external AI and write paths; sensitive and mutable data require careful invalidation.</a:t>
            </a:r>
          </a:p>
        </p:txBody>
      </p:sp>
    </p:spTree>
    <p:extLst>
      <p:ext uri="{BB962C8B-B14F-4D97-AF65-F5344CB8AC3E}">
        <p14:creationId xmlns:p14="http://schemas.microsoft.com/office/powerpoint/2010/main" val="10364332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668D0AB-A75F-BC0B-033D-CA6F8476929F}"/>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D7FF6CB-C89C-0913-4741-3EE521EE8AEF}"/>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CONCLUSION</a:t>
            </a:r>
          </a:p>
        </p:txBody>
      </p:sp>
      <p:sp>
        <p:nvSpPr>
          <p:cNvPr id="4" name="TextBox 3">
            <a:extLst>
              <a:ext uri="{FF2B5EF4-FFF2-40B4-BE49-F238E27FC236}">
                <a16:creationId xmlns:a16="http://schemas.microsoft.com/office/drawing/2014/main" id="{547C30A2-BDF6-DF64-8208-1B56EF09B09D}"/>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A validated bridge from ability to opportunity</a:t>
            </a:r>
          </a:p>
        </p:txBody>
      </p:sp>
      <p:sp>
        <p:nvSpPr>
          <p:cNvPr id="5" name="TextBox 4">
            <a:extLst>
              <a:ext uri="{FF2B5EF4-FFF2-40B4-BE49-F238E27FC236}">
                <a16:creationId xmlns:a16="http://schemas.microsoft.com/office/drawing/2014/main" id="{4875AED1-AC53-ED3E-B1CE-DF2944B0514A}"/>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project demonstrates technical feasibility and practical relevance while keeping its limitations explicit.</a:t>
            </a:r>
          </a:p>
        </p:txBody>
      </p:sp>
      <p:pic>
        <p:nvPicPr>
          <p:cNvPr id="7" name="Picture 6" descr="Universite Saint-Joseph and ESIB mark">
            <a:extLst>
              <a:ext uri="{FF2B5EF4-FFF2-40B4-BE49-F238E27FC236}">
                <a16:creationId xmlns:a16="http://schemas.microsoft.com/office/drawing/2014/main" id="{EBA470FD-08CF-2110-BAC2-5C3199A4AC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C70FE860-3C1A-6ABF-7277-29260133D7B0}"/>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9389A8E-0930-9CFD-59CA-13A8A06E9ADE}"/>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DCB95C5E-30C1-072A-8FF6-B8EFA29640CE}"/>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27</a:t>
            </a:r>
          </a:p>
        </p:txBody>
      </p:sp>
      <p:sp>
        <p:nvSpPr>
          <p:cNvPr id="11" name="Rectangle: Rounded Corners 10">
            <a:extLst>
              <a:ext uri="{FF2B5EF4-FFF2-40B4-BE49-F238E27FC236}">
                <a16:creationId xmlns:a16="http://schemas.microsoft.com/office/drawing/2014/main" id="{E0B02235-B43D-9082-9B0A-571CDEBA8779}"/>
              </a:ext>
            </a:extLst>
          </p:cNvPr>
          <p:cNvSpPr/>
          <p:nvPr/>
        </p:nvSpPr>
        <p:spPr>
          <a:xfrm>
            <a:off x="609600" y="1841500"/>
            <a:ext cx="6477000" cy="3810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D322019-0FE7-9C36-D263-A34A7C663C1E}"/>
              </a:ext>
            </a:extLst>
          </p:cNvPr>
          <p:cNvSpPr txBox="1"/>
          <p:nvPr/>
        </p:nvSpPr>
        <p:spPr>
          <a:xfrm>
            <a:off x="914400" y="2146300"/>
            <a:ext cx="2032000" cy="261610"/>
          </a:xfrm>
          <a:prstGeom prst="rect">
            <a:avLst/>
          </a:prstGeom>
          <a:noFill/>
        </p:spPr>
        <p:txBody>
          <a:bodyPr vert="horz" wrap="square" lIns="0" tIns="0" rIns="0" bIns="0" rtlCol="0">
            <a:spAutoFit/>
          </a:bodyPr>
          <a:lstStyle/>
          <a:p>
            <a:r>
              <a:rPr lang="en-US" sz="1700" b="1">
                <a:solidFill>
                  <a:srgbClr val="157A55"/>
                </a:solidFill>
                <a:latin typeface="Aptos Display" panose="020B0004020202020204" pitchFamily="34" charset="0"/>
              </a:rPr>
              <a:t>Delivered</a:t>
            </a:r>
          </a:p>
        </p:txBody>
      </p:sp>
      <p:sp>
        <p:nvSpPr>
          <p:cNvPr id="13" name="TextBox 12">
            <a:extLst>
              <a:ext uri="{FF2B5EF4-FFF2-40B4-BE49-F238E27FC236}">
                <a16:creationId xmlns:a16="http://schemas.microsoft.com/office/drawing/2014/main" id="{D15D93F5-6A1E-360D-D0FA-B3C172A93BDE}"/>
              </a:ext>
            </a:extLst>
          </p:cNvPr>
          <p:cNvSpPr txBox="1"/>
          <p:nvPr/>
        </p:nvSpPr>
        <p:spPr>
          <a:xfrm>
            <a:off x="914400" y="2730500"/>
            <a:ext cx="5461000" cy="1184940"/>
          </a:xfrm>
          <a:prstGeom prst="rect">
            <a:avLst/>
          </a:prstGeom>
          <a:noFill/>
        </p:spPr>
        <p:txBody>
          <a:bodyPr vert="horz" wrap="square" lIns="0" tIns="0" rIns="0" bIns="0" rtlCol="0">
            <a:spAutoFit/>
          </a:bodyPr>
          <a:lstStyle/>
          <a:p>
            <a:r>
              <a:rPr lang="en-US" sz="1100">
                <a:solidFill>
                  <a:srgbClr val="17243A"/>
                </a:solidFill>
                <a:latin typeface="Aptos" panose="020B0004020202020204" pitchFamily="34" charset="0"/>
              </a:rPr>
              <a:t>+ Four protected role workflows
+ Multilingual and RTL interface
+ Candidate-controlled AI and voice assistance
+ Deterministic task-level matching
+ Jobs and hospitality training programs
+ Render/Supabase cloud staging
+ 310-case register plus human validation</a:t>
            </a:r>
          </a:p>
        </p:txBody>
      </p:sp>
      <p:sp>
        <p:nvSpPr>
          <p:cNvPr id="14" name="Rectangle: Rounded Corners 13">
            <a:extLst>
              <a:ext uri="{FF2B5EF4-FFF2-40B4-BE49-F238E27FC236}">
                <a16:creationId xmlns:a16="http://schemas.microsoft.com/office/drawing/2014/main" id="{A86BD655-210A-0BB9-788F-B268368C3C3E}"/>
              </a:ext>
            </a:extLst>
          </p:cNvPr>
          <p:cNvSpPr/>
          <p:nvPr/>
        </p:nvSpPr>
        <p:spPr>
          <a:xfrm>
            <a:off x="7493000" y="1841500"/>
            <a:ext cx="4089400" cy="38100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CFC21236-C318-A5BF-C438-59C41415C69F}"/>
              </a:ext>
            </a:extLst>
          </p:cNvPr>
          <p:cNvSpPr txBox="1"/>
          <p:nvPr/>
        </p:nvSpPr>
        <p:spPr>
          <a:xfrm>
            <a:off x="7823200" y="2146300"/>
            <a:ext cx="3302000" cy="261610"/>
          </a:xfrm>
          <a:prstGeom prst="rect">
            <a:avLst/>
          </a:prstGeom>
          <a:noFill/>
        </p:spPr>
        <p:txBody>
          <a:bodyPr vert="horz" wrap="square" lIns="0" tIns="0" rIns="0" bIns="0" rtlCol="0">
            <a:spAutoFit/>
          </a:bodyPr>
          <a:lstStyle/>
          <a:p>
            <a:r>
              <a:rPr lang="en-US" sz="1700" b="1">
                <a:solidFill>
                  <a:srgbClr val="FFFFFF"/>
                </a:solidFill>
                <a:latin typeface="Aptos Display" panose="020B0004020202020204" pitchFamily="34" charset="0"/>
              </a:rPr>
              <a:t>5-minute demonstration</a:t>
            </a:r>
          </a:p>
        </p:txBody>
      </p:sp>
      <p:sp>
        <p:nvSpPr>
          <p:cNvPr id="16" name="TextBox 15">
            <a:extLst>
              <a:ext uri="{FF2B5EF4-FFF2-40B4-BE49-F238E27FC236}">
                <a16:creationId xmlns:a16="http://schemas.microsoft.com/office/drawing/2014/main" id="{4AA0D8B3-1E2D-07E8-1353-4C0E3FEF90F5}"/>
              </a:ext>
            </a:extLst>
          </p:cNvPr>
          <p:cNvSpPr txBox="1"/>
          <p:nvPr/>
        </p:nvSpPr>
        <p:spPr>
          <a:xfrm>
            <a:off x="7823200" y="2794000"/>
            <a:ext cx="3302000" cy="807913"/>
          </a:xfrm>
          <a:prstGeom prst="rect">
            <a:avLst/>
          </a:prstGeom>
          <a:noFill/>
        </p:spPr>
        <p:txBody>
          <a:bodyPr vert="horz" wrap="square" lIns="0" tIns="0" rIns="0" bIns="0" rtlCol="0">
            <a:spAutoFit/>
          </a:bodyPr>
          <a:lstStyle/>
          <a:p>
            <a:r>
              <a:rPr lang="en-US" sz="1050">
                <a:solidFill>
                  <a:srgbClr val="FFFFFF"/>
                </a:solidFill>
                <a:latin typeface="Aptos" panose="020B0004020202020204" pitchFamily="34" charset="0"/>
              </a:rPr>
              <a:t>00:00  Candidate profile + consent
01:00  Match score + explanation
02:00  Employer job/training workflow
03:00  Verifier/admin + deployment evidence
04:00  Language, keyboard and voice path</a:t>
            </a:r>
          </a:p>
        </p:txBody>
      </p:sp>
      <p:sp>
        <p:nvSpPr>
          <p:cNvPr id="17" name="TextBox 16">
            <a:extLst>
              <a:ext uri="{FF2B5EF4-FFF2-40B4-BE49-F238E27FC236}">
                <a16:creationId xmlns:a16="http://schemas.microsoft.com/office/drawing/2014/main" id="{2063464F-57FA-8FDF-258F-394643B424CC}"/>
              </a:ext>
            </a:extLst>
          </p:cNvPr>
          <p:cNvSpPr txBox="1"/>
          <p:nvPr/>
        </p:nvSpPr>
        <p:spPr>
          <a:xfrm>
            <a:off x="7823200" y="4572000"/>
            <a:ext cx="3302000" cy="461665"/>
          </a:xfrm>
          <a:prstGeom prst="rect">
            <a:avLst/>
          </a:prstGeom>
          <a:noFill/>
        </p:spPr>
        <p:txBody>
          <a:bodyPr vert="horz" wrap="square" lIns="0" tIns="0" rIns="0" bIns="0" rtlCol="0">
            <a:spAutoFit/>
          </a:bodyPr>
          <a:lstStyle/>
          <a:p>
            <a:pPr algn="ctr"/>
            <a:r>
              <a:rPr lang="en-US" sz="1000" b="1">
                <a:solidFill>
                  <a:srgbClr val="157A55"/>
                </a:solidFill>
                <a:latin typeface="Aptos" panose="020B0004020202020204" pitchFamily="34" charset="0"/>
              </a:rPr>
              <a:t>If the paid AI dependency is unavailable, use the retained multilingual screenshots and continue the deterministic live workflows.</a:t>
            </a:r>
          </a:p>
        </p:txBody>
      </p:sp>
    </p:spTree>
    <p:extLst>
      <p:ext uri="{BB962C8B-B14F-4D97-AF65-F5344CB8AC3E}">
        <p14:creationId xmlns:p14="http://schemas.microsoft.com/office/powerpoint/2010/main" val="18195181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95FBFE5-B723-CB9D-5EF9-BE9867B1C0AE}"/>
              </a:ext>
            </a:extLst>
          </p:cNvPr>
          <p:cNvSpPr/>
          <p:nvPr/>
        </p:nvSpPr>
        <p:spPr>
          <a:xfrm>
            <a:off x="0" y="0"/>
            <a:ext cx="12192000" cy="68580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Universite Saint-Joseph and ESIB logo">
            <a:extLst>
              <a:ext uri="{FF2B5EF4-FFF2-40B4-BE49-F238E27FC236}">
                <a16:creationId xmlns:a16="http://schemas.microsoft.com/office/drawing/2014/main" id="{A0AED4B1-C0FB-56BA-869D-9F0AA9EB0E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401" y="482600"/>
            <a:ext cx="2547399" cy="838200"/>
          </a:xfrm>
          <a:prstGeom prst="rect">
            <a:avLst/>
          </a:prstGeom>
        </p:spPr>
      </p:pic>
      <p:pic>
        <p:nvPicPr>
          <p:cNvPr id="6" name="Picture 5" descr="JoIn Hospitality logo">
            <a:extLst>
              <a:ext uri="{FF2B5EF4-FFF2-40B4-BE49-F238E27FC236}">
                <a16:creationId xmlns:a16="http://schemas.microsoft.com/office/drawing/2014/main" id="{1CF7A3F6-29D9-D1D6-0907-C8FC914E9A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76097" y="419100"/>
            <a:ext cx="1437807" cy="1193800"/>
          </a:xfrm>
          <a:prstGeom prst="rect">
            <a:avLst/>
          </a:prstGeom>
        </p:spPr>
      </p:pic>
      <p:sp>
        <p:nvSpPr>
          <p:cNvPr id="7" name="TextBox 6">
            <a:extLst>
              <a:ext uri="{FF2B5EF4-FFF2-40B4-BE49-F238E27FC236}">
                <a16:creationId xmlns:a16="http://schemas.microsoft.com/office/drawing/2014/main" id="{4FB230C4-87E4-EE98-5694-FCF853C8A120}"/>
              </a:ext>
            </a:extLst>
          </p:cNvPr>
          <p:cNvSpPr txBox="1"/>
          <p:nvPr/>
        </p:nvSpPr>
        <p:spPr>
          <a:xfrm>
            <a:off x="1905000" y="2336800"/>
            <a:ext cx="8382000" cy="646331"/>
          </a:xfrm>
          <a:prstGeom prst="rect">
            <a:avLst/>
          </a:prstGeom>
          <a:noFill/>
        </p:spPr>
        <p:txBody>
          <a:bodyPr vert="horz" wrap="square" lIns="0" tIns="0" rIns="0" bIns="0" rtlCol="0">
            <a:spAutoFit/>
          </a:bodyPr>
          <a:lstStyle/>
          <a:p>
            <a:pPr algn="ctr"/>
            <a:r>
              <a:rPr lang="en-US" sz="4200" b="1">
                <a:solidFill>
                  <a:srgbClr val="FFFFFF"/>
                </a:solidFill>
                <a:latin typeface="Aptos Display" panose="020B0004020202020204" pitchFamily="34" charset="0"/>
              </a:rPr>
              <a:t>Thank you</a:t>
            </a:r>
          </a:p>
        </p:txBody>
      </p:sp>
      <p:sp>
        <p:nvSpPr>
          <p:cNvPr id="8" name="TextBox 7">
            <a:extLst>
              <a:ext uri="{FF2B5EF4-FFF2-40B4-BE49-F238E27FC236}">
                <a16:creationId xmlns:a16="http://schemas.microsoft.com/office/drawing/2014/main" id="{12BAEA85-6933-E5F1-8F4E-5D6A8E640969}"/>
              </a:ext>
            </a:extLst>
          </p:cNvPr>
          <p:cNvSpPr txBox="1"/>
          <p:nvPr/>
        </p:nvSpPr>
        <p:spPr>
          <a:xfrm>
            <a:off x="3175000" y="3302000"/>
            <a:ext cx="5842000" cy="400110"/>
          </a:xfrm>
          <a:prstGeom prst="rect">
            <a:avLst/>
          </a:prstGeom>
          <a:noFill/>
        </p:spPr>
        <p:txBody>
          <a:bodyPr vert="horz" wrap="square" lIns="0" tIns="0" rIns="0" bIns="0" rtlCol="0">
            <a:spAutoFit/>
          </a:bodyPr>
          <a:lstStyle/>
          <a:p>
            <a:pPr algn="ctr"/>
            <a:r>
              <a:rPr lang="en-US" sz="2600" b="1">
                <a:solidFill>
                  <a:srgbClr val="157A55"/>
                </a:solidFill>
                <a:latin typeface="Aptos Display" panose="020B0004020202020204" pitchFamily="34" charset="0"/>
              </a:rPr>
              <a:t>Questions?</a:t>
            </a:r>
          </a:p>
        </p:txBody>
      </p:sp>
      <p:sp>
        <p:nvSpPr>
          <p:cNvPr id="9" name="TextBox 8">
            <a:extLst>
              <a:ext uri="{FF2B5EF4-FFF2-40B4-BE49-F238E27FC236}">
                <a16:creationId xmlns:a16="http://schemas.microsoft.com/office/drawing/2014/main" id="{89D18680-3611-FF48-C1B8-C10E573BDCDA}"/>
              </a:ext>
            </a:extLst>
          </p:cNvPr>
          <p:cNvSpPr txBox="1"/>
          <p:nvPr/>
        </p:nvSpPr>
        <p:spPr>
          <a:xfrm>
            <a:off x="2857500" y="4495800"/>
            <a:ext cx="6477000" cy="184666"/>
          </a:xfrm>
          <a:prstGeom prst="rect">
            <a:avLst/>
          </a:prstGeom>
          <a:noFill/>
        </p:spPr>
        <p:txBody>
          <a:bodyPr vert="horz" wrap="square" lIns="0" tIns="0" rIns="0" bIns="0" rtlCol="0">
            <a:spAutoFit/>
          </a:bodyPr>
          <a:lstStyle/>
          <a:p>
            <a:pPr algn="ctr"/>
            <a:r>
              <a:rPr lang="en-US" sz="1200">
                <a:solidFill>
                  <a:srgbClr val="DDE7F5"/>
                </a:solidFill>
                <a:latin typeface="Aptos" panose="020B0004020202020204" pitchFamily="34" charset="0"/>
              </a:rPr>
              <a:t>https://join-hospitality-zm-staging.onrender.com/</a:t>
            </a:r>
          </a:p>
        </p:txBody>
      </p:sp>
      <p:sp>
        <p:nvSpPr>
          <p:cNvPr id="10" name="TextBox 9">
            <a:extLst>
              <a:ext uri="{FF2B5EF4-FFF2-40B4-BE49-F238E27FC236}">
                <a16:creationId xmlns:a16="http://schemas.microsoft.com/office/drawing/2014/main" id="{BD8DAEBA-1F0C-AA49-23CA-217A76D3044B}"/>
              </a:ext>
            </a:extLst>
          </p:cNvPr>
          <p:cNvSpPr txBox="1"/>
          <p:nvPr/>
        </p:nvSpPr>
        <p:spPr>
          <a:xfrm>
            <a:off x="2667000" y="5334000"/>
            <a:ext cx="6858000" cy="169277"/>
          </a:xfrm>
          <a:prstGeom prst="rect">
            <a:avLst/>
          </a:prstGeom>
          <a:noFill/>
        </p:spPr>
        <p:txBody>
          <a:bodyPr vert="horz" wrap="square" lIns="0" tIns="0" rIns="0" bIns="0" rtlCol="0">
            <a:spAutoFit/>
          </a:bodyPr>
          <a:lstStyle/>
          <a:p>
            <a:pPr algn="ctr"/>
            <a:r>
              <a:rPr lang="en-US" sz="1100" b="1">
                <a:solidFill>
                  <a:srgbClr val="FFFFFF"/>
                </a:solidFill>
                <a:latin typeface="Aptos" panose="020B0004020202020204" pitchFamily="34" charset="0"/>
              </a:rPr>
              <a:t>Accessible recruitment | Explainable matching | Human control</a:t>
            </a:r>
          </a:p>
        </p:txBody>
      </p:sp>
    </p:spTree>
    <p:extLst>
      <p:ext uri="{BB962C8B-B14F-4D97-AF65-F5344CB8AC3E}">
        <p14:creationId xmlns:p14="http://schemas.microsoft.com/office/powerpoint/2010/main" val="3929924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42ACA41-4E07-F137-516B-1FE5D02B1624}"/>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C4295BE-E435-BBAD-27E3-70B16873CBE1}"/>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APPENDIX A</a:t>
            </a:r>
          </a:p>
        </p:txBody>
      </p:sp>
      <p:sp>
        <p:nvSpPr>
          <p:cNvPr id="4" name="TextBox 3">
            <a:extLst>
              <a:ext uri="{FF2B5EF4-FFF2-40B4-BE49-F238E27FC236}">
                <a16:creationId xmlns:a16="http://schemas.microsoft.com/office/drawing/2014/main" id="{B49390FE-8C2A-23F0-08DF-4F877E09F801}"/>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Detailed 310-case verification register</a:t>
            </a:r>
          </a:p>
        </p:txBody>
      </p:sp>
      <p:sp>
        <p:nvSpPr>
          <p:cNvPr id="5" name="TextBox 4">
            <a:extLst>
              <a:ext uri="{FF2B5EF4-FFF2-40B4-BE49-F238E27FC236}">
                <a16:creationId xmlns:a16="http://schemas.microsoft.com/office/drawing/2014/main" id="{64E0A388-08A3-2ED2-262B-4F8CD4953CC1}"/>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Backup evidence for jury questions; excluded from the timed presentation.</a:t>
            </a:r>
          </a:p>
        </p:txBody>
      </p:sp>
      <p:pic>
        <p:nvPicPr>
          <p:cNvPr id="7" name="Picture 6" descr="Universite Saint-Joseph and ESIB mark">
            <a:extLst>
              <a:ext uri="{FF2B5EF4-FFF2-40B4-BE49-F238E27FC236}">
                <a16:creationId xmlns:a16="http://schemas.microsoft.com/office/drawing/2014/main" id="{59FCC478-6946-96FB-62E7-78CE665553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7EE4E281-F6FF-5EDB-2F40-948A523BA511}"/>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4C7F367-5612-FA36-D4B6-DB38EEF69007}"/>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A0BB7D75-5AC0-C689-8D46-C52C2FDFF592}"/>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29</a:t>
            </a:r>
          </a:p>
        </p:txBody>
      </p:sp>
      <p:sp>
        <p:nvSpPr>
          <p:cNvPr id="11" name="Rectangle 10">
            <a:extLst>
              <a:ext uri="{FF2B5EF4-FFF2-40B4-BE49-F238E27FC236}">
                <a16:creationId xmlns:a16="http://schemas.microsoft.com/office/drawing/2014/main" id="{541967BB-F4D2-818E-306C-88A243FB03E8}"/>
              </a:ext>
            </a:extLst>
          </p:cNvPr>
          <p:cNvSpPr/>
          <p:nvPr/>
        </p:nvSpPr>
        <p:spPr>
          <a:xfrm>
            <a:off x="609600" y="1752600"/>
            <a:ext cx="5168900" cy="3556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F2DA3B45-FE71-B449-C6BD-E6D8C39BB939}"/>
              </a:ext>
            </a:extLst>
          </p:cNvPr>
          <p:cNvSpPr txBox="1"/>
          <p:nvPr/>
        </p:nvSpPr>
        <p:spPr>
          <a:xfrm>
            <a:off x="711200" y="1854200"/>
            <a:ext cx="4965700" cy="123111"/>
          </a:xfrm>
          <a:prstGeom prst="rect">
            <a:avLst/>
          </a:prstGeom>
          <a:noFill/>
        </p:spPr>
        <p:txBody>
          <a:bodyPr vert="horz" wrap="square" lIns="0" tIns="0" rIns="0" bIns="0" rtlCol="0">
            <a:spAutoFit/>
          </a:bodyPr>
          <a:lstStyle/>
          <a:p>
            <a:pPr algn="ctr"/>
            <a:r>
              <a:rPr lang="en-US" sz="800" b="1">
                <a:solidFill>
                  <a:srgbClr val="FFFFFF"/>
                </a:solidFill>
                <a:latin typeface="Aptos" panose="020B0004020202020204" pitchFamily="34" charset="0"/>
              </a:rPr>
              <a:t>TEST AREA</a:t>
            </a:r>
          </a:p>
        </p:txBody>
      </p:sp>
      <p:sp>
        <p:nvSpPr>
          <p:cNvPr id="13" name="Rectangle 12">
            <a:extLst>
              <a:ext uri="{FF2B5EF4-FFF2-40B4-BE49-F238E27FC236}">
                <a16:creationId xmlns:a16="http://schemas.microsoft.com/office/drawing/2014/main" id="{4BD8D79A-D07A-1CE1-9EE1-3F0D35B55549}"/>
              </a:ext>
            </a:extLst>
          </p:cNvPr>
          <p:cNvSpPr/>
          <p:nvPr/>
        </p:nvSpPr>
        <p:spPr>
          <a:xfrm>
            <a:off x="5778500" y="1752600"/>
            <a:ext cx="1397000" cy="3556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FAF7758-4725-68DA-EED3-E9AFAE61AF82}"/>
              </a:ext>
            </a:extLst>
          </p:cNvPr>
          <p:cNvSpPr txBox="1"/>
          <p:nvPr/>
        </p:nvSpPr>
        <p:spPr>
          <a:xfrm>
            <a:off x="5880100" y="1854200"/>
            <a:ext cx="1193800" cy="123111"/>
          </a:xfrm>
          <a:prstGeom prst="rect">
            <a:avLst/>
          </a:prstGeom>
          <a:noFill/>
        </p:spPr>
        <p:txBody>
          <a:bodyPr vert="horz" wrap="square" lIns="0" tIns="0" rIns="0" bIns="0" rtlCol="0">
            <a:spAutoFit/>
          </a:bodyPr>
          <a:lstStyle/>
          <a:p>
            <a:pPr algn="ctr"/>
            <a:r>
              <a:rPr lang="en-US" sz="800" b="1">
                <a:solidFill>
                  <a:srgbClr val="FFFFFF"/>
                </a:solidFill>
                <a:latin typeface="Aptos" panose="020B0004020202020204" pitchFamily="34" charset="0"/>
              </a:rPr>
              <a:t>EXECUTED</a:t>
            </a:r>
          </a:p>
        </p:txBody>
      </p:sp>
      <p:sp>
        <p:nvSpPr>
          <p:cNvPr id="15" name="Rectangle 14">
            <a:extLst>
              <a:ext uri="{FF2B5EF4-FFF2-40B4-BE49-F238E27FC236}">
                <a16:creationId xmlns:a16="http://schemas.microsoft.com/office/drawing/2014/main" id="{DA017DB4-12DA-ADA1-8860-4EAA65D4B39A}"/>
              </a:ext>
            </a:extLst>
          </p:cNvPr>
          <p:cNvSpPr/>
          <p:nvPr/>
        </p:nvSpPr>
        <p:spPr>
          <a:xfrm>
            <a:off x="7175500" y="1752600"/>
            <a:ext cx="1397000" cy="3556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AF4CF7C-EAF2-5879-0F56-C6B8C56674C1}"/>
              </a:ext>
            </a:extLst>
          </p:cNvPr>
          <p:cNvSpPr txBox="1"/>
          <p:nvPr/>
        </p:nvSpPr>
        <p:spPr>
          <a:xfrm>
            <a:off x="7277100" y="1854200"/>
            <a:ext cx="1193800" cy="123111"/>
          </a:xfrm>
          <a:prstGeom prst="rect">
            <a:avLst/>
          </a:prstGeom>
          <a:noFill/>
        </p:spPr>
        <p:txBody>
          <a:bodyPr vert="horz" wrap="square" lIns="0" tIns="0" rIns="0" bIns="0" rtlCol="0">
            <a:spAutoFit/>
          </a:bodyPr>
          <a:lstStyle/>
          <a:p>
            <a:pPr algn="ctr"/>
            <a:r>
              <a:rPr lang="en-US" sz="800" b="1">
                <a:solidFill>
                  <a:srgbClr val="FFFFFF"/>
                </a:solidFill>
                <a:latin typeface="Aptos" panose="020B0004020202020204" pitchFamily="34" charset="0"/>
              </a:rPr>
              <a:t>FINAL PASS</a:t>
            </a:r>
          </a:p>
        </p:txBody>
      </p:sp>
      <p:sp>
        <p:nvSpPr>
          <p:cNvPr id="17" name="Rectangle 16">
            <a:extLst>
              <a:ext uri="{FF2B5EF4-FFF2-40B4-BE49-F238E27FC236}">
                <a16:creationId xmlns:a16="http://schemas.microsoft.com/office/drawing/2014/main" id="{717D082B-2D04-85AC-72B6-6B753772D3B9}"/>
              </a:ext>
            </a:extLst>
          </p:cNvPr>
          <p:cNvSpPr/>
          <p:nvPr/>
        </p:nvSpPr>
        <p:spPr>
          <a:xfrm>
            <a:off x="8572500" y="1752600"/>
            <a:ext cx="1143000" cy="3556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A3053A2F-043E-AEEC-6303-6A512EF4F71F}"/>
              </a:ext>
            </a:extLst>
          </p:cNvPr>
          <p:cNvSpPr txBox="1"/>
          <p:nvPr/>
        </p:nvSpPr>
        <p:spPr>
          <a:xfrm>
            <a:off x="8674100" y="1854200"/>
            <a:ext cx="939800" cy="123111"/>
          </a:xfrm>
          <a:prstGeom prst="rect">
            <a:avLst/>
          </a:prstGeom>
          <a:noFill/>
        </p:spPr>
        <p:txBody>
          <a:bodyPr vert="horz" wrap="square" lIns="0" tIns="0" rIns="0" bIns="0" rtlCol="0">
            <a:spAutoFit/>
          </a:bodyPr>
          <a:lstStyle/>
          <a:p>
            <a:pPr algn="ctr"/>
            <a:r>
              <a:rPr lang="en-US" sz="800" b="1">
                <a:solidFill>
                  <a:srgbClr val="FFFFFF"/>
                </a:solidFill>
                <a:latin typeface="Aptos" panose="020B0004020202020204" pitchFamily="34" charset="0"/>
              </a:rPr>
              <a:t>FAIL</a:t>
            </a:r>
          </a:p>
        </p:txBody>
      </p:sp>
      <p:sp>
        <p:nvSpPr>
          <p:cNvPr id="19" name="Rectangle 18">
            <a:extLst>
              <a:ext uri="{FF2B5EF4-FFF2-40B4-BE49-F238E27FC236}">
                <a16:creationId xmlns:a16="http://schemas.microsoft.com/office/drawing/2014/main" id="{1A0BC78C-6EEC-17F2-D2C0-08E3C1973D13}"/>
              </a:ext>
            </a:extLst>
          </p:cNvPr>
          <p:cNvSpPr/>
          <p:nvPr/>
        </p:nvSpPr>
        <p:spPr>
          <a:xfrm>
            <a:off x="9715500" y="1752600"/>
            <a:ext cx="1866900" cy="3556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3E19237-5AE4-89C9-75C6-6F5E67550926}"/>
              </a:ext>
            </a:extLst>
          </p:cNvPr>
          <p:cNvSpPr txBox="1"/>
          <p:nvPr/>
        </p:nvSpPr>
        <p:spPr>
          <a:xfrm>
            <a:off x="9817100" y="1854200"/>
            <a:ext cx="1663700" cy="123111"/>
          </a:xfrm>
          <a:prstGeom prst="rect">
            <a:avLst/>
          </a:prstGeom>
          <a:noFill/>
        </p:spPr>
        <p:txBody>
          <a:bodyPr vert="horz" wrap="square" lIns="0" tIns="0" rIns="0" bIns="0" rtlCol="0">
            <a:spAutoFit/>
          </a:bodyPr>
          <a:lstStyle/>
          <a:p>
            <a:pPr algn="ctr"/>
            <a:r>
              <a:rPr lang="en-US" sz="800" b="1">
                <a:solidFill>
                  <a:srgbClr val="FFFFFF"/>
                </a:solidFill>
                <a:latin typeface="Aptos" panose="020B0004020202020204" pitchFamily="34" charset="0"/>
              </a:rPr>
              <a:t>FINAL RATE</a:t>
            </a:r>
          </a:p>
        </p:txBody>
      </p:sp>
      <p:sp>
        <p:nvSpPr>
          <p:cNvPr id="21" name="Rectangle 20">
            <a:extLst>
              <a:ext uri="{FF2B5EF4-FFF2-40B4-BE49-F238E27FC236}">
                <a16:creationId xmlns:a16="http://schemas.microsoft.com/office/drawing/2014/main" id="{6532B717-18B4-74CA-0860-E3A2819AD2D2}"/>
              </a:ext>
            </a:extLst>
          </p:cNvPr>
          <p:cNvSpPr/>
          <p:nvPr/>
        </p:nvSpPr>
        <p:spPr>
          <a:xfrm>
            <a:off x="609600" y="2108200"/>
            <a:ext cx="5168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2E1317AE-830F-369C-511D-6AE42732C7A3}"/>
              </a:ext>
            </a:extLst>
          </p:cNvPr>
          <p:cNvSpPr txBox="1"/>
          <p:nvPr/>
        </p:nvSpPr>
        <p:spPr>
          <a:xfrm>
            <a:off x="711200" y="21971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AI Profile Suggestions</a:t>
            </a:r>
          </a:p>
        </p:txBody>
      </p:sp>
      <p:sp>
        <p:nvSpPr>
          <p:cNvPr id="23" name="Rectangle 22">
            <a:extLst>
              <a:ext uri="{FF2B5EF4-FFF2-40B4-BE49-F238E27FC236}">
                <a16:creationId xmlns:a16="http://schemas.microsoft.com/office/drawing/2014/main" id="{AC5DE210-C1C0-376C-954C-502BF82DDCAA}"/>
              </a:ext>
            </a:extLst>
          </p:cNvPr>
          <p:cNvSpPr/>
          <p:nvPr/>
        </p:nvSpPr>
        <p:spPr>
          <a:xfrm>
            <a:off x="5778500" y="21082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41D83968-C0BD-1706-F2C0-9C1D50EDFB88}"/>
              </a:ext>
            </a:extLst>
          </p:cNvPr>
          <p:cNvSpPr txBox="1"/>
          <p:nvPr/>
        </p:nvSpPr>
        <p:spPr>
          <a:xfrm>
            <a:off x="5880100" y="21971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60</a:t>
            </a:r>
          </a:p>
        </p:txBody>
      </p:sp>
      <p:sp>
        <p:nvSpPr>
          <p:cNvPr id="25" name="Rectangle 24">
            <a:extLst>
              <a:ext uri="{FF2B5EF4-FFF2-40B4-BE49-F238E27FC236}">
                <a16:creationId xmlns:a16="http://schemas.microsoft.com/office/drawing/2014/main" id="{EDDECDB3-9346-2C72-D8BE-96830D8037E8}"/>
              </a:ext>
            </a:extLst>
          </p:cNvPr>
          <p:cNvSpPr/>
          <p:nvPr/>
        </p:nvSpPr>
        <p:spPr>
          <a:xfrm>
            <a:off x="7175500" y="21082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E768F619-CEA8-797F-EBD0-97A9B52553A6}"/>
              </a:ext>
            </a:extLst>
          </p:cNvPr>
          <p:cNvSpPr txBox="1"/>
          <p:nvPr/>
        </p:nvSpPr>
        <p:spPr>
          <a:xfrm>
            <a:off x="7277100" y="21971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53</a:t>
            </a:r>
          </a:p>
        </p:txBody>
      </p:sp>
      <p:sp>
        <p:nvSpPr>
          <p:cNvPr id="27" name="Rectangle 26">
            <a:extLst>
              <a:ext uri="{FF2B5EF4-FFF2-40B4-BE49-F238E27FC236}">
                <a16:creationId xmlns:a16="http://schemas.microsoft.com/office/drawing/2014/main" id="{977416EF-80ED-349F-9BF6-B44679221E76}"/>
              </a:ext>
            </a:extLst>
          </p:cNvPr>
          <p:cNvSpPr/>
          <p:nvPr/>
        </p:nvSpPr>
        <p:spPr>
          <a:xfrm>
            <a:off x="8572500" y="2108200"/>
            <a:ext cx="1143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517EA0C4-1344-E827-A08F-4B5EDA08DE45}"/>
              </a:ext>
            </a:extLst>
          </p:cNvPr>
          <p:cNvSpPr txBox="1"/>
          <p:nvPr/>
        </p:nvSpPr>
        <p:spPr>
          <a:xfrm>
            <a:off x="8674100" y="21971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7</a:t>
            </a:r>
          </a:p>
        </p:txBody>
      </p:sp>
      <p:sp>
        <p:nvSpPr>
          <p:cNvPr id="29" name="Rectangle 28">
            <a:extLst>
              <a:ext uri="{FF2B5EF4-FFF2-40B4-BE49-F238E27FC236}">
                <a16:creationId xmlns:a16="http://schemas.microsoft.com/office/drawing/2014/main" id="{559687C2-BEB2-D3EB-AD5B-9744AD63AC7A}"/>
              </a:ext>
            </a:extLst>
          </p:cNvPr>
          <p:cNvSpPr/>
          <p:nvPr/>
        </p:nvSpPr>
        <p:spPr>
          <a:xfrm>
            <a:off x="9715500" y="2108200"/>
            <a:ext cx="1866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47C93CBB-A961-F3DD-E8FA-75C4494C76A4}"/>
              </a:ext>
            </a:extLst>
          </p:cNvPr>
          <p:cNvSpPr txBox="1"/>
          <p:nvPr/>
        </p:nvSpPr>
        <p:spPr>
          <a:xfrm>
            <a:off x="9817100" y="21971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88.3%</a:t>
            </a:r>
          </a:p>
        </p:txBody>
      </p:sp>
      <p:sp>
        <p:nvSpPr>
          <p:cNvPr id="31" name="Rectangle 30">
            <a:extLst>
              <a:ext uri="{FF2B5EF4-FFF2-40B4-BE49-F238E27FC236}">
                <a16:creationId xmlns:a16="http://schemas.microsoft.com/office/drawing/2014/main" id="{038D48D8-B307-CD67-41BA-7C6A67BDD7AA}"/>
              </a:ext>
            </a:extLst>
          </p:cNvPr>
          <p:cNvSpPr/>
          <p:nvPr/>
        </p:nvSpPr>
        <p:spPr>
          <a:xfrm>
            <a:off x="609600" y="2463800"/>
            <a:ext cx="5168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67482C1F-A972-FC1F-7F99-2E8ACAA0C1F4}"/>
              </a:ext>
            </a:extLst>
          </p:cNvPr>
          <p:cNvSpPr txBox="1"/>
          <p:nvPr/>
        </p:nvSpPr>
        <p:spPr>
          <a:xfrm>
            <a:off x="711200" y="25527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Voice Transcription</a:t>
            </a:r>
          </a:p>
        </p:txBody>
      </p:sp>
      <p:sp>
        <p:nvSpPr>
          <p:cNvPr id="33" name="Rectangle 32">
            <a:extLst>
              <a:ext uri="{FF2B5EF4-FFF2-40B4-BE49-F238E27FC236}">
                <a16:creationId xmlns:a16="http://schemas.microsoft.com/office/drawing/2014/main" id="{2AD94017-5948-8B4E-5C45-2608F51F9944}"/>
              </a:ext>
            </a:extLst>
          </p:cNvPr>
          <p:cNvSpPr/>
          <p:nvPr/>
        </p:nvSpPr>
        <p:spPr>
          <a:xfrm>
            <a:off x="5778500" y="24638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33F430CB-3727-A039-A7BA-291B55D7428C}"/>
              </a:ext>
            </a:extLst>
          </p:cNvPr>
          <p:cNvSpPr txBox="1"/>
          <p:nvPr/>
        </p:nvSpPr>
        <p:spPr>
          <a:xfrm>
            <a:off x="5880100" y="25527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30</a:t>
            </a:r>
          </a:p>
        </p:txBody>
      </p:sp>
      <p:sp>
        <p:nvSpPr>
          <p:cNvPr id="35" name="Rectangle 34">
            <a:extLst>
              <a:ext uri="{FF2B5EF4-FFF2-40B4-BE49-F238E27FC236}">
                <a16:creationId xmlns:a16="http://schemas.microsoft.com/office/drawing/2014/main" id="{7EFF42E1-4561-F341-7569-EE8A073DEB5F}"/>
              </a:ext>
            </a:extLst>
          </p:cNvPr>
          <p:cNvSpPr/>
          <p:nvPr/>
        </p:nvSpPr>
        <p:spPr>
          <a:xfrm>
            <a:off x="7175500" y="24638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877E6A54-E509-47A6-4693-A1EBE93845CC}"/>
              </a:ext>
            </a:extLst>
          </p:cNvPr>
          <p:cNvSpPr txBox="1"/>
          <p:nvPr/>
        </p:nvSpPr>
        <p:spPr>
          <a:xfrm>
            <a:off x="7277100" y="25527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30</a:t>
            </a:r>
          </a:p>
        </p:txBody>
      </p:sp>
      <p:sp>
        <p:nvSpPr>
          <p:cNvPr id="37" name="Rectangle 36">
            <a:extLst>
              <a:ext uri="{FF2B5EF4-FFF2-40B4-BE49-F238E27FC236}">
                <a16:creationId xmlns:a16="http://schemas.microsoft.com/office/drawing/2014/main" id="{F8CF6864-77A6-2071-8447-DB669F666B60}"/>
              </a:ext>
            </a:extLst>
          </p:cNvPr>
          <p:cNvSpPr/>
          <p:nvPr/>
        </p:nvSpPr>
        <p:spPr>
          <a:xfrm>
            <a:off x="8572500" y="2463800"/>
            <a:ext cx="1143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91BAA75A-0720-F990-812B-DB0A2F1DAB96}"/>
              </a:ext>
            </a:extLst>
          </p:cNvPr>
          <p:cNvSpPr txBox="1"/>
          <p:nvPr/>
        </p:nvSpPr>
        <p:spPr>
          <a:xfrm>
            <a:off x="8674100" y="25527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0</a:t>
            </a:r>
          </a:p>
        </p:txBody>
      </p:sp>
      <p:sp>
        <p:nvSpPr>
          <p:cNvPr id="39" name="Rectangle 38">
            <a:extLst>
              <a:ext uri="{FF2B5EF4-FFF2-40B4-BE49-F238E27FC236}">
                <a16:creationId xmlns:a16="http://schemas.microsoft.com/office/drawing/2014/main" id="{EB420D94-06D2-2E91-F075-A0023A1A2488}"/>
              </a:ext>
            </a:extLst>
          </p:cNvPr>
          <p:cNvSpPr/>
          <p:nvPr/>
        </p:nvSpPr>
        <p:spPr>
          <a:xfrm>
            <a:off x="9715500" y="2463800"/>
            <a:ext cx="1866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7B86F6EA-0B73-E484-EF9C-F829E375A692}"/>
              </a:ext>
            </a:extLst>
          </p:cNvPr>
          <p:cNvSpPr txBox="1"/>
          <p:nvPr/>
        </p:nvSpPr>
        <p:spPr>
          <a:xfrm>
            <a:off x="9817100" y="25527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100.0%</a:t>
            </a:r>
          </a:p>
        </p:txBody>
      </p:sp>
      <p:sp>
        <p:nvSpPr>
          <p:cNvPr id="41" name="Rectangle 40">
            <a:extLst>
              <a:ext uri="{FF2B5EF4-FFF2-40B4-BE49-F238E27FC236}">
                <a16:creationId xmlns:a16="http://schemas.microsoft.com/office/drawing/2014/main" id="{183A0501-3702-7656-A8D5-DD637CE4B4C3}"/>
              </a:ext>
            </a:extLst>
          </p:cNvPr>
          <p:cNvSpPr/>
          <p:nvPr/>
        </p:nvSpPr>
        <p:spPr>
          <a:xfrm>
            <a:off x="609600" y="2819400"/>
            <a:ext cx="5168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BC15CF82-045C-4080-1607-446FC6E0B5A8}"/>
              </a:ext>
            </a:extLst>
          </p:cNvPr>
          <p:cNvSpPr txBox="1"/>
          <p:nvPr/>
        </p:nvSpPr>
        <p:spPr>
          <a:xfrm>
            <a:off x="711200" y="29083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Voice Navigation</a:t>
            </a:r>
          </a:p>
        </p:txBody>
      </p:sp>
      <p:sp>
        <p:nvSpPr>
          <p:cNvPr id="43" name="Rectangle 42">
            <a:extLst>
              <a:ext uri="{FF2B5EF4-FFF2-40B4-BE49-F238E27FC236}">
                <a16:creationId xmlns:a16="http://schemas.microsoft.com/office/drawing/2014/main" id="{36284BF7-F34D-0ED3-A6F5-09851C5E402B}"/>
              </a:ext>
            </a:extLst>
          </p:cNvPr>
          <p:cNvSpPr/>
          <p:nvPr/>
        </p:nvSpPr>
        <p:spPr>
          <a:xfrm>
            <a:off x="5778500" y="28194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3FA3D690-A1EE-1E23-2ED3-01AF3158DDA4}"/>
              </a:ext>
            </a:extLst>
          </p:cNvPr>
          <p:cNvSpPr txBox="1"/>
          <p:nvPr/>
        </p:nvSpPr>
        <p:spPr>
          <a:xfrm>
            <a:off x="5880100" y="29083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60</a:t>
            </a:r>
          </a:p>
        </p:txBody>
      </p:sp>
      <p:sp>
        <p:nvSpPr>
          <p:cNvPr id="45" name="Rectangle 44">
            <a:extLst>
              <a:ext uri="{FF2B5EF4-FFF2-40B4-BE49-F238E27FC236}">
                <a16:creationId xmlns:a16="http://schemas.microsoft.com/office/drawing/2014/main" id="{E30AE6C0-9392-3739-B47B-24643BCD60A0}"/>
              </a:ext>
            </a:extLst>
          </p:cNvPr>
          <p:cNvSpPr/>
          <p:nvPr/>
        </p:nvSpPr>
        <p:spPr>
          <a:xfrm>
            <a:off x="7175500" y="28194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926F7315-FCB6-2A52-4693-C4BAE24BAA83}"/>
              </a:ext>
            </a:extLst>
          </p:cNvPr>
          <p:cNvSpPr txBox="1"/>
          <p:nvPr/>
        </p:nvSpPr>
        <p:spPr>
          <a:xfrm>
            <a:off x="7277100" y="29083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60</a:t>
            </a:r>
          </a:p>
        </p:txBody>
      </p:sp>
      <p:sp>
        <p:nvSpPr>
          <p:cNvPr id="47" name="Rectangle 46">
            <a:extLst>
              <a:ext uri="{FF2B5EF4-FFF2-40B4-BE49-F238E27FC236}">
                <a16:creationId xmlns:a16="http://schemas.microsoft.com/office/drawing/2014/main" id="{00E6519F-2E70-3366-D75A-48991914B4E6}"/>
              </a:ext>
            </a:extLst>
          </p:cNvPr>
          <p:cNvSpPr/>
          <p:nvPr/>
        </p:nvSpPr>
        <p:spPr>
          <a:xfrm>
            <a:off x="8572500" y="2819400"/>
            <a:ext cx="1143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B0301029-4B0E-840F-3228-F778E7754FEB}"/>
              </a:ext>
            </a:extLst>
          </p:cNvPr>
          <p:cNvSpPr txBox="1"/>
          <p:nvPr/>
        </p:nvSpPr>
        <p:spPr>
          <a:xfrm>
            <a:off x="8674100" y="29083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0</a:t>
            </a:r>
          </a:p>
        </p:txBody>
      </p:sp>
      <p:sp>
        <p:nvSpPr>
          <p:cNvPr id="49" name="Rectangle 48">
            <a:extLst>
              <a:ext uri="{FF2B5EF4-FFF2-40B4-BE49-F238E27FC236}">
                <a16:creationId xmlns:a16="http://schemas.microsoft.com/office/drawing/2014/main" id="{2FF0C8A7-D8C9-FE42-2F64-DD196A1BD35C}"/>
              </a:ext>
            </a:extLst>
          </p:cNvPr>
          <p:cNvSpPr/>
          <p:nvPr/>
        </p:nvSpPr>
        <p:spPr>
          <a:xfrm>
            <a:off x="9715500" y="2819400"/>
            <a:ext cx="1866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3442C6EE-708F-B8BD-465F-FAC31BA5139B}"/>
              </a:ext>
            </a:extLst>
          </p:cNvPr>
          <p:cNvSpPr txBox="1"/>
          <p:nvPr/>
        </p:nvSpPr>
        <p:spPr>
          <a:xfrm>
            <a:off x="9817100" y="29083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100.0%</a:t>
            </a:r>
          </a:p>
        </p:txBody>
      </p:sp>
      <p:sp>
        <p:nvSpPr>
          <p:cNvPr id="51" name="Rectangle 50">
            <a:extLst>
              <a:ext uri="{FF2B5EF4-FFF2-40B4-BE49-F238E27FC236}">
                <a16:creationId xmlns:a16="http://schemas.microsoft.com/office/drawing/2014/main" id="{C137782B-4B27-422F-B290-B469CF946C55}"/>
              </a:ext>
            </a:extLst>
          </p:cNvPr>
          <p:cNvSpPr/>
          <p:nvPr/>
        </p:nvSpPr>
        <p:spPr>
          <a:xfrm>
            <a:off x="609600" y="3175000"/>
            <a:ext cx="5168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1029755B-81BA-D5DD-7CCE-C3727360E45F}"/>
              </a:ext>
            </a:extLst>
          </p:cNvPr>
          <p:cNvSpPr txBox="1"/>
          <p:nvPr/>
        </p:nvSpPr>
        <p:spPr>
          <a:xfrm>
            <a:off x="711200" y="32639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Matching Engine</a:t>
            </a:r>
          </a:p>
        </p:txBody>
      </p:sp>
      <p:sp>
        <p:nvSpPr>
          <p:cNvPr id="53" name="Rectangle 52">
            <a:extLst>
              <a:ext uri="{FF2B5EF4-FFF2-40B4-BE49-F238E27FC236}">
                <a16:creationId xmlns:a16="http://schemas.microsoft.com/office/drawing/2014/main" id="{40F134D8-734B-F7DE-A07C-83D120E75533}"/>
              </a:ext>
            </a:extLst>
          </p:cNvPr>
          <p:cNvSpPr/>
          <p:nvPr/>
        </p:nvSpPr>
        <p:spPr>
          <a:xfrm>
            <a:off x="5778500" y="31750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8A4FE43-8F15-F2A3-736A-8A209D641771}"/>
              </a:ext>
            </a:extLst>
          </p:cNvPr>
          <p:cNvSpPr txBox="1"/>
          <p:nvPr/>
        </p:nvSpPr>
        <p:spPr>
          <a:xfrm>
            <a:off x="5880100" y="32639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45</a:t>
            </a:r>
          </a:p>
        </p:txBody>
      </p:sp>
      <p:sp>
        <p:nvSpPr>
          <p:cNvPr id="55" name="Rectangle 54">
            <a:extLst>
              <a:ext uri="{FF2B5EF4-FFF2-40B4-BE49-F238E27FC236}">
                <a16:creationId xmlns:a16="http://schemas.microsoft.com/office/drawing/2014/main" id="{B33EDACD-F7BF-C6ED-8ADF-266F4C3CBD78}"/>
              </a:ext>
            </a:extLst>
          </p:cNvPr>
          <p:cNvSpPr/>
          <p:nvPr/>
        </p:nvSpPr>
        <p:spPr>
          <a:xfrm>
            <a:off x="7175500" y="31750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8F9B81FF-D4F8-08CC-02AD-09DC32FA84FD}"/>
              </a:ext>
            </a:extLst>
          </p:cNvPr>
          <p:cNvSpPr txBox="1"/>
          <p:nvPr/>
        </p:nvSpPr>
        <p:spPr>
          <a:xfrm>
            <a:off x="7277100" y="32639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45</a:t>
            </a:r>
          </a:p>
        </p:txBody>
      </p:sp>
      <p:sp>
        <p:nvSpPr>
          <p:cNvPr id="57" name="Rectangle 56">
            <a:extLst>
              <a:ext uri="{FF2B5EF4-FFF2-40B4-BE49-F238E27FC236}">
                <a16:creationId xmlns:a16="http://schemas.microsoft.com/office/drawing/2014/main" id="{BC3FDE81-2E0E-984F-6F69-36399607CC3F}"/>
              </a:ext>
            </a:extLst>
          </p:cNvPr>
          <p:cNvSpPr/>
          <p:nvPr/>
        </p:nvSpPr>
        <p:spPr>
          <a:xfrm>
            <a:off x="8572500" y="3175000"/>
            <a:ext cx="1143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73F64F37-AC89-0309-1CA8-67BF99FF6CC7}"/>
              </a:ext>
            </a:extLst>
          </p:cNvPr>
          <p:cNvSpPr txBox="1"/>
          <p:nvPr/>
        </p:nvSpPr>
        <p:spPr>
          <a:xfrm>
            <a:off x="8674100" y="32639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0</a:t>
            </a:r>
          </a:p>
        </p:txBody>
      </p:sp>
      <p:sp>
        <p:nvSpPr>
          <p:cNvPr id="59" name="Rectangle 58">
            <a:extLst>
              <a:ext uri="{FF2B5EF4-FFF2-40B4-BE49-F238E27FC236}">
                <a16:creationId xmlns:a16="http://schemas.microsoft.com/office/drawing/2014/main" id="{07901747-E0D7-DFD3-568D-5D3B9482E773}"/>
              </a:ext>
            </a:extLst>
          </p:cNvPr>
          <p:cNvSpPr/>
          <p:nvPr/>
        </p:nvSpPr>
        <p:spPr>
          <a:xfrm>
            <a:off x="9715500" y="3175000"/>
            <a:ext cx="1866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AB4631DC-602C-805B-4BB4-F81D27234112}"/>
              </a:ext>
            </a:extLst>
          </p:cNvPr>
          <p:cNvSpPr txBox="1"/>
          <p:nvPr/>
        </p:nvSpPr>
        <p:spPr>
          <a:xfrm>
            <a:off x="9817100" y="32639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100.0%</a:t>
            </a:r>
          </a:p>
        </p:txBody>
      </p:sp>
      <p:sp>
        <p:nvSpPr>
          <p:cNvPr id="61" name="Rectangle 60">
            <a:extLst>
              <a:ext uri="{FF2B5EF4-FFF2-40B4-BE49-F238E27FC236}">
                <a16:creationId xmlns:a16="http://schemas.microsoft.com/office/drawing/2014/main" id="{D608248A-E419-1D32-4CDC-0970CA77D6AA}"/>
              </a:ext>
            </a:extLst>
          </p:cNvPr>
          <p:cNvSpPr/>
          <p:nvPr/>
        </p:nvSpPr>
        <p:spPr>
          <a:xfrm>
            <a:off x="609600" y="3530600"/>
            <a:ext cx="5168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44377554-B670-07BC-AD9D-0D86C8A35315}"/>
              </a:ext>
            </a:extLst>
          </p:cNvPr>
          <p:cNvSpPr txBox="1"/>
          <p:nvPr/>
        </p:nvSpPr>
        <p:spPr>
          <a:xfrm>
            <a:off x="711200" y="36195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Complete Workflows</a:t>
            </a:r>
          </a:p>
        </p:txBody>
      </p:sp>
      <p:sp>
        <p:nvSpPr>
          <p:cNvPr id="63" name="Rectangle 62">
            <a:extLst>
              <a:ext uri="{FF2B5EF4-FFF2-40B4-BE49-F238E27FC236}">
                <a16:creationId xmlns:a16="http://schemas.microsoft.com/office/drawing/2014/main" id="{C48EFBDC-9310-22E2-37FE-E66DB039868A}"/>
              </a:ext>
            </a:extLst>
          </p:cNvPr>
          <p:cNvSpPr/>
          <p:nvPr/>
        </p:nvSpPr>
        <p:spPr>
          <a:xfrm>
            <a:off x="5778500" y="35306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D12B4E5A-6EE3-28A1-897C-7A34A4D0E7F8}"/>
              </a:ext>
            </a:extLst>
          </p:cNvPr>
          <p:cNvSpPr txBox="1"/>
          <p:nvPr/>
        </p:nvSpPr>
        <p:spPr>
          <a:xfrm>
            <a:off x="5880100" y="36195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20</a:t>
            </a:r>
          </a:p>
        </p:txBody>
      </p:sp>
      <p:sp>
        <p:nvSpPr>
          <p:cNvPr id="65" name="Rectangle 64">
            <a:extLst>
              <a:ext uri="{FF2B5EF4-FFF2-40B4-BE49-F238E27FC236}">
                <a16:creationId xmlns:a16="http://schemas.microsoft.com/office/drawing/2014/main" id="{5B0F1724-FE33-E075-0FFC-3F3962932333}"/>
              </a:ext>
            </a:extLst>
          </p:cNvPr>
          <p:cNvSpPr/>
          <p:nvPr/>
        </p:nvSpPr>
        <p:spPr>
          <a:xfrm>
            <a:off x="7175500" y="35306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138E6C30-1113-FBF2-1F1D-DCB6704EE8F5}"/>
              </a:ext>
            </a:extLst>
          </p:cNvPr>
          <p:cNvSpPr txBox="1"/>
          <p:nvPr/>
        </p:nvSpPr>
        <p:spPr>
          <a:xfrm>
            <a:off x="7277100" y="36195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20</a:t>
            </a:r>
          </a:p>
        </p:txBody>
      </p:sp>
      <p:sp>
        <p:nvSpPr>
          <p:cNvPr id="67" name="Rectangle 66">
            <a:extLst>
              <a:ext uri="{FF2B5EF4-FFF2-40B4-BE49-F238E27FC236}">
                <a16:creationId xmlns:a16="http://schemas.microsoft.com/office/drawing/2014/main" id="{DED87105-C1F8-A5C1-8FB2-DBFF2F0558F2}"/>
              </a:ext>
            </a:extLst>
          </p:cNvPr>
          <p:cNvSpPr/>
          <p:nvPr/>
        </p:nvSpPr>
        <p:spPr>
          <a:xfrm>
            <a:off x="8572500" y="3530600"/>
            <a:ext cx="1143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D387D1D4-3955-69CD-1E71-93E759DDD883}"/>
              </a:ext>
            </a:extLst>
          </p:cNvPr>
          <p:cNvSpPr txBox="1"/>
          <p:nvPr/>
        </p:nvSpPr>
        <p:spPr>
          <a:xfrm>
            <a:off x="8674100" y="36195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0</a:t>
            </a:r>
          </a:p>
        </p:txBody>
      </p:sp>
      <p:sp>
        <p:nvSpPr>
          <p:cNvPr id="69" name="Rectangle 68">
            <a:extLst>
              <a:ext uri="{FF2B5EF4-FFF2-40B4-BE49-F238E27FC236}">
                <a16:creationId xmlns:a16="http://schemas.microsoft.com/office/drawing/2014/main" id="{968AB6BE-860E-0E64-CD90-2C08B6F121EE}"/>
              </a:ext>
            </a:extLst>
          </p:cNvPr>
          <p:cNvSpPr/>
          <p:nvPr/>
        </p:nvSpPr>
        <p:spPr>
          <a:xfrm>
            <a:off x="9715500" y="3530600"/>
            <a:ext cx="1866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BEB28C3D-35B3-8F27-E0BD-4BEDFA22D990}"/>
              </a:ext>
            </a:extLst>
          </p:cNvPr>
          <p:cNvSpPr txBox="1"/>
          <p:nvPr/>
        </p:nvSpPr>
        <p:spPr>
          <a:xfrm>
            <a:off x="9817100" y="36195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100.0%</a:t>
            </a:r>
          </a:p>
        </p:txBody>
      </p:sp>
      <p:sp>
        <p:nvSpPr>
          <p:cNvPr id="71" name="Rectangle 70">
            <a:extLst>
              <a:ext uri="{FF2B5EF4-FFF2-40B4-BE49-F238E27FC236}">
                <a16:creationId xmlns:a16="http://schemas.microsoft.com/office/drawing/2014/main" id="{29F437EB-EA12-8795-5BE4-38F87B40DE3F}"/>
              </a:ext>
            </a:extLst>
          </p:cNvPr>
          <p:cNvSpPr/>
          <p:nvPr/>
        </p:nvSpPr>
        <p:spPr>
          <a:xfrm>
            <a:off x="609600" y="3886200"/>
            <a:ext cx="5168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82956C60-CAC0-5257-184B-A05406F51024}"/>
              </a:ext>
            </a:extLst>
          </p:cNvPr>
          <p:cNvSpPr txBox="1"/>
          <p:nvPr/>
        </p:nvSpPr>
        <p:spPr>
          <a:xfrm>
            <a:off x="711200" y="39751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Security and Privacy</a:t>
            </a:r>
          </a:p>
        </p:txBody>
      </p:sp>
      <p:sp>
        <p:nvSpPr>
          <p:cNvPr id="73" name="Rectangle 72">
            <a:extLst>
              <a:ext uri="{FF2B5EF4-FFF2-40B4-BE49-F238E27FC236}">
                <a16:creationId xmlns:a16="http://schemas.microsoft.com/office/drawing/2014/main" id="{4CC93FF3-BAED-6CA9-6AB1-C95CBB4CAB74}"/>
              </a:ext>
            </a:extLst>
          </p:cNvPr>
          <p:cNvSpPr/>
          <p:nvPr/>
        </p:nvSpPr>
        <p:spPr>
          <a:xfrm>
            <a:off x="5778500" y="38862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FA91F5E3-87A2-4D04-8CD2-7DB11BBC7AF7}"/>
              </a:ext>
            </a:extLst>
          </p:cNvPr>
          <p:cNvSpPr txBox="1"/>
          <p:nvPr/>
        </p:nvSpPr>
        <p:spPr>
          <a:xfrm>
            <a:off x="5880100" y="39751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20</a:t>
            </a:r>
          </a:p>
        </p:txBody>
      </p:sp>
      <p:sp>
        <p:nvSpPr>
          <p:cNvPr id="75" name="Rectangle 74">
            <a:extLst>
              <a:ext uri="{FF2B5EF4-FFF2-40B4-BE49-F238E27FC236}">
                <a16:creationId xmlns:a16="http://schemas.microsoft.com/office/drawing/2014/main" id="{42ABD171-F819-F8AD-6125-725747DEDFE2}"/>
              </a:ext>
            </a:extLst>
          </p:cNvPr>
          <p:cNvSpPr/>
          <p:nvPr/>
        </p:nvSpPr>
        <p:spPr>
          <a:xfrm>
            <a:off x="7175500" y="38862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1C42A961-B1B2-F766-548F-6785E04C7119}"/>
              </a:ext>
            </a:extLst>
          </p:cNvPr>
          <p:cNvSpPr txBox="1"/>
          <p:nvPr/>
        </p:nvSpPr>
        <p:spPr>
          <a:xfrm>
            <a:off x="7277100" y="39751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19</a:t>
            </a:r>
          </a:p>
        </p:txBody>
      </p:sp>
      <p:sp>
        <p:nvSpPr>
          <p:cNvPr id="77" name="Rectangle 76">
            <a:extLst>
              <a:ext uri="{FF2B5EF4-FFF2-40B4-BE49-F238E27FC236}">
                <a16:creationId xmlns:a16="http://schemas.microsoft.com/office/drawing/2014/main" id="{48FA2514-A834-FC74-36E7-490002C3E4C4}"/>
              </a:ext>
            </a:extLst>
          </p:cNvPr>
          <p:cNvSpPr/>
          <p:nvPr/>
        </p:nvSpPr>
        <p:spPr>
          <a:xfrm>
            <a:off x="8572500" y="3886200"/>
            <a:ext cx="1143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0F2DB62A-453A-16AA-2D15-72640F535598}"/>
              </a:ext>
            </a:extLst>
          </p:cNvPr>
          <p:cNvSpPr txBox="1"/>
          <p:nvPr/>
        </p:nvSpPr>
        <p:spPr>
          <a:xfrm>
            <a:off x="8674100" y="39751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a:t>
            </a:r>
          </a:p>
        </p:txBody>
      </p:sp>
      <p:sp>
        <p:nvSpPr>
          <p:cNvPr id="79" name="Rectangle 78">
            <a:extLst>
              <a:ext uri="{FF2B5EF4-FFF2-40B4-BE49-F238E27FC236}">
                <a16:creationId xmlns:a16="http://schemas.microsoft.com/office/drawing/2014/main" id="{723466DE-16F1-99D2-6AB9-809F4CED5BB2}"/>
              </a:ext>
            </a:extLst>
          </p:cNvPr>
          <p:cNvSpPr/>
          <p:nvPr/>
        </p:nvSpPr>
        <p:spPr>
          <a:xfrm>
            <a:off x="9715500" y="3886200"/>
            <a:ext cx="1866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66F53D8C-DF10-124D-36DD-55ED45C510E5}"/>
              </a:ext>
            </a:extLst>
          </p:cNvPr>
          <p:cNvSpPr txBox="1"/>
          <p:nvPr/>
        </p:nvSpPr>
        <p:spPr>
          <a:xfrm>
            <a:off x="9817100" y="39751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95.0%</a:t>
            </a:r>
          </a:p>
        </p:txBody>
      </p:sp>
      <p:sp>
        <p:nvSpPr>
          <p:cNvPr id="81" name="Rectangle 80">
            <a:extLst>
              <a:ext uri="{FF2B5EF4-FFF2-40B4-BE49-F238E27FC236}">
                <a16:creationId xmlns:a16="http://schemas.microsoft.com/office/drawing/2014/main" id="{79674FCE-02BD-DA9F-292F-A83741DBB2F2}"/>
              </a:ext>
            </a:extLst>
          </p:cNvPr>
          <p:cNvSpPr/>
          <p:nvPr/>
        </p:nvSpPr>
        <p:spPr>
          <a:xfrm>
            <a:off x="609600" y="4241800"/>
            <a:ext cx="5168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TextBox 81">
            <a:extLst>
              <a:ext uri="{FF2B5EF4-FFF2-40B4-BE49-F238E27FC236}">
                <a16:creationId xmlns:a16="http://schemas.microsoft.com/office/drawing/2014/main" id="{AA7CC03B-4C22-D9EA-739F-53BE1C379130}"/>
              </a:ext>
            </a:extLst>
          </p:cNvPr>
          <p:cNvSpPr txBox="1"/>
          <p:nvPr/>
        </p:nvSpPr>
        <p:spPr>
          <a:xfrm>
            <a:off x="711200" y="43307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Accessibility</a:t>
            </a:r>
          </a:p>
        </p:txBody>
      </p:sp>
      <p:sp>
        <p:nvSpPr>
          <p:cNvPr id="83" name="Rectangle 82">
            <a:extLst>
              <a:ext uri="{FF2B5EF4-FFF2-40B4-BE49-F238E27FC236}">
                <a16:creationId xmlns:a16="http://schemas.microsoft.com/office/drawing/2014/main" id="{A09E3725-0739-D732-9268-83E757A562FB}"/>
              </a:ext>
            </a:extLst>
          </p:cNvPr>
          <p:cNvSpPr/>
          <p:nvPr/>
        </p:nvSpPr>
        <p:spPr>
          <a:xfrm>
            <a:off x="5778500" y="42418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976B9B24-3066-A3BE-7A9D-E8AB34C055A1}"/>
              </a:ext>
            </a:extLst>
          </p:cNvPr>
          <p:cNvSpPr txBox="1"/>
          <p:nvPr/>
        </p:nvSpPr>
        <p:spPr>
          <a:xfrm>
            <a:off x="5880100" y="43307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18</a:t>
            </a:r>
          </a:p>
        </p:txBody>
      </p:sp>
      <p:sp>
        <p:nvSpPr>
          <p:cNvPr id="85" name="Rectangle 84">
            <a:extLst>
              <a:ext uri="{FF2B5EF4-FFF2-40B4-BE49-F238E27FC236}">
                <a16:creationId xmlns:a16="http://schemas.microsoft.com/office/drawing/2014/main" id="{A5C0D6BA-0348-FBCF-D744-AC9516BFFBCA}"/>
              </a:ext>
            </a:extLst>
          </p:cNvPr>
          <p:cNvSpPr/>
          <p:nvPr/>
        </p:nvSpPr>
        <p:spPr>
          <a:xfrm>
            <a:off x="7175500" y="42418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TextBox 85">
            <a:extLst>
              <a:ext uri="{FF2B5EF4-FFF2-40B4-BE49-F238E27FC236}">
                <a16:creationId xmlns:a16="http://schemas.microsoft.com/office/drawing/2014/main" id="{D3EF1BB9-8DA4-89B9-3890-324B486A6F3D}"/>
              </a:ext>
            </a:extLst>
          </p:cNvPr>
          <p:cNvSpPr txBox="1"/>
          <p:nvPr/>
        </p:nvSpPr>
        <p:spPr>
          <a:xfrm>
            <a:off x="7277100" y="43307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18</a:t>
            </a:r>
          </a:p>
        </p:txBody>
      </p:sp>
      <p:sp>
        <p:nvSpPr>
          <p:cNvPr id="87" name="Rectangle 86">
            <a:extLst>
              <a:ext uri="{FF2B5EF4-FFF2-40B4-BE49-F238E27FC236}">
                <a16:creationId xmlns:a16="http://schemas.microsoft.com/office/drawing/2014/main" id="{27166160-5592-6331-8D4E-DFD2261A8186}"/>
              </a:ext>
            </a:extLst>
          </p:cNvPr>
          <p:cNvSpPr/>
          <p:nvPr/>
        </p:nvSpPr>
        <p:spPr>
          <a:xfrm>
            <a:off x="8572500" y="4241800"/>
            <a:ext cx="1143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FFFDA6E0-DF9C-6DE7-1302-77F7C9221469}"/>
              </a:ext>
            </a:extLst>
          </p:cNvPr>
          <p:cNvSpPr txBox="1"/>
          <p:nvPr/>
        </p:nvSpPr>
        <p:spPr>
          <a:xfrm>
            <a:off x="8674100" y="43307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0</a:t>
            </a:r>
          </a:p>
        </p:txBody>
      </p:sp>
      <p:sp>
        <p:nvSpPr>
          <p:cNvPr id="89" name="Rectangle 88">
            <a:extLst>
              <a:ext uri="{FF2B5EF4-FFF2-40B4-BE49-F238E27FC236}">
                <a16:creationId xmlns:a16="http://schemas.microsoft.com/office/drawing/2014/main" id="{E99D7218-3530-8AD4-C3B0-0699DCDDA05A}"/>
              </a:ext>
            </a:extLst>
          </p:cNvPr>
          <p:cNvSpPr/>
          <p:nvPr/>
        </p:nvSpPr>
        <p:spPr>
          <a:xfrm>
            <a:off x="9715500" y="4241800"/>
            <a:ext cx="1866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ADEF6C97-FA88-28EB-8C0B-F28091661B62}"/>
              </a:ext>
            </a:extLst>
          </p:cNvPr>
          <p:cNvSpPr txBox="1"/>
          <p:nvPr/>
        </p:nvSpPr>
        <p:spPr>
          <a:xfrm>
            <a:off x="9817100" y="43307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100.0%</a:t>
            </a:r>
          </a:p>
        </p:txBody>
      </p:sp>
      <p:sp>
        <p:nvSpPr>
          <p:cNvPr id="91" name="Rectangle 90">
            <a:extLst>
              <a:ext uri="{FF2B5EF4-FFF2-40B4-BE49-F238E27FC236}">
                <a16:creationId xmlns:a16="http://schemas.microsoft.com/office/drawing/2014/main" id="{19E4AD80-DE60-D9CD-E38D-167B6E04D3D7}"/>
              </a:ext>
            </a:extLst>
          </p:cNvPr>
          <p:cNvSpPr/>
          <p:nvPr/>
        </p:nvSpPr>
        <p:spPr>
          <a:xfrm>
            <a:off x="609600" y="4597400"/>
            <a:ext cx="5168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46CBEE98-331C-4A62-2619-697CDF70BE39}"/>
              </a:ext>
            </a:extLst>
          </p:cNvPr>
          <p:cNvSpPr txBox="1"/>
          <p:nvPr/>
        </p:nvSpPr>
        <p:spPr>
          <a:xfrm>
            <a:off x="711200" y="46863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Multilingual and RTL</a:t>
            </a:r>
          </a:p>
        </p:txBody>
      </p:sp>
      <p:sp>
        <p:nvSpPr>
          <p:cNvPr id="93" name="Rectangle 92">
            <a:extLst>
              <a:ext uri="{FF2B5EF4-FFF2-40B4-BE49-F238E27FC236}">
                <a16:creationId xmlns:a16="http://schemas.microsoft.com/office/drawing/2014/main" id="{0052EC9D-1998-AFE3-434D-CB262C4849A0}"/>
              </a:ext>
            </a:extLst>
          </p:cNvPr>
          <p:cNvSpPr/>
          <p:nvPr/>
        </p:nvSpPr>
        <p:spPr>
          <a:xfrm>
            <a:off x="5778500" y="45974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4B2EB38E-9CEB-3F71-A04A-1599649634E5}"/>
              </a:ext>
            </a:extLst>
          </p:cNvPr>
          <p:cNvSpPr txBox="1"/>
          <p:nvPr/>
        </p:nvSpPr>
        <p:spPr>
          <a:xfrm>
            <a:off x="5880100" y="46863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18</a:t>
            </a:r>
          </a:p>
        </p:txBody>
      </p:sp>
      <p:sp>
        <p:nvSpPr>
          <p:cNvPr id="95" name="Rectangle 94">
            <a:extLst>
              <a:ext uri="{FF2B5EF4-FFF2-40B4-BE49-F238E27FC236}">
                <a16:creationId xmlns:a16="http://schemas.microsoft.com/office/drawing/2014/main" id="{D30983B3-1882-3F6F-9E87-238371FD43A6}"/>
              </a:ext>
            </a:extLst>
          </p:cNvPr>
          <p:cNvSpPr/>
          <p:nvPr/>
        </p:nvSpPr>
        <p:spPr>
          <a:xfrm>
            <a:off x="7175500" y="45974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576A7E8A-E6C2-C4E4-AFCC-B246AC92FAF2}"/>
              </a:ext>
            </a:extLst>
          </p:cNvPr>
          <p:cNvSpPr txBox="1"/>
          <p:nvPr/>
        </p:nvSpPr>
        <p:spPr>
          <a:xfrm>
            <a:off x="7277100" y="46863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18</a:t>
            </a:r>
          </a:p>
        </p:txBody>
      </p:sp>
      <p:sp>
        <p:nvSpPr>
          <p:cNvPr id="97" name="Rectangle 96">
            <a:extLst>
              <a:ext uri="{FF2B5EF4-FFF2-40B4-BE49-F238E27FC236}">
                <a16:creationId xmlns:a16="http://schemas.microsoft.com/office/drawing/2014/main" id="{03481D7C-C335-F2B8-0054-7E3D33FB40FF}"/>
              </a:ext>
            </a:extLst>
          </p:cNvPr>
          <p:cNvSpPr/>
          <p:nvPr/>
        </p:nvSpPr>
        <p:spPr>
          <a:xfrm>
            <a:off x="8572500" y="4597400"/>
            <a:ext cx="1143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a:extLst>
              <a:ext uri="{FF2B5EF4-FFF2-40B4-BE49-F238E27FC236}">
                <a16:creationId xmlns:a16="http://schemas.microsoft.com/office/drawing/2014/main" id="{7B2AD98E-6538-DD58-0EC2-9316D03AA41A}"/>
              </a:ext>
            </a:extLst>
          </p:cNvPr>
          <p:cNvSpPr txBox="1"/>
          <p:nvPr/>
        </p:nvSpPr>
        <p:spPr>
          <a:xfrm>
            <a:off x="8674100" y="46863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0</a:t>
            </a:r>
          </a:p>
        </p:txBody>
      </p:sp>
      <p:sp>
        <p:nvSpPr>
          <p:cNvPr id="99" name="Rectangle 98">
            <a:extLst>
              <a:ext uri="{FF2B5EF4-FFF2-40B4-BE49-F238E27FC236}">
                <a16:creationId xmlns:a16="http://schemas.microsoft.com/office/drawing/2014/main" id="{399A9EAD-EB1E-D71A-5C89-8DA7548471BA}"/>
              </a:ext>
            </a:extLst>
          </p:cNvPr>
          <p:cNvSpPr/>
          <p:nvPr/>
        </p:nvSpPr>
        <p:spPr>
          <a:xfrm>
            <a:off x="9715500" y="4597400"/>
            <a:ext cx="1866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63552A30-D750-C058-99E5-93DE891A9727}"/>
              </a:ext>
            </a:extLst>
          </p:cNvPr>
          <p:cNvSpPr txBox="1"/>
          <p:nvPr/>
        </p:nvSpPr>
        <p:spPr>
          <a:xfrm>
            <a:off x="9817100" y="46863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100.0%</a:t>
            </a:r>
          </a:p>
        </p:txBody>
      </p:sp>
      <p:sp>
        <p:nvSpPr>
          <p:cNvPr id="101" name="Rectangle 100">
            <a:extLst>
              <a:ext uri="{FF2B5EF4-FFF2-40B4-BE49-F238E27FC236}">
                <a16:creationId xmlns:a16="http://schemas.microsoft.com/office/drawing/2014/main" id="{728CD9A3-8820-02BE-81C7-FBEDEFA1E7D9}"/>
              </a:ext>
            </a:extLst>
          </p:cNvPr>
          <p:cNvSpPr/>
          <p:nvPr/>
        </p:nvSpPr>
        <p:spPr>
          <a:xfrm>
            <a:off x="609600" y="4953000"/>
            <a:ext cx="5168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TextBox 101">
            <a:extLst>
              <a:ext uri="{FF2B5EF4-FFF2-40B4-BE49-F238E27FC236}">
                <a16:creationId xmlns:a16="http://schemas.microsoft.com/office/drawing/2014/main" id="{3F0F24BF-7DBC-9ACC-DE33-BA31C406904F}"/>
              </a:ext>
            </a:extLst>
          </p:cNvPr>
          <p:cNvSpPr txBox="1"/>
          <p:nvPr/>
        </p:nvSpPr>
        <p:spPr>
          <a:xfrm>
            <a:off x="711200" y="50419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Browser and Device</a:t>
            </a:r>
          </a:p>
        </p:txBody>
      </p:sp>
      <p:sp>
        <p:nvSpPr>
          <p:cNvPr id="103" name="Rectangle 102">
            <a:extLst>
              <a:ext uri="{FF2B5EF4-FFF2-40B4-BE49-F238E27FC236}">
                <a16:creationId xmlns:a16="http://schemas.microsoft.com/office/drawing/2014/main" id="{8F875065-630E-057D-A692-61A1B1AC09EC}"/>
              </a:ext>
            </a:extLst>
          </p:cNvPr>
          <p:cNvSpPr/>
          <p:nvPr/>
        </p:nvSpPr>
        <p:spPr>
          <a:xfrm>
            <a:off x="5778500" y="49530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23D46855-8B44-7B4F-363F-392BCC6D8F3B}"/>
              </a:ext>
            </a:extLst>
          </p:cNvPr>
          <p:cNvSpPr txBox="1"/>
          <p:nvPr/>
        </p:nvSpPr>
        <p:spPr>
          <a:xfrm>
            <a:off x="5880100" y="50419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12</a:t>
            </a:r>
          </a:p>
        </p:txBody>
      </p:sp>
      <p:sp>
        <p:nvSpPr>
          <p:cNvPr id="105" name="Rectangle 104">
            <a:extLst>
              <a:ext uri="{FF2B5EF4-FFF2-40B4-BE49-F238E27FC236}">
                <a16:creationId xmlns:a16="http://schemas.microsoft.com/office/drawing/2014/main" id="{F1CC84AE-091C-0584-DEB3-7C686AD9DEC5}"/>
              </a:ext>
            </a:extLst>
          </p:cNvPr>
          <p:cNvSpPr/>
          <p:nvPr/>
        </p:nvSpPr>
        <p:spPr>
          <a:xfrm>
            <a:off x="7175500" y="4953000"/>
            <a:ext cx="1397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TextBox 105">
            <a:extLst>
              <a:ext uri="{FF2B5EF4-FFF2-40B4-BE49-F238E27FC236}">
                <a16:creationId xmlns:a16="http://schemas.microsoft.com/office/drawing/2014/main" id="{BC6A8227-918A-1D9C-AAB5-3892B2DB0010}"/>
              </a:ext>
            </a:extLst>
          </p:cNvPr>
          <p:cNvSpPr txBox="1"/>
          <p:nvPr/>
        </p:nvSpPr>
        <p:spPr>
          <a:xfrm>
            <a:off x="7277100" y="50419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12</a:t>
            </a:r>
          </a:p>
        </p:txBody>
      </p:sp>
      <p:sp>
        <p:nvSpPr>
          <p:cNvPr id="107" name="Rectangle 106">
            <a:extLst>
              <a:ext uri="{FF2B5EF4-FFF2-40B4-BE49-F238E27FC236}">
                <a16:creationId xmlns:a16="http://schemas.microsoft.com/office/drawing/2014/main" id="{A193FA17-7A8D-9324-83E6-BEE8FFC6A997}"/>
              </a:ext>
            </a:extLst>
          </p:cNvPr>
          <p:cNvSpPr/>
          <p:nvPr/>
        </p:nvSpPr>
        <p:spPr>
          <a:xfrm>
            <a:off x="8572500" y="4953000"/>
            <a:ext cx="11430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TextBox 107">
            <a:extLst>
              <a:ext uri="{FF2B5EF4-FFF2-40B4-BE49-F238E27FC236}">
                <a16:creationId xmlns:a16="http://schemas.microsoft.com/office/drawing/2014/main" id="{D9841FBB-2F69-B702-0A8F-7E7B790A9DA4}"/>
              </a:ext>
            </a:extLst>
          </p:cNvPr>
          <p:cNvSpPr txBox="1"/>
          <p:nvPr/>
        </p:nvSpPr>
        <p:spPr>
          <a:xfrm>
            <a:off x="8674100" y="50419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0</a:t>
            </a:r>
          </a:p>
        </p:txBody>
      </p:sp>
      <p:sp>
        <p:nvSpPr>
          <p:cNvPr id="109" name="Rectangle 108">
            <a:extLst>
              <a:ext uri="{FF2B5EF4-FFF2-40B4-BE49-F238E27FC236}">
                <a16:creationId xmlns:a16="http://schemas.microsoft.com/office/drawing/2014/main" id="{DF84D8C1-EA97-424F-6C48-52DE2899038D}"/>
              </a:ext>
            </a:extLst>
          </p:cNvPr>
          <p:cNvSpPr/>
          <p:nvPr/>
        </p:nvSpPr>
        <p:spPr>
          <a:xfrm>
            <a:off x="9715500" y="4953000"/>
            <a:ext cx="1866900" cy="3556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F18BB4C8-780A-0FDC-18C8-001D4D91CE1A}"/>
              </a:ext>
            </a:extLst>
          </p:cNvPr>
          <p:cNvSpPr txBox="1"/>
          <p:nvPr/>
        </p:nvSpPr>
        <p:spPr>
          <a:xfrm>
            <a:off x="9817100" y="50419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100.0%</a:t>
            </a:r>
          </a:p>
        </p:txBody>
      </p:sp>
      <p:sp>
        <p:nvSpPr>
          <p:cNvPr id="111" name="Rectangle 110">
            <a:extLst>
              <a:ext uri="{FF2B5EF4-FFF2-40B4-BE49-F238E27FC236}">
                <a16:creationId xmlns:a16="http://schemas.microsoft.com/office/drawing/2014/main" id="{26A3BC83-D8EE-4E20-B8DD-6FDE51876C9E}"/>
              </a:ext>
            </a:extLst>
          </p:cNvPr>
          <p:cNvSpPr/>
          <p:nvPr/>
        </p:nvSpPr>
        <p:spPr>
          <a:xfrm>
            <a:off x="609600" y="5308600"/>
            <a:ext cx="5168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TextBox 111">
            <a:extLst>
              <a:ext uri="{FF2B5EF4-FFF2-40B4-BE49-F238E27FC236}">
                <a16:creationId xmlns:a16="http://schemas.microsoft.com/office/drawing/2014/main" id="{844DA8BF-5C60-A974-DF50-9B0935F3B087}"/>
              </a:ext>
            </a:extLst>
          </p:cNvPr>
          <p:cNvSpPr txBox="1"/>
          <p:nvPr/>
        </p:nvSpPr>
        <p:spPr>
          <a:xfrm>
            <a:off x="711200" y="5397500"/>
            <a:ext cx="4965700" cy="132344"/>
          </a:xfrm>
          <a:prstGeom prst="rect">
            <a:avLst/>
          </a:prstGeom>
          <a:noFill/>
        </p:spPr>
        <p:txBody>
          <a:bodyPr vert="horz" wrap="square" lIns="0" tIns="0" rIns="0" bIns="0" rtlCol="0">
            <a:spAutoFit/>
          </a:bodyPr>
          <a:lstStyle/>
          <a:p>
            <a:r>
              <a:rPr lang="en-US" sz="860">
                <a:solidFill>
                  <a:srgbClr val="17243A"/>
                </a:solidFill>
                <a:latin typeface="Aptos" panose="020B0004020202020204" pitchFamily="34" charset="0"/>
              </a:rPr>
              <a:t>Performance and Reliability</a:t>
            </a:r>
          </a:p>
        </p:txBody>
      </p:sp>
      <p:sp>
        <p:nvSpPr>
          <p:cNvPr id="113" name="Rectangle 112">
            <a:extLst>
              <a:ext uri="{FF2B5EF4-FFF2-40B4-BE49-F238E27FC236}">
                <a16:creationId xmlns:a16="http://schemas.microsoft.com/office/drawing/2014/main" id="{CE7DB442-46F5-1333-6CF2-2B6FADB811FA}"/>
              </a:ext>
            </a:extLst>
          </p:cNvPr>
          <p:cNvSpPr/>
          <p:nvPr/>
        </p:nvSpPr>
        <p:spPr>
          <a:xfrm>
            <a:off x="5778500" y="53086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a:extLst>
              <a:ext uri="{FF2B5EF4-FFF2-40B4-BE49-F238E27FC236}">
                <a16:creationId xmlns:a16="http://schemas.microsoft.com/office/drawing/2014/main" id="{5DAA7641-A773-D42A-B20D-283804E43B14}"/>
              </a:ext>
            </a:extLst>
          </p:cNvPr>
          <p:cNvSpPr txBox="1"/>
          <p:nvPr/>
        </p:nvSpPr>
        <p:spPr>
          <a:xfrm>
            <a:off x="5880100" y="53975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27</a:t>
            </a:r>
          </a:p>
        </p:txBody>
      </p:sp>
      <p:sp>
        <p:nvSpPr>
          <p:cNvPr id="115" name="Rectangle 114">
            <a:extLst>
              <a:ext uri="{FF2B5EF4-FFF2-40B4-BE49-F238E27FC236}">
                <a16:creationId xmlns:a16="http://schemas.microsoft.com/office/drawing/2014/main" id="{276F3E81-D4BF-2ACA-BE5A-CDDD2C415475}"/>
              </a:ext>
            </a:extLst>
          </p:cNvPr>
          <p:cNvSpPr/>
          <p:nvPr/>
        </p:nvSpPr>
        <p:spPr>
          <a:xfrm>
            <a:off x="7175500" y="5308600"/>
            <a:ext cx="1397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TextBox 115">
            <a:extLst>
              <a:ext uri="{FF2B5EF4-FFF2-40B4-BE49-F238E27FC236}">
                <a16:creationId xmlns:a16="http://schemas.microsoft.com/office/drawing/2014/main" id="{15769B38-A039-A412-DAFC-9FB67EC27DCC}"/>
              </a:ext>
            </a:extLst>
          </p:cNvPr>
          <p:cNvSpPr txBox="1"/>
          <p:nvPr/>
        </p:nvSpPr>
        <p:spPr>
          <a:xfrm>
            <a:off x="7277100" y="5397500"/>
            <a:ext cx="1193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14</a:t>
            </a:r>
          </a:p>
        </p:txBody>
      </p:sp>
      <p:sp>
        <p:nvSpPr>
          <p:cNvPr id="117" name="Rectangle 116">
            <a:extLst>
              <a:ext uri="{FF2B5EF4-FFF2-40B4-BE49-F238E27FC236}">
                <a16:creationId xmlns:a16="http://schemas.microsoft.com/office/drawing/2014/main" id="{57BA4B6D-6D79-4585-1286-E8E43D307836}"/>
              </a:ext>
            </a:extLst>
          </p:cNvPr>
          <p:cNvSpPr/>
          <p:nvPr/>
        </p:nvSpPr>
        <p:spPr>
          <a:xfrm>
            <a:off x="8572500" y="5308600"/>
            <a:ext cx="11430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TextBox 117">
            <a:extLst>
              <a:ext uri="{FF2B5EF4-FFF2-40B4-BE49-F238E27FC236}">
                <a16:creationId xmlns:a16="http://schemas.microsoft.com/office/drawing/2014/main" id="{9FE431A5-6173-01D0-78A5-E374FE5C201C}"/>
              </a:ext>
            </a:extLst>
          </p:cNvPr>
          <p:cNvSpPr txBox="1"/>
          <p:nvPr/>
        </p:nvSpPr>
        <p:spPr>
          <a:xfrm>
            <a:off x="8674100" y="5397500"/>
            <a:ext cx="9398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13</a:t>
            </a:r>
          </a:p>
        </p:txBody>
      </p:sp>
      <p:sp>
        <p:nvSpPr>
          <p:cNvPr id="119" name="Rectangle 118">
            <a:extLst>
              <a:ext uri="{FF2B5EF4-FFF2-40B4-BE49-F238E27FC236}">
                <a16:creationId xmlns:a16="http://schemas.microsoft.com/office/drawing/2014/main" id="{62AFAC2F-E6EF-161F-D803-FB411BEE90C8}"/>
              </a:ext>
            </a:extLst>
          </p:cNvPr>
          <p:cNvSpPr/>
          <p:nvPr/>
        </p:nvSpPr>
        <p:spPr>
          <a:xfrm>
            <a:off x="9715500" y="5308600"/>
            <a:ext cx="1866900" cy="3556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TextBox 119">
            <a:extLst>
              <a:ext uri="{FF2B5EF4-FFF2-40B4-BE49-F238E27FC236}">
                <a16:creationId xmlns:a16="http://schemas.microsoft.com/office/drawing/2014/main" id="{B31155E6-F3C0-57EF-03A7-65892802E03C}"/>
              </a:ext>
            </a:extLst>
          </p:cNvPr>
          <p:cNvSpPr txBox="1"/>
          <p:nvPr/>
        </p:nvSpPr>
        <p:spPr>
          <a:xfrm>
            <a:off x="9817100" y="5397500"/>
            <a:ext cx="1663700" cy="132344"/>
          </a:xfrm>
          <a:prstGeom prst="rect">
            <a:avLst/>
          </a:prstGeom>
          <a:noFill/>
        </p:spPr>
        <p:txBody>
          <a:bodyPr vert="horz" wrap="square" lIns="0" tIns="0" rIns="0" bIns="0" rtlCol="0">
            <a:spAutoFit/>
          </a:bodyPr>
          <a:lstStyle/>
          <a:p>
            <a:pPr algn="ctr"/>
            <a:r>
              <a:rPr lang="en-US" sz="860">
                <a:solidFill>
                  <a:srgbClr val="17243A"/>
                </a:solidFill>
                <a:latin typeface="Aptos" panose="020B0004020202020204" pitchFamily="34" charset="0"/>
              </a:rPr>
              <a:t>51.9%</a:t>
            </a:r>
          </a:p>
        </p:txBody>
      </p:sp>
      <p:sp>
        <p:nvSpPr>
          <p:cNvPr id="121" name="Rectangle 120">
            <a:extLst>
              <a:ext uri="{FF2B5EF4-FFF2-40B4-BE49-F238E27FC236}">
                <a16:creationId xmlns:a16="http://schemas.microsoft.com/office/drawing/2014/main" id="{2A4B35E4-86C8-597D-05C5-C16C87139DE3}"/>
              </a:ext>
            </a:extLst>
          </p:cNvPr>
          <p:cNvSpPr/>
          <p:nvPr/>
        </p:nvSpPr>
        <p:spPr>
          <a:xfrm>
            <a:off x="609600" y="5664200"/>
            <a:ext cx="5168900" cy="355600"/>
          </a:xfrm>
          <a:prstGeom prst="rect">
            <a:avLst/>
          </a:prstGeom>
          <a:solidFill>
            <a:srgbClr val="E3EAF4"/>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TextBox 121">
            <a:extLst>
              <a:ext uri="{FF2B5EF4-FFF2-40B4-BE49-F238E27FC236}">
                <a16:creationId xmlns:a16="http://schemas.microsoft.com/office/drawing/2014/main" id="{EB9CCAE8-A269-C53C-80AB-B6277E527BDC}"/>
              </a:ext>
            </a:extLst>
          </p:cNvPr>
          <p:cNvSpPr txBox="1"/>
          <p:nvPr/>
        </p:nvSpPr>
        <p:spPr>
          <a:xfrm>
            <a:off x="711200" y="5753100"/>
            <a:ext cx="4965700" cy="132344"/>
          </a:xfrm>
          <a:prstGeom prst="rect">
            <a:avLst/>
          </a:prstGeom>
          <a:noFill/>
        </p:spPr>
        <p:txBody>
          <a:bodyPr vert="horz" wrap="square" lIns="0" tIns="0" rIns="0" bIns="0" rtlCol="0">
            <a:spAutoFit/>
          </a:bodyPr>
          <a:lstStyle/>
          <a:p>
            <a:r>
              <a:rPr lang="en-US" sz="860" b="1">
                <a:solidFill>
                  <a:srgbClr val="17243A"/>
                </a:solidFill>
                <a:latin typeface="Aptos" panose="020B0004020202020204" pitchFamily="34" charset="0"/>
              </a:rPr>
              <a:t>TOTAL</a:t>
            </a:r>
          </a:p>
        </p:txBody>
      </p:sp>
      <p:sp>
        <p:nvSpPr>
          <p:cNvPr id="123" name="Rectangle 122">
            <a:extLst>
              <a:ext uri="{FF2B5EF4-FFF2-40B4-BE49-F238E27FC236}">
                <a16:creationId xmlns:a16="http://schemas.microsoft.com/office/drawing/2014/main" id="{8CDCC13C-480C-460B-4CFE-86247B65F12E}"/>
              </a:ext>
            </a:extLst>
          </p:cNvPr>
          <p:cNvSpPr/>
          <p:nvPr/>
        </p:nvSpPr>
        <p:spPr>
          <a:xfrm>
            <a:off x="5778500" y="5664200"/>
            <a:ext cx="1397000" cy="355600"/>
          </a:xfrm>
          <a:prstGeom prst="rect">
            <a:avLst/>
          </a:prstGeom>
          <a:solidFill>
            <a:srgbClr val="E3EAF4"/>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TextBox 123">
            <a:extLst>
              <a:ext uri="{FF2B5EF4-FFF2-40B4-BE49-F238E27FC236}">
                <a16:creationId xmlns:a16="http://schemas.microsoft.com/office/drawing/2014/main" id="{07736BDA-5B5E-953F-50D7-B5C884CD02CB}"/>
              </a:ext>
            </a:extLst>
          </p:cNvPr>
          <p:cNvSpPr txBox="1"/>
          <p:nvPr/>
        </p:nvSpPr>
        <p:spPr>
          <a:xfrm>
            <a:off x="5880100" y="5753100"/>
            <a:ext cx="1193800" cy="132344"/>
          </a:xfrm>
          <a:prstGeom prst="rect">
            <a:avLst/>
          </a:prstGeom>
          <a:noFill/>
        </p:spPr>
        <p:txBody>
          <a:bodyPr vert="horz" wrap="square" lIns="0" tIns="0" rIns="0" bIns="0" rtlCol="0">
            <a:spAutoFit/>
          </a:bodyPr>
          <a:lstStyle/>
          <a:p>
            <a:pPr algn="ctr"/>
            <a:r>
              <a:rPr lang="en-US" sz="860" b="1">
                <a:solidFill>
                  <a:srgbClr val="17243A"/>
                </a:solidFill>
                <a:latin typeface="Aptos" panose="020B0004020202020204" pitchFamily="34" charset="0"/>
              </a:rPr>
              <a:t>310</a:t>
            </a:r>
          </a:p>
        </p:txBody>
      </p:sp>
      <p:sp>
        <p:nvSpPr>
          <p:cNvPr id="125" name="Rectangle 124">
            <a:extLst>
              <a:ext uri="{FF2B5EF4-FFF2-40B4-BE49-F238E27FC236}">
                <a16:creationId xmlns:a16="http://schemas.microsoft.com/office/drawing/2014/main" id="{1442B1BF-838F-01CD-42E7-ED0BD0448BE8}"/>
              </a:ext>
            </a:extLst>
          </p:cNvPr>
          <p:cNvSpPr/>
          <p:nvPr/>
        </p:nvSpPr>
        <p:spPr>
          <a:xfrm>
            <a:off x="7175500" y="5664200"/>
            <a:ext cx="1397000" cy="355600"/>
          </a:xfrm>
          <a:prstGeom prst="rect">
            <a:avLst/>
          </a:prstGeom>
          <a:solidFill>
            <a:srgbClr val="E3EAF4"/>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TextBox 125">
            <a:extLst>
              <a:ext uri="{FF2B5EF4-FFF2-40B4-BE49-F238E27FC236}">
                <a16:creationId xmlns:a16="http://schemas.microsoft.com/office/drawing/2014/main" id="{7704B6BD-E1B6-B20B-77AA-277B3EC6A604}"/>
              </a:ext>
            </a:extLst>
          </p:cNvPr>
          <p:cNvSpPr txBox="1"/>
          <p:nvPr/>
        </p:nvSpPr>
        <p:spPr>
          <a:xfrm>
            <a:off x="7277100" y="5753100"/>
            <a:ext cx="1193800" cy="132344"/>
          </a:xfrm>
          <a:prstGeom prst="rect">
            <a:avLst/>
          </a:prstGeom>
          <a:noFill/>
        </p:spPr>
        <p:txBody>
          <a:bodyPr vert="horz" wrap="square" lIns="0" tIns="0" rIns="0" bIns="0" rtlCol="0">
            <a:spAutoFit/>
          </a:bodyPr>
          <a:lstStyle/>
          <a:p>
            <a:pPr algn="ctr"/>
            <a:r>
              <a:rPr lang="en-US" sz="860" b="1">
                <a:solidFill>
                  <a:srgbClr val="17243A"/>
                </a:solidFill>
                <a:latin typeface="Aptos" panose="020B0004020202020204" pitchFamily="34" charset="0"/>
              </a:rPr>
              <a:t>289</a:t>
            </a:r>
          </a:p>
        </p:txBody>
      </p:sp>
      <p:sp>
        <p:nvSpPr>
          <p:cNvPr id="127" name="Rectangle 126">
            <a:extLst>
              <a:ext uri="{FF2B5EF4-FFF2-40B4-BE49-F238E27FC236}">
                <a16:creationId xmlns:a16="http://schemas.microsoft.com/office/drawing/2014/main" id="{5A358A1D-9452-58DB-7CA3-9452A58BE42B}"/>
              </a:ext>
            </a:extLst>
          </p:cNvPr>
          <p:cNvSpPr/>
          <p:nvPr/>
        </p:nvSpPr>
        <p:spPr>
          <a:xfrm>
            <a:off x="8572500" y="5664200"/>
            <a:ext cx="1143000" cy="355600"/>
          </a:xfrm>
          <a:prstGeom prst="rect">
            <a:avLst/>
          </a:prstGeom>
          <a:solidFill>
            <a:srgbClr val="E3EAF4"/>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E648EC92-265C-43D9-B818-EF07DC2577A8}"/>
              </a:ext>
            </a:extLst>
          </p:cNvPr>
          <p:cNvSpPr txBox="1"/>
          <p:nvPr/>
        </p:nvSpPr>
        <p:spPr>
          <a:xfrm>
            <a:off x="8674100" y="5753100"/>
            <a:ext cx="939800" cy="132344"/>
          </a:xfrm>
          <a:prstGeom prst="rect">
            <a:avLst/>
          </a:prstGeom>
          <a:noFill/>
        </p:spPr>
        <p:txBody>
          <a:bodyPr vert="horz" wrap="square" lIns="0" tIns="0" rIns="0" bIns="0" rtlCol="0">
            <a:spAutoFit/>
          </a:bodyPr>
          <a:lstStyle/>
          <a:p>
            <a:pPr algn="ctr"/>
            <a:r>
              <a:rPr lang="en-US" sz="860" b="1">
                <a:solidFill>
                  <a:srgbClr val="17243A"/>
                </a:solidFill>
                <a:latin typeface="Aptos" panose="020B0004020202020204" pitchFamily="34" charset="0"/>
              </a:rPr>
              <a:t>21</a:t>
            </a:r>
          </a:p>
        </p:txBody>
      </p:sp>
      <p:sp>
        <p:nvSpPr>
          <p:cNvPr id="129" name="Rectangle 128">
            <a:extLst>
              <a:ext uri="{FF2B5EF4-FFF2-40B4-BE49-F238E27FC236}">
                <a16:creationId xmlns:a16="http://schemas.microsoft.com/office/drawing/2014/main" id="{685F50EB-F62B-6350-6E05-5861C9D4C68A}"/>
              </a:ext>
            </a:extLst>
          </p:cNvPr>
          <p:cNvSpPr/>
          <p:nvPr/>
        </p:nvSpPr>
        <p:spPr>
          <a:xfrm>
            <a:off x="9715500" y="5664200"/>
            <a:ext cx="1866900" cy="355600"/>
          </a:xfrm>
          <a:prstGeom prst="rect">
            <a:avLst/>
          </a:prstGeom>
          <a:solidFill>
            <a:srgbClr val="E3EAF4"/>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TextBox 129">
            <a:extLst>
              <a:ext uri="{FF2B5EF4-FFF2-40B4-BE49-F238E27FC236}">
                <a16:creationId xmlns:a16="http://schemas.microsoft.com/office/drawing/2014/main" id="{DE1A15D0-75D0-6295-2EC0-CD2CA15A8B10}"/>
              </a:ext>
            </a:extLst>
          </p:cNvPr>
          <p:cNvSpPr txBox="1"/>
          <p:nvPr/>
        </p:nvSpPr>
        <p:spPr>
          <a:xfrm>
            <a:off x="9817100" y="5753100"/>
            <a:ext cx="1663700" cy="132344"/>
          </a:xfrm>
          <a:prstGeom prst="rect">
            <a:avLst/>
          </a:prstGeom>
          <a:noFill/>
        </p:spPr>
        <p:txBody>
          <a:bodyPr vert="horz" wrap="square" lIns="0" tIns="0" rIns="0" bIns="0" rtlCol="0">
            <a:spAutoFit/>
          </a:bodyPr>
          <a:lstStyle/>
          <a:p>
            <a:pPr algn="ctr"/>
            <a:r>
              <a:rPr lang="en-US" sz="860" b="1">
                <a:solidFill>
                  <a:srgbClr val="17243A"/>
                </a:solidFill>
                <a:latin typeface="Aptos" panose="020B0004020202020204" pitchFamily="34" charset="0"/>
              </a:rPr>
              <a:t>93.2%</a:t>
            </a:r>
          </a:p>
        </p:txBody>
      </p:sp>
      <p:sp>
        <p:nvSpPr>
          <p:cNvPr id="131" name="TextBox 130">
            <a:extLst>
              <a:ext uri="{FF2B5EF4-FFF2-40B4-BE49-F238E27FC236}">
                <a16:creationId xmlns:a16="http://schemas.microsoft.com/office/drawing/2014/main" id="{CE2A0878-00C5-5652-9F3F-870DBE0D6C92}"/>
              </a:ext>
            </a:extLst>
          </p:cNvPr>
          <p:cNvSpPr txBox="1"/>
          <p:nvPr/>
        </p:nvSpPr>
        <p:spPr>
          <a:xfrm>
            <a:off x="1016000" y="6096000"/>
            <a:ext cx="10160000" cy="127727"/>
          </a:xfrm>
          <a:prstGeom prst="rect">
            <a:avLst/>
          </a:prstGeom>
          <a:noFill/>
        </p:spPr>
        <p:txBody>
          <a:bodyPr vert="horz" wrap="square" lIns="0" tIns="0" rIns="0" bIns="0" rtlCol="0">
            <a:spAutoFit/>
          </a:bodyPr>
          <a:lstStyle/>
          <a:p>
            <a:pPr algn="ctr"/>
            <a:r>
              <a:rPr lang="en-US" sz="830">
                <a:solidFill>
                  <a:srgbClr val="5D6B80"/>
                </a:solidFill>
                <a:latin typeface="Aptos" panose="020B0004020202020204" pitchFamily="34" charset="0"/>
              </a:rPr>
              <a:t>First run: 274 pass, 15 partial noisy-transcription cases and 21 fail. The 15 partials passed after repetition or manual correction.</a:t>
            </a:r>
          </a:p>
        </p:txBody>
      </p:sp>
    </p:spTree>
    <p:extLst>
      <p:ext uri="{BB962C8B-B14F-4D97-AF65-F5344CB8AC3E}">
        <p14:creationId xmlns:p14="http://schemas.microsoft.com/office/powerpoint/2010/main" val="25228524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5481E47-1BD4-61F4-7600-41E5F40F2941}"/>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70D2403-669A-9DD9-6A57-FC3925C72995}"/>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APPENDIX B</a:t>
            </a:r>
          </a:p>
        </p:txBody>
      </p:sp>
      <p:sp>
        <p:nvSpPr>
          <p:cNvPr id="4" name="TextBox 3">
            <a:extLst>
              <a:ext uri="{FF2B5EF4-FFF2-40B4-BE49-F238E27FC236}">
                <a16:creationId xmlns:a16="http://schemas.microsoft.com/office/drawing/2014/main" id="{920F8E9C-389F-1611-7D58-1471E1F0670A}"/>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Selected WCAG 2.1 AA evidence mapping</a:t>
            </a:r>
          </a:p>
        </p:txBody>
      </p:sp>
      <p:sp>
        <p:nvSpPr>
          <p:cNvPr id="5" name="TextBox 4">
            <a:extLst>
              <a:ext uri="{FF2B5EF4-FFF2-40B4-BE49-F238E27FC236}">
                <a16:creationId xmlns:a16="http://schemas.microsoft.com/office/drawing/2014/main" id="{456E4F29-C014-E03B-103F-F61B46A2304F}"/>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Representative criteria; the complete matrix remains in the report and WCAG audit evidence.</a:t>
            </a:r>
          </a:p>
        </p:txBody>
      </p:sp>
      <p:pic>
        <p:nvPicPr>
          <p:cNvPr id="7" name="Picture 6" descr="Universite Saint-Joseph and ESIB mark">
            <a:extLst>
              <a:ext uri="{FF2B5EF4-FFF2-40B4-BE49-F238E27FC236}">
                <a16:creationId xmlns:a16="http://schemas.microsoft.com/office/drawing/2014/main" id="{07D6A71B-1051-F62B-DD89-AA1A43014B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039168D0-EB88-9788-641A-B49CC4E1F908}"/>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99EA57A6-95C8-8A4B-1453-4D420BDF19DF}"/>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D9E699B9-6A57-FDB3-77EA-0A71EFC1F9D0}"/>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30</a:t>
            </a:r>
          </a:p>
        </p:txBody>
      </p:sp>
      <p:sp>
        <p:nvSpPr>
          <p:cNvPr id="11" name="Rectangle 10">
            <a:extLst>
              <a:ext uri="{FF2B5EF4-FFF2-40B4-BE49-F238E27FC236}">
                <a16:creationId xmlns:a16="http://schemas.microsoft.com/office/drawing/2014/main" id="{B5D912CF-C578-CFD1-A00C-742A69DA387A}"/>
              </a:ext>
            </a:extLst>
          </p:cNvPr>
          <p:cNvSpPr/>
          <p:nvPr/>
        </p:nvSpPr>
        <p:spPr>
          <a:xfrm>
            <a:off x="609600" y="1841500"/>
            <a:ext cx="1676400" cy="4064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8FDFA9B-82DD-D967-3D58-496362D9E005}"/>
              </a:ext>
            </a:extLst>
          </p:cNvPr>
          <p:cNvSpPr/>
          <p:nvPr/>
        </p:nvSpPr>
        <p:spPr>
          <a:xfrm>
            <a:off x="2286000" y="1841500"/>
            <a:ext cx="3048000" cy="4064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D88E599-D887-6150-6F1B-2828FDC4AAAA}"/>
              </a:ext>
            </a:extLst>
          </p:cNvPr>
          <p:cNvSpPr/>
          <p:nvPr/>
        </p:nvSpPr>
        <p:spPr>
          <a:xfrm>
            <a:off x="5334000" y="1841500"/>
            <a:ext cx="6248400" cy="406400"/>
          </a:xfrm>
          <a:prstGeom prst="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7876375-A8BD-ABB9-7F1B-FE5607F087FA}"/>
              </a:ext>
            </a:extLst>
          </p:cNvPr>
          <p:cNvSpPr txBox="1"/>
          <p:nvPr/>
        </p:nvSpPr>
        <p:spPr>
          <a:xfrm>
            <a:off x="711200" y="1955800"/>
            <a:ext cx="1473200" cy="123111"/>
          </a:xfrm>
          <a:prstGeom prst="rect">
            <a:avLst/>
          </a:prstGeom>
          <a:noFill/>
        </p:spPr>
        <p:txBody>
          <a:bodyPr vert="horz" wrap="square" lIns="0" tIns="0" rIns="0" bIns="0" rtlCol="0">
            <a:spAutoFit/>
          </a:bodyPr>
          <a:lstStyle/>
          <a:p>
            <a:pPr algn="ctr"/>
            <a:r>
              <a:rPr lang="en-US" sz="800" b="1">
                <a:solidFill>
                  <a:srgbClr val="FFFFFF"/>
                </a:solidFill>
                <a:latin typeface="Aptos" panose="020B0004020202020204" pitchFamily="34" charset="0"/>
              </a:rPr>
              <a:t>CRITERION</a:t>
            </a:r>
          </a:p>
        </p:txBody>
      </p:sp>
      <p:sp>
        <p:nvSpPr>
          <p:cNvPr id="15" name="TextBox 14">
            <a:extLst>
              <a:ext uri="{FF2B5EF4-FFF2-40B4-BE49-F238E27FC236}">
                <a16:creationId xmlns:a16="http://schemas.microsoft.com/office/drawing/2014/main" id="{8522A803-B097-8DCE-1889-963886EA96BF}"/>
              </a:ext>
            </a:extLst>
          </p:cNvPr>
          <p:cNvSpPr txBox="1"/>
          <p:nvPr/>
        </p:nvSpPr>
        <p:spPr>
          <a:xfrm>
            <a:off x="2387600" y="1955800"/>
            <a:ext cx="2844800" cy="123111"/>
          </a:xfrm>
          <a:prstGeom prst="rect">
            <a:avLst/>
          </a:prstGeom>
          <a:noFill/>
        </p:spPr>
        <p:txBody>
          <a:bodyPr vert="horz" wrap="square" lIns="0" tIns="0" rIns="0" bIns="0" rtlCol="0">
            <a:spAutoFit/>
          </a:bodyPr>
          <a:lstStyle/>
          <a:p>
            <a:pPr algn="ctr"/>
            <a:r>
              <a:rPr lang="en-US" sz="800" b="1">
                <a:solidFill>
                  <a:srgbClr val="FFFFFF"/>
                </a:solidFill>
                <a:latin typeface="Aptos" panose="020B0004020202020204" pitchFamily="34" charset="0"/>
              </a:rPr>
              <a:t>REQUIREMENT</a:t>
            </a:r>
          </a:p>
        </p:txBody>
      </p:sp>
      <p:sp>
        <p:nvSpPr>
          <p:cNvPr id="16" name="TextBox 15">
            <a:extLst>
              <a:ext uri="{FF2B5EF4-FFF2-40B4-BE49-F238E27FC236}">
                <a16:creationId xmlns:a16="http://schemas.microsoft.com/office/drawing/2014/main" id="{E1E54F31-102D-3B02-0C0F-1F227A704DB4}"/>
              </a:ext>
            </a:extLst>
          </p:cNvPr>
          <p:cNvSpPr txBox="1"/>
          <p:nvPr/>
        </p:nvSpPr>
        <p:spPr>
          <a:xfrm>
            <a:off x="5435600" y="1955800"/>
            <a:ext cx="6045200" cy="123111"/>
          </a:xfrm>
          <a:prstGeom prst="rect">
            <a:avLst/>
          </a:prstGeom>
          <a:noFill/>
        </p:spPr>
        <p:txBody>
          <a:bodyPr vert="horz" wrap="square" lIns="0" tIns="0" rIns="0" bIns="0" rtlCol="0">
            <a:spAutoFit/>
          </a:bodyPr>
          <a:lstStyle/>
          <a:p>
            <a:pPr algn="ctr"/>
            <a:r>
              <a:rPr lang="en-US" sz="800" b="1">
                <a:solidFill>
                  <a:srgbClr val="FFFFFF"/>
                </a:solidFill>
                <a:latin typeface="Aptos" panose="020B0004020202020204" pitchFamily="34" charset="0"/>
              </a:rPr>
              <a:t>PLATFORM EVIDENCE / BOUNDARY</a:t>
            </a:r>
          </a:p>
        </p:txBody>
      </p:sp>
      <p:sp>
        <p:nvSpPr>
          <p:cNvPr id="17" name="Rectangle 16">
            <a:extLst>
              <a:ext uri="{FF2B5EF4-FFF2-40B4-BE49-F238E27FC236}">
                <a16:creationId xmlns:a16="http://schemas.microsoft.com/office/drawing/2014/main" id="{CFD7CCA9-7D77-8795-5861-1BCA39B08D5B}"/>
              </a:ext>
            </a:extLst>
          </p:cNvPr>
          <p:cNvSpPr/>
          <p:nvPr/>
        </p:nvSpPr>
        <p:spPr>
          <a:xfrm>
            <a:off x="609600" y="2247900"/>
            <a:ext cx="16764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B45C340-636F-BB31-4F3E-6D56E57F3E3B}"/>
              </a:ext>
            </a:extLst>
          </p:cNvPr>
          <p:cNvSpPr txBox="1"/>
          <p:nvPr/>
        </p:nvSpPr>
        <p:spPr>
          <a:xfrm>
            <a:off x="711200" y="2336800"/>
            <a:ext cx="1473200" cy="126188"/>
          </a:xfrm>
          <a:prstGeom prst="rect">
            <a:avLst/>
          </a:prstGeom>
          <a:noFill/>
        </p:spPr>
        <p:txBody>
          <a:bodyPr vert="horz" wrap="square" lIns="0" tIns="0" rIns="0" bIns="0" rtlCol="0">
            <a:spAutoFit/>
          </a:bodyPr>
          <a:lstStyle/>
          <a:p>
            <a:r>
              <a:rPr lang="en-US" sz="820" b="1">
                <a:solidFill>
                  <a:srgbClr val="17243A"/>
                </a:solidFill>
                <a:latin typeface="Aptos" panose="020B0004020202020204" pitchFamily="34" charset="0"/>
              </a:rPr>
              <a:t>1.1.1 / 1.3.1</a:t>
            </a:r>
          </a:p>
        </p:txBody>
      </p:sp>
      <p:sp>
        <p:nvSpPr>
          <p:cNvPr id="19" name="Rectangle 18">
            <a:extLst>
              <a:ext uri="{FF2B5EF4-FFF2-40B4-BE49-F238E27FC236}">
                <a16:creationId xmlns:a16="http://schemas.microsoft.com/office/drawing/2014/main" id="{D5B2623F-50A9-866A-7EBD-16AFBABA74C2}"/>
              </a:ext>
            </a:extLst>
          </p:cNvPr>
          <p:cNvSpPr/>
          <p:nvPr/>
        </p:nvSpPr>
        <p:spPr>
          <a:xfrm>
            <a:off x="2286000" y="2247900"/>
            <a:ext cx="30480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53AB1F01-AC0F-8A5C-E7E1-5EE8464F3DD1}"/>
              </a:ext>
            </a:extLst>
          </p:cNvPr>
          <p:cNvSpPr txBox="1"/>
          <p:nvPr/>
        </p:nvSpPr>
        <p:spPr>
          <a:xfrm>
            <a:off x="2387600" y="2336800"/>
            <a:ext cx="28448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Text alternatives; information and relationships</a:t>
            </a:r>
          </a:p>
        </p:txBody>
      </p:sp>
      <p:sp>
        <p:nvSpPr>
          <p:cNvPr id="21" name="Rectangle 20">
            <a:extLst>
              <a:ext uri="{FF2B5EF4-FFF2-40B4-BE49-F238E27FC236}">
                <a16:creationId xmlns:a16="http://schemas.microsoft.com/office/drawing/2014/main" id="{E11A8BC1-C318-5F57-4A25-E88584B089A9}"/>
              </a:ext>
            </a:extLst>
          </p:cNvPr>
          <p:cNvSpPr/>
          <p:nvPr/>
        </p:nvSpPr>
        <p:spPr>
          <a:xfrm>
            <a:off x="5334000" y="2247900"/>
            <a:ext cx="62484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C3D3DC1-1452-7377-2365-B68A77F87827}"/>
              </a:ext>
            </a:extLst>
          </p:cNvPr>
          <p:cNvSpPr txBox="1"/>
          <p:nvPr/>
        </p:nvSpPr>
        <p:spPr>
          <a:xfrm>
            <a:off x="5435600" y="2336800"/>
            <a:ext cx="60452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Semantic headings, labels, descriptions and image alternatives</a:t>
            </a:r>
          </a:p>
        </p:txBody>
      </p:sp>
      <p:sp>
        <p:nvSpPr>
          <p:cNvPr id="23" name="Rectangle 22">
            <a:extLst>
              <a:ext uri="{FF2B5EF4-FFF2-40B4-BE49-F238E27FC236}">
                <a16:creationId xmlns:a16="http://schemas.microsoft.com/office/drawing/2014/main" id="{6997C799-6307-E6BA-2BF8-FFCD88B372C1}"/>
              </a:ext>
            </a:extLst>
          </p:cNvPr>
          <p:cNvSpPr/>
          <p:nvPr/>
        </p:nvSpPr>
        <p:spPr>
          <a:xfrm>
            <a:off x="609600" y="2717800"/>
            <a:ext cx="16764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02BA39D-A29C-0B7D-E9D9-A2787978CE95}"/>
              </a:ext>
            </a:extLst>
          </p:cNvPr>
          <p:cNvSpPr txBox="1"/>
          <p:nvPr/>
        </p:nvSpPr>
        <p:spPr>
          <a:xfrm>
            <a:off x="711200" y="2806700"/>
            <a:ext cx="1473200" cy="126188"/>
          </a:xfrm>
          <a:prstGeom prst="rect">
            <a:avLst/>
          </a:prstGeom>
          <a:noFill/>
        </p:spPr>
        <p:txBody>
          <a:bodyPr vert="horz" wrap="square" lIns="0" tIns="0" rIns="0" bIns="0" rtlCol="0">
            <a:spAutoFit/>
          </a:bodyPr>
          <a:lstStyle/>
          <a:p>
            <a:r>
              <a:rPr lang="en-US" sz="820" b="1">
                <a:solidFill>
                  <a:srgbClr val="17243A"/>
                </a:solidFill>
                <a:latin typeface="Aptos" panose="020B0004020202020204" pitchFamily="34" charset="0"/>
              </a:rPr>
              <a:t>1.4.3</a:t>
            </a:r>
          </a:p>
        </p:txBody>
      </p:sp>
      <p:sp>
        <p:nvSpPr>
          <p:cNvPr id="25" name="Rectangle 24">
            <a:extLst>
              <a:ext uri="{FF2B5EF4-FFF2-40B4-BE49-F238E27FC236}">
                <a16:creationId xmlns:a16="http://schemas.microsoft.com/office/drawing/2014/main" id="{F2F632C1-721E-CCCC-F2BE-F24FCBBC06F6}"/>
              </a:ext>
            </a:extLst>
          </p:cNvPr>
          <p:cNvSpPr/>
          <p:nvPr/>
        </p:nvSpPr>
        <p:spPr>
          <a:xfrm>
            <a:off x="2286000" y="2717800"/>
            <a:ext cx="30480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6B80B692-FAA8-A21A-AA05-CBBD3F189430}"/>
              </a:ext>
            </a:extLst>
          </p:cNvPr>
          <p:cNvSpPr txBox="1"/>
          <p:nvPr/>
        </p:nvSpPr>
        <p:spPr>
          <a:xfrm>
            <a:off x="2387600" y="2806700"/>
            <a:ext cx="28448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Contrast (minimum)</a:t>
            </a:r>
          </a:p>
        </p:txBody>
      </p:sp>
      <p:sp>
        <p:nvSpPr>
          <p:cNvPr id="27" name="Rectangle 26">
            <a:extLst>
              <a:ext uri="{FF2B5EF4-FFF2-40B4-BE49-F238E27FC236}">
                <a16:creationId xmlns:a16="http://schemas.microsoft.com/office/drawing/2014/main" id="{B1E37CBD-DD3B-1AB9-6BA3-7C6989361C16}"/>
              </a:ext>
            </a:extLst>
          </p:cNvPr>
          <p:cNvSpPr/>
          <p:nvPr/>
        </p:nvSpPr>
        <p:spPr>
          <a:xfrm>
            <a:off x="5334000" y="2717800"/>
            <a:ext cx="62484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BE9B23A-A8EA-792B-C973-6C3DD1043726}"/>
              </a:ext>
            </a:extLst>
          </p:cNvPr>
          <p:cNvSpPr txBox="1"/>
          <p:nvPr/>
        </p:nvSpPr>
        <p:spPr>
          <a:xfrm>
            <a:off x="5435600" y="2806700"/>
            <a:ext cx="60452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Implemented generally; helper-text contrast finding remains open</a:t>
            </a:r>
          </a:p>
        </p:txBody>
      </p:sp>
      <p:sp>
        <p:nvSpPr>
          <p:cNvPr id="29" name="Rectangle 28">
            <a:extLst>
              <a:ext uri="{FF2B5EF4-FFF2-40B4-BE49-F238E27FC236}">
                <a16:creationId xmlns:a16="http://schemas.microsoft.com/office/drawing/2014/main" id="{93757617-3B06-200A-6E89-0FECA1ED6A79}"/>
              </a:ext>
            </a:extLst>
          </p:cNvPr>
          <p:cNvSpPr/>
          <p:nvPr/>
        </p:nvSpPr>
        <p:spPr>
          <a:xfrm>
            <a:off x="609600" y="3187700"/>
            <a:ext cx="16764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597F7135-8B6F-74AE-2B88-A4B199F72C95}"/>
              </a:ext>
            </a:extLst>
          </p:cNvPr>
          <p:cNvSpPr txBox="1"/>
          <p:nvPr/>
        </p:nvSpPr>
        <p:spPr>
          <a:xfrm>
            <a:off x="711200" y="3276600"/>
            <a:ext cx="1473200" cy="126188"/>
          </a:xfrm>
          <a:prstGeom prst="rect">
            <a:avLst/>
          </a:prstGeom>
          <a:noFill/>
        </p:spPr>
        <p:txBody>
          <a:bodyPr vert="horz" wrap="square" lIns="0" tIns="0" rIns="0" bIns="0" rtlCol="0">
            <a:spAutoFit/>
          </a:bodyPr>
          <a:lstStyle/>
          <a:p>
            <a:r>
              <a:rPr lang="en-US" sz="820" b="1">
                <a:solidFill>
                  <a:srgbClr val="17243A"/>
                </a:solidFill>
                <a:latin typeface="Aptos" panose="020B0004020202020204" pitchFamily="34" charset="0"/>
              </a:rPr>
              <a:t>1.4.10 / 1.4.12</a:t>
            </a:r>
          </a:p>
        </p:txBody>
      </p:sp>
      <p:sp>
        <p:nvSpPr>
          <p:cNvPr id="31" name="Rectangle 30">
            <a:extLst>
              <a:ext uri="{FF2B5EF4-FFF2-40B4-BE49-F238E27FC236}">
                <a16:creationId xmlns:a16="http://schemas.microsoft.com/office/drawing/2014/main" id="{799E19EE-AD71-BF98-74E3-03D5D17B4065}"/>
              </a:ext>
            </a:extLst>
          </p:cNvPr>
          <p:cNvSpPr/>
          <p:nvPr/>
        </p:nvSpPr>
        <p:spPr>
          <a:xfrm>
            <a:off x="2286000" y="3187700"/>
            <a:ext cx="30480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F0973AF1-6706-DC12-C945-E88174AFFABF}"/>
              </a:ext>
            </a:extLst>
          </p:cNvPr>
          <p:cNvSpPr txBox="1"/>
          <p:nvPr/>
        </p:nvSpPr>
        <p:spPr>
          <a:xfrm>
            <a:off x="2387600" y="3276600"/>
            <a:ext cx="28448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Reflow and text spacing</a:t>
            </a:r>
          </a:p>
        </p:txBody>
      </p:sp>
      <p:sp>
        <p:nvSpPr>
          <p:cNvPr id="33" name="Rectangle 32">
            <a:extLst>
              <a:ext uri="{FF2B5EF4-FFF2-40B4-BE49-F238E27FC236}">
                <a16:creationId xmlns:a16="http://schemas.microsoft.com/office/drawing/2014/main" id="{C546E8D4-944F-DF48-81E0-3E1D4B1E18FE}"/>
              </a:ext>
            </a:extLst>
          </p:cNvPr>
          <p:cNvSpPr/>
          <p:nvPr/>
        </p:nvSpPr>
        <p:spPr>
          <a:xfrm>
            <a:off x="5334000" y="3187700"/>
            <a:ext cx="62484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6388E150-2CE6-9EBD-FE19-7DDF3ED157F0}"/>
              </a:ext>
            </a:extLst>
          </p:cNvPr>
          <p:cNvSpPr txBox="1"/>
          <p:nvPr/>
        </p:nvSpPr>
        <p:spPr>
          <a:xfrm>
            <a:off x="5435600" y="3276600"/>
            <a:ext cx="60452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320-1440 px and spacing tests; two high-zoom overflow cases retained</a:t>
            </a:r>
          </a:p>
        </p:txBody>
      </p:sp>
      <p:sp>
        <p:nvSpPr>
          <p:cNvPr id="35" name="Rectangle 34">
            <a:extLst>
              <a:ext uri="{FF2B5EF4-FFF2-40B4-BE49-F238E27FC236}">
                <a16:creationId xmlns:a16="http://schemas.microsoft.com/office/drawing/2014/main" id="{9317A29F-C365-F9FA-6A42-A89154BB1DE8}"/>
              </a:ext>
            </a:extLst>
          </p:cNvPr>
          <p:cNvSpPr/>
          <p:nvPr/>
        </p:nvSpPr>
        <p:spPr>
          <a:xfrm>
            <a:off x="609600" y="3657600"/>
            <a:ext cx="16764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0AF3C18A-6FC1-7876-2329-97BE93D124A9}"/>
              </a:ext>
            </a:extLst>
          </p:cNvPr>
          <p:cNvSpPr txBox="1"/>
          <p:nvPr/>
        </p:nvSpPr>
        <p:spPr>
          <a:xfrm>
            <a:off x="711200" y="3746500"/>
            <a:ext cx="1473200" cy="126188"/>
          </a:xfrm>
          <a:prstGeom prst="rect">
            <a:avLst/>
          </a:prstGeom>
          <a:noFill/>
        </p:spPr>
        <p:txBody>
          <a:bodyPr vert="horz" wrap="square" lIns="0" tIns="0" rIns="0" bIns="0" rtlCol="0">
            <a:spAutoFit/>
          </a:bodyPr>
          <a:lstStyle/>
          <a:p>
            <a:r>
              <a:rPr lang="en-US" sz="820" b="1">
                <a:solidFill>
                  <a:srgbClr val="17243A"/>
                </a:solidFill>
                <a:latin typeface="Aptos" panose="020B0004020202020204" pitchFamily="34" charset="0"/>
              </a:rPr>
              <a:t>2.1.1</a:t>
            </a:r>
          </a:p>
        </p:txBody>
      </p:sp>
      <p:sp>
        <p:nvSpPr>
          <p:cNvPr id="37" name="Rectangle 36">
            <a:extLst>
              <a:ext uri="{FF2B5EF4-FFF2-40B4-BE49-F238E27FC236}">
                <a16:creationId xmlns:a16="http://schemas.microsoft.com/office/drawing/2014/main" id="{229690EC-CBA2-FDFE-F7F7-6BEC01026866}"/>
              </a:ext>
            </a:extLst>
          </p:cNvPr>
          <p:cNvSpPr/>
          <p:nvPr/>
        </p:nvSpPr>
        <p:spPr>
          <a:xfrm>
            <a:off x="2286000" y="3657600"/>
            <a:ext cx="30480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771E49D6-FFC7-78C1-F2B0-BFDC40D072FB}"/>
              </a:ext>
            </a:extLst>
          </p:cNvPr>
          <p:cNvSpPr txBox="1"/>
          <p:nvPr/>
        </p:nvSpPr>
        <p:spPr>
          <a:xfrm>
            <a:off x="2387600" y="3746500"/>
            <a:ext cx="28448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Keyboard</a:t>
            </a:r>
          </a:p>
        </p:txBody>
      </p:sp>
      <p:sp>
        <p:nvSpPr>
          <p:cNvPr id="39" name="Rectangle 38">
            <a:extLst>
              <a:ext uri="{FF2B5EF4-FFF2-40B4-BE49-F238E27FC236}">
                <a16:creationId xmlns:a16="http://schemas.microsoft.com/office/drawing/2014/main" id="{394E28AE-21F1-07B0-EDD7-0AE1FA8191B0}"/>
              </a:ext>
            </a:extLst>
          </p:cNvPr>
          <p:cNvSpPr/>
          <p:nvPr/>
        </p:nvSpPr>
        <p:spPr>
          <a:xfrm>
            <a:off x="5334000" y="3657600"/>
            <a:ext cx="62484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1339A1BB-E742-02AF-AE96-DEA1945B4BF8}"/>
              </a:ext>
            </a:extLst>
          </p:cNvPr>
          <p:cNvSpPr txBox="1"/>
          <p:nvPr/>
        </p:nvSpPr>
        <p:spPr>
          <a:xfrm>
            <a:off x="5435600" y="3746500"/>
            <a:ext cx="60452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Critical candidate, employer, verifier and admin workflows completed</a:t>
            </a:r>
          </a:p>
        </p:txBody>
      </p:sp>
      <p:sp>
        <p:nvSpPr>
          <p:cNvPr id="41" name="Rectangle 40">
            <a:extLst>
              <a:ext uri="{FF2B5EF4-FFF2-40B4-BE49-F238E27FC236}">
                <a16:creationId xmlns:a16="http://schemas.microsoft.com/office/drawing/2014/main" id="{BD96BBAE-A5F3-A41F-77EA-B1D0FDC7BCBA}"/>
              </a:ext>
            </a:extLst>
          </p:cNvPr>
          <p:cNvSpPr/>
          <p:nvPr/>
        </p:nvSpPr>
        <p:spPr>
          <a:xfrm>
            <a:off x="609600" y="4127500"/>
            <a:ext cx="16764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FF86B728-5ACE-B9AF-2F57-BD92B55120C0}"/>
              </a:ext>
            </a:extLst>
          </p:cNvPr>
          <p:cNvSpPr txBox="1"/>
          <p:nvPr/>
        </p:nvSpPr>
        <p:spPr>
          <a:xfrm>
            <a:off x="711200" y="4216400"/>
            <a:ext cx="1473200" cy="126188"/>
          </a:xfrm>
          <a:prstGeom prst="rect">
            <a:avLst/>
          </a:prstGeom>
          <a:noFill/>
        </p:spPr>
        <p:txBody>
          <a:bodyPr vert="horz" wrap="square" lIns="0" tIns="0" rIns="0" bIns="0" rtlCol="0">
            <a:spAutoFit/>
          </a:bodyPr>
          <a:lstStyle/>
          <a:p>
            <a:r>
              <a:rPr lang="en-US" sz="820" b="1">
                <a:solidFill>
                  <a:srgbClr val="17243A"/>
                </a:solidFill>
                <a:latin typeface="Aptos" panose="020B0004020202020204" pitchFamily="34" charset="0"/>
              </a:rPr>
              <a:t>2.4.3 / 2.4.7</a:t>
            </a:r>
          </a:p>
        </p:txBody>
      </p:sp>
      <p:sp>
        <p:nvSpPr>
          <p:cNvPr id="43" name="Rectangle 42">
            <a:extLst>
              <a:ext uri="{FF2B5EF4-FFF2-40B4-BE49-F238E27FC236}">
                <a16:creationId xmlns:a16="http://schemas.microsoft.com/office/drawing/2014/main" id="{D68C4B54-6816-C6B6-8A09-B144470F14C8}"/>
              </a:ext>
            </a:extLst>
          </p:cNvPr>
          <p:cNvSpPr/>
          <p:nvPr/>
        </p:nvSpPr>
        <p:spPr>
          <a:xfrm>
            <a:off x="2286000" y="4127500"/>
            <a:ext cx="30480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90B30D55-DD51-34B7-99F7-E6A2982B13CE}"/>
              </a:ext>
            </a:extLst>
          </p:cNvPr>
          <p:cNvSpPr txBox="1"/>
          <p:nvPr/>
        </p:nvSpPr>
        <p:spPr>
          <a:xfrm>
            <a:off x="2387600" y="4216400"/>
            <a:ext cx="28448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Focus order and visible focus</a:t>
            </a:r>
          </a:p>
        </p:txBody>
      </p:sp>
      <p:sp>
        <p:nvSpPr>
          <p:cNvPr id="45" name="Rectangle 44">
            <a:extLst>
              <a:ext uri="{FF2B5EF4-FFF2-40B4-BE49-F238E27FC236}">
                <a16:creationId xmlns:a16="http://schemas.microsoft.com/office/drawing/2014/main" id="{0C4DCF01-0682-A741-1090-DC14641C8815}"/>
              </a:ext>
            </a:extLst>
          </p:cNvPr>
          <p:cNvSpPr/>
          <p:nvPr/>
        </p:nvSpPr>
        <p:spPr>
          <a:xfrm>
            <a:off x="5334000" y="4127500"/>
            <a:ext cx="62484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6942B32-9634-7DF0-4C8F-A9D328093AC9}"/>
              </a:ext>
            </a:extLst>
          </p:cNvPr>
          <p:cNvSpPr txBox="1"/>
          <p:nvPr/>
        </p:nvSpPr>
        <p:spPr>
          <a:xfrm>
            <a:off x="5435600" y="4216400"/>
            <a:ext cx="60452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Logical tab order, focused recovery and visible focus treatment</a:t>
            </a:r>
          </a:p>
        </p:txBody>
      </p:sp>
      <p:sp>
        <p:nvSpPr>
          <p:cNvPr id="47" name="Rectangle 46">
            <a:extLst>
              <a:ext uri="{FF2B5EF4-FFF2-40B4-BE49-F238E27FC236}">
                <a16:creationId xmlns:a16="http://schemas.microsoft.com/office/drawing/2014/main" id="{F5B2A8B9-8A38-08D4-C575-0F77080BF750}"/>
              </a:ext>
            </a:extLst>
          </p:cNvPr>
          <p:cNvSpPr/>
          <p:nvPr/>
        </p:nvSpPr>
        <p:spPr>
          <a:xfrm>
            <a:off x="609600" y="4597400"/>
            <a:ext cx="16764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B330C811-FBD0-E8F9-3689-D2F4E0FF60EF}"/>
              </a:ext>
            </a:extLst>
          </p:cNvPr>
          <p:cNvSpPr txBox="1"/>
          <p:nvPr/>
        </p:nvSpPr>
        <p:spPr>
          <a:xfrm>
            <a:off x="711200" y="4686300"/>
            <a:ext cx="1473200" cy="126188"/>
          </a:xfrm>
          <a:prstGeom prst="rect">
            <a:avLst/>
          </a:prstGeom>
          <a:noFill/>
        </p:spPr>
        <p:txBody>
          <a:bodyPr vert="horz" wrap="square" lIns="0" tIns="0" rIns="0" bIns="0" rtlCol="0">
            <a:spAutoFit/>
          </a:bodyPr>
          <a:lstStyle/>
          <a:p>
            <a:r>
              <a:rPr lang="en-US" sz="820" b="1">
                <a:solidFill>
                  <a:srgbClr val="17243A"/>
                </a:solidFill>
                <a:latin typeface="Aptos" panose="020B0004020202020204" pitchFamily="34" charset="0"/>
              </a:rPr>
              <a:t>3.2 / 3.3</a:t>
            </a:r>
          </a:p>
        </p:txBody>
      </p:sp>
      <p:sp>
        <p:nvSpPr>
          <p:cNvPr id="49" name="Rectangle 48">
            <a:extLst>
              <a:ext uri="{FF2B5EF4-FFF2-40B4-BE49-F238E27FC236}">
                <a16:creationId xmlns:a16="http://schemas.microsoft.com/office/drawing/2014/main" id="{4EAB97D6-C537-69DA-1B7C-25D2D4F65BCA}"/>
              </a:ext>
            </a:extLst>
          </p:cNvPr>
          <p:cNvSpPr/>
          <p:nvPr/>
        </p:nvSpPr>
        <p:spPr>
          <a:xfrm>
            <a:off x="2286000" y="4597400"/>
            <a:ext cx="30480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EB225755-3AA3-2CE7-3428-76D32ECEDE4F}"/>
              </a:ext>
            </a:extLst>
          </p:cNvPr>
          <p:cNvSpPr txBox="1"/>
          <p:nvPr/>
        </p:nvSpPr>
        <p:spPr>
          <a:xfrm>
            <a:off x="2387600" y="4686300"/>
            <a:ext cx="28448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Predictability and input assistance</a:t>
            </a:r>
          </a:p>
        </p:txBody>
      </p:sp>
      <p:sp>
        <p:nvSpPr>
          <p:cNvPr id="51" name="Rectangle 50">
            <a:extLst>
              <a:ext uri="{FF2B5EF4-FFF2-40B4-BE49-F238E27FC236}">
                <a16:creationId xmlns:a16="http://schemas.microsoft.com/office/drawing/2014/main" id="{4DB783E6-B7B2-FE64-A74D-AEBBBD5496B1}"/>
              </a:ext>
            </a:extLst>
          </p:cNvPr>
          <p:cNvSpPr/>
          <p:nvPr/>
        </p:nvSpPr>
        <p:spPr>
          <a:xfrm>
            <a:off x="5334000" y="4597400"/>
            <a:ext cx="62484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a:extLst>
              <a:ext uri="{FF2B5EF4-FFF2-40B4-BE49-F238E27FC236}">
                <a16:creationId xmlns:a16="http://schemas.microsoft.com/office/drawing/2014/main" id="{41F485F7-3AB5-5188-43AB-05CAA8CF6203}"/>
              </a:ext>
            </a:extLst>
          </p:cNvPr>
          <p:cNvSpPr txBox="1"/>
          <p:nvPr/>
        </p:nvSpPr>
        <p:spPr>
          <a:xfrm>
            <a:off x="5435600" y="4686300"/>
            <a:ext cx="60452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Consistent navigation, instructions, validation and confirmation</a:t>
            </a:r>
          </a:p>
        </p:txBody>
      </p:sp>
      <p:sp>
        <p:nvSpPr>
          <p:cNvPr id="53" name="Rectangle 52">
            <a:extLst>
              <a:ext uri="{FF2B5EF4-FFF2-40B4-BE49-F238E27FC236}">
                <a16:creationId xmlns:a16="http://schemas.microsoft.com/office/drawing/2014/main" id="{404D0452-08E0-A314-6F11-0DD9D4D03F8F}"/>
              </a:ext>
            </a:extLst>
          </p:cNvPr>
          <p:cNvSpPr/>
          <p:nvPr/>
        </p:nvSpPr>
        <p:spPr>
          <a:xfrm>
            <a:off x="609600" y="5067300"/>
            <a:ext cx="16764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6AC91CAB-2652-FFC5-F2A2-BA63108B2A2C}"/>
              </a:ext>
            </a:extLst>
          </p:cNvPr>
          <p:cNvSpPr txBox="1"/>
          <p:nvPr/>
        </p:nvSpPr>
        <p:spPr>
          <a:xfrm>
            <a:off x="711200" y="5156200"/>
            <a:ext cx="1473200" cy="126188"/>
          </a:xfrm>
          <a:prstGeom prst="rect">
            <a:avLst/>
          </a:prstGeom>
          <a:noFill/>
        </p:spPr>
        <p:txBody>
          <a:bodyPr vert="horz" wrap="square" lIns="0" tIns="0" rIns="0" bIns="0" rtlCol="0">
            <a:spAutoFit/>
          </a:bodyPr>
          <a:lstStyle/>
          <a:p>
            <a:r>
              <a:rPr lang="en-US" sz="820" b="1">
                <a:solidFill>
                  <a:srgbClr val="17243A"/>
                </a:solidFill>
                <a:latin typeface="Aptos" panose="020B0004020202020204" pitchFamily="34" charset="0"/>
              </a:rPr>
              <a:t>4.1.2 / 4.1.3</a:t>
            </a:r>
          </a:p>
        </p:txBody>
      </p:sp>
      <p:sp>
        <p:nvSpPr>
          <p:cNvPr id="55" name="Rectangle 54">
            <a:extLst>
              <a:ext uri="{FF2B5EF4-FFF2-40B4-BE49-F238E27FC236}">
                <a16:creationId xmlns:a16="http://schemas.microsoft.com/office/drawing/2014/main" id="{7B7CE758-C6AD-6913-DB1D-C1837566C49B}"/>
              </a:ext>
            </a:extLst>
          </p:cNvPr>
          <p:cNvSpPr/>
          <p:nvPr/>
        </p:nvSpPr>
        <p:spPr>
          <a:xfrm>
            <a:off x="2286000" y="5067300"/>
            <a:ext cx="30480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F6FD3727-3BF0-8B51-5886-E27E00F438F4}"/>
              </a:ext>
            </a:extLst>
          </p:cNvPr>
          <p:cNvSpPr txBox="1"/>
          <p:nvPr/>
        </p:nvSpPr>
        <p:spPr>
          <a:xfrm>
            <a:off x="2387600" y="5156200"/>
            <a:ext cx="28448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Name, role, value and status messages</a:t>
            </a:r>
          </a:p>
        </p:txBody>
      </p:sp>
      <p:sp>
        <p:nvSpPr>
          <p:cNvPr id="57" name="Rectangle 56">
            <a:extLst>
              <a:ext uri="{FF2B5EF4-FFF2-40B4-BE49-F238E27FC236}">
                <a16:creationId xmlns:a16="http://schemas.microsoft.com/office/drawing/2014/main" id="{70ECBE6B-6451-726E-6176-5FA081874A5E}"/>
              </a:ext>
            </a:extLst>
          </p:cNvPr>
          <p:cNvSpPr/>
          <p:nvPr/>
        </p:nvSpPr>
        <p:spPr>
          <a:xfrm>
            <a:off x="5334000" y="5067300"/>
            <a:ext cx="6248400" cy="469900"/>
          </a:xfrm>
          <a:prstGeom prst="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8E457830-9391-C83F-BFCA-0A37B4EB5FCF}"/>
              </a:ext>
            </a:extLst>
          </p:cNvPr>
          <p:cNvSpPr txBox="1"/>
          <p:nvPr/>
        </p:nvSpPr>
        <p:spPr>
          <a:xfrm>
            <a:off x="5435600" y="5156200"/>
            <a:ext cx="60452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Native controls plus accessible status / alert announcements</a:t>
            </a:r>
          </a:p>
        </p:txBody>
      </p:sp>
      <p:sp>
        <p:nvSpPr>
          <p:cNvPr id="59" name="Rectangle 58">
            <a:extLst>
              <a:ext uri="{FF2B5EF4-FFF2-40B4-BE49-F238E27FC236}">
                <a16:creationId xmlns:a16="http://schemas.microsoft.com/office/drawing/2014/main" id="{84C7DD52-75BE-F64E-6397-F655E0C19FC1}"/>
              </a:ext>
            </a:extLst>
          </p:cNvPr>
          <p:cNvSpPr/>
          <p:nvPr/>
        </p:nvSpPr>
        <p:spPr>
          <a:xfrm>
            <a:off x="609600" y="5537200"/>
            <a:ext cx="16764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F0D8705A-A9CF-8D2C-F6D6-D05B6B5F6252}"/>
              </a:ext>
            </a:extLst>
          </p:cNvPr>
          <p:cNvSpPr txBox="1"/>
          <p:nvPr/>
        </p:nvSpPr>
        <p:spPr>
          <a:xfrm>
            <a:off x="711200" y="5626100"/>
            <a:ext cx="1473200" cy="126188"/>
          </a:xfrm>
          <a:prstGeom prst="rect">
            <a:avLst/>
          </a:prstGeom>
          <a:noFill/>
        </p:spPr>
        <p:txBody>
          <a:bodyPr vert="horz" wrap="square" lIns="0" tIns="0" rIns="0" bIns="0" rtlCol="0">
            <a:spAutoFit/>
          </a:bodyPr>
          <a:lstStyle/>
          <a:p>
            <a:r>
              <a:rPr lang="en-US" sz="820" b="1">
                <a:solidFill>
                  <a:srgbClr val="17243A"/>
                </a:solidFill>
                <a:latin typeface="Aptos" panose="020B0004020202020204" pitchFamily="34" charset="0"/>
              </a:rPr>
              <a:t>Manual AT evidence</a:t>
            </a:r>
          </a:p>
        </p:txBody>
      </p:sp>
      <p:sp>
        <p:nvSpPr>
          <p:cNvPr id="61" name="Rectangle 60">
            <a:extLst>
              <a:ext uri="{FF2B5EF4-FFF2-40B4-BE49-F238E27FC236}">
                <a16:creationId xmlns:a16="http://schemas.microsoft.com/office/drawing/2014/main" id="{FF3DDF9C-734E-EB9C-D895-A14D3936E3C3}"/>
              </a:ext>
            </a:extLst>
          </p:cNvPr>
          <p:cNvSpPr/>
          <p:nvPr/>
        </p:nvSpPr>
        <p:spPr>
          <a:xfrm>
            <a:off x="2286000" y="5537200"/>
            <a:ext cx="30480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TextBox 61">
            <a:extLst>
              <a:ext uri="{FF2B5EF4-FFF2-40B4-BE49-F238E27FC236}">
                <a16:creationId xmlns:a16="http://schemas.microsoft.com/office/drawing/2014/main" id="{23DC3A1C-E67D-288E-8100-67A585861622}"/>
              </a:ext>
            </a:extLst>
          </p:cNvPr>
          <p:cNvSpPr txBox="1"/>
          <p:nvPr/>
        </p:nvSpPr>
        <p:spPr>
          <a:xfrm>
            <a:off x="2387600" y="5626100"/>
            <a:ext cx="28448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JAWS workflow</a:t>
            </a:r>
          </a:p>
        </p:txBody>
      </p:sp>
      <p:sp>
        <p:nvSpPr>
          <p:cNvPr id="63" name="Rectangle 62">
            <a:extLst>
              <a:ext uri="{FF2B5EF4-FFF2-40B4-BE49-F238E27FC236}">
                <a16:creationId xmlns:a16="http://schemas.microsoft.com/office/drawing/2014/main" id="{C0CFD95B-0B42-2216-2E37-7097196587DE}"/>
              </a:ext>
            </a:extLst>
          </p:cNvPr>
          <p:cNvSpPr/>
          <p:nvPr/>
        </p:nvSpPr>
        <p:spPr>
          <a:xfrm>
            <a:off x="5334000" y="5537200"/>
            <a:ext cx="6248400" cy="469900"/>
          </a:xfrm>
          <a:prstGeom prst="rect">
            <a:avLst/>
          </a:prstGeom>
          <a:solidFill>
            <a:srgbClr val="F4F6F9"/>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Box 63">
            <a:extLst>
              <a:ext uri="{FF2B5EF4-FFF2-40B4-BE49-F238E27FC236}">
                <a16:creationId xmlns:a16="http://schemas.microsoft.com/office/drawing/2014/main" id="{BEE9C848-2C2A-5A57-88E9-4632CE787BAB}"/>
              </a:ext>
            </a:extLst>
          </p:cNvPr>
          <p:cNvSpPr txBox="1"/>
          <p:nvPr/>
        </p:nvSpPr>
        <p:spPr>
          <a:xfrm>
            <a:off x="5435600" y="5626100"/>
            <a:ext cx="6045200" cy="126188"/>
          </a:xfrm>
          <a:prstGeom prst="rect">
            <a:avLst/>
          </a:prstGeom>
          <a:noFill/>
        </p:spPr>
        <p:txBody>
          <a:bodyPr vert="horz" wrap="square" lIns="0" tIns="0" rIns="0" bIns="0" rtlCol="0">
            <a:spAutoFit/>
          </a:bodyPr>
          <a:lstStyle/>
          <a:p>
            <a:r>
              <a:rPr lang="en-US" sz="820">
                <a:solidFill>
                  <a:srgbClr val="17243A"/>
                </a:solidFill>
                <a:latin typeface="Aptos" panose="020B0004020202020204" pitchFamily="34" charset="0"/>
              </a:rPr>
              <a:t>Navigation, registration and application completed on adapted device</a:t>
            </a:r>
          </a:p>
        </p:txBody>
      </p:sp>
      <p:sp>
        <p:nvSpPr>
          <p:cNvPr id="65" name="Rectangle: Rounded Corners 64">
            <a:extLst>
              <a:ext uri="{FF2B5EF4-FFF2-40B4-BE49-F238E27FC236}">
                <a16:creationId xmlns:a16="http://schemas.microsoft.com/office/drawing/2014/main" id="{F9316C82-BF85-38A8-6147-FFEB5AC7F2C2}"/>
              </a:ext>
            </a:extLst>
          </p:cNvPr>
          <p:cNvSpPr/>
          <p:nvPr/>
        </p:nvSpPr>
        <p:spPr>
          <a:xfrm>
            <a:off x="1206500" y="6121400"/>
            <a:ext cx="9779000" cy="254000"/>
          </a:xfrm>
          <a:prstGeom prst="roundRect">
            <a:avLst/>
          </a:prstGeom>
          <a:solidFill>
            <a:srgbClr val="0B1F49"/>
          </a:solidFill>
          <a:ln w="10160">
            <a:solidFill>
              <a:srgbClr val="0B1F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Box 65">
            <a:extLst>
              <a:ext uri="{FF2B5EF4-FFF2-40B4-BE49-F238E27FC236}">
                <a16:creationId xmlns:a16="http://schemas.microsoft.com/office/drawing/2014/main" id="{14342B31-8DD5-3B0A-176E-4CABC3339791}"/>
              </a:ext>
            </a:extLst>
          </p:cNvPr>
          <p:cNvSpPr txBox="1"/>
          <p:nvPr/>
        </p:nvSpPr>
        <p:spPr>
          <a:xfrm>
            <a:off x="1397000" y="6184900"/>
            <a:ext cx="9398000" cy="116955"/>
          </a:xfrm>
          <a:prstGeom prst="rect">
            <a:avLst/>
          </a:prstGeom>
          <a:noFill/>
        </p:spPr>
        <p:txBody>
          <a:bodyPr vert="horz" wrap="square" lIns="0" tIns="0" rIns="0" bIns="0" rtlCol="0">
            <a:spAutoFit/>
          </a:bodyPr>
          <a:lstStyle/>
          <a:p>
            <a:pPr algn="ctr"/>
            <a:r>
              <a:rPr lang="en-US" sz="760" b="1">
                <a:solidFill>
                  <a:srgbClr val="FFFFFF"/>
                </a:solidFill>
                <a:latin typeface="Aptos" panose="020B0004020202020204" pitchFamily="34" charset="0"/>
              </a:rPr>
              <a:t>Conformance statement: target and evidence only; an independent audit and closure of open findings are required before claiming full WCAG 2.1 AA conformance.</a:t>
            </a:r>
          </a:p>
        </p:txBody>
      </p:sp>
    </p:spTree>
    <p:extLst>
      <p:ext uri="{BB962C8B-B14F-4D97-AF65-F5344CB8AC3E}">
        <p14:creationId xmlns:p14="http://schemas.microsoft.com/office/powerpoint/2010/main" val="2516048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1BF0CE7-F23C-D68F-7B0F-CF18B7CD0578}"/>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90F2D8C-C704-8374-11C4-E8EE2B6F418A}"/>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APPENDIX C</a:t>
            </a:r>
          </a:p>
        </p:txBody>
      </p:sp>
      <p:sp>
        <p:nvSpPr>
          <p:cNvPr id="4" name="TextBox 3">
            <a:extLst>
              <a:ext uri="{FF2B5EF4-FFF2-40B4-BE49-F238E27FC236}">
                <a16:creationId xmlns:a16="http://schemas.microsoft.com/office/drawing/2014/main" id="{1DE30EB9-E8EB-EAB8-8CBB-BF2DF495DA4D}"/>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Verified voice trace and rejected-command example</a:t>
            </a:r>
          </a:p>
        </p:txBody>
      </p:sp>
      <p:sp>
        <p:nvSpPr>
          <p:cNvPr id="5" name="TextBox 4">
            <a:extLst>
              <a:ext uri="{FF2B5EF4-FFF2-40B4-BE49-F238E27FC236}">
                <a16:creationId xmlns:a16="http://schemas.microsoft.com/office/drawing/2014/main" id="{F27F300B-9B6A-217A-DCAC-A97F8886F6A3}"/>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Illustrative redacted console structure using the implemented labels and registered actions.</a:t>
            </a:r>
          </a:p>
        </p:txBody>
      </p:sp>
      <p:pic>
        <p:nvPicPr>
          <p:cNvPr id="7" name="Picture 6" descr="Universite Saint-Joseph and ESIB mark">
            <a:extLst>
              <a:ext uri="{FF2B5EF4-FFF2-40B4-BE49-F238E27FC236}">
                <a16:creationId xmlns:a16="http://schemas.microsoft.com/office/drawing/2014/main" id="{AB67943D-6419-9067-352C-74FB188B23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39DA0CE0-8984-3A89-C9B7-FE9EFA845DA8}"/>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A6632D35-C56F-F1AE-ACFE-268293350B4E}"/>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CDA4E3CE-6900-6DEC-D709-FC28B016023F}"/>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31</a:t>
            </a:r>
          </a:p>
        </p:txBody>
      </p:sp>
      <p:sp>
        <p:nvSpPr>
          <p:cNvPr id="11" name="Rectangle: Rounded Corners 10">
            <a:extLst>
              <a:ext uri="{FF2B5EF4-FFF2-40B4-BE49-F238E27FC236}">
                <a16:creationId xmlns:a16="http://schemas.microsoft.com/office/drawing/2014/main" id="{4B885F13-9766-88B3-FCB3-DD98536759FA}"/>
              </a:ext>
            </a:extLst>
          </p:cNvPr>
          <p:cNvSpPr/>
          <p:nvPr/>
        </p:nvSpPr>
        <p:spPr>
          <a:xfrm>
            <a:off x="609600" y="1841500"/>
            <a:ext cx="10972800" cy="3505200"/>
          </a:xfrm>
          <a:prstGeom prst="roundRect">
            <a:avLst/>
          </a:prstGeom>
          <a:solidFill>
            <a:srgbClr val="101725"/>
          </a:solidFill>
          <a:ln w="10160">
            <a:solidFill>
              <a:srgbClr val="10172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293C19C7-02C8-CF19-3CF8-3CA114283099}"/>
              </a:ext>
            </a:extLst>
          </p:cNvPr>
          <p:cNvSpPr txBox="1"/>
          <p:nvPr/>
        </p:nvSpPr>
        <p:spPr>
          <a:xfrm>
            <a:off x="863600" y="2108200"/>
            <a:ext cx="10464800" cy="1231106"/>
          </a:xfrm>
          <a:prstGeom prst="rect">
            <a:avLst/>
          </a:prstGeom>
          <a:noFill/>
        </p:spPr>
        <p:txBody>
          <a:bodyPr vert="horz" wrap="square" lIns="0" tIns="0" rIns="0" bIns="0" rtlCol="0">
            <a:spAutoFit/>
          </a:bodyPr>
          <a:lstStyle/>
          <a:p>
            <a:r>
              <a:rPr lang="en-US" sz="1000">
                <a:solidFill>
                  <a:srgbClr val="D9F2E6"/>
                </a:solidFill>
                <a:latin typeface="Consolas" panose="020B0609020204030204" pitchFamily="49" charset="0"/>
              </a:rPr>
              <a:t>[VOICE AUDIO] Exact uploaded recording: { type: audio/webm;codecs=opus, bytes: 18432, durationMs: 2300 }
[VOICE STT] Transcript: Open my profile
[VOICE CLASSIFIER] Category: { category: navigation, language: en, confidence: 0.99 }
[VOICE INTENT] Proposal: { command: NAVIGATE, target: candidate_profile, language: en }
[VOICE ROUTER] Decision: { status: authorized, action: { type: route_and_tab, value: /candidate, tab: PROFILE } }
[VOICE FEEDBACK] Text: Opening your profile.
Rejected example: Open the secret admin page -&gt; target absent from candidate registry -&gt; no action executed.</a:t>
            </a:r>
          </a:p>
        </p:txBody>
      </p:sp>
      <p:sp>
        <p:nvSpPr>
          <p:cNvPr id="13" name="Rectangle: Rounded Corners 12">
            <a:extLst>
              <a:ext uri="{FF2B5EF4-FFF2-40B4-BE49-F238E27FC236}">
                <a16:creationId xmlns:a16="http://schemas.microsoft.com/office/drawing/2014/main" id="{DA31C6D0-0CF2-C4FA-036B-C7DA1AE85EF0}"/>
              </a:ext>
            </a:extLst>
          </p:cNvPr>
          <p:cNvSpPr/>
          <p:nvPr/>
        </p:nvSpPr>
        <p:spPr>
          <a:xfrm>
            <a:off x="1270000" y="5638800"/>
            <a:ext cx="9652000" cy="5334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F05996D-07A0-DB04-41FF-9EE55121A588}"/>
              </a:ext>
            </a:extLst>
          </p:cNvPr>
          <p:cNvSpPr txBox="1"/>
          <p:nvPr/>
        </p:nvSpPr>
        <p:spPr>
          <a:xfrm>
            <a:off x="1587500" y="5803900"/>
            <a:ext cx="9017000" cy="138499"/>
          </a:xfrm>
          <a:prstGeom prst="rect">
            <a:avLst/>
          </a:prstGeom>
          <a:noFill/>
        </p:spPr>
        <p:txBody>
          <a:bodyPr vert="horz" wrap="square" lIns="0" tIns="0" rIns="0" bIns="0" rtlCol="0">
            <a:spAutoFit/>
          </a:bodyPr>
          <a:lstStyle/>
          <a:p>
            <a:pPr algn="ctr"/>
            <a:r>
              <a:rPr lang="en-US" sz="900" b="1">
                <a:solidFill>
                  <a:srgbClr val="0B1F49"/>
                </a:solidFill>
                <a:latin typeface="Aptos" panose="020B0004020202020204" pitchFamily="34" charset="0"/>
              </a:rPr>
              <a:t>Raw audio bytes and API keys are not logged. Sensitive values are redacted. Request IDs correlate the bounded pipeline stages.</a:t>
            </a:r>
          </a:p>
        </p:txBody>
      </p:sp>
    </p:spTree>
    <p:extLst>
      <p:ext uri="{BB962C8B-B14F-4D97-AF65-F5344CB8AC3E}">
        <p14:creationId xmlns:p14="http://schemas.microsoft.com/office/powerpoint/2010/main" val="13390423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7CB4458-23B1-0EE2-5AD7-07935EE390BD}"/>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F141C1C-E4C0-D05E-578F-969E5A835246}"/>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APPENDIX D</a:t>
            </a:r>
          </a:p>
        </p:txBody>
      </p:sp>
      <p:sp>
        <p:nvSpPr>
          <p:cNvPr id="4" name="TextBox 3">
            <a:extLst>
              <a:ext uri="{FF2B5EF4-FFF2-40B4-BE49-F238E27FC236}">
                <a16:creationId xmlns:a16="http://schemas.microsoft.com/office/drawing/2014/main" id="{84AEFE2A-D927-4840-1601-E55E171C3806}"/>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Deployed relational model and storage separation</a:t>
            </a:r>
          </a:p>
        </p:txBody>
      </p:sp>
      <p:sp>
        <p:nvSpPr>
          <p:cNvPr id="5" name="TextBox 4">
            <a:extLst>
              <a:ext uri="{FF2B5EF4-FFF2-40B4-BE49-F238E27FC236}">
                <a16:creationId xmlns:a16="http://schemas.microsoft.com/office/drawing/2014/main" id="{31424956-4588-5777-2E23-B7DB99A8658E}"/>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The screenshots provide deployment evidence without exposing credentials or secret values.</a:t>
            </a:r>
          </a:p>
        </p:txBody>
      </p:sp>
      <p:pic>
        <p:nvPicPr>
          <p:cNvPr id="7" name="Picture 6" descr="Universite Saint-Joseph and ESIB mark">
            <a:extLst>
              <a:ext uri="{FF2B5EF4-FFF2-40B4-BE49-F238E27FC236}">
                <a16:creationId xmlns:a16="http://schemas.microsoft.com/office/drawing/2014/main" id="{20BFD33D-CFFA-9459-3603-870BA2058B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C970DAF4-79F4-50DB-309A-34CC980E935D}"/>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DA535FA1-993A-2EB4-A495-64E8BA45A76B}"/>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096C8B23-7088-8EAC-AB33-16FAC745F9CE}"/>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32</a:t>
            </a:r>
          </a:p>
        </p:txBody>
      </p:sp>
      <p:sp>
        <p:nvSpPr>
          <p:cNvPr id="11" name="Rectangle: Rounded Corners 10">
            <a:extLst>
              <a:ext uri="{FF2B5EF4-FFF2-40B4-BE49-F238E27FC236}">
                <a16:creationId xmlns:a16="http://schemas.microsoft.com/office/drawing/2014/main" id="{397ED361-DF4A-2885-581E-C3478A216685}"/>
              </a:ext>
            </a:extLst>
          </p:cNvPr>
          <p:cNvSpPr/>
          <p:nvPr/>
        </p:nvSpPr>
        <p:spPr>
          <a:xfrm>
            <a:off x="609600" y="1841500"/>
            <a:ext cx="7112000" cy="3810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Supabase schema visualizer for deployed relational data">
            <a:extLst>
              <a:ext uri="{FF2B5EF4-FFF2-40B4-BE49-F238E27FC236}">
                <a16:creationId xmlns:a16="http://schemas.microsoft.com/office/drawing/2014/main" id="{0E699B6B-3B94-5522-BAB4-4EA62FB710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62818" y="1879600"/>
            <a:ext cx="6205563" cy="3733800"/>
          </a:xfrm>
          <a:prstGeom prst="rect">
            <a:avLst/>
          </a:prstGeom>
        </p:spPr>
      </p:pic>
      <p:sp>
        <p:nvSpPr>
          <p:cNvPr id="14" name="Rectangle: Rounded Corners 13">
            <a:extLst>
              <a:ext uri="{FF2B5EF4-FFF2-40B4-BE49-F238E27FC236}">
                <a16:creationId xmlns:a16="http://schemas.microsoft.com/office/drawing/2014/main" id="{961B9635-20DF-61BF-1B8A-04085C22DDD8}"/>
              </a:ext>
            </a:extLst>
          </p:cNvPr>
          <p:cNvSpPr/>
          <p:nvPr/>
        </p:nvSpPr>
        <p:spPr>
          <a:xfrm>
            <a:off x="8026400" y="1841500"/>
            <a:ext cx="3556000" cy="2286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descr="Supabase purpose-specific storage buckets">
            <a:extLst>
              <a:ext uri="{FF2B5EF4-FFF2-40B4-BE49-F238E27FC236}">
                <a16:creationId xmlns:a16="http://schemas.microsoft.com/office/drawing/2014/main" id="{8984F043-6236-D819-6839-29547BAD46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64500" y="2092756"/>
            <a:ext cx="3479800" cy="1783489"/>
          </a:xfrm>
          <a:prstGeom prst="rect">
            <a:avLst/>
          </a:prstGeom>
        </p:spPr>
      </p:pic>
      <p:sp>
        <p:nvSpPr>
          <p:cNvPr id="17" name="Rectangle: Rounded Corners 16">
            <a:extLst>
              <a:ext uri="{FF2B5EF4-FFF2-40B4-BE49-F238E27FC236}">
                <a16:creationId xmlns:a16="http://schemas.microsoft.com/office/drawing/2014/main" id="{EAEFBA29-0305-B830-48FD-519FFD932F3D}"/>
              </a:ext>
            </a:extLst>
          </p:cNvPr>
          <p:cNvSpPr/>
          <p:nvPr/>
        </p:nvSpPr>
        <p:spPr>
          <a:xfrm>
            <a:off x="8026400" y="4343400"/>
            <a:ext cx="3556000" cy="16002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AEFB59CE-9FFC-9414-3D1A-B84603DBAD0D}"/>
              </a:ext>
            </a:extLst>
          </p:cNvPr>
          <p:cNvSpPr/>
          <p:nvPr/>
        </p:nvSpPr>
        <p:spPr>
          <a:xfrm>
            <a:off x="8026400" y="4343400"/>
            <a:ext cx="88900" cy="16002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12F1448-C0F9-EFC3-AA40-0BB5526EB2AB}"/>
              </a:ext>
            </a:extLst>
          </p:cNvPr>
          <p:cNvSpPr txBox="1"/>
          <p:nvPr/>
        </p:nvSpPr>
        <p:spPr>
          <a:xfrm>
            <a:off x="8293100" y="4546600"/>
            <a:ext cx="30734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Recorded staging data</a:t>
            </a:r>
          </a:p>
        </p:txBody>
      </p:sp>
      <p:sp>
        <p:nvSpPr>
          <p:cNvPr id="20" name="TextBox 19">
            <a:extLst>
              <a:ext uri="{FF2B5EF4-FFF2-40B4-BE49-F238E27FC236}">
                <a16:creationId xmlns:a16="http://schemas.microsoft.com/office/drawing/2014/main" id="{84BB2661-5387-817F-650C-3BD0F2AA59AD}"/>
              </a:ext>
            </a:extLst>
          </p:cNvPr>
          <p:cNvSpPr txBox="1"/>
          <p:nvPr/>
        </p:nvSpPr>
        <p:spPr>
          <a:xfrm>
            <a:off x="8293100" y="5041900"/>
            <a:ext cx="3073400" cy="784830"/>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9 accounts across four roles
15 job definitions
923 controlled tasks
14,453 disability-task assessments
74 published opportunities</a:t>
            </a:r>
          </a:p>
        </p:txBody>
      </p:sp>
    </p:spTree>
    <p:extLst>
      <p:ext uri="{BB962C8B-B14F-4D97-AF65-F5344CB8AC3E}">
        <p14:creationId xmlns:p14="http://schemas.microsoft.com/office/powerpoint/2010/main" val="543481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DC4F32-B594-3D4C-9826-20BC1EE9F3E9}"/>
              </a:ext>
            </a:extLst>
          </p:cNvPr>
          <p:cNvSpPr/>
          <p:nvPr/>
        </p:nvSpPr>
        <p:spPr>
          <a:xfrm>
            <a:off x="0" y="0"/>
            <a:ext cx="12192000" cy="1016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38BEF9C-5A40-1C17-AC53-4213D53D0AA2}"/>
              </a:ext>
            </a:extLst>
          </p:cNvPr>
          <p:cNvSpPr txBox="1"/>
          <p:nvPr/>
        </p:nvSpPr>
        <p:spPr>
          <a:xfrm>
            <a:off x="609600" y="342900"/>
            <a:ext cx="6096000" cy="138499"/>
          </a:xfrm>
          <a:prstGeom prst="rect">
            <a:avLst/>
          </a:prstGeom>
          <a:noFill/>
        </p:spPr>
        <p:txBody>
          <a:bodyPr vert="horz" wrap="square" lIns="0" tIns="0" rIns="0" bIns="0" rtlCol="0">
            <a:spAutoFit/>
          </a:bodyPr>
          <a:lstStyle/>
          <a:p>
            <a:r>
              <a:rPr lang="en-US" sz="900" b="1">
                <a:solidFill>
                  <a:srgbClr val="A64B2A"/>
                </a:solidFill>
                <a:latin typeface="Aptos" panose="020B0004020202020204" pitchFamily="34" charset="0"/>
              </a:rPr>
              <a:t>APPENDIX E</a:t>
            </a:r>
          </a:p>
        </p:txBody>
      </p:sp>
      <p:sp>
        <p:nvSpPr>
          <p:cNvPr id="4" name="TextBox 3">
            <a:extLst>
              <a:ext uri="{FF2B5EF4-FFF2-40B4-BE49-F238E27FC236}">
                <a16:creationId xmlns:a16="http://schemas.microsoft.com/office/drawing/2014/main" id="{F1FEFDBA-ADF6-6700-A345-F3F046744A2A}"/>
              </a:ext>
            </a:extLst>
          </p:cNvPr>
          <p:cNvSpPr txBox="1"/>
          <p:nvPr/>
        </p:nvSpPr>
        <p:spPr>
          <a:xfrm>
            <a:off x="609600" y="635000"/>
            <a:ext cx="10414000" cy="430887"/>
          </a:xfrm>
          <a:prstGeom prst="rect">
            <a:avLst/>
          </a:prstGeom>
          <a:noFill/>
        </p:spPr>
        <p:txBody>
          <a:bodyPr vert="horz" wrap="square" lIns="0" tIns="0" rIns="0" bIns="0" rtlCol="0">
            <a:spAutoFit/>
          </a:bodyPr>
          <a:lstStyle/>
          <a:p>
            <a:r>
              <a:rPr lang="en-US" sz="2800" b="1">
                <a:solidFill>
                  <a:srgbClr val="0B1F49"/>
                </a:solidFill>
                <a:latin typeface="Aptos Display" panose="020B0004020202020204" pitchFamily="34" charset="0"/>
              </a:rPr>
              <a:t>Principal references and evidence locations</a:t>
            </a:r>
          </a:p>
        </p:txBody>
      </p:sp>
      <p:sp>
        <p:nvSpPr>
          <p:cNvPr id="5" name="TextBox 4">
            <a:extLst>
              <a:ext uri="{FF2B5EF4-FFF2-40B4-BE49-F238E27FC236}">
                <a16:creationId xmlns:a16="http://schemas.microsoft.com/office/drawing/2014/main" id="{CA44D6D6-97E7-2E78-F4F8-A704186263B9}"/>
              </a:ext>
            </a:extLst>
          </p:cNvPr>
          <p:cNvSpPr txBox="1"/>
          <p:nvPr/>
        </p:nvSpPr>
        <p:spPr>
          <a:xfrm>
            <a:off x="609600" y="1219200"/>
            <a:ext cx="10541000" cy="161583"/>
          </a:xfrm>
          <a:prstGeom prst="rect">
            <a:avLst/>
          </a:prstGeom>
          <a:noFill/>
        </p:spPr>
        <p:txBody>
          <a:bodyPr vert="horz" wrap="square" lIns="0" tIns="0" rIns="0" bIns="0" rtlCol="0">
            <a:spAutoFit/>
          </a:bodyPr>
          <a:lstStyle/>
          <a:p>
            <a:r>
              <a:rPr lang="en-US" sz="1050">
                <a:solidFill>
                  <a:srgbClr val="5D6B80"/>
                </a:solidFill>
                <a:latin typeface="Aptos" panose="020B0004020202020204" pitchFamily="34" charset="0"/>
              </a:rPr>
              <a:t>Full citations and traceability appear in the submitted final report.</a:t>
            </a:r>
          </a:p>
        </p:txBody>
      </p:sp>
      <p:pic>
        <p:nvPicPr>
          <p:cNvPr id="7" name="Picture 6" descr="Universite Saint-Joseph and ESIB mark">
            <a:extLst>
              <a:ext uri="{FF2B5EF4-FFF2-40B4-BE49-F238E27FC236}">
                <a16:creationId xmlns:a16="http://schemas.microsoft.com/office/drawing/2014/main" id="{34C7AE26-B6FE-6239-A221-22630A511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96600" y="329501"/>
            <a:ext cx="660400" cy="217299"/>
          </a:xfrm>
          <a:prstGeom prst="rect">
            <a:avLst/>
          </a:prstGeom>
        </p:spPr>
      </p:pic>
      <p:cxnSp>
        <p:nvCxnSpPr>
          <p:cNvPr id="8" name="Straight Connector 7">
            <a:extLst>
              <a:ext uri="{FF2B5EF4-FFF2-40B4-BE49-F238E27FC236}">
                <a16:creationId xmlns:a16="http://schemas.microsoft.com/office/drawing/2014/main" id="{3F943266-3992-2E44-02F3-F8DC18645362}"/>
              </a:ext>
            </a:extLst>
          </p:cNvPr>
          <p:cNvCxnSpPr/>
          <p:nvPr/>
        </p:nvCxnSpPr>
        <p:spPr>
          <a:xfrm>
            <a:off x="609600" y="6451600"/>
            <a:ext cx="10972800" cy="0"/>
          </a:xfrm>
          <a:prstGeom prst="line">
            <a:avLst/>
          </a:prstGeom>
          <a:ln w="10160">
            <a:solidFill>
              <a:srgbClr val="CBD5E1"/>
            </a:solidFill>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132D4FAE-8273-CFD5-AEEF-2BB133677A9A}"/>
              </a:ext>
            </a:extLst>
          </p:cNvPr>
          <p:cNvSpPr txBox="1"/>
          <p:nvPr/>
        </p:nvSpPr>
        <p:spPr>
          <a:xfrm>
            <a:off x="609600" y="6540500"/>
            <a:ext cx="9017000" cy="110800"/>
          </a:xfrm>
          <a:prstGeom prst="rect">
            <a:avLst/>
          </a:prstGeom>
          <a:noFill/>
        </p:spPr>
        <p:txBody>
          <a:bodyPr vert="horz" wrap="square" lIns="0" tIns="0" rIns="0" bIns="0" rtlCol="0">
            <a:spAutoFit/>
          </a:bodyPr>
          <a:lstStyle/>
          <a:p>
            <a:r>
              <a:rPr lang="en-US" sz="720">
                <a:solidFill>
                  <a:srgbClr val="5D6B80"/>
                </a:solidFill>
                <a:latin typeface="Aptos" panose="020B0004020202020204" pitchFamily="34" charset="0"/>
              </a:rPr>
              <a:t>INCLUSIVE WEB PLATFORM | FINAL ENGINEERING PRESENTATION | 14 SEP 2026</a:t>
            </a:r>
          </a:p>
        </p:txBody>
      </p:sp>
      <p:sp>
        <p:nvSpPr>
          <p:cNvPr id="10" name="TextBox 9">
            <a:extLst>
              <a:ext uri="{FF2B5EF4-FFF2-40B4-BE49-F238E27FC236}">
                <a16:creationId xmlns:a16="http://schemas.microsoft.com/office/drawing/2014/main" id="{C795DBDF-742C-CD80-1FD3-1F2019720103}"/>
              </a:ext>
            </a:extLst>
          </p:cNvPr>
          <p:cNvSpPr txBox="1"/>
          <p:nvPr/>
        </p:nvSpPr>
        <p:spPr>
          <a:xfrm>
            <a:off x="11099800" y="6527800"/>
            <a:ext cx="482600" cy="123111"/>
          </a:xfrm>
          <a:prstGeom prst="rect">
            <a:avLst/>
          </a:prstGeom>
          <a:noFill/>
        </p:spPr>
        <p:txBody>
          <a:bodyPr vert="horz" wrap="square" lIns="0" tIns="0" rIns="0" bIns="0" rtlCol="0">
            <a:spAutoFit/>
          </a:bodyPr>
          <a:lstStyle/>
          <a:p>
            <a:pPr algn="r"/>
            <a:r>
              <a:rPr lang="en-US" sz="800" b="1">
                <a:solidFill>
                  <a:srgbClr val="A64B2A"/>
                </a:solidFill>
                <a:latin typeface="Aptos" panose="020B0004020202020204" pitchFamily="34" charset="0"/>
              </a:rPr>
              <a:t>33</a:t>
            </a:r>
          </a:p>
        </p:txBody>
      </p:sp>
      <p:sp>
        <p:nvSpPr>
          <p:cNvPr id="11" name="Rectangle: Rounded Corners 10">
            <a:extLst>
              <a:ext uri="{FF2B5EF4-FFF2-40B4-BE49-F238E27FC236}">
                <a16:creationId xmlns:a16="http://schemas.microsoft.com/office/drawing/2014/main" id="{F6F6845B-BB3C-E3B4-0027-F0E19FF6E287}"/>
              </a:ext>
            </a:extLst>
          </p:cNvPr>
          <p:cNvSpPr/>
          <p:nvPr/>
        </p:nvSpPr>
        <p:spPr>
          <a:xfrm>
            <a:off x="609600" y="1841500"/>
            <a:ext cx="5207000" cy="3302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68FA330-EBA0-C7BD-3511-978AC4C95BFB}"/>
              </a:ext>
            </a:extLst>
          </p:cNvPr>
          <p:cNvSpPr/>
          <p:nvPr/>
        </p:nvSpPr>
        <p:spPr>
          <a:xfrm>
            <a:off x="609600" y="1841500"/>
            <a:ext cx="88900" cy="3302000"/>
          </a:xfrm>
          <a:prstGeom prst="rect">
            <a:avLst/>
          </a:prstGeom>
          <a:solidFill>
            <a:srgbClr val="1565D8"/>
          </a:solidFill>
          <a:ln w="10160">
            <a:solidFill>
              <a:srgbClr val="1565D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A663CCB-3575-8E8A-C095-0C85BB7BC892}"/>
              </a:ext>
            </a:extLst>
          </p:cNvPr>
          <p:cNvSpPr txBox="1"/>
          <p:nvPr/>
        </p:nvSpPr>
        <p:spPr>
          <a:xfrm>
            <a:off x="876300" y="2044700"/>
            <a:ext cx="4724400" cy="230832"/>
          </a:xfrm>
          <a:prstGeom prst="rect">
            <a:avLst/>
          </a:prstGeom>
          <a:noFill/>
        </p:spPr>
        <p:txBody>
          <a:bodyPr vert="horz" wrap="square" lIns="0" tIns="0" rIns="0" bIns="0" rtlCol="0">
            <a:spAutoFit/>
          </a:bodyPr>
          <a:lstStyle/>
          <a:p>
            <a:r>
              <a:rPr lang="en-US" sz="1500" b="1">
                <a:solidFill>
                  <a:srgbClr val="1565D8"/>
                </a:solidFill>
                <a:latin typeface="Aptos Display" panose="020B0004020202020204" pitchFamily="34" charset="0"/>
              </a:rPr>
              <a:t>Research and standards</a:t>
            </a:r>
          </a:p>
        </p:txBody>
      </p:sp>
      <p:sp>
        <p:nvSpPr>
          <p:cNvPr id="14" name="TextBox 13">
            <a:extLst>
              <a:ext uri="{FF2B5EF4-FFF2-40B4-BE49-F238E27FC236}">
                <a16:creationId xmlns:a16="http://schemas.microsoft.com/office/drawing/2014/main" id="{4BBA4C8C-8970-449C-7C4F-4D18C7BE659C}"/>
              </a:ext>
            </a:extLst>
          </p:cNvPr>
          <p:cNvSpPr txBox="1"/>
          <p:nvPr/>
        </p:nvSpPr>
        <p:spPr>
          <a:xfrm>
            <a:off x="876300" y="2540000"/>
            <a:ext cx="4724400" cy="784830"/>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WHO - Disability and Health (1.3 billion / 16%)
ILO - Advancing disability inclusion in the global labour market (2025)
ILOSTAT - Labour market indicators for persons with disabilities
W3C - Web Content Accessibility Guidelines 2.1
Business Disability Forum / Evenbreak candidate survey</a:t>
            </a:r>
          </a:p>
        </p:txBody>
      </p:sp>
      <p:sp>
        <p:nvSpPr>
          <p:cNvPr id="15" name="Rectangle: Rounded Corners 14">
            <a:extLst>
              <a:ext uri="{FF2B5EF4-FFF2-40B4-BE49-F238E27FC236}">
                <a16:creationId xmlns:a16="http://schemas.microsoft.com/office/drawing/2014/main" id="{0EF68208-9D1C-C044-4997-F136F6357F48}"/>
              </a:ext>
            </a:extLst>
          </p:cNvPr>
          <p:cNvSpPr/>
          <p:nvPr/>
        </p:nvSpPr>
        <p:spPr>
          <a:xfrm>
            <a:off x="6375400" y="1841500"/>
            <a:ext cx="5207000" cy="3302000"/>
          </a:xfrm>
          <a:prstGeom prst="roundRect">
            <a:avLst/>
          </a:prstGeom>
          <a:solidFill>
            <a:srgbClr val="FFFFFF"/>
          </a:solidFill>
          <a:ln w="10160">
            <a:solidFill>
              <a:srgbClr val="CBD5E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56AD27A-A9E1-CB5C-72E7-DF1E86791E19}"/>
              </a:ext>
            </a:extLst>
          </p:cNvPr>
          <p:cNvSpPr/>
          <p:nvPr/>
        </p:nvSpPr>
        <p:spPr>
          <a:xfrm>
            <a:off x="6375400" y="1841500"/>
            <a:ext cx="88900" cy="3302000"/>
          </a:xfrm>
          <a:prstGeom prst="rect">
            <a:avLst/>
          </a:prstGeom>
          <a:solidFill>
            <a:srgbClr val="157A55"/>
          </a:solidFill>
          <a:ln w="10160">
            <a:solidFill>
              <a:srgbClr val="157A5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67DD002-380C-A99E-53DE-A2334B648C7D}"/>
              </a:ext>
            </a:extLst>
          </p:cNvPr>
          <p:cNvSpPr txBox="1"/>
          <p:nvPr/>
        </p:nvSpPr>
        <p:spPr>
          <a:xfrm>
            <a:off x="6642100" y="2044700"/>
            <a:ext cx="4724400" cy="230832"/>
          </a:xfrm>
          <a:prstGeom prst="rect">
            <a:avLst/>
          </a:prstGeom>
          <a:noFill/>
        </p:spPr>
        <p:txBody>
          <a:bodyPr vert="horz" wrap="square" lIns="0" tIns="0" rIns="0" bIns="0" rtlCol="0">
            <a:spAutoFit/>
          </a:bodyPr>
          <a:lstStyle/>
          <a:p>
            <a:r>
              <a:rPr lang="en-US" sz="1500" b="1">
                <a:solidFill>
                  <a:srgbClr val="157A55"/>
                </a:solidFill>
                <a:latin typeface="Aptos Display" panose="020B0004020202020204" pitchFamily="34" charset="0"/>
              </a:rPr>
              <a:t>Project evidence</a:t>
            </a:r>
          </a:p>
        </p:txBody>
      </p:sp>
      <p:sp>
        <p:nvSpPr>
          <p:cNvPr id="18" name="TextBox 17">
            <a:extLst>
              <a:ext uri="{FF2B5EF4-FFF2-40B4-BE49-F238E27FC236}">
                <a16:creationId xmlns:a16="http://schemas.microsoft.com/office/drawing/2014/main" id="{22F2738F-9BA8-4940-BA50-B008A05222A8}"/>
              </a:ext>
            </a:extLst>
          </p:cNvPr>
          <p:cNvSpPr txBox="1"/>
          <p:nvPr/>
        </p:nvSpPr>
        <p:spPr>
          <a:xfrm>
            <a:off x="6642100" y="2540000"/>
            <a:ext cx="4724400" cy="941796"/>
          </a:xfrm>
          <a:prstGeom prst="rect">
            <a:avLst/>
          </a:prstGeom>
          <a:noFill/>
        </p:spPr>
        <p:txBody>
          <a:bodyPr vert="horz" wrap="square" lIns="0" tIns="0" rIns="0" bIns="0" rtlCol="0">
            <a:spAutoFit/>
          </a:bodyPr>
          <a:lstStyle/>
          <a:p>
            <a:r>
              <a:rPr lang="en-US" sz="1020">
                <a:solidFill>
                  <a:srgbClr val="17243A"/>
                </a:solidFill>
                <a:latin typeface="Aptos" panose="020B0004020202020204" pitchFamily="34" charset="0"/>
              </a:rPr>
              <a:t>Final engineering report - September 2026
JoIn Final Test Register - 310 cases
docs/testing/staging-2026-09-10/
docs/wcag-audit/
render.yaml and staging-deployment branch
https://join-hospitality-zm-staging.onrender.com/</a:t>
            </a:r>
          </a:p>
        </p:txBody>
      </p:sp>
      <p:sp>
        <p:nvSpPr>
          <p:cNvPr id="19" name="TextBox 18">
            <a:extLst>
              <a:ext uri="{FF2B5EF4-FFF2-40B4-BE49-F238E27FC236}">
                <a16:creationId xmlns:a16="http://schemas.microsoft.com/office/drawing/2014/main" id="{8A713876-162A-F667-AB79-DDA2A9C5898F}"/>
              </a:ext>
            </a:extLst>
          </p:cNvPr>
          <p:cNvSpPr txBox="1"/>
          <p:nvPr/>
        </p:nvSpPr>
        <p:spPr>
          <a:xfrm>
            <a:off x="1524000" y="5613400"/>
            <a:ext cx="9144000" cy="169277"/>
          </a:xfrm>
          <a:prstGeom prst="rect">
            <a:avLst/>
          </a:prstGeom>
          <a:noFill/>
        </p:spPr>
        <p:txBody>
          <a:bodyPr vert="horz" wrap="square" lIns="0" tIns="0" rIns="0" bIns="0" rtlCol="0">
            <a:spAutoFit/>
          </a:bodyPr>
          <a:lstStyle/>
          <a:p>
            <a:pPr algn="ctr"/>
            <a:r>
              <a:rPr lang="en-US" sz="1100" b="1">
                <a:solidFill>
                  <a:srgbClr val="0B1F49"/>
                </a:solidFill>
                <a:latin typeface="Aptos Display" panose="020B0004020202020204" pitchFamily="34" charset="0"/>
              </a:rPr>
              <a:t>Evidence policy: automated logs, screenshots, human observations and team-confirmed manual cases remain explicitly distinguished.</a:t>
            </a:r>
          </a:p>
        </p:txBody>
      </p:sp>
    </p:spTree>
    <p:extLst>
      <p:ext uri="{BB962C8B-B14F-4D97-AF65-F5344CB8AC3E}">
        <p14:creationId xmlns:p14="http://schemas.microsoft.com/office/powerpoint/2010/main" val="14678056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4784</Words>
  <Application>Microsoft Office PowerPoint</Application>
  <PresentationFormat>Custom</PresentationFormat>
  <Paragraphs>614</Paragraphs>
  <Slides>33</Slides>
  <Notes>33</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Zaidan Mansour</dc:creator>
  <cp:lastModifiedBy>Zaidan Mansour</cp:lastModifiedBy>
  <cp:revision>1</cp:revision>
  <dcterms:created xsi:type="dcterms:W3CDTF">2026-09-11T17:55:15Z</dcterms:created>
  <dcterms:modified xsi:type="dcterms:W3CDTF">2026-09-11T17:55:15Z</dcterms:modified>
</cp:coreProperties>
</file>