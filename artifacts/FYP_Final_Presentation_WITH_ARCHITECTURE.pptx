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25ACB-175F-4D53-9CB3-F3635277BB66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2468A-46A1-484D-92E4-51E97632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15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seconds. Introduce both presenters, the supervisors, and the project. State that the platform connects verified abilities to real hospitality tasks while keeping people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63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Give the three numbers, then frame the issue carefully. JoIn reduces recruitment barriers; it does not claim to create jobs or solve unemployment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5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50 seconds. Compare solution categories, not brands. The research gap is integration: accessible interaction, task evidence, explainability and human control in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24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Name the course lifecycle. Explain that JoIn used evolutionary prototyping and iterative increments, with V-model-style requirement-to-test traceability in each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82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Explain the sources and elicitation techniques, then use the four figures as delivery evidence. They describe the staging prototype, not production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6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Walk across the four roles. Mention job and training opportunities, and stress that authorization is enforced by the backend rather than trusted to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14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NFRs as measurable qualities. State WCAG as a target, not a certificate, and introduce the main trade-off between security/external dependencies and response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15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Users interact through React. Standard application requests go to Symfony, which owns authentication, authorization, validation, workflow and persistence. Symfony calls the deterministic scoring service and the protected profile-extraction endpoint. For live transcription and navigation, React calls the voice service directly. Only the voice/profile service calls OpenAI. Neither Python service accesses persistence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C0E44-6376-4E44-9AE2-F42C8312E1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2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Connect each design choice to its risk. Finish with the security evidence and keep the open upload defect visible; a successful campaign should still expose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08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Point to the four Render resources and the purpose-specific storage buckets. render.yaml and Docker boundaries make the integration reproducible. This is staging evidence, not a production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50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editable transcript, explicit consent, review and backend validation. Then show deployed English, French and Arabic output. The principal retained weakness was preference extraction, not unsafe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60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Separate acoustic quality from action safety. The deterministic registry authorizes commands; manual observations still show noise and character-by-character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30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numerator, denominator and feasibility factors. The policy is appropriate because it is versionable, testable and individually explainable. Forty-five staging oracle cases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8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Trace the four steps. Employers define actual requirements and assistance. The candidate chooses. The engine explains. Employers remain responsible for selection, with an auditable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44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70 seconds. Explain the overlap: requirements informed design while prototypes refined needs; build and integration overlapped; verification intensified before delivery. Project control used focused commits, a staging branch, infrastructure as code, traceability and explicit risk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70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verification versus validation, then show the layered evidence. Testing was not an end-of-project activity; it was traced from specifications and repeated after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23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arithmetic: 274 first passes, 15 partial noisy-transcription cases corrected, and 21 retained failures produce 289 final passes out of 310. Highlight the three defect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97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Distinguish the 20-person Arc en Ciel session from the focused JAWS workflow. These validate relevance and identify issues; they do not establish universal WCAG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3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Separate functional correctness from latency. Cost includes effort, infrastructure, external services and maintenance. The next cycle begins with known defects and production governance, not an unsupported cache or scaling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9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seconds. Conclude with only three ideas: people remain in control, the engineering decisions are explainable, and the evidence is transparent about limits. Then invite questions while facing the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26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28CB-9B32-EE5D-4F4E-902385DA3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3D2FB-22A7-8F41-49C5-7C1366330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75A37-6D15-662D-7E67-6A66C8C8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83ED5-29D8-C2D4-A5B0-068A2F9E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97FD-FF05-777C-FC73-1E068FED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CED7-167B-AED0-D2AF-C982D44F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5EBCB-C98F-C4D9-D14A-5520A7F9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ADB8-7B70-BDEE-9F12-66EDCE37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95A88-B668-079F-A763-B867248C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3C7D-7D54-AE43-7D38-A145ECF7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8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C05B-2124-C582-ACA6-FE586123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2EA62-679E-BA37-6FF3-42D5B2939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75815-C249-CDE2-CB81-1F726D39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CB965-002A-BDAB-2F0D-8C2ED29D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96339-651B-8556-0507-7F7BA275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C2AB-0182-DD92-FC82-62C36A54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F3F48-9763-4168-D4FA-55AD1E8F0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721F-645A-FF86-3425-D58B6F17C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F5C77-7919-081A-84AB-4F4FADEE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733B8-6AF5-9FB1-B063-5F657CA0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19C9B-4751-DF23-9388-B5EFBDBA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50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3AE8-C1BF-0B9B-41C0-AA71B165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53C76-CCD1-F0E5-7FFA-8596CF16E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CB1D2-11D1-BA2C-C666-D6E68EFCF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35F32-8EF3-4259-B0EF-2B664DBC0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92E62-DB62-D3A4-F779-2778EECA2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C1900-395D-DEF8-5AA7-CEE1CDD4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ED7A4-E03F-282A-1DAE-4E0E073C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E17776-BBA2-802B-0DA2-B68CD11E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7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2394-F2EA-C0D6-324D-3E039EB1D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6048-3C70-CA23-6093-381B4456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2EB4C-6EAA-68C1-52DC-C8F771C4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ECBE7-D091-451B-ABC8-46B10804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1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443D6-DBBF-94DC-857C-398BA611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C672B-1DA3-4260-D871-F2CFB7E2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0D097-2F1C-3452-71D3-370B2DA7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7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3C4E5-2995-CFC8-9AE4-04ED7C1A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D4A32-079E-EF17-D66C-31F1CB97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3423C-10DE-607A-F2AE-8A52965E4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6EF32-FED6-D666-7C21-796C8740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58ABF-F34B-1872-6489-C24CBF92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D38F-6E68-E3B8-D364-1972FC6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1987-F353-7D0B-17D1-5611766E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23095-C02C-EF56-62BA-D64750E47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FC188-2D3D-9590-3595-AD11381D6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4FE32-E76C-77CB-61E5-3E4727A1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7A21D-98E7-6969-009E-A3BAE527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DE048-FB3D-25A9-B962-9283A9FD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E2B4-58BF-01EC-0C17-6D2F560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6B71B-9413-EA97-AD5B-0C478F150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815CD-901A-3241-DB9B-64F726AA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C9E68-78A6-77AF-28BC-BBB87329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75084-BE58-A0E7-BC9E-7B1ACEEA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C0D0A-5844-F7A1-F52D-86329F257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B6F12-DD85-92BD-7619-7E72BD5A4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D4B32-923E-A573-A17D-EA3B6470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780D4-F74A-0014-043F-B1B8348B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CB30-0B3E-CC38-91BD-5BD60114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6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E679A-C2BE-AD3F-2F67-9A08F7EA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B9C3F-1A6E-0805-ED4F-70681E51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A67DA-5DB0-8155-50D6-ECBD00B86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C5E1-A523-70DC-63CB-83673AFD7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92E39-F84A-C578-71E3-788CC6C6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5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iversite Saint-Joseph de Beyrouth and ESIB logo">
            <a:extLst>
              <a:ext uri="{FF2B5EF4-FFF2-40B4-BE49-F238E27FC236}">
                <a16:creationId xmlns:a16="http://schemas.microsoft.com/office/drawing/2014/main" id="{DC3F16F2-D7A8-C514-E0DA-F42B59204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68818"/>
            <a:ext cx="3200400" cy="1053064"/>
          </a:xfrm>
          <a:prstGeom prst="rect">
            <a:avLst/>
          </a:prstGeom>
        </p:spPr>
      </p:pic>
      <p:pic>
        <p:nvPicPr>
          <p:cNvPr id="5" name="Picture 4" descr="JoIn Hospitality logo">
            <a:extLst>
              <a:ext uri="{FF2B5EF4-FFF2-40B4-BE49-F238E27FC236}">
                <a16:creationId xmlns:a16="http://schemas.microsoft.com/office/drawing/2014/main" id="{F7EF0309-F60C-56E8-27EB-4A641C62D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722023"/>
            <a:ext cx="1549400" cy="12864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455EC0-9ED8-743F-4CF5-FC941B4BA164}"/>
              </a:ext>
            </a:extLst>
          </p:cNvPr>
          <p:cNvSpPr/>
          <p:nvPr/>
        </p:nvSpPr>
        <p:spPr>
          <a:xfrm>
            <a:off x="9271000" y="0"/>
            <a:ext cx="228600" cy="6858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4C4EC-A47E-A3BE-8D91-69FE2BE08752}"/>
              </a:ext>
            </a:extLst>
          </p:cNvPr>
          <p:cNvSpPr/>
          <p:nvPr/>
        </p:nvSpPr>
        <p:spPr>
          <a:xfrm>
            <a:off x="9779000" y="0"/>
            <a:ext cx="127000" cy="68580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8E33B-86BD-269B-951E-8DC2A0D15CF4}"/>
              </a:ext>
            </a:extLst>
          </p:cNvPr>
          <p:cNvSpPr/>
          <p:nvPr/>
        </p:nvSpPr>
        <p:spPr>
          <a:xfrm>
            <a:off x="10312400" y="0"/>
            <a:ext cx="228600" cy="6858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39299-F645-8802-FCC9-C50CD25B3881}"/>
              </a:ext>
            </a:extLst>
          </p:cNvPr>
          <p:cNvSpPr/>
          <p:nvPr/>
        </p:nvSpPr>
        <p:spPr>
          <a:xfrm>
            <a:off x="10820400" y="0"/>
            <a:ext cx="127000" cy="68580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5355D-98E8-C26C-113B-3EE2B109E16A}"/>
              </a:ext>
            </a:extLst>
          </p:cNvPr>
          <p:cNvSpPr txBox="1"/>
          <p:nvPr/>
        </p:nvSpPr>
        <p:spPr>
          <a:xfrm>
            <a:off x="609600" y="18415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INCLUSIVE EMPLOYMENT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D5460-3F21-CCDA-620B-DE734301D61C}"/>
              </a:ext>
            </a:extLst>
          </p:cNvPr>
          <p:cNvSpPr txBox="1"/>
          <p:nvPr/>
        </p:nvSpPr>
        <p:spPr>
          <a:xfrm>
            <a:off x="609600" y="23114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B1F49"/>
                </a:solidFill>
                <a:latin typeface="Aptos Display" panose="020B0004020202020204" pitchFamily="34" charset="0"/>
              </a:rPr>
              <a:t>Accessible, AI-Assisted Recruitment for Persons with Physical Disabilities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3FF03-76D2-B0E6-2180-79E709E01FD8}"/>
              </a:ext>
            </a:extLst>
          </p:cNvPr>
          <p:cNvSpPr txBox="1"/>
          <p:nvPr/>
        </p:nvSpPr>
        <p:spPr>
          <a:xfrm>
            <a:off x="609600" y="38100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565D8"/>
                </a:solidFill>
                <a:latin typeface="Aptos Display" panose="020B0004020202020204" pitchFamily="34" charset="0"/>
              </a:rPr>
              <a:t>Final Engineering Presentation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B5DF3-3DA7-C50F-1F24-190F70A74C1B}"/>
              </a:ext>
            </a:extLst>
          </p:cNvPr>
          <p:cNvSpPr txBox="1"/>
          <p:nvPr/>
        </p:nvSpPr>
        <p:spPr>
          <a:xfrm>
            <a:off x="609600" y="4597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7243A"/>
                </a:solidFill>
                <a:latin typeface="Aptos" panose="020B0004020202020204" pitchFamily="34" charset="0"/>
              </a:rPr>
              <a:t>Zaidan MANSOUR  |  Charbel RIZK
Computer and Communications Engineering - Software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2CF469-76CA-6081-1F23-628A9DBDDF09}"/>
              </a:ext>
            </a:extLst>
          </p:cNvPr>
          <p:cNvSpPr txBox="1"/>
          <p:nvPr/>
        </p:nvSpPr>
        <p:spPr>
          <a:xfrm>
            <a:off x="609600" y="56134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Supervisors: Dr. Jean Yves Youssef | Dr. Roger Obeid | Dr. Rima Kilany
14 September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0F9AD4-D251-4C96-34DB-212F41E24AA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2F8B71-40B4-C20C-E404-F5ADFA4C90D7}"/>
              </a:ext>
            </a:extLst>
          </p:cNvPr>
          <p:cNvSpPr txBox="1"/>
          <p:nvPr/>
        </p:nvSpPr>
        <p:spPr>
          <a:xfrm>
            <a:off x="355600" y="65913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UNIVERSITE SAINT-JOSEPH DE BEYROUTH  |  ESIB</a:t>
            </a:r>
          </a:p>
        </p:txBody>
      </p:sp>
    </p:spTree>
    <p:extLst>
      <p:ext uri="{BB962C8B-B14F-4D97-AF65-F5344CB8AC3E}">
        <p14:creationId xmlns:p14="http://schemas.microsoft.com/office/powerpoint/2010/main" val="280781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6BC62D-A9B7-6360-8B23-3DEA194B2808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6E3CEE2-1411-C25D-1837-BD69AD38E742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3FC41-6A12-FFBE-5092-3AA6ABD3D9A8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4CCDE-6D86-CC54-C3B0-96CF1E5BB2AD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DF6FD-E4B6-702D-38E3-D1C7E1A84B41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E8D0F13-F08C-DFDA-ED37-02FCDFB1C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44C928-BF9D-1478-9CF4-A166547168A4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CONTEXT AND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27DB9-5F99-90C5-C550-69CBA3FD9263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Capability and opportunity remain disconnected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EC336-7F17-25D0-5A8E-0EE167994D0D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Inaccessible processes hide ability and reduce trust in task-level decisions.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771B1-2CF8-853D-7D5D-D5093F06819F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502E4-20BD-B108-9894-2A157C235EA8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F863C-1288-17B2-2EBB-19AB0991D4AB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14900-4B8E-C61C-D722-42AB5C154057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7EDC1F-BDD8-40C7-9AB8-2EF03E41B64B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3DA3C-3438-44BD-E4B2-123932CDB515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7BF84F-9090-6834-7972-8BE9F2E79C4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C833D-718A-FB44-4746-6AA06B9E4EF5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DC6EF7-ABBC-0252-4FD0-5E261E1918F2}"/>
              </a:ext>
            </a:extLst>
          </p:cNvPr>
          <p:cNvSpPr/>
          <p:nvPr/>
        </p:nvSpPr>
        <p:spPr>
          <a:xfrm>
            <a:off x="533400" y="2006600"/>
            <a:ext cx="3111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5FCDE-D40F-7FEF-D77E-5EB954BF54A8}"/>
              </a:ext>
            </a:extLst>
          </p:cNvPr>
          <p:cNvSpPr/>
          <p:nvPr/>
        </p:nvSpPr>
        <p:spPr>
          <a:xfrm>
            <a:off x="533400" y="20066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69DB4-7FEC-4801-3D26-FF289E581760}"/>
              </a:ext>
            </a:extLst>
          </p:cNvPr>
          <p:cNvSpPr txBox="1"/>
          <p:nvPr/>
        </p:nvSpPr>
        <p:spPr>
          <a:xfrm>
            <a:off x="762000" y="2133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1.3B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BF570-DBC8-4CB3-8439-620F6A560F9C}"/>
              </a:ext>
            </a:extLst>
          </p:cNvPr>
          <p:cNvSpPr txBox="1"/>
          <p:nvPr/>
        </p:nvSpPr>
        <p:spPr>
          <a:xfrm>
            <a:off x="762000" y="2616200"/>
            <a:ext cx="2705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people with significant disability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4CA7A7-8683-A3C3-9CC7-83B84F6B1D90}"/>
              </a:ext>
            </a:extLst>
          </p:cNvPr>
          <p:cNvSpPr/>
          <p:nvPr/>
        </p:nvSpPr>
        <p:spPr>
          <a:xfrm>
            <a:off x="4533900" y="2006600"/>
            <a:ext cx="3111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479AD2-0E60-4E0A-2393-BA9674DACEF1}"/>
              </a:ext>
            </a:extLst>
          </p:cNvPr>
          <p:cNvSpPr/>
          <p:nvPr/>
        </p:nvSpPr>
        <p:spPr>
          <a:xfrm>
            <a:off x="4533900" y="2006600"/>
            <a:ext cx="88900" cy="1270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5CED6B-811C-4CA4-195F-5CBDADDD233A}"/>
              </a:ext>
            </a:extLst>
          </p:cNvPr>
          <p:cNvSpPr txBox="1"/>
          <p:nvPr/>
        </p:nvSpPr>
        <p:spPr>
          <a:xfrm>
            <a:off x="4762500" y="2133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30% lower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9A073C-0E5E-08F3-8DF3-68ABE5BE758D}"/>
              </a:ext>
            </a:extLst>
          </p:cNvPr>
          <p:cNvSpPr txBox="1"/>
          <p:nvPr/>
        </p:nvSpPr>
        <p:spPr>
          <a:xfrm>
            <a:off x="4762500" y="2616200"/>
            <a:ext cx="2705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labour-market participation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77A0B5-3D47-A614-31DA-D18398E3309C}"/>
              </a:ext>
            </a:extLst>
          </p:cNvPr>
          <p:cNvSpPr/>
          <p:nvPr/>
        </p:nvSpPr>
        <p:spPr>
          <a:xfrm>
            <a:off x="8534400" y="2006600"/>
            <a:ext cx="3111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A4725-5DDA-60F0-348D-64C1D3C3688A}"/>
              </a:ext>
            </a:extLst>
          </p:cNvPr>
          <p:cNvSpPr/>
          <p:nvPr/>
        </p:nvSpPr>
        <p:spPr>
          <a:xfrm>
            <a:off x="8534400" y="20066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9B984-DEBF-5647-66D0-78DB8EF30D8C}"/>
              </a:ext>
            </a:extLst>
          </p:cNvPr>
          <p:cNvSpPr txBox="1"/>
          <p:nvPr/>
        </p:nvSpPr>
        <p:spPr>
          <a:xfrm>
            <a:off x="8763000" y="2133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&gt;80%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B030-B527-08B2-477D-DC85206334F2}"/>
              </a:ext>
            </a:extLst>
          </p:cNvPr>
          <p:cNvSpPr txBox="1"/>
          <p:nvPr/>
        </p:nvSpPr>
        <p:spPr>
          <a:xfrm>
            <a:off x="8763000" y="2616200"/>
            <a:ext cx="2705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inclusive-employer barrier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FD0F51-6E13-B112-89DE-9BE98765CD92}"/>
              </a:ext>
            </a:extLst>
          </p:cNvPr>
          <p:cNvSpPr/>
          <p:nvPr/>
        </p:nvSpPr>
        <p:spPr>
          <a:xfrm>
            <a:off x="1270000" y="3581400"/>
            <a:ext cx="9652000" cy="190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4B8D7-DE5D-E004-139D-78BB23148043}"/>
              </a:ext>
            </a:extLst>
          </p:cNvPr>
          <p:cNvSpPr txBox="1"/>
          <p:nvPr/>
        </p:nvSpPr>
        <p:spPr>
          <a:xfrm>
            <a:off x="1714500" y="393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Aptos Display" panose="020B0004020202020204" pitchFamily="34" charset="0"/>
              </a:rPr>
              <a:t>The engineering problem is not a lack of ability.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AA61F5-0D00-5F70-B83C-DA06297329EE}"/>
              </a:ext>
            </a:extLst>
          </p:cNvPr>
          <p:cNvSpPr txBox="1"/>
          <p:nvPr/>
        </p:nvSpPr>
        <p:spPr>
          <a:xfrm>
            <a:off x="1841500" y="45974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>
                <a:solidFill>
                  <a:srgbClr val="DDE7F5"/>
                </a:solidFill>
                <a:latin typeface="Aptos" panose="020B0004020202020204" pitchFamily="34" charset="0"/>
              </a:rPr>
              <a:t>It is the distance between accessible recruitment, verified candidate profiles, real job tasks, workplace support and employers prepared to evaluate ability.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5E541C-1884-EC89-F150-B870B0B3C593}"/>
              </a:ext>
            </a:extLst>
          </p:cNvPr>
          <p:cNvSpPr txBox="1"/>
          <p:nvPr/>
        </p:nvSpPr>
        <p:spPr>
          <a:xfrm>
            <a:off x="533400" y="62357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Sources retained from the report: WHO; ILO Global Disability Summit 2025; Business Disability Forum / Evenbreak survey.</a:t>
            </a:r>
          </a:p>
        </p:txBody>
      </p:sp>
    </p:spTree>
    <p:extLst>
      <p:ext uri="{BB962C8B-B14F-4D97-AF65-F5344CB8AC3E}">
        <p14:creationId xmlns:p14="http://schemas.microsoft.com/office/powerpoint/2010/main" val="109453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3B63F2-94AB-0024-1F17-B601080863E8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A7B58F2-8405-0782-E95C-127B1ED89602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07E58-D474-2CD9-ADFB-4A17E2E9118B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0ACB3-43F6-7A4F-6A74-5FC29846BEC0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3D25B-014E-93E1-9777-A2809AE56450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76E9A366-3016-A0A2-0002-5734F3597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B535B1-47B6-D047-A865-66F93D3542EC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BACKGROUND RESEARCH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2895F-81A3-30B2-C0FB-EE33131DC14E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Related approaches and the remaining gap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45C5D-5EFB-073E-2717-F567F05E6EC9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The project combines strengths that usually appear in separate solutions.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FC068-18DD-2B4B-BD30-C64303CCEA20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1DC48-1C15-EC29-6D19-58B6C990401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55A346-AD22-2192-619D-F7A8C6979396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22DAB-C4C3-441A-0687-E767E18F4FBC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0C17D3-4507-1BD8-0C17-85988E6A2CEE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AF5C48-4EEB-F5C1-02E6-E46603132B7C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A71A60-075E-B640-81E4-38727637B9E2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85C6E-3503-1BC6-F94A-C4CEDD71D7A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93591B-DFA0-1919-C404-96EB7E382FC0}"/>
              </a:ext>
            </a:extLst>
          </p:cNvPr>
          <p:cNvSpPr/>
          <p:nvPr/>
        </p:nvSpPr>
        <p:spPr>
          <a:xfrm>
            <a:off x="533400" y="2032000"/>
            <a:ext cx="2603500" cy="33020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86015D-1EE5-FA10-01C5-6F093CAD2BAB}"/>
              </a:ext>
            </a:extLst>
          </p:cNvPr>
          <p:cNvSpPr/>
          <p:nvPr/>
        </p:nvSpPr>
        <p:spPr>
          <a:xfrm>
            <a:off x="533400" y="2032000"/>
            <a:ext cx="101600" cy="33020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5650A-1B19-A9EB-78BF-A53AE68DB14D}"/>
              </a:ext>
            </a:extLst>
          </p:cNvPr>
          <p:cNvSpPr txBox="1"/>
          <p:nvPr/>
        </p:nvSpPr>
        <p:spPr>
          <a:xfrm>
            <a:off x="8128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General portals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64365-E72B-11DD-3940-D8BCBFE6BE33}"/>
              </a:ext>
            </a:extLst>
          </p:cNvPr>
          <p:cNvSpPr txBox="1"/>
          <p:nvPr/>
        </p:nvSpPr>
        <p:spPr>
          <a:xfrm>
            <a:off x="8128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Large reach
Familiar workflow
Generic candidate profiles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DC8C2A-6464-9F94-2BAB-636A6307841E}"/>
              </a:ext>
            </a:extLst>
          </p:cNvPr>
          <p:cNvSpPr/>
          <p:nvPr/>
        </p:nvSpPr>
        <p:spPr>
          <a:xfrm>
            <a:off x="3378200" y="2032000"/>
            <a:ext cx="2603500" cy="33020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1EA8E4-F254-2EB6-C4E5-A0C8F140AC13}"/>
              </a:ext>
            </a:extLst>
          </p:cNvPr>
          <p:cNvSpPr/>
          <p:nvPr/>
        </p:nvSpPr>
        <p:spPr>
          <a:xfrm>
            <a:off x="3378200" y="2032000"/>
            <a:ext cx="101600" cy="33020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C5147F-ECE0-FF12-87D9-D408AB85C512}"/>
              </a:ext>
            </a:extLst>
          </p:cNvPr>
          <p:cNvSpPr txBox="1"/>
          <p:nvPr/>
        </p:nvSpPr>
        <p:spPr>
          <a:xfrm>
            <a:off x="36576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Inclusive portals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17391B-4036-A779-A8B1-27004FF486FD}"/>
              </a:ext>
            </a:extLst>
          </p:cNvPr>
          <p:cNvSpPr txBox="1"/>
          <p:nvPr/>
        </p:nvSpPr>
        <p:spPr>
          <a:xfrm>
            <a:off x="36576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Targeted visibility
Employer awareness
Limited task-level evidence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49EF59-59AA-F5EE-18EC-632BB49922E3}"/>
              </a:ext>
            </a:extLst>
          </p:cNvPr>
          <p:cNvSpPr/>
          <p:nvPr/>
        </p:nvSpPr>
        <p:spPr>
          <a:xfrm>
            <a:off x="6223000" y="2032000"/>
            <a:ext cx="2603500" cy="33020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EC57E6A-7981-5697-E859-B04A76279337}"/>
              </a:ext>
            </a:extLst>
          </p:cNvPr>
          <p:cNvSpPr/>
          <p:nvPr/>
        </p:nvSpPr>
        <p:spPr>
          <a:xfrm>
            <a:off x="6223000" y="2032000"/>
            <a:ext cx="101600" cy="3302000"/>
          </a:xfrm>
          <a:prstGeom prst="round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A336AE-9139-3E90-1531-6C42A56F8E0C}"/>
              </a:ext>
            </a:extLst>
          </p:cNvPr>
          <p:cNvSpPr txBox="1"/>
          <p:nvPr/>
        </p:nvSpPr>
        <p:spPr>
          <a:xfrm>
            <a:off x="65024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C27A19"/>
                </a:solidFill>
                <a:latin typeface="Aptos Display" panose="020B0004020202020204" pitchFamily="34" charset="0"/>
              </a:rPr>
              <a:t>AI screening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204D6-6C33-A1F5-70F2-B35747565D8B}"/>
              </a:ext>
            </a:extLst>
          </p:cNvPr>
          <p:cNvSpPr txBox="1"/>
          <p:nvPr/>
        </p:nvSpPr>
        <p:spPr>
          <a:xfrm>
            <a:off x="65024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Speed and scale
Bias and privacy risks
Often opaque decisions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9662F-C872-0272-EFB2-8B031C535666}"/>
              </a:ext>
            </a:extLst>
          </p:cNvPr>
          <p:cNvSpPr/>
          <p:nvPr/>
        </p:nvSpPr>
        <p:spPr>
          <a:xfrm>
            <a:off x="9067800" y="2032000"/>
            <a:ext cx="2603500" cy="33020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C7C7D9-F4E4-F998-F9FD-F944A2B2F98E}"/>
              </a:ext>
            </a:extLst>
          </p:cNvPr>
          <p:cNvSpPr/>
          <p:nvPr/>
        </p:nvSpPr>
        <p:spPr>
          <a:xfrm>
            <a:off x="9067800" y="2032000"/>
            <a:ext cx="101600" cy="33020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E6DD6-6D09-B367-5C20-6FC9EB7C477C}"/>
              </a:ext>
            </a:extLst>
          </p:cNvPr>
          <p:cNvSpPr txBox="1"/>
          <p:nvPr/>
        </p:nvSpPr>
        <p:spPr>
          <a:xfrm>
            <a:off x="93472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Human coaching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0CD88-D366-2F6E-0AFD-9E3AACC9A170}"/>
              </a:ext>
            </a:extLst>
          </p:cNvPr>
          <p:cNvSpPr txBox="1"/>
          <p:nvPr/>
        </p:nvSpPr>
        <p:spPr>
          <a:xfrm>
            <a:off x="93472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Contextual judgement
Adaptation expertise
Difficult to scale digitally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D7CD45-8C35-0466-1E7D-F0766F6CAA49}"/>
              </a:ext>
            </a:extLst>
          </p:cNvPr>
          <p:cNvSpPr txBox="1"/>
          <p:nvPr/>
        </p:nvSpPr>
        <p:spPr>
          <a:xfrm>
            <a:off x="1079500" y="5638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 b="1">
                <a:solidFill>
                  <a:srgbClr val="0B1F49"/>
                </a:solidFill>
                <a:latin typeface="Aptos" panose="020B0004020202020204" pitchFamily="34" charset="0"/>
              </a:rPr>
              <a:t>JoIn gap: one accessible workflow joining controlled hospitality tasks, candidate abilities, workplace assistance, explainable matching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68561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E4A75C-AF05-00D6-FD30-3685A33F79CC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AFBB2B3-2301-A056-A8D1-2A29FAF0EE20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AF56C-6C56-1508-F327-1BE2B88B48D5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89210-E0CE-5F7E-2EEB-35FDE0B9E45D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B5B795-034D-9DC7-C368-4EAE0EEE8F05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23A94ED5-C0E2-F760-F7A2-8F6A7A3ED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561860-758C-772B-E58A-D225BC8C65A1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GENIE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B85C0-63E1-02E3-3A63-501BFC348D92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An iterative lifecycle with V-model traceability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6E258-D110-482D-684A-F87F1276CB49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Evolutionary delivery uses V-model traceability after every material change.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BF93E-9D8F-81D6-E94A-469C2E5B8CFF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2EAFE-7DF8-6DDE-8822-99DC876F2D6C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9DDEE7-647D-AF41-4501-8E19796EEB49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D0DAD-B3E6-02B1-E303-426606BB0985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ECCDE-773C-49EB-8645-147353D1391E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55D211-6C3A-3CD3-F2DE-B98AD823C10F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19D24-151E-F14C-25AE-09228AEDBC71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56E8F3-81B7-E9C5-71DC-BAD466F9610E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E98B3E-8601-AE53-84F1-0B80F72F52CC}"/>
              </a:ext>
            </a:extLst>
          </p:cNvPr>
          <p:cNvSpPr/>
          <p:nvPr/>
        </p:nvSpPr>
        <p:spPr>
          <a:xfrm>
            <a:off x="5334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85673-E303-62CA-87E3-8B327BD586E2}"/>
              </a:ext>
            </a:extLst>
          </p:cNvPr>
          <p:cNvSpPr txBox="1"/>
          <p:nvPr/>
        </p:nvSpPr>
        <p:spPr>
          <a:xfrm>
            <a:off x="7620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A64B2A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DB6BC-86CE-254D-9390-E9267B17FA84}"/>
              </a:ext>
            </a:extLst>
          </p:cNvPr>
          <p:cNvSpPr txBox="1"/>
          <p:nvPr/>
        </p:nvSpPr>
        <p:spPr>
          <a:xfrm>
            <a:off x="13970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Discover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9BF0D-5C3B-8A7E-9B25-444A96522C0A}"/>
              </a:ext>
            </a:extLst>
          </p:cNvPr>
          <p:cNvSpPr txBox="1"/>
          <p:nvPr/>
        </p:nvSpPr>
        <p:spPr>
          <a:xfrm>
            <a:off x="8382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Needs
Research
Stakeholders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9A61A6-18B0-D3CA-91BD-4C10A3A27698}"/>
              </a:ext>
            </a:extLst>
          </p:cNvPr>
          <p:cNvCxnSpPr/>
          <p:nvPr/>
        </p:nvCxnSpPr>
        <p:spPr>
          <a:xfrm>
            <a:off x="2997200" y="3606800"/>
            <a:ext cx="38100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7550AF-33AB-54F7-C33F-731C3901B708}"/>
              </a:ext>
            </a:extLst>
          </p:cNvPr>
          <p:cNvSpPr/>
          <p:nvPr/>
        </p:nvSpPr>
        <p:spPr>
          <a:xfrm>
            <a:off x="34290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FD3F9-E15F-B0F6-7CE1-540D5E737E64}"/>
              </a:ext>
            </a:extLst>
          </p:cNvPr>
          <p:cNvSpPr txBox="1"/>
          <p:nvPr/>
        </p:nvSpPr>
        <p:spPr>
          <a:xfrm>
            <a:off x="36576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565D8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764D4C-A56A-FFE3-4871-42E33386C3E9}"/>
              </a:ext>
            </a:extLst>
          </p:cNvPr>
          <p:cNvSpPr txBox="1"/>
          <p:nvPr/>
        </p:nvSpPr>
        <p:spPr>
          <a:xfrm>
            <a:off x="42926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Specify + design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B8468-16E3-70CA-C202-0CE05CFA4C46}"/>
              </a:ext>
            </a:extLst>
          </p:cNvPr>
          <p:cNvSpPr txBox="1"/>
          <p:nvPr/>
        </p:nvSpPr>
        <p:spPr>
          <a:xfrm>
            <a:off x="37338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FR / NFR
Architecture
Risk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BE8B42-1DC7-BF20-A509-AE9A2272BF70}"/>
              </a:ext>
            </a:extLst>
          </p:cNvPr>
          <p:cNvCxnSpPr/>
          <p:nvPr/>
        </p:nvCxnSpPr>
        <p:spPr>
          <a:xfrm>
            <a:off x="5892800" y="3606800"/>
            <a:ext cx="38100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1FB4FC-861E-E0FD-3870-22143E3C465C}"/>
              </a:ext>
            </a:extLst>
          </p:cNvPr>
          <p:cNvSpPr/>
          <p:nvPr/>
        </p:nvSpPr>
        <p:spPr>
          <a:xfrm>
            <a:off x="63246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51E205-DDC8-31F5-2257-B85CDAF7B9A2}"/>
              </a:ext>
            </a:extLst>
          </p:cNvPr>
          <p:cNvSpPr txBox="1"/>
          <p:nvPr/>
        </p:nvSpPr>
        <p:spPr>
          <a:xfrm>
            <a:off x="65532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57A55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A828D5-4801-742A-85AC-CA6B05E5F5A3}"/>
              </a:ext>
            </a:extLst>
          </p:cNvPr>
          <p:cNvSpPr txBox="1"/>
          <p:nvPr/>
        </p:nvSpPr>
        <p:spPr>
          <a:xfrm>
            <a:off x="71882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2D696-50F7-3325-6817-FB1C6FE21A72}"/>
              </a:ext>
            </a:extLst>
          </p:cNvPr>
          <p:cNvSpPr txBox="1"/>
          <p:nvPr/>
        </p:nvSpPr>
        <p:spPr>
          <a:xfrm>
            <a:off x="66294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React / Symfony
Python services
Cloud staging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8A1121-2851-5938-201E-FE17DE234397}"/>
              </a:ext>
            </a:extLst>
          </p:cNvPr>
          <p:cNvCxnSpPr/>
          <p:nvPr/>
        </p:nvCxnSpPr>
        <p:spPr>
          <a:xfrm>
            <a:off x="8788400" y="3606800"/>
            <a:ext cx="38100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21AD6C4-70B4-C8D1-0170-82834D51EC50}"/>
              </a:ext>
            </a:extLst>
          </p:cNvPr>
          <p:cNvSpPr/>
          <p:nvPr/>
        </p:nvSpPr>
        <p:spPr>
          <a:xfrm>
            <a:off x="92202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30374E-F456-9EAF-67E0-DFFEE8F2F8AA}"/>
              </a:ext>
            </a:extLst>
          </p:cNvPr>
          <p:cNvSpPr txBox="1"/>
          <p:nvPr/>
        </p:nvSpPr>
        <p:spPr>
          <a:xfrm>
            <a:off x="94488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563A4B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1CEE3-82E7-58FD-D9A7-7E26126402C4}"/>
              </a:ext>
            </a:extLst>
          </p:cNvPr>
          <p:cNvSpPr txBox="1"/>
          <p:nvPr/>
        </p:nvSpPr>
        <p:spPr>
          <a:xfrm>
            <a:off x="100838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Verify + evolve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3BDEEA-7A22-620F-A0D9-3DBE448A86A3}"/>
              </a:ext>
            </a:extLst>
          </p:cNvPr>
          <p:cNvSpPr txBox="1"/>
          <p:nvPr/>
        </p:nvSpPr>
        <p:spPr>
          <a:xfrm>
            <a:off x="95250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Tests
Human validation
Maintenance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8EEC611-608F-8A73-A57A-ECAFBB48A639}"/>
              </a:ext>
            </a:extLst>
          </p:cNvPr>
          <p:cNvSpPr/>
          <p:nvPr/>
        </p:nvSpPr>
        <p:spPr>
          <a:xfrm>
            <a:off x="1549400" y="5435600"/>
            <a:ext cx="9093200" cy="660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3016D4-55E6-D6F3-D1A4-1E4A237E04B5}"/>
              </a:ext>
            </a:extLst>
          </p:cNvPr>
          <p:cNvSpPr txBox="1"/>
          <p:nvPr/>
        </p:nvSpPr>
        <p:spPr>
          <a:xfrm>
            <a:off x="1905000" y="56388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Traceability: stakeholder need -&gt; requirement -&gt; design -&gt; code -&gt; test oracle -&gt; retained evidence</a:t>
            </a:r>
          </a:p>
        </p:txBody>
      </p:sp>
    </p:spTree>
    <p:extLst>
      <p:ext uri="{BB962C8B-B14F-4D97-AF65-F5344CB8AC3E}">
        <p14:creationId xmlns:p14="http://schemas.microsoft.com/office/powerpoint/2010/main" val="334320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61EF5C-4750-EB9F-F775-F2E225E12FB9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869D391-2E42-D2AF-2882-5B8AD695AFA4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892C9-808D-517A-F879-0E8260DD41CC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1E133-C51B-7D96-7497-DA9D11E72BCE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E2D25-5664-6C5F-C55D-3931E97D677B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44C50493-18EB-38F3-008B-BA4A7B9C9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05D2A0-86FB-D150-E44E-E223CF665060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EXPRESSION DES BESOINS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26238-ACDE-1BDC-A110-97BDFFABF4AC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Needs came from people, evidence and prototypes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A02FC-8CF1-D971-05F8-A6628C9D5A95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Stakeholder needs shaped a focused, measurable Phase II delivery.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4B2A4-24D1-926E-796C-8B07409025B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329CC-9F40-9AC8-8F18-12AC24E56FCB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BAE8DB-E9FC-02D5-34A8-438D571CB152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23229E-88EF-1E78-76C6-E67C466B02E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81A10-388B-6986-1A91-DDF1FF4CF94F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8002DF-8522-7A5C-2A90-C49ED1D94217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BFBECE-52CF-9A93-E2CC-9E58B2F5D7B3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71FAF7-D967-7440-C174-B1790E66EC74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D01E79-FC20-5405-66D6-184C3C04D348}"/>
              </a:ext>
            </a:extLst>
          </p:cNvPr>
          <p:cNvSpPr/>
          <p:nvPr/>
        </p:nvSpPr>
        <p:spPr>
          <a:xfrm>
            <a:off x="533400" y="2006600"/>
            <a:ext cx="3378200" cy="25146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ECE19B-3B02-35E5-F881-8B71E8816809}"/>
              </a:ext>
            </a:extLst>
          </p:cNvPr>
          <p:cNvSpPr/>
          <p:nvPr/>
        </p:nvSpPr>
        <p:spPr>
          <a:xfrm>
            <a:off x="533400" y="2006600"/>
            <a:ext cx="101600" cy="25146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BFF396-3614-F509-10CF-F45C42033651}"/>
              </a:ext>
            </a:extLst>
          </p:cNvPr>
          <p:cNvSpPr txBox="1"/>
          <p:nvPr/>
        </p:nvSpPr>
        <p:spPr>
          <a:xfrm>
            <a:off x="812800" y="22098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People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84319-CD7F-BB86-B592-407E9A51B0A9}"/>
              </a:ext>
            </a:extLst>
          </p:cNvPr>
          <p:cNvSpPr txBox="1"/>
          <p:nvPr/>
        </p:nvSpPr>
        <p:spPr>
          <a:xfrm>
            <a:off x="812800" y="270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Candidates with varied access needs
Employers and hospitality teams
Verifier and administrator roles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1CEAC9-7A76-3488-BCA7-7E5E466F6FC1}"/>
              </a:ext>
            </a:extLst>
          </p:cNvPr>
          <p:cNvSpPr/>
          <p:nvPr/>
        </p:nvSpPr>
        <p:spPr>
          <a:xfrm>
            <a:off x="4406900" y="2006600"/>
            <a:ext cx="3378200" cy="25146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8A580F-0C41-F9BA-9046-9042AFD90204}"/>
              </a:ext>
            </a:extLst>
          </p:cNvPr>
          <p:cNvSpPr/>
          <p:nvPr/>
        </p:nvSpPr>
        <p:spPr>
          <a:xfrm>
            <a:off x="4406900" y="2006600"/>
            <a:ext cx="101600" cy="25146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68489-F963-EDA7-13F8-E28F29291757}"/>
              </a:ext>
            </a:extLst>
          </p:cNvPr>
          <p:cNvSpPr txBox="1"/>
          <p:nvPr/>
        </p:nvSpPr>
        <p:spPr>
          <a:xfrm>
            <a:off x="4686300" y="22098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Evidence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2C88B-69FA-E34D-8F73-DF965102E029}"/>
              </a:ext>
            </a:extLst>
          </p:cNvPr>
          <p:cNvSpPr txBox="1"/>
          <p:nvPr/>
        </p:nvSpPr>
        <p:spPr>
          <a:xfrm>
            <a:off x="4686300" y="270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Phase I artefacts
WCAG and domain research
Arc en Ciel and JAWS sessions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F3D864-ABC7-6EE3-D3B6-5E5ACF7211EE}"/>
              </a:ext>
            </a:extLst>
          </p:cNvPr>
          <p:cNvSpPr/>
          <p:nvPr/>
        </p:nvSpPr>
        <p:spPr>
          <a:xfrm>
            <a:off x="8280400" y="2006600"/>
            <a:ext cx="3378200" cy="25146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BFC74A-54A7-C8B2-5810-A6ACD07DBF64}"/>
              </a:ext>
            </a:extLst>
          </p:cNvPr>
          <p:cNvSpPr/>
          <p:nvPr/>
        </p:nvSpPr>
        <p:spPr>
          <a:xfrm>
            <a:off x="8280400" y="2006600"/>
            <a:ext cx="101600" cy="25146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8B7835-2549-3DBE-5597-67D1D7D99010}"/>
              </a:ext>
            </a:extLst>
          </p:cNvPr>
          <p:cNvSpPr txBox="1"/>
          <p:nvPr/>
        </p:nvSpPr>
        <p:spPr>
          <a:xfrm>
            <a:off x="8559800" y="22098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Techniques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85E410-CF8F-3721-C41B-297A3C7D8566}"/>
              </a:ext>
            </a:extLst>
          </p:cNvPr>
          <p:cNvSpPr txBox="1"/>
          <p:nvPr/>
        </p:nvSpPr>
        <p:spPr>
          <a:xfrm>
            <a:off x="8559800" y="270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Background study
Scenario observation
Iterative prototype review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FBA37-8363-74B5-FB29-8800F84ACE6B}"/>
              </a:ext>
            </a:extLst>
          </p:cNvPr>
          <p:cNvSpPr/>
          <p:nvPr/>
        </p:nvSpPr>
        <p:spPr>
          <a:xfrm>
            <a:off x="5334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85C75C-3F87-DCF2-BDB1-F8441FEB1647}"/>
              </a:ext>
            </a:extLst>
          </p:cNvPr>
          <p:cNvSpPr/>
          <p:nvPr/>
        </p:nvSpPr>
        <p:spPr>
          <a:xfrm>
            <a:off x="533400" y="48641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E9FF1-3E2C-AC8A-5190-EBEFFC315CA9}"/>
              </a:ext>
            </a:extLst>
          </p:cNvPr>
          <p:cNvSpPr txBox="1"/>
          <p:nvPr/>
        </p:nvSpPr>
        <p:spPr>
          <a:xfrm>
            <a:off x="7620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4 roles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AA661C-5BAB-8283-58FE-5C69B8F0B36E}"/>
              </a:ext>
            </a:extLst>
          </p:cNvPr>
          <p:cNvSpPr txBox="1"/>
          <p:nvPr/>
        </p:nvSpPr>
        <p:spPr>
          <a:xfrm>
            <a:off x="7620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authorized workspaces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EDAA967-21ED-C583-27D8-6D4D857E6CC7}"/>
              </a:ext>
            </a:extLst>
          </p:cNvPr>
          <p:cNvSpPr/>
          <p:nvPr/>
        </p:nvSpPr>
        <p:spPr>
          <a:xfrm>
            <a:off x="33909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047A6F-993D-F7C1-C8C5-8EA336DBE592}"/>
              </a:ext>
            </a:extLst>
          </p:cNvPr>
          <p:cNvSpPr/>
          <p:nvPr/>
        </p:nvSpPr>
        <p:spPr>
          <a:xfrm>
            <a:off x="3390900" y="4864100"/>
            <a:ext cx="88900" cy="1270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33A9D3-003E-C351-B988-E05DEB785F39}"/>
              </a:ext>
            </a:extLst>
          </p:cNvPr>
          <p:cNvSpPr txBox="1"/>
          <p:nvPr/>
        </p:nvSpPr>
        <p:spPr>
          <a:xfrm>
            <a:off x="36195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15 roles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469E33-1468-7F79-C2CD-7F1C311011FB}"/>
              </a:ext>
            </a:extLst>
          </p:cNvPr>
          <p:cNvSpPr txBox="1"/>
          <p:nvPr/>
        </p:nvSpPr>
        <p:spPr>
          <a:xfrm>
            <a:off x="36195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hospitality positions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CD535D-AF8E-1F41-92FD-75207640B1FF}"/>
              </a:ext>
            </a:extLst>
          </p:cNvPr>
          <p:cNvSpPr/>
          <p:nvPr/>
        </p:nvSpPr>
        <p:spPr>
          <a:xfrm>
            <a:off x="62484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538550-765D-6479-E3F3-E799959951BA}"/>
              </a:ext>
            </a:extLst>
          </p:cNvPr>
          <p:cNvSpPr/>
          <p:nvPr/>
        </p:nvSpPr>
        <p:spPr>
          <a:xfrm>
            <a:off x="6248400" y="4864100"/>
            <a:ext cx="88900" cy="1270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7843FA-9E09-97F5-24D7-0D71FA72ABB2}"/>
              </a:ext>
            </a:extLst>
          </p:cNvPr>
          <p:cNvSpPr txBox="1"/>
          <p:nvPr/>
        </p:nvSpPr>
        <p:spPr>
          <a:xfrm>
            <a:off x="64770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923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CF688C-3667-2367-C73A-FFCD19C2D5F6}"/>
              </a:ext>
            </a:extLst>
          </p:cNvPr>
          <p:cNvSpPr txBox="1"/>
          <p:nvPr/>
        </p:nvSpPr>
        <p:spPr>
          <a:xfrm>
            <a:off x="64770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catalogue tasks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065D655-8111-9747-CE6F-B816839CEA8B}"/>
              </a:ext>
            </a:extLst>
          </p:cNvPr>
          <p:cNvSpPr/>
          <p:nvPr/>
        </p:nvSpPr>
        <p:spPr>
          <a:xfrm>
            <a:off x="91059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FB4F4C-820E-C790-A73C-75ECB1A61882}"/>
              </a:ext>
            </a:extLst>
          </p:cNvPr>
          <p:cNvSpPr/>
          <p:nvPr/>
        </p:nvSpPr>
        <p:spPr>
          <a:xfrm>
            <a:off x="9105900" y="48641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9F9AA7-B45D-161B-88C9-D618DAB9C029}"/>
              </a:ext>
            </a:extLst>
          </p:cNvPr>
          <p:cNvSpPr txBox="1"/>
          <p:nvPr/>
        </p:nvSpPr>
        <p:spPr>
          <a:xfrm>
            <a:off x="93345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26D749-D0E2-A004-50A3-C90A544D5C1F}"/>
              </a:ext>
            </a:extLst>
          </p:cNvPr>
          <p:cNvSpPr txBox="1"/>
          <p:nvPr/>
        </p:nvSpPr>
        <p:spPr>
          <a:xfrm>
            <a:off x="93345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interface languages</a:t>
            </a:r>
          </a:p>
        </p:txBody>
      </p:sp>
    </p:spTree>
    <p:extLst>
      <p:ext uri="{BB962C8B-B14F-4D97-AF65-F5344CB8AC3E}">
        <p14:creationId xmlns:p14="http://schemas.microsoft.com/office/powerpoint/2010/main" val="160455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1C8E48-6663-00D7-80A8-952161A61B49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420F0D1-368A-9118-7807-581FC6C65DCA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C7815-481C-E0E2-1A99-97BBAF8B490F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C1D5B-33DA-3EAC-C912-27DCDF8F2656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C22D9-EDD4-675D-2D4C-FF4480607F38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C5DEEA9-FAF1-AC89-B5DD-03CAC96F0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3EF02E-8C59-9A3F-C3D1-ECBD161B4714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SPECIFICATIONS DU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F93AE-4CF6-788C-8BF4-D44B8BE1E5EF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Functional requirements implemented by role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ACF90-597F-15E9-FF8D-BA47EA74B384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Four authorized workspaces coordinate one auditable recruitment workflow.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20B51-FB0B-32B8-8CAA-64FEAA7E809A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4B616-9C00-12E7-DC26-9E23453BAC4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6CCE01-E096-E95D-0D2F-4D588E3D3564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079C-899F-B5CD-DB90-B5CDAECD939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14290-6331-F729-94A0-C6A77B8E9089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330255-CE1E-B919-EF46-498ECAE68BD5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1436E5-C708-6482-8424-8F4DD36CC5F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7F9F1C-906F-6B0F-176B-CC1E0BC7EFD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54BCD5-947F-563B-C0C7-F59300499FB5}"/>
              </a:ext>
            </a:extLst>
          </p:cNvPr>
          <p:cNvSpPr/>
          <p:nvPr/>
        </p:nvSpPr>
        <p:spPr>
          <a:xfrm>
            <a:off x="533400" y="2032000"/>
            <a:ext cx="2603500" cy="34290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941D731-A469-000E-59F2-E2BDCA2A3395}"/>
              </a:ext>
            </a:extLst>
          </p:cNvPr>
          <p:cNvSpPr/>
          <p:nvPr/>
        </p:nvSpPr>
        <p:spPr>
          <a:xfrm>
            <a:off x="533400" y="2032000"/>
            <a:ext cx="101600" cy="34290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A4D26-7FA4-B35E-72FA-786734AD79E5}"/>
              </a:ext>
            </a:extLst>
          </p:cNvPr>
          <p:cNvSpPr txBox="1"/>
          <p:nvPr/>
        </p:nvSpPr>
        <p:spPr>
          <a:xfrm>
            <a:off x="8128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AD292-49DE-BE40-0BE0-59274853216D}"/>
              </a:ext>
            </a:extLst>
          </p:cNvPr>
          <p:cNvSpPr txBox="1"/>
          <p:nvPr/>
        </p:nvSpPr>
        <p:spPr>
          <a:xfrm>
            <a:off x="8128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Verify identity
Build accessible profile
Match, explore and apply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5FBB42-CA29-B840-B612-7F1BF208764A}"/>
              </a:ext>
            </a:extLst>
          </p:cNvPr>
          <p:cNvSpPr/>
          <p:nvPr/>
        </p:nvSpPr>
        <p:spPr>
          <a:xfrm>
            <a:off x="3378200" y="2032000"/>
            <a:ext cx="2603500" cy="34290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3C113D-D2AD-8F18-A1A0-C6AF94E8E0AB}"/>
              </a:ext>
            </a:extLst>
          </p:cNvPr>
          <p:cNvSpPr/>
          <p:nvPr/>
        </p:nvSpPr>
        <p:spPr>
          <a:xfrm>
            <a:off x="3378200" y="2032000"/>
            <a:ext cx="101600" cy="34290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E0D983-08E2-A00A-D032-F4949EB997C2}"/>
              </a:ext>
            </a:extLst>
          </p:cNvPr>
          <p:cNvSpPr txBox="1"/>
          <p:nvPr/>
        </p:nvSpPr>
        <p:spPr>
          <a:xfrm>
            <a:off x="36576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BACE3-58F7-B106-D285-2D326DFA01F2}"/>
              </a:ext>
            </a:extLst>
          </p:cNvPr>
          <p:cNvSpPr txBox="1"/>
          <p:nvPr/>
        </p:nvSpPr>
        <p:spPr>
          <a:xfrm>
            <a:off x="36576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Publish job or training
Set tasks and support
Review applications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11408F-0561-50DD-B638-6D434B635BF6}"/>
              </a:ext>
            </a:extLst>
          </p:cNvPr>
          <p:cNvSpPr/>
          <p:nvPr/>
        </p:nvSpPr>
        <p:spPr>
          <a:xfrm>
            <a:off x="6223000" y="2032000"/>
            <a:ext cx="2603500" cy="34290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E904DE-0406-8105-1B41-72C401C4FCF2}"/>
              </a:ext>
            </a:extLst>
          </p:cNvPr>
          <p:cNvSpPr/>
          <p:nvPr/>
        </p:nvSpPr>
        <p:spPr>
          <a:xfrm>
            <a:off x="6223000" y="2032000"/>
            <a:ext cx="101600" cy="34290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27BF1E-9D0D-6E52-DE08-D50050427126}"/>
              </a:ext>
            </a:extLst>
          </p:cNvPr>
          <p:cNvSpPr txBox="1"/>
          <p:nvPr/>
        </p:nvSpPr>
        <p:spPr>
          <a:xfrm>
            <a:off x="65024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Verifier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4F7F0C-1529-A0C0-B306-D08FAFF0B55C}"/>
              </a:ext>
            </a:extLst>
          </p:cNvPr>
          <p:cNvSpPr txBox="1"/>
          <p:nvPr/>
        </p:nvSpPr>
        <p:spPr>
          <a:xfrm>
            <a:off x="65024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Review private evidence
Approve or reject
Record an auditable decision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1C47AC-F4F6-D97E-5ACC-525D26BC0F94}"/>
              </a:ext>
            </a:extLst>
          </p:cNvPr>
          <p:cNvSpPr/>
          <p:nvPr/>
        </p:nvSpPr>
        <p:spPr>
          <a:xfrm>
            <a:off x="9067800" y="2032000"/>
            <a:ext cx="2603500" cy="34290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B28CC2-31A6-44AB-7035-5F6A7AAE407F}"/>
              </a:ext>
            </a:extLst>
          </p:cNvPr>
          <p:cNvSpPr/>
          <p:nvPr/>
        </p:nvSpPr>
        <p:spPr>
          <a:xfrm>
            <a:off x="9067800" y="2032000"/>
            <a:ext cx="101600" cy="34290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18EEC5-A93E-8100-50B8-E3B4562641C4}"/>
              </a:ext>
            </a:extLst>
          </p:cNvPr>
          <p:cNvSpPr txBox="1"/>
          <p:nvPr/>
        </p:nvSpPr>
        <p:spPr>
          <a:xfrm>
            <a:off x="93472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Administrator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C341A5-D37A-DBDF-F4B0-64627DA58518}"/>
              </a:ext>
            </a:extLst>
          </p:cNvPr>
          <p:cNvSpPr txBox="1"/>
          <p:nvPr/>
        </p:nvSpPr>
        <p:spPr>
          <a:xfrm>
            <a:off x="93472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Manage users and catalogue
Import validated datasets
Maintain controlled definitions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6578A-57AE-6815-2C64-F658EF17B60D}"/>
              </a:ext>
            </a:extLst>
          </p:cNvPr>
          <p:cNvSpPr txBox="1"/>
          <p:nvPr/>
        </p:nvSpPr>
        <p:spPr>
          <a:xfrm>
            <a:off x="2159000" y="57785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 b="1">
                <a:solidFill>
                  <a:srgbClr val="0B1F49"/>
                </a:solidFill>
                <a:latin typeface="Aptos" panose="020B0004020202020204" pitchFamily="34" charset="0"/>
              </a:rPr>
              <a:t>Nominal, rejected-role and recovery flows were specified and tested.</a:t>
            </a:r>
          </a:p>
        </p:txBody>
      </p:sp>
    </p:spTree>
    <p:extLst>
      <p:ext uri="{BB962C8B-B14F-4D97-AF65-F5344CB8AC3E}">
        <p14:creationId xmlns:p14="http://schemas.microsoft.com/office/powerpoint/2010/main" val="374480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DC8E73-1163-D228-AE62-314C861C0CA6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C50559-91F2-87C9-E6C2-1BE33A01FB14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24FD7-03F8-6BAD-6D32-092BFA408F3F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4A1CA-A03B-ED69-2272-E73546CFA35A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8F21C-8766-F759-92F2-13B1A74079C3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6E000CCB-7EA2-7CB9-F7E9-9C2EA92CB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421BB4-3CF3-30BE-FF98-90C901B278A4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SPECIFICATIONS DU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E86A9-FB01-B9EA-9C35-72A34988F041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Quality constraints, standards and measurable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E712E-876F-F8D2-FABB-E87B1316E2DC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Non-functional requirements were connected to controls and test evidence.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3FB27D-527A-D116-F8FC-1600513724F2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6D42B-D228-4FB9-D139-35FEEFAD4D48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56F5A2-2083-90D2-4A04-3AA312BE2BFE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699D0B-B81D-DC95-E698-24878624D398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670B68-C5FC-6270-32A9-E8D309A365B7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460A5-7F63-BEA9-FC37-BD30AF07ABE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8F847-59F3-F37B-DAA5-A75997A4028E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21699-F762-3A9E-3F6C-02E67733C529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35E4BE-2AA7-89D4-B9DE-B2575EBB37B8}"/>
              </a:ext>
            </a:extLst>
          </p:cNvPr>
          <p:cNvSpPr/>
          <p:nvPr/>
        </p:nvSpPr>
        <p:spPr>
          <a:xfrm>
            <a:off x="533400" y="2032000"/>
            <a:ext cx="2603500" cy="32512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FA2321-D58E-A9F5-B3A1-949CA7E5E4CC}"/>
              </a:ext>
            </a:extLst>
          </p:cNvPr>
          <p:cNvSpPr/>
          <p:nvPr/>
        </p:nvSpPr>
        <p:spPr>
          <a:xfrm>
            <a:off x="533400" y="2032000"/>
            <a:ext cx="101600" cy="32512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7C035-0228-A37A-FD4F-A5F21B8AC045}"/>
              </a:ext>
            </a:extLst>
          </p:cNvPr>
          <p:cNvSpPr txBox="1"/>
          <p:nvPr/>
        </p:nvSpPr>
        <p:spPr>
          <a:xfrm>
            <a:off x="8128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68726A-5DE5-DFB0-14F6-FDF18DF4A263}"/>
              </a:ext>
            </a:extLst>
          </p:cNvPr>
          <p:cNvSpPr txBox="1"/>
          <p:nvPr/>
        </p:nvSpPr>
        <p:spPr>
          <a:xfrm>
            <a:off x="8128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WCAG 2.1 AA target
Keyboard + screen reader
Responsive reflow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F794DA-FDFB-A25A-C430-218ED75F3129}"/>
              </a:ext>
            </a:extLst>
          </p:cNvPr>
          <p:cNvSpPr/>
          <p:nvPr/>
        </p:nvSpPr>
        <p:spPr>
          <a:xfrm>
            <a:off x="3378200" y="2032000"/>
            <a:ext cx="2603500" cy="32512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A25BB4-F731-BE3B-2877-343A9E2846BA}"/>
              </a:ext>
            </a:extLst>
          </p:cNvPr>
          <p:cNvSpPr/>
          <p:nvPr/>
        </p:nvSpPr>
        <p:spPr>
          <a:xfrm>
            <a:off x="3378200" y="2032000"/>
            <a:ext cx="101600" cy="32512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6E7C1-01E0-732A-F24F-5CF466C43105}"/>
              </a:ext>
            </a:extLst>
          </p:cNvPr>
          <p:cNvSpPr txBox="1"/>
          <p:nvPr/>
        </p:nvSpPr>
        <p:spPr>
          <a:xfrm>
            <a:off x="36576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privacy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82F8B-5D8E-6DA7-A405-75B9453A8B76}"/>
              </a:ext>
            </a:extLst>
          </p:cNvPr>
          <p:cNvSpPr txBox="1"/>
          <p:nvPr/>
        </p:nvSpPr>
        <p:spPr>
          <a:xfrm>
            <a:off x="36576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JWT and server RBAC
Private evidence
Consent and erasure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083D38-3B8C-DC84-625C-2C38DC7BAAB5}"/>
              </a:ext>
            </a:extLst>
          </p:cNvPr>
          <p:cNvSpPr/>
          <p:nvPr/>
        </p:nvSpPr>
        <p:spPr>
          <a:xfrm>
            <a:off x="6223000" y="2032000"/>
            <a:ext cx="2603500" cy="32512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3351FD-96DB-7054-5D10-1C7BF6CABE4E}"/>
              </a:ext>
            </a:extLst>
          </p:cNvPr>
          <p:cNvSpPr/>
          <p:nvPr/>
        </p:nvSpPr>
        <p:spPr>
          <a:xfrm>
            <a:off x="6223000" y="2032000"/>
            <a:ext cx="101600" cy="32512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A89AEB-EEA9-BD89-E813-287B90D80CB0}"/>
              </a:ext>
            </a:extLst>
          </p:cNvPr>
          <p:cNvSpPr txBox="1"/>
          <p:nvPr/>
        </p:nvSpPr>
        <p:spPr>
          <a:xfrm>
            <a:off x="65024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Reliability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FCC00-1568-9BAA-3F3A-642DAEAE55B2}"/>
              </a:ext>
            </a:extLst>
          </p:cNvPr>
          <p:cNvSpPr txBox="1"/>
          <p:nvPr/>
        </p:nvSpPr>
        <p:spPr>
          <a:xfrm>
            <a:off x="65024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Health endpoints
Repeatable p50 / p95
Transparent limitations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6BF3E13-AFCE-D3EF-0A0D-F5E0CFE85B7A}"/>
              </a:ext>
            </a:extLst>
          </p:cNvPr>
          <p:cNvSpPr/>
          <p:nvPr/>
        </p:nvSpPr>
        <p:spPr>
          <a:xfrm>
            <a:off x="9067800" y="2032000"/>
            <a:ext cx="2603500" cy="32512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B6E80E-C3F7-225C-FD2F-57529837AF4B}"/>
              </a:ext>
            </a:extLst>
          </p:cNvPr>
          <p:cNvSpPr/>
          <p:nvPr/>
        </p:nvSpPr>
        <p:spPr>
          <a:xfrm>
            <a:off x="9067800" y="2032000"/>
            <a:ext cx="101600" cy="32512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B5B193-451B-81BD-3564-9D5CD47DDA15}"/>
              </a:ext>
            </a:extLst>
          </p:cNvPr>
          <p:cNvSpPr txBox="1"/>
          <p:nvPr/>
        </p:nvSpPr>
        <p:spPr>
          <a:xfrm>
            <a:off x="93472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Maintainability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A0DCD-2658-2F1E-9B5F-E736E5DAA4A5}"/>
              </a:ext>
            </a:extLst>
          </p:cNvPr>
          <p:cNvSpPr txBox="1"/>
          <p:nvPr/>
        </p:nvSpPr>
        <p:spPr>
          <a:xfrm>
            <a:off x="93472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Component boundaries
Versioned policy
Three stable locales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C835D7-E90E-B12A-600C-44E28F47E09D}"/>
              </a:ext>
            </a:extLst>
          </p:cNvPr>
          <p:cNvSpPr/>
          <p:nvPr/>
        </p:nvSpPr>
        <p:spPr>
          <a:xfrm>
            <a:off x="1079500" y="5511800"/>
            <a:ext cx="10033000" cy="660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D7B5F-441D-3F84-1064-6896C3C80D8A}"/>
              </a:ext>
            </a:extLst>
          </p:cNvPr>
          <p:cNvSpPr txBox="1"/>
          <p:nvPr/>
        </p:nvSpPr>
        <p:spPr>
          <a:xfrm>
            <a:off x="1333500" y="56007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Constraint trade-off: stronger controls and external services can affect latency; correctness and performance are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38722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5E5A84-E0D9-6388-CF98-0883A4C0890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7ACEE-8502-762C-B02B-69A49DE4D3F9}"/>
              </a:ext>
            </a:extLst>
          </p:cNvPr>
          <p:cNvSpPr txBox="1"/>
          <p:nvPr/>
        </p:nvSpPr>
        <p:spPr>
          <a:xfrm>
            <a:off x="609600" y="3429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64B2A"/>
                </a:solidFill>
                <a:latin typeface="Aptos" panose="020B0004020202020204" pitchFamily="34" charset="0"/>
              </a:rPr>
              <a:t>ARCHITECTURAL DESIGN | SOFTWARE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E4FE4-CABE-A47B-D303-7EBC36E38978}"/>
              </a:ext>
            </a:extLst>
          </p:cNvPr>
          <p:cNvSpPr txBox="1"/>
          <p:nvPr/>
        </p:nvSpPr>
        <p:spPr>
          <a:xfrm>
            <a:off x="609600" y="6350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0B1F49"/>
                </a:solidFill>
                <a:latin typeface="Aptos Display" panose="020B0004020202020204" pitchFamily="34" charset="0"/>
              </a:rPr>
              <a:t>Implemented logical architecture and trust boundaries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AA02D-BF2C-5865-B021-6649FFFCED0E}"/>
              </a:ext>
            </a:extLst>
          </p:cNvPr>
          <p:cNvSpPr txBox="1"/>
          <p:nvPr/>
        </p:nvSpPr>
        <p:spPr>
          <a:xfrm>
            <a:off x="609600" y="1219200"/>
            <a:ext cx="105410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20">
                <a:solidFill>
                  <a:srgbClr val="5D6B80"/>
                </a:solidFill>
                <a:latin typeface="Aptos" panose="020B0004020202020204" pitchFamily="34" charset="0"/>
              </a:rPr>
              <a:t>Provider-neutral view: persistence stays behind Symfony; voice uses one protected backend path and one bounded browser path.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7039D3D-5FA3-0010-80B2-973B521ED1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279400"/>
            <a:ext cx="711200" cy="317500"/>
          </a:xfrm>
          <a:prstGeom prst="rect">
            <a:avLst/>
          </a:prstGeom>
          <a:ln w="10160">
            <a:noFill/>
          </a:ln>
          <a:extLst>
            <a:ext uri="{91240B29-F687-4F45-9708-019B960494DF}">
              <a14:hiddenLine xmlns:a14="http://schemas.microsoft.com/office/drawing/2010/main" w="10160">
                <a:solidFill>
                  <a:srgbClr val="CBD5E1"/>
                </a:solidFill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2BECA-8BAA-94B0-2503-0E5587D839FA}"/>
              </a:ext>
            </a:extLst>
          </p:cNvPr>
          <p:cNvSpPr txBox="1"/>
          <p:nvPr/>
        </p:nvSpPr>
        <p:spPr>
          <a:xfrm>
            <a:off x="330200" y="3378200"/>
            <a:ext cx="736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B1F49"/>
                </a:solidFill>
                <a:latin typeface="Aptos Display" panose="020B0004020202020204" pitchFamily="34" charset="0"/>
              </a:rPr>
              <a:t>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5DB9BD-01FC-F47A-513A-AF9A8B8D967F}"/>
              </a:ext>
            </a:extLst>
          </p:cNvPr>
          <p:cNvSpPr/>
          <p:nvPr/>
        </p:nvSpPr>
        <p:spPr>
          <a:xfrm>
            <a:off x="1206500" y="2222500"/>
            <a:ext cx="2095500" cy="2603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09116-BBED-EB98-6B37-8391EA4AD9AC}"/>
              </a:ext>
            </a:extLst>
          </p:cNvPr>
          <p:cNvSpPr/>
          <p:nvPr/>
        </p:nvSpPr>
        <p:spPr>
          <a:xfrm>
            <a:off x="1206500" y="2222500"/>
            <a:ext cx="88900" cy="2603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A925E-CF37-D8F8-5DE0-20521CB5D8D6}"/>
              </a:ext>
            </a:extLst>
          </p:cNvPr>
          <p:cNvSpPr txBox="1"/>
          <p:nvPr/>
        </p:nvSpPr>
        <p:spPr>
          <a:xfrm>
            <a:off x="1435100" y="2425700"/>
            <a:ext cx="1663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React / Vite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19671-773A-741E-8CC1-E86F6451258C}"/>
              </a:ext>
            </a:extLst>
          </p:cNvPr>
          <p:cNvSpPr txBox="1"/>
          <p:nvPr/>
        </p:nvSpPr>
        <p:spPr>
          <a:xfrm>
            <a:off x="1435100" y="2959100"/>
            <a:ext cx="16637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Accessible interface
Role workspaces
JWT client
Executes approved voice actions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6013B7-0091-29C1-8F80-8A902843268D}"/>
              </a:ext>
            </a:extLst>
          </p:cNvPr>
          <p:cNvSpPr/>
          <p:nvPr/>
        </p:nvSpPr>
        <p:spPr>
          <a:xfrm>
            <a:off x="4318000" y="1968500"/>
            <a:ext cx="2603500" cy="266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4571E-1792-76B5-5387-9123AA055811}"/>
              </a:ext>
            </a:extLst>
          </p:cNvPr>
          <p:cNvSpPr/>
          <p:nvPr/>
        </p:nvSpPr>
        <p:spPr>
          <a:xfrm>
            <a:off x="4318000" y="1968500"/>
            <a:ext cx="88900" cy="2667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2043E-DB2A-4985-33BE-2F23FB03C49A}"/>
              </a:ext>
            </a:extLst>
          </p:cNvPr>
          <p:cNvSpPr txBox="1"/>
          <p:nvPr/>
        </p:nvSpPr>
        <p:spPr>
          <a:xfrm>
            <a:off x="4546600" y="21717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Symfony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8C453-9590-749D-421F-33E6C4C9D747}"/>
              </a:ext>
            </a:extLst>
          </p:cNvPr>
          <p:cNvSpPr txBox="1"/>
          <p:nvPr/>
        </p:nvSpPr>
        <p:spPr>
          <a:xfrm>
            <a:off x="4546600" y="2705100"/>
            <a:ext cx="2171700" cy="5909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JWT + RBAC
Validation
Workflow orchestration
Only persistence gateway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BF087A-C6FE-331E-F281-D91ABD02E287}"/>
              </a:ext>
            </a:extLst>
          </p:cNvPr>
          <p:cNvSpPr/>
          <p:nvPr/>
        </p:nvSpPr>
        <p:spPr>
          <a:xfrm>
            <a:off x="8255000" y="1651000"/>
            <a:ext cx="3302000" cy="1333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E2E6AA-76D9-DF2E-8F64-A678570107C4}"/>
              </a:ext>
            </a:extLst>
          </p:cNvPr>
          <p:cNvSpPr/>
          <p:nvPr/>
        </p:nvSpPr>
        <p:spPr>
          <a:xfrm>
            <a:off x="8255000" y="1651000"/>
            <a:ext cx="88900" cy="1333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9661F-BEEA-EFDD-0E6A-154999B8A0A6}"/>
              </a:ext>
            </a:extLst>
          </p:cNvPr>
          <p:cNvSpPr txBox="1"/>
          <p:nvPr/>
        </p:nvSpPr>
        <p:spPr>
          <a:xfrm>
            <a:off x="8509000" y="18288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Persistence Layer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2BA4AC-ECEB-9D83-97F0-94F8B3A9595B}"/>
              </a:ext>
            </a:extLst>
          </p:cNvPr>
          <p:cNvCxnSpPr/>
          <p:nvPr/>
        </p:nvCxnSpPr>
        <p:spPr>
          <a:xfrm>
            <a:off x="9906000" y="2209800"/>
            <a:ext cx="0" cy="59690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F3272D-332B-1CBD-BC8E-2E0AE76A87B2}"/>
              </a:ext>
            </a:extLst>
          </p:cNvPr>
          <p:cNvSpPr txBox="1"/>
          <p:nvPr/>
        </p:nvSpPr>
        <p:spPr>
          <a:xfrm>
            <a:off x="8458200" y="2273300"/>
            <a:ext cx="13208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20">
                <a:solidFill>
                  <a:srgbClr val="17243A"/>
                </a:solidFill>
                <a:latin typeface="Aptos" panose="020B0004020202020204" pitchFamily="34" charset="0"/>
              </a:rPr>
              <a:t>PostgreSQL
Users, profiles, jobs,
applications, catalogue</a:t>
            </a:r>
            <a:endParaRPr lang="en-US" sz="8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B12D56-C309-5048-BC24-1BADD4441094}"/>
              </a:ext>
            </a:extLst>
          </p:cNvPr>
          <p:cNvSpPr txBox="1"/>
          <p:nvPr/>
        </p:nvSpPr>
        <p:spPr>
          <a:xfrm>
            <a:off x="10033000" y="2273300"/>
            <a:ext cx="13208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820">
                <a:solidFill>
                  <a:srgbClr val="17243A"/>
                </a:solidFill>
                <a:latin typeface="Aptos" panose="020B0004020202020204" pitchFamily="34" charset="0"/>
              </a:rPr>
              <a:t>Object storage
Private documents
Public employer logos</a:t>
            </a:r>
            <a:endParaRPr lang="en-US" sz="82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99AEE1-4081-0FAA-9198-26C6C66728BD}"/>
              </a:ext>
            </a:extLst>
          </p:cNvPr>
          <p:cNvSpPr/>
          <p:nvPr/>
        </p:nvSpPr>
        <p:spPr>
          <a:xfrm>
            <a:off x="8255000" y="3238500"/>
            <a:ext cx="3302000" cy="1397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D4D1CB-DE62-B552-F0B9-8C86695ACF7D}"/>
              </a:ext>
            </a:extLst>
          </p:cNvPr>
          <p:cNvSpPr/>
          <p:nvPr/>
        </p:nvSpPr>
        <p:spPr>
          <a:xfrm>
            <a:off x="8255000" y="3238500"/>
            <a:ext cx="88900" cy="13970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BCD93-B5AE-AB82-CDED-59F07E95FDE6}"/>
              </a:ext>
            </a:extLst>
          </p:cNvPr>
          <p:cNvSpPr txBox="1"/>
          <p:nvPr/>
        </p:nvSpPr>
        <p:spPr>
          <a:xfrm>
            <a:off x="8483600" y="34417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Scoring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5C2842-2D2F-DB8C-5C73-72C069CCCD0D}"/>
              </a:ext>
            </a:extLst>
          </p:cNvPr>
          <p:cNvSpPr txBox="1"/>
          <p:nvPr/>
        </p:nvSpPr>
        <p:spPr>
          <a:xfrm>
            <a:off x="8483600" y="3975100"/>
            <a:ext cx="2870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Deterministic, versioned rules
Explainable JSON; no OpenAI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64BE06-D07A-39EA-FB6E-07E27BCF8CED}"/>
              </a:ext>
            </a:extLst>
          </p:cNvPr>
          <p:cNvSpPr/>
          <p:nvPr/>
        </p:nvSpPr>
        <p:spPr>
          <a:xfrm>
            <a:off x="4318000" y="48895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01802A-D525-59A6-0F6F-C7425CE895F1}"/>
              </a:ext>
            </a:extLst>
          </p:cNvPr>
          <p:cNvSpPr/>
          <p:nvPr/>
        </p:nvSpPr>
        <p:spPr>
          <a:xfrm>
            <a:off x="4318000" y="48895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F9DDE-EBFA-50F2-A47C-2C70DA2D16B1}"/>
              </a:ext>
            </a:extLst>
          </p:cNvPr>
          <p:cNvSpPr txBox="1"/>
          <p:nvPr/>
        </p:nvSpPr>
        <p:spPr>
          <a:xfrm>
            <a:off x="4546600" y="5092700"/>
            <a:ext cx="21717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Voice / Profile Service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C4230-EE80-5406-E406-145C2B7261E4}"/>
              </a:ext>
            </a:extLst>
          </p:cNvPr>
          <p:cNvSpPr txBox="1"/>
          <p:nvPr/>
        </p:nvSpPr>
        <p:spPr>
          <a:xfrm>
            <a:off x="4546600" y="5626100"/>
            <a:ext cx="2171700" cy="4431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Transcription and NLP
Schema-constrained suggestions
Bounded command proposals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FEB278-90D0-6CF7-F7D0-D408A62C41ED}"/>
              </a:ext>
            </a:extLst>
          </p:cNvPr>
          <p:cNvSpPr/>
          <p:nvPr/>
        </p:nvSpPr>
        <p:spPr>
          <a:xfrm>
            <a:off x="8255000" y="4889500"/>
            <a:ext cx="3302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375F72-5DC4-8C25-5E30-0B5939FEFAE3}"/>
              </a:ext>
            </a:extLst>
          </p:cNvPr>
          <p:cNvSpPr/>
          <p:nvPr/>
        </p:nvSpPr>
        <p:spPr>
          <a:xfrm>
            <a:off x="8255000" y="48895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0B14B1-F68C-2A70-24BB-DB6B0EB31E6B}"/>
              </a:ext>
            </a:extLst>
          </p:cNvPr>
          <p:cNvSpPr txBox="1"/>
          <p:nvPr/>
        </p:nvSpPr>
        <p:spPr>
          <a:xfrm>
            <a:off x="8483600" y="5092700"/>
            <a:ext cx="2870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OpenAI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633FF-7096-7D31-9FBA-FE40C8EC5C27}"/>
              </a:ext>
            </a:extLst>
          </p:cNvPr>
          <p:cNvSpPr txBox="1"/>
          <p:nvPr/>
        </p:nvSpPr>
        <p:spPr>
          <a:xfrm>
            <a:off x="8483600" y="5626100"/>
            <a:ext cx="2870200" cy="4431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60">
                <a:solidFill>
                  <a:srgbClr val="17243A"/>
                </a:solidFill>
                <a:latin typeface="Aptos" panose="020B0004020202020204" pitchFamily="34" charset="0"/>
              </a:rPr>
              <a:t>External provider
No database authority
Replaceable adapter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C8F09A-A897-090D-6095-9EC4A9D21FCD}"/>
              </a:ext>
            </a:extLst>
          </p:cNvPr>
          <p:cNvCxnSpPr/>
          <p:nvPr/>
        </p:nvCxnSpPr>
        <p:spPr>
          <a:xfrm>
            <a:off x="990600" y="3505200"/>
            <a:ext cx="215900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50D8C2-D405-4E4C-234E-C214331589F2}"/>
              </a:ext>
            </a:extLst>
          </p:cNvPr>
          <p:cNvCxnSpPr/>
          <p:nvPr/>
        </p:nvCxnSpPr>
        <p:spPr>
          <a:xfrm>
            <a:off x="3302000" y="3175000"/>
            <a:ext cx="1016000" cy="0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06BA0BB-4994-95D2-7BE9-A5A335A87A75}"/>
              </a:ext>
            </a:extLst>
          </p:cNvPr>
          <p:cNvSpPr txBox="1"/>
          <p:nvPr/>
        </p:nvSpPr>
        <p:spPr>
          <a:xfrm>
            <a:off x="3505200" y="2933700"/>
            <a:ext cx="6096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20" b="1">
                <a:solidFill>
                  <a:srgbClr val="1565D8"/>
                </a:solidFill>
                <a:latin typeface="Aptos" panose="020B0004020202020204" pitchFamily="34" charset="0"/>
              </a:rPr>
              <a:t>JWT API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EEA38B4-90AA-895F-3FBB-F734CCA169C3}"/>
              </a:ext>
            </a:extLst>
          </p:cNvPr>
          <p:cNvCxnSpPr/>
          <p:nvPr/>
        </p:nvCxnSpPr>
        <p:spPr>
          <a:xfrm flipV="1">
            <a:off x="6921500" y="2311400"/>
            <a:ext cx="1333500" cy="38100"/>
          </a:xfrm>
          <a:prstGeom prst="line">
            <a:avLst/>
          </a:prstGeom>
          <a:ln w="29210">
            <a:solidFill>
              <a:srgbClr val="157A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07B0EE-6C79-3F88-D579-2F6BFF6933BD}"/>
              </a:ext>
            </a:extLst>
          </p:cNvPr>
          <p:cNvSpPr txBox="1"/>
          <p:nvPr/>
        </p:nvSpPr>
        <p:spPr>
          <a:xfrm>
            <a:off x="6959600" y="2032000"/>
            <a:ext cx="12446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60" b="1">
                <a:solidFill>
                  <a:srgbClr val="157A55"/>
                </a:solidFill>
                <a:latin typeface="Aptos" panose="020B0004020202020204" pitchFamily="34" charset="0"/>
              </a:rPr>
              <a:t>Doctrine + storage adapter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318305-E49B-345F-66C1-A991281C7B25}"/>
              </a:ext>
            </a:extLst>
          </p:cNvPr>
          <p:cNvCxnSpPr/>
          <p:nvPr/>
        </p:nvCxnSpPr>
        <p:spPr>
          <a:xfrm>
            <a:off x="6921500" y="3810000"/>
            <a:ext cx="1333500" cy="63500"/>
          </a:xfrm>
          <a:prstGeom prst="line">
            <a:avLst/>
          </a:prstGeom>
          <a:ln w="29210">
            <a:solidFill>
              <a:srgbClr val="C27A1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9019115-0147-8DFC-A323-0294ECBF951B}"/>
              </a:ext>
            </a:extLst>
          </p:cNvPr>
          <p:cNvSpPr txBox="1"/>
          <p:nvPr/>
        </p:nvSpPr>
        <p:spPr>
          <a:xfrm>
            <a:off x="7188200" y="3581400"/>
            <a:ext cx="8509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80" b="1">
                <a:solidFill>
                  <a:srgbClr val="C27A19"/>
                </a:solidFill>
                <a:latin typeface="Aptos" panose="020B0004020202020204" pitchFamily="34" charset="0"/>
              </a:rPr>
              <a:t>Service token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20C0BE-1EEC-4BD4-A96B-516FFE9B8E7E}"/>
              </a:ext>
            </a:extLst>
          </p:cNvPr>
          <p:cNvCxnSpPr/>
          <p:nvPr/>
        </p:nvCxnSpPr>
        <p:spPr>
          <a:xfrm>
            <a:off x="5588000" y="4635500"/>
            <a:ext cx="0" cy="254000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1D5560-E034-EE92-35F6-9A75479DC7F6}"/>
              </a:ext>
            </a:extLst>
          </p:cNvPr>
          <p:cNvSpPr txBox="1"/>
          <p:nvPr/>
        </p:nvSpPr>
        <p:spPr>
          <a:xfrm>
            <a:off x="5689600" y="4699000"/>
            <a:ext cx="15621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50" b="1">
                <a:solidFill>
                  <a:srgbClr val="563A4B"/>
                </a:solidFill>
                <a:latin typeface="Aptos" panose="020B0004020202020204" pitchFamily="34" charset="0"/>
              </a:rPr>
              <a:t>Protected profile suggestions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3AB07F-26A0-9CB8-4D6E-487DBC14637C}"/>
              </a:ext>
            </a:extLst>
          </p:cNvPr>
          <p:cNvCxnSpPr/>
          <p:nvPr/>
        </p:nvCxnSpPr>
        <p:spPr>
          <a:xfrm>
            <a:off x="3302000" y="4445000"/>
            <a:ext cx="1016000" cy="1104900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A52E6E8-D274-AE6D-78F6-3E41FD810140}"/>
              </a:ext>
            </a:extLst>
          </p:cNvPr>
          <p:cNvSpPr txBox="1"/>
          <p:nvPr/>
        </p:nvSpPr>
        <p:spPr>
          <a:xfrm>
            <a:off x="3149600" y="4838700"/>
            <a:ext cx="11684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50" b="1">
                <a:solidFill>
                  <a:srgbClr val="563A4B"/>
                </a:solidFill>
                <a:latin typeface="Aptos" panose="020B0004020202020204" pitchFamily="34" charset="0"/>
              </a:rPr>
              <a:t>Audio + navigation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C1CBE-7368-AEBF-9D0F-C13AF30D09A7}"/>
              </a:ext>
            </a:extLst>
          </p:cNvPr>
          <p:cNvCxnSpPr/>
          <p:nvPr/>
        </p:nvCxnSpPr>
        <p:spPr>
          <a:xfrm flipV="1">
            <a:off x="6921500" y="5549900"/>
            <a:ext cx="1333500" cy="38100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7A6AB61-4580-CD28-3702-6781FCE4AE5F}"/>
              </a:ext>
            </a:extLst>
          </p:cNvPr>
          <p:cNvSpPr txBox="1"/>
          <p:nvPr/>
        </p:nvSpPr>
        <p:spPr>
          <a:xfrm>
            <a:off x="7239000" y="5334000"/>
            <a:ext cx="736600" cy="1200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80" b="1">
                <a:solidFill>
                  <a:srgbClr val="1565D8"/>
                </a:solidFill>
                <a:latin typeface="Aptos" panose="020B0004020202020204" pitchFamily="34" charset="0"/>
              </a:rPr>
              <a:t>Provider API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C5C1F06-CE2F-85D3-EB54-38C95FEF2A57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B584C19-7A1D-40D0-B32D-D0F93F42FF2D}"/>
              </a:ext>
            </a:extLst>
          </p:cNvPr>
          <p:cNvSpPr txBox="1"/>
          <p:nvPr/>
        </p:nvSpPr>
        <p:spPr>
          <a:xfrm>
            <a:off x="609600" y="6540500"/>
            <a:ext cx="9017000" cy="1108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2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F1DC99-661D-1882-84CD-90E861BB41F0}"/>
              </a:ext>
            </a:extLst>
          </p:cNvPr>
          <p:cNvSpPr txBox="1"/>
          <p:nvPr/>
        </p:nvSpPr>
        <p:spPr>
          <a:xfrm>
            <a:off x="10998200" y="6527800"/>
            <a:ext cx="584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A64B2A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00392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3E921F-3DC3-D162-3984-2AEDD5CC192D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95A1F72-3D36-3371-6348-28B37E32B8FD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367D7-D760-F614-19A7-F26F1919D3E3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F9E78-1BA8-203E-6C8E-9F1FDF00C05F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572E8-213F-45F7-CFCC-3AB4602C9FC8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9BBBD427-C67B-6828-9F0A-88F4044AA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473798-B3D6-C7EE-D2D4-D1E558D86CE0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CONCEPTION DETAILLEE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089D8-90AF-9DD4-4066-815D6888DDE7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Design decisions control complexity and sensitive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6428B-1157-E1BE-5D05-DCE214E3E354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Patterns address coupling, opacity, unsafe action and lost decision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E5309-31B8-742E-DE12-62FE5A3C7ADF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C5558-F92E-71C5-6326-E9BB9E452E1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66AAC8-DB13-2065-A3A8-0D1EC3BCC15B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C4E9AA-5895-79AD-4D5E-2016A1438BF8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B2340-ED45-9A12-04D7-504F3B22B852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F3BE78-34E6-155B-4808-C3D188765E82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BAD472-D2D1-5DE1-BD0C-A163686E915C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FBAF6-7C81-51D5-E644-3DB3C9D0CA1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A71516-7FBB-08D2-3441-B99F665A8790}"/>
              </a:ext>
            </a:extLst>
          </p:cNvPr>
          <p:cNvSpPr/>
          <p:nvPr/>
        </p:nvSpPr>
        <p:spPr>
          <a:xfrm>
            <a:off x="533400" y="2032000"/>
            <a:ext cx="5207000" cy="15494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1648AD-1030-DE89-32CB-580632F3EDE1}"/>
              </a:ext>
            </a:extLst>
          </p:cNvPr>
          <p:cNvSpPr/>
          <p:nvPr/>
        </p:nvSpPr>
        <p:spPr>
          <a:xfrm>
            <a:off x="533400" y="2032000"/>
            <a:ext cx="101600" cy="15494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CBB7BD-94C3-076A-E5A2-2A7ED3103A05}"/>
              </a:ext>
            </a:extLst>
          </p:cNvPr>
          <p:cNvSpPr txBox="1"/>
          <p:nvPr/>
        </p:nvSpPr>
        <p:spPr>
          <a:xfrm>
            <a:off x="812800" y="2235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Layered 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D9864-D3D6-EDBB-A265-00F68F75521C}"/>
              </a:ext>
            </a:extLst>
          </p:cNvPr>
          <p:cNvSpPr txBox="1"/>
          <p:nvPr/>
        </p:nvSpPr>
        <p:spPr>
          <a:xfrm>
            <a:off x="812800" y="2730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Controller - service - repository
Low coupling and cohesive change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F82C43-A4DB-A3BA-EDD3-29E0FDCCD788}"/>
              </a:ext>
            </a:extLst>
          </p:cNvPr>
          <p:cNvSpPr/>
          <p:nvPr/>
        </p:nvSpPr>
        <p:spPr>
          <a:xfrm>
            <a:off x="6451600" y="2032000"/>
            <a:ext cx="5207000" cy="15494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45C409-C721-C226-1A0A-7617B4F8A4B6}"/>
              </a:ext>
            </a:extLst>
          </p:cNvPr>
          <p:cNvSpPr/>
          <p:nvPr/>
        </p:nvSpPr>
        <p:spPr>
          <a:xfrm>
            <a:off x="6451600" y="2032000"/>
            <a:ext cx="101600" cy="1549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0BCE1-DD7F-F4AF-A999-346B07CA6D54}"/>
              </a:ext>
            </a:extLst>
          </p:cNvPr>
          <p:cNvSpPr txBox="1"/>
          <p:nvPr/>
        </p:nvSpPr>
        <p:spPr>
          <a:xfrm>
            <a:off x="6731000" y="2235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Adapters + policy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87C80-CE2B-8A28-DB3A-79C3A39E8F14}"/>
              </a:ext>
            </a:extLst>
          </p:cNvPr>
          <p:cNvSpPr txBox="1"/>
          <p:nvPr/>
        </p:nvSpPr>
        <p:spPr>
          <a:xfrm>
            <a:off x="6731000" y="2730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Replaceable OpenAI boundary
Versioned deterministic scoring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3D75F1-5E7E-115A-827B-375E8778F64C}"/>
              </a:ext>
            </a:extLst>
          </p:cNvPr>
          <p:cNvSpPr/>
          <p:nvPr/>
        </p:nvSpPr>
        <p:spPr>
          <a:xfrm>
            <a:off x="533400" y="3937000"/>
            <a:ext cx="5207000" cy="15494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D8F032-A28B-EF46-BB84-439F7D193D8A}"/>
              </a:ext>
            </a:extLst>
          </p:cNvPr>
          <p:cNvSpPr/>
          <p:nvPr/>
        </p:nvSpPr>
        <p:spPr>
          <a:xfrm>
            <a:off x="533400" y="3937000"/>
            <a:ext cx="101600" cy="1549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3123B7-F397-4163-6CBB-129E4C8727A1}"/>
              </a:ext>
            </a:extLst>
          </p:cNvPr>
          <p:cNvSpPr txBox="1"/>
          <p:nvPr/>
        </p:nvSpPr>
        <p:spPr>
          <a:xfrm>
            <a:off x="812800" y="4140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Command registry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02E6F2-9959-9677-7684-9BF13334905E}"/>
              </a:ext>
            </a:extLst>
          </p:cNvPr>
          <p:cNvSpPr txBox="1"/>
          <p:nvPr/>
        </p:nvSpPr>
        <p:spPr>
          <a:xfrm>
            <a:off x="812800" y="4635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Allowlisted voice actions
Role and page authorization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8DCD2A1-41DB-0336-B8ED-F8F8A26612DA}"/>
              </a:ext>
            </a:extLst>
          </p:cNvPr>
          <p:cNvSpPr/>
          <p:nvPr/>
        </p:nvSpPr>
        <p:spPr>
          <a:xfrm>
            <a:off x="6451600" y="3937000"/>
            <a:ext cx="5207000" cy="15494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405059-B20E-0088-97B7-D75BDB91A32D}"/>
              </a:ext>
            </a:extLst>
          </p:cNvPr>
          <p:cNvSpPr/>
          <p:nvPr/>
        </p:nvSpPr>
        <p:spPr>
          <a:xfrm>
            <a:off x="6451600" y="3937000"/>
            <a:ext cx="101600" cy="1549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A3AA45-160A-FC5F-2433-5E9B2882208D}"/>
              </a:ext>
            </a:extLst>
          </p:cNvPr>
          <p:cNvSpPr txBox="1"/>
          <p:nvPr/>
        </p:nvSpPr>
        <p:spPr>
          <a:xfrm>
            <a:off x="6731000" y="4140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Privacy + audit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D010B-3EEF-6DB5-A962-9EE699264214}"/>
              </a:ext>
            </a:extLst>
          </p:cNvPr>
          <p:cNvSpPr txBox="1"/>
          <p:nvPr/>
        </p:nvSpPr>
        <p:spPr>
          <a:xfrm>
            <a:off x="6731000" y="4635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Private document storage
Consent, retention and snapshots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D14433-F462-6053-A765-00C220BBE215}"/>
              </a:ext>
            </a:extLst>
          </p:cNvPr>
          <p:cNvSpPr txBox="1"/>
          <p:nvPr/>
        </p:nvSpPr>
        <p:spPr>
          <a:xfrm>
            <a:off x="1270000" y="577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Evidence: 51/51 route probes passed; one oversized-upload defect remains recorded.</a:t>
            </a:r>
          </a:p>
        </p:txBody>
      </p:sp>
    </p:spTree>
    <p:extLst>
      <p:ext uri="{BB962C8B-B14F-4D97-AF65-F5344CB8AC3E}">
        <p14:creationId xmlns:p14="http://schemas.microsoft.com/office/powerpoint/2010/main" val="217041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891ACF-C816-CA99-BEFE-6B6E210F6963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354D850-972D-3232-7DB6-8D98F4FB5EC9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61CD8E-CC64-CA18-6FDE-A798C09F83E7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3637D-03DB-E628-D07C-CB34642F4BAE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E38D7-DBC7-84CF-E76D-0A7DF6E5FF8E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25A64D37-DC60-C536-D6BB-F06CD012B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A2BE93-9FB1-16F5-9E03-946DCE30847A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PROGRAMMATION ET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8D67A-B56C-E72C-2C19-8884E6186021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Implemented services running on shared cloud staging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039C0-75EF-B603-0A39-208088505075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Versioned components deploy independently through infrastructure as code.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34C90-C172-2A1B-022C-09C90A8830A5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E82A0-2767-D03B-C2F6-1E86CF8F5660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D6063-A953-2905-449A-E46880F10DE4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3C769-D39E-520C-B045-C78CA6E26382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D1FA9B-1BBB-7392-5F08-AB9DD1F7B33A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64670-9A30-688C-8C51-936E2A6D685A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5F45E-7A61-2823-BE83-5E6B9AB5BBBA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11835-C5C9-2267-083B-DA6AF95FC17A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8D4658-6D41-91AA-FAD4-D78C70DBD857}"/>
              </a:ext>
            </a:extLst>
          </p:cNvPr>
          <p:cNvSpPr/>
          <p:nvPr/>
        </p:nvSpPr>
        <p:spPr>
          <a:xfrm>
            <a:off x="533400" y="1968500"/>
            <a:ext cx="5207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Render Blueprint showing deployed frontend, API, scoring, and voice profile services">
            <a:extLst>
              <a:ext uri="{FF2B5EF4-FFF2-40B4-BE49-F238E27FC236}">
                <a16:creationId xmlns:a16="http://schemas.microsoft.com/office/drawing/2014/main" id="{A454D539-BA66-5A23-5142-DDA28CF73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454925"/>
            <a:ext cx="5105400" cy="207515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95D8A7-0264-9AF3-0CE7-AFFC6701071B}"/>
              </a:ext>
            </a:extLst>
          </p:cNvPr>
          <p:cNvSpPr/>
          <p:nvPr/>
        </p:nvSpPr>
        <p:spPr>
          <a:xfrm>
            <a:off x="6451600" y="1968500"/>
            <a:ext cx="5207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Supabase storage showing purpose-specific buckets and upload controls">
            <a:extLst>
              <a:ext uri="{FF2B5EF4-FFF2-40B4-BE49-F238E27FC236}">
                <a16:creationId xmlns:a16="http://schemas.microsoft.com/office/drawing/2014/main" id="{FD808FF2-855B-FE61-000E-5070A33DA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2184174"/>
            <a:ext cx="5105400" cy="26166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1C517-48F4-9546-9BFD-9E0C55C7330F}"/>
              </a:ext>
            </a:extLst>
          </p:cNvPr>
          <p:cNvSpPr txBox="1"/>
          <p:nvPr/>
        </p:nvSpPr>
        <p:spPr>
          <a:xfrm>
            <a:off x="533400" y="51435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Render Blueprint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98A29B-6A57-96A5-8124-258226B4A2E1}"/>
              </a:ext>
            </a:extLst>
          </p:cNvPr>
          <p:cNvSpPr txBox="1"/>
          <p:nvPr/>
        </p:nvSpPr>
        <p:spPr>
          <a:xfrm>
            <a:off x="825500" y="55245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React static site | Symfony API | scoring | voice/profile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1F731-C185-07AA-2BFB-FCCBF7CAEDF6}"/>
              </a:ext>
            </a:extLst>
          </p:cNvPr>
          <p:cNvSpPr txBox="1"/>
          <p:nvPr/>
        </p:nvSpPr>
        <p:spPr>
          <a:xfrm>
            <a:off x="6451600" y="51435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Supabase data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C651A-DFF1-A2FD-7D21-3F2DAC31E227}"/>
              </a:ext>
            </a:extLst>
          </p:cNvPr>
          <p:cNvSpPr txBox="1"/>
          <p:nvPr/>
        </p:nvSpPr>
        <p:spPr>
          <a:xfrm>
            <a:off x="6743700" y="55245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PostgreSQL | private evidence | public employer logos</a:t>
            </a:r>
          </a:p>
        </p:txBody>
      </p:sp>
    </p:spTree>
    <p:extLst>
      <p:ext uri="{BB962C8B-B14F-4D97-AF65-F5344CB8AC3E}">
        <p14:creationId xmlns:p14="http://schemas.microsoft.com/office/powerpoint/2010/main" val="1654613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591CF7-5693-5BE9-B3F2-377C9F9CEE3E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4BA76A2-6F21-20BB-ADF6-4874CA2A7BC8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24C0C-D523-C4AF-9E7E-2B8ED32FA07C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7D298-1610-223E-C186-35638BA0FBB0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14A17-7495-D1A3-F272-69F84749103D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CA89F604-59DB-E439-4C84-4F8368292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D7A9CA-E6E5-156B-8732-7EFB718DF80E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PROGRAMMATION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22763-0BF6-EAB3-3957-C350B566D294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AI-assisted profile: multilingual, advisory and reversible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F8FAD-71CD-7D05-3533-DAAFAE820A59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The candidate remains in control from transcription to persistence.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96A4F8-2E58-7717-16B0-DE4D15AF0D5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7257D-7315-2442-6594-CDD8049A5B49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5EED4-0A7F-8692-C9DC-1A500E78CE78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98957C-2A69-A767-D2DB-3166098049F2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4C71C5-D8A9-C30E-B6D6-F6322CA186BA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5B11DE-CCCB-6A6C-E56C-B09F0D467184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B3C9C-697F-1937-D55B-CBAC0931FF21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42995-CD76-A42E-B13D-C43E69386EF5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CC4999-C5E9-554C-986C-3E520456F77E}"/>
              </a:ext>
            </a:extLst>
          </p:cNvPr>
          <p:cNvSpPr/>
          <p:nvPr/>
        </p:nvSpPr>
        <p:spPr>
          <a:xfrm>
            <a:off x="5334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777920-CEE5-4B60-1831-4078A1158A26}"/>
              </a:ext>
            </a:extLst>
          </p:cNvPr>
          <p:cNvSpPr/>
          <p:nvPr/>
        </p:nvSpPr>
        <p:spPr>
          <a:xfrm>
            <a:off x="533400" y="2006600"/>
            <a:ext cx="18415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019C9-CF7C-64E7-B9E0-C6043827823B}"/>
              </a:ext>
            </a:extLst>
          </p:cNvPr>
          <p:cNvSpPr txBox="1"/>
          <p:nvPr/>
        </p:nvSpPr>
        <p:spPr>
          <a:xfrm>
            <a:off x="6604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Describe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6A08D8-EA40-013D-DD5D-A18F30AF5D6B}"/>
              </a:ext>
            </a:extLst>
          </p:cNvPr>
          <p:cNvSpPr txBox="1"/>
          <p:nvPr/>
        </p:nvSpPr>
        <p:spPr>
          <a:xfrm>
            <a:off x="6604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Type or speak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D16AA4-2FD2-D5A3-1A2A-69E3E2B8D4E6}"/>
              </a:ext>
            </a:extLst>
          </p:cNvPr>
          <p:cNvCxnSpPr/>
          <p:nvPr/>
        </p:nvCxnSpPr>
        <p:spPr>
          <a:xfrm>
            <a:off x="24257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2B7199-528A-0FB5-FB72-9524C33ABDCB}"/>
              </a:ext>
            </a:extLst>
          </p:cNvPr>
          <p:cNvSpPr/>
          <p:nvPr/>
        </p:nvSpPr>
        <p:spPr>
          <a:xfrm>
            <a:off x="27686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85D9CE-199A-F3B0-0EA5-6918FE4ED5C5}"/>
              </a:ext>
            </a:extLst>
          </p:cNvPr>
          <p:cNvSpPr/>
          <p:nvPr/>
        </p:nvSpPr>
        <p:spPr>
          <a:xfrm>
            <a:off x="2768600" y="2006600"/>
            <a:ext cx="18415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FBE9A-658A-07E2-617D-7884A0A06B91}"/>
              </a:ext>
            </a:extLst>
          </p:cNvPr>
          <p:cNvSpPr txBox="1"/>
          <p:nvPr/>
        </p:nvSpPr>
        <p:spPr>
          <a:xfrm>
            <a:off x="28956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Edit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ED45FC-F08B-D33F-E763-90C7864A6A98}"/>
              </a:ext>
            </a:extLst>
          </p:cNvPr>
          <p:cNvSpPr txBox="1"/>
          <p:nvPr/>
        </p:nvSpPr>
        <p:spPr>
          <a:xfrm>
            <a:off x="28956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Correct transcript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BB0AA9-8A43-622C-D0C8-29F67A8FC9C5}"/>
              </a:ext>
            </a:extLst>
          </p:cNvPr>
          <p:cNvCxnSpPr/>
          <p:nvPr/>
        </p:nvCxnSpPr>
        <p:spPr>
          <a:xfrm>
            <a:off x="46609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2FE579-FEC5-D31D-5852-0447BD4555A8}"/>
              </a:ext>
            </a:extLst>
          </p:cNvPr>
          <p:cNvSpPr/>
          <p:nvPr/>
        </p:nvSpPr>
        <p:spPr>
          <a:xfrm>
            <a:off x="50038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9849FA-9E3E-B641-3577-128D457B7609}"/>
              </a:ext>
            </a:extLst>
          </p:cNvPr>
          <p:cNvSpPr/>
          <p:nvPr/>
        </p:nvSpPr>
        <p:spPr>
          <a:xfrm>
            <a:off x="5003800" y="2006600"/>
            <a:ext cx="18415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8DA0C3-4176-DC49-003F-8349389AB7D0}"/>
              </a:ext>
            </a:extLst>
          </p:cNvPr>
          <p:cNvSpPr txBox="1"/>
          <p:nvPr/>
        </p:nvSpPr>
        <p:spPr>
          <a:xfrm>
            <a:off x="51308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Consent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C90432-6204-63F7-908B-DB16230B2BC7}"/>
              </a:ext>
            </a:extLst>
          </p:cNvPr>
          <p:cNvSpPr txBox="1"/>
          <p:nvPr/>
        </p:nvSpPr>
        <p:spPr>
          <a:xfrm>
            <a:off x="51308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Approve AI use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6D2A79-C015-65CF-A324-0D6B328218E5}"/>
              </a:ext>
            </a:extLst>
          </p:cNvPr>
          <p:cNvCxnSpPr/>
          <p:nvPr/>
        </p:nvCxnSpPr>
        <p:spPr>
          <a:xfrm>
            <a:off x="68961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284B90-670C-41E0-ED1C-CC477D3C65C2}"/>
              </a:ext>
            </a:extLst>
          </p:cNvPr>
          <p:cNvSpPr/>
          <p:nvPr/>
        </p:nvSpPr>
        <p:spPr>
          <a:xfrm>
            <a:off x="72390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4B68B1-25A1-4165-F792-22B3B603C754}"/>
              </a:ext>
            </a:extLst>
          </p:cNvPr>
          <p:cNvSpPr/>
          <p:nvPr/>
        </p:nvSpPr>
        <p:spPr>
          <a:xfrm>
            <a:off x="7239000" y="2006600"/>
            <a:ext cx="18415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BD3998-E50E-2CCC-E74A-AB5151DA9049}"/>
              </a:ext>
            </a:extLst>
          </p:cNvPr>
          <p:cNvSpPr txBox="1"/>
          <p:nvPr/>
        </p:nvSpPr>
        <p:spPr>
          <a:xfrm>
            <a:off x="73660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B88A1-590A-E694-CECD-7D866570B738}"/>
              </a:ext>
            </a:extLst>
          </p:cNvPr>
          <p:cNvSpPr txBox="1"/>
          <p:nvPr/>
        </p:nvSpPr>
        <p:spPr>
          <a:xfrm>
            <a:off x="73660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Select or reject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9007CE-709C-5983-73AD-3F449CBC987F}"/>
              </a:ext>
            </a:extLst>
          </p:cNvPr>
          <p:cNvCxnSpPr/>
          <p:nvPr/>
        </p:nvCxnSpPr>
        <p:spPr>
          <a:xfrm>
            <a:off x="91313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4511E9-8491-38A3-184C-278422CF07DF}"/>
              </a:ext>
            </a:extLst>
          </p:cNvPr>
          <p:cNvSpPr/>
          <p:nvPr/>
        </p:nvSpPr>
        <p:spPr>
          <a:xfrm>
            <a:off x="94742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EE0C7F-A716-F34A-0891-51514495A9F0}"/>
              </a:ext>
            </a:extLst>
          </p:cNvPr>
          <p:cNvSpPr/>
          <p:nvPr/>
        </p:nvSpPr>
        <p:spPr>
          <a:xfrm>
            <a:off x="9474200" y="2006600"/>
            <a:ext cx="18415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60B54C-D7EF-94F4-1B85-107A560AF5D5}"/>
              </a:ext>
            </a:extLst>
          </p:cNvPr>
          <p:cNvSpPr txBox="1"/>
          <p:nvPr/>
        </p:nvSpPr>
        <p:spPr>
          <a:xfrm>
            <a:off x="96012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Confirm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1A085B-942C-AF49-ECB6-8134D73D287F}"/>
              </a:ext>
            </a:extLst>
          </p:cNvPr>
          <p:cNvSpPr txBox="1"/>
          <p:nvPr/>
        </p:nvSpPr>
        <p:spPr>
          <a:xfrm>
            <a:off x="96012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Backend saves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1E8A5CF-9433-F1C7-CEAB-BEF24C0B0A72}"/>
              </a:ext>
            </a:extLst>
          </p:cNvPr>
          <p:cNvSpPr/>
          <p:nvPr/>
        </p:nvSpPr>
        <p:spPr>
          <a:xfrm>
            <a:off x="533400" y="3683000"/>
            <a:ext cx="3175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English profile transcript, consent and structured suggestions">
            <a:extLst>
              <a:ext uri="{FF2B5EF4-FFF2-40B4-BE49-F238E27FC236}">
                <a16:creationId xmlns:a16="http://schemas.microsoft.com/office/drawing/2014/main" id="{EF38A9C9-3D9F-69CF-D325-D514C31BB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99"/>
          <a:stretch>
            <a:fillRect/>
          </a:stretch>
        </p:blipFill>
        <p:spPr>
          <a:xfrm>
            <a:off x="584200" y="3733800"/>
            <a:ext cx="3073400" cy="17399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6C6A6AF-3563-EB6D-88E6-3A36829220F0}"/>
              </a:ext>
            </a:extLst>
          </p:cNvPr>
          <p:cNvSpPr/>
          <p:nvPr/>
        </p:nvSpPr>
        <p:spPr>
          <a:xfrm>
            <a:off x="4508500" y="3683000"/>
            <a:ext cx="3175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French profile transcript, consent and structured suggestions">
            <a:extLst>
              <a:ext uri="{FF2B5EF4-FFF2-40B4-BE49-F238E27FC236}">
                <a16:creationId xmlns:a16="http://schemas.microsoft.com/office/drawing/2014/main" id="{2B3B7A33-5617-613C-7E85-25FF9CF3B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19"/>
          <a:stretch>
            <a:fillRect/>
          </a:stretch>
        </p:blipFill>
        <p:spPr>
          <a:xfrm>
            <a:off x="4559300" y="3733800"/>
            <a:ext cx="3073400" cy="17399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9A90FC7-13E3-7A68-F9DB-0C36B40B428A}"/>
              </a:ext>
            </a:extLst>
          </p:cNvPr>
          <p:cNvSpPr/>
          <p:nvPr/>
        </p:nvSpPr>
        <p:spPr>
          <a:xfrm>
            <a:off x="8483600" y="3683000"/>
            <a:ext cx="3175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Arabic RTL profile transcript, consent and structured suggestions">
            <a:extLst>
              <a:ext uri="{FF2B5EF4-FFF2-40B4-BE49-F238E27FC236}">
                <a16:creationId xmlns:a16="http://schemas.microsoft.com/office/drawing/2014/main" id="{6AC2B2D8-3E17-BA08-03DE-3306F16F66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42"/>
          <a:stretch>
            <a:fillRect/>
          </a:stretch>
        </p:blipFill>
        <p:spPr>
          <a:xfrm>
            <a:off x="8534400" y="3733800"/>
            <a:ext cx="3073400" cy="1739900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282393B-8DEA-61F5-E018-94B253B40A98}"/>
              </a:ext>
            </a:extLst>
          </p:cNvPr>
          <p:cNvSpPr/>
          <p:nvPr/>
        </p:nvSpPr>
        <p:spPr>
          <a:xfrm>
            <a:off x="3175000" y="5575300"/>
            <a:ext cx="5842000" cy="63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E913C8-9797-839E-754B-2CDDF0FB63C7}"/>
              </a:ext>
            </a:extLst>
          </p:cNvPr>
          <p:cNvSpPr txBox="1"/>
          <p:nvPr/>
        </p:nvSpPr>
        <p:spPr>
          <a:xfrm>
            <a:off x="3429000" y="5651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53/60 passed | 7 extraction defects retained | no automatic persistence</a:t>
            </a:r>
          </a:p>
        </p:txBody>
      </p:sp>
    </p:spTree>
    <p:extLst>
      <p:ext uri="{BB962C8B-B14F-4D97-AF65-F5344CB8AC3E}">
        <p14:creationId xmlns:p14="http://schemas.microsoft.com/office/powerpoint/2010/main" val="74303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D577E3-00DA-03CB-64EC-77CD3ECC864F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6D40FE3-B0EE-85F3-7B14-0046F2AD559B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2F8B27-D91A-F5DE-F96A-B72C06EBA604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BF321-6126-192B-0C98-134E57F4D1DA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8C3A5-A11D-37A4-73F3-F78B67259C43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081AD311-8387-CF40-0CB6-F6C9C8F9C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CA3ADA-07FA-2882-70D9-38D08E51DF71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PROGRAMMATION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A5E1F-7508-4E1B-E601-BDC9E35FFE77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Voice navigation: flexible understanding, restricted 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DA23B-179A-BFF6-C260-ADD64A99B821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Natural language proposes an action; only the deterministic registry may authorize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AE024-C5EC-6C51-D91A-BF8709A8E7F4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6A7DB-6D22-B691-7848-439295FEEB6F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ACE222-A337-B9C3-6BD1-9156CDB4375A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AD0099-F527-01D1-80B0-B17145EBC66B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3E5C6-521E-BBB4-8134-445BAF237BC5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3009D6-13A0-C91D-4D85-121977A9789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40EAB7-3D3F-298C-90FD-4C03ED0943CF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07D17-3641-DD24-5D3E-76BF62EA2ED4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0F52E8-92A5-5E4C-D1D3-7F1472849002}"/>
              </a:ext>
            </a:extLst>
          </p:cNvPr>
          <p:cNvSpPr/>
          <p:nvPr/>
        </p:nvSpPr>
        <p:spPr>
          <a:xfrm>
            <a:off x="5334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2142C4-01E8-5AA1-E3C1-770EA1D1FAE1}"/>
              </a:ext>
            </a:extLst>
          </p:cNvPr>
          <p:cNvSpPr/>
          <p:nvPr/>
        </p:nvSpPr>
        <p:spPr>
          <a:xfrm>
            <a:off x="533400" y="2184400"/>
            <a:ext cx="18415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B91A6-5592-539B-70F6-20168B967DC1}"/>
              </a:ext>
            </a:extLst>
          </p:cNvPr>
          <p:cNvSpPr txBox="1"/>
          <p:nvPr/>
        </p:nvSpPr>
        <p:spPr>
          <a:xfrm>
            <a:off x="6604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3063A-F466-3D8F-AC23-E8766E5C8F26}"/>
              </a:ext>
            </a:extLst>
          </p:cNvPr>
          <p:cNvSpPr txBox="1"/>
          <p:nvPr/>
        </p:nvSpPr>
        <p:spPr>
          <a:xfrm>
            <a:off x="6604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Bounded audio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447EC-DBC1-654A-AF8E-769E3E15AD9C}"/>
              </a:ext>
            </a:extLst>
          </p:cNvPr>
          <p:cNvCxnSpPr/>
          <p:nvPr/>
        </p:nvCxnSpPr>
        <p:spPr>
          <a:xfrm>
            <a:off x="24257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AAD66D-1ECB-5A61-B45B-35F5C1980C0C}"/>
              </a:ext>
            </a:extLst>
          </p:cNvPr>
          <p:cNvSpPr/>
          <p:nvPr/>
        </p:nvSpPr>
        <p:spPr>
          <a:xfrm>
            <a:off x="27686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931BC6-164F-6F68-FA62-082EE2205392}"/>
              </a:ext>
            </a:extLst>
          </p:cNvPr>
          <p:cNvSpPr/>
          <p:nvPr/>
        </p:nvSpPr>
        <p:spPr>
          <a:xfrm>
            <a:off x="2768600" y="2184400"/>
            <a:ext cx="18415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CAB01-CF1D-424B-6A2B-FB222F610F6C}"/>
              </a:ext>
            </a:extLst>
          </p:cNvPr>
          <p:cNvSpPr txBox="1"/>
          <p:nvPr/>
        </p:nvSpPr>
        <p:spPr>
          <a:xfrm>
            <a:off x="28956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Transcribe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8184A0-398A-8147-B43A-67618B0F663A}"/>
              </a:ext>
            </a:extLst>
          </p:cNvPr>
          <p:cNvSpPr txBox="1"/>
          <p:nvPr/>
        </p:nvSpPr>
        <p:spPr>
          <a:xfrm>
            <a:off x="28956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Editable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4FC5904-9AAD-E030-54E9-3B2B38802C3D}"/>
              </a:ext>
            </a:extLst>
          </p:cNvPr>
          <p:cNvCxnSpPr/>
          <p:nvPr/>
        </p:nvCxnSpPr>
        <p:spPr>
          <a:xfrm>
            <a:off x="46609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45A240B-FFE7-203D-463C-CEAA97E76C21}"/>
              </a:ext>
            </a:extLst>
          </p:cNvPr>
          <p:cNvSpPr/>
          <p:nvPr/>
        </p:nvSpPr>
        <p:spPr>
          <a:xfrm>
            <a:off x="50038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54A86E-BDA1-957A-2BF2-9397EE7B5F99}"/>
              </a:ext>
            </a:extLst>
          </p:cNvPr>
          <p:cNvSpPr/>
          <p:nvPr/>
        </p:nvSpPr>
        <p:spPr>
          <a:xfrm>
            <a:off x="5003800" y="2184400"/>
            <a:ext cx="18415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2CB172-E32D-C318-0A92-C3F92452B37C}"/>
              </a:ext>
            </a:extLst>
          </p:cNvPr>
          <p:cNvSpPr txBox="1"/>
          <p:nvPr/>
        </p:nvSpPr>
        <p:spPr>
          <a:xfrm>
            <a:off x="51308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Interpret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C2555-47EE-3111-7E6B-9E8345109C98}"/>
              </a:ext>
            </a:extLst>
          </p:cNvPr>
          <p:cNvSpPr txBox="1"/>
          <p:nvPr/>
        </p:nvSpPr>
        <p:spPr>
          <a:xfrm>
            <a:off x="51308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Schema output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06578F-9B19-B29A-4A47-4D7722890053}"/>
              </a:ext>
            </a:extLst>
          </p:cNvPr>
          <p:cNvCxnSpPr/>
          <p:nvPr/>
        </p:nvCxnSpPr>
        <p:spPr>
          <a:xfrm>
            <a:off x="68961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4954CA-B568-E5E8-6EEF-CAC5C9D7264C}"/>
              </a:ext>
            </a:extLst>
          </p:cNvPr>
          <p:cNvSpPr/>
          <p:nvPr/>
        </p:nvSpPr>
        <p:spPr>
          <a:xfrm>
            <a:off x="72390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88E7AC-D744-7423-85CD-EC1AD192726D}"/>
              </a:ext>
            </a:extLst>
          </p:cNvPr>
          <p:cNvSpPr/>
          <p:nvPr/>
        </p:nvSpPr>
        <p:spPr>
          <a:xfrm>
            <a:off x="7239000" y="2184400"/>
            <a:ext cx="18415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680146-A528-1BED-2B3D-81C419F17EFD}"/>
              </a:ext>
            </a:extLst>
          </p:cNvPr>
          <p:cNvSpPr txBox="1"/>
          <p:nvPr/>
        </p:nvSpPr>
        <p:spPr>
          <a:xfrm>
            <a:off x="73660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Authorize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6F383-3A2F-C15F-37A4-EDCEB1820884}"/>
              </a:ext>
            </a:extLst>
          </p:cNvPr>
          <p:cNvSpPr txBox="1"/>
          <p:nvPr/>
        </p:nvSpPr>
        <p:spPr>
          <a:xfrm>
            <a:off x="73660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Role + page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9C0975-F746-03E6-9B45-36C4507B97E8}"/>
              </a:ext>
            </a:extLst>
          </p:cNvPr>
          <p:cNvCxnSpPr/>
          <p:nvPr/>
        </p:nvCxnSpPr>
        <p:spPr>
          <a:xfrm>
            <a:off x="91313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20B8EAD-8D62-B18F-FF99-AB258233FEA2}"/>
              </a:ext>
            </a:extLst>
          </p:cNvPr>
          <p:cNvSpPr/>
          <p:nvPr/>
        </p:nvSpPr>
        <p:spPr>
          <a:xfrm>
            <a:off x="94742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7FB3C6-0DAE-CB37-AB3E-6D944A73CEDE}"/>
              </a:ext>
            </a:extLst>
          </p:cNvPr>
          <p:cNvSpPr/>
          <p:nvPr/>
        </p:nvSpPr>
        <p:spPr>
          <a:xfrm>
            <a:off x="9474200" y="2184400"/>
            <a:ext cx="18415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8ACB9-2FC7-CFB3-788C-116585C54DD9}"/>
              </a:ext>
            </a:extLst>
          </p:cNvPr>
          <p:cNvSpPr txBox="1"/>
          <p:nvPr/>
        </p:nvSpPr>
        <p:spPr>
          <a:xfrm>
            <a:off x="96012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E1898F-3B8E-EAA1-53FB-4283A94379F2}"/>
              </a:ext>
            </a:extLst>
          </p:cNvPr>
          <p:cNvSpPr txBox="1"/>
          <p:nvPr/>
        </p:nvSpPr>
        <p:spPr>
          <a:xfrm>
            <a:off x="96012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Fixed React action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F5E944-3A3C-47D9-CD42-4098FFC257B0}"/>
              </a:ext>
            </a:extLst>
          </p:cNvPr>
          <p:cNvSpPr/>
          <p:nvPr/>
        </p:nvSpPr>
        <p:spPr>
          <a:xfrm>
            <a:off x="533400" y="4064000"/>
            <a:ext cx="5207000" cy="15875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8F5129-BBB6-4626-D64A-75208FD5EB7A}"/>
              </a:ext>
            </a:extLst>
          </p:cNvPr>
          <p:cNvSpPr/>
          <p:nvPr/>
        </p:nvSpPr>
        <p:spPr>
          <a:xfrm>
            <a:off x="533400" y="4064000"/>
            <a:ext cx="101600" cy="15875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053FE7-CEA6-D552-5AA1-5DC80924C961}"/>
              </a:ext>
            </a:extLst>
          </p:cNvPr>
          <p:cNvSpPr txBox="1"/>
          <p:nvPr/>
        </p:nvSpPr>
        <p:spPr>
          <a:xfrm>
            <a:off x="812800" y="4267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Safety boundary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4ACFD5-D453-C18C-2C2B-E85D3862A50C}"/>
              </a:ext>
            </a:extLst>
          </p:cNvPr>
          <p:cNvSpPr txBox="1"/>
          <p:nvPr/>
        </p:nvSpPr>
        <p:spPr>
          <a:xfrm>
            <a:off x="812800" y="4762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Unknown routes and cross-role actions are rejected. Submission and reset require confirmation.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1BBF08-3A42-0AC5-9AF0-91B1D2EDEB73}"/>
              </a:ext>
            </a:extLst>
          </p:cNvPr>
          <p:cNvSpPr/>
          <p:nvPr/>
        </p:nvSpPr>
        <p:spPr>
          <a:xfrm>
            <a:off x="6451600" y="4064000"/>
            <a:ext cx="5207000" cy="15875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1ABF5B-9CAC-EAFE-5546-A51E7736B6DD}"/>
              </a:ext>
            </a:extLst>
          </p:cNvPr>
          <p:cNvSpPr/>
          <p:nvPr/>
        </p:nvSpPr>
        <p:spPr>
          <a:xfrm>
            <a:off x="6451600" y="4064000"/>
            <a:ext cx="101600" cy="15875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1ABB77-9061-995B-0FF9-4AA3273130C0}"/>
              </a:ext>
            </a:extLst>
          </p:cNvPr>
          <p:cNvSpPr txBox="1"/>
          <p:nvPr/>
        </p:nvSpPr>
        <p:spPr>
          <a:xfrm>
            <a:off x="6731000" y="4267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Evidence and limits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96F8A1-B5DB-A07A-8E82-D9C67AC6A108}"/>
              </a:ext>
            </a:extLst>
          </p:cNvPr>
          <p:cNvSpPr txBox="1"/>
          <p:nvPr/>
        </p:nvSpPr>
        <p:spPr>
          <a:xfrm>
            <a:off x="6731000" y="4762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57/57 registry checks passed. Noise and dictated email characters can still require correction.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2AC923-B248-B019-BE7F-B94CF4D176CA}"/>
              </a:ext>
            </a:extLst>
          </p:cNvPr>
          <p:cNvSpPr txBox="1"/>
          <p:nvPr/>
        </p:nvSpPr>
        <p:spPr>
          <a:xfrm>
            <a:off x="2667000" y="58674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Every voice operation keeps a keyboard and mouse equivalent.</a:t>
            </a:r>
          </a:p>
        </p:txBody>
      </p:sp>
    </p:spTree>
    <p:extLst>
      <p:ext uri="{BB962C8B-B14F-4D97-AF65-F5344CB8AC3E}">
        <p14:creationId xmlns:p14="http://schemas.microsoft.com/office/powerpoint/2010/main" val="1325220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21AB00-4A75-8034-FA5D-83184722C082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2AD4119-352D-8B24-DEAA-CA988AD023A0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10651-202F-9F02-E4F9-D62BFCB3E787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0030E-9D0F-38A5-176E-DFB01FFDBA3E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15EF3-B7EF-D616-E935-F7429D3F9BE4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1455CAA2-D534-FEE0-ABA9-582839987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A85A17-7A98-C37E-6C2D-793EECD18756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ALGORITHME DE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82643-8D44-8119-073C-20286F53B7AA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Deterministic compatibility is explainable by construction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3734C-03D4-2995-DC0A-6518FD44C050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Controlled assessments produce reproducible task-level reasons.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126E7-03FE-E226-7C6C-6810D24B5C17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CBD4F-15FD-1489-A6FA-61FE169E9C52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F3EB7-BEB1-8CE2-E542-AD43E85EE079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9C3F9-C78D-99B4-9A9F-068D39BB51B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99F42E-30E6-091D-05CC-FA986AB4F9A7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0A4014-65BD-C7C1-CD7C-1D7527AFE42D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05ECC9-9FB5-2681-FB8E-93442096F958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FA02D1-C792-5410-B6BE-CB2EFEA5AA55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C33F68-E9DA-4DBE-1DEE-C3DC2AD4C5BF}"/>
              </a:ext>
            </a:extLst>
          </p:cNvPr>
          <p:cNvSpPr/>
          <p:nvPr/>
        </p:nvSpPr>
        <p:spPr>
          <a:xfrm>
            <a:off x="533400" y="2006600"/>
            <a:ext cx="5905500" cy="3454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5E548-355C-E0D4-E0E8-A633FB088B8B}"/>
              </a:ext>
            </a:extLst>
          </p:cNvPr>
          <p:cNvSpPr txBox="1"/>
          <p:nvPr/>
        </p:nvSpPr>
        <p:spPr>
          <a:xfrm>
            <a:off x="914400" y="23368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Compatibility 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B4820D-3D0A-16E2-35D4-7B7C9C26A410}"/>
              </a:ext>
            </a:extLst>
          </p:cNvPr>
          <p:cNvSpPr txBox="1"/>
          <p:nvPr/>
        </p:nvSpPr>
        <p:spPr>
          <a:xfrm>
            <a:off x="914400" y="2984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Sum(adjusted weight x feasibility factor)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295BD-C7C6-A0B7-4C35-94AE662252D0}"/>
              </a:ext>
            </a:extLst>
          </p:cNvPr>
          <p:cNvCxnSpPr/>
          <p:nvPr/>
        </p:nvCxnSpPr>
        <p:spPr>
          <a:xfrm>
            <a:off x="1168400" y="3429000"/>
            <a:ext cx="4635500" cy="0"/>
          </a:xfrm>
          <a:prstGeom prst="line">
            <a:avLst/>
          </a:prstGeom>
          <a:ln w="19050">
            <a:solidFill>
              <a:srgbClr val="DD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98F8CD4-F9A6-A3B1-72BE-1D9CFD9F3F16}"/>
              </a:ext>
            </a:extLst>
          </p:cNvPr>
          <p:cNvSpPr txBox="1"/>
          <p:nvPr/>
        </p:nvSpPr>
        <p:spPr>
          <a:xfrm>
            <a:off x="914400" y="36068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Sum(adjusted weight) x 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277DB8-A273-5762-6D8C-AF064ABD6EC3}"/>
              </a:ext>
            </a:extLst>
          </p:cNvPr>
          <p:cNvSpPr txBox="1"/>
          <p:nvPr/>
        </p:nvSpPr>
        <p:spPr>
          <a:xfrm>
            <a:off x="990600" y="4191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DDE7F5"/>
                </a:solidFill>
                <a:latin typeface="Aptos" panose="020B0004020202020204" pitchFamily="34" charset="0"/>
              </a:rPr>
              <a:t>1.00 feasible
0.75 feasible with offered assistance
0.00 avoid; unsafe mandatory tasks remain gates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E7143B-48B1-FA90-3091-5895D7EF59D6}"/>
              </a:ext>
            </a:extLst>
          </p:cNvPr>
          <p:cNvSpPr/>
          <p:nvPr/>
        </p:nvSpPr>
        <p:spPr>
          <a:xfrm>
            <a:off x="7010400" y="2006600"/>
            <a:ext cx="4648200" cy="2730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andidate compatibility result with task-level explanation">
            <a:extLst>
              <a:ext uri="{FF2B5EF4-FFF2-40B4-BE49-F238E27FC236}">
                <a16:creationId xmlns:a16="http://schemas.microsoft.com/office/drawing/2014/main" id="{DB47DE6D-4B6C-39D9-8511-C6D052619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380" y="2057400"/>
            <a:ext cx="4206240" cy="262890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5EFFA9-4E03-52FA-85B0-51039A15A23E}"/>
              </a:ext>
            </a:extLst>
          </p:cNvPr>
          <p:cNvSpPr/>
          <p:nvPr/>
        </p:nvSpPr>
        <p:spPr>
          <a:xfrm>
            <a:off x="7493000" y="4953000"/>
            <a:ext cx="3683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57A981-62D1-F801-8DDF-7FC8F5BBCFBD}"/>
              </a:ext>
            </a:extLst>
          </p:cNvPr>
          <p:cNvSpPr/>
          <p:nvPr/>
        </p:nvSpPr>
        <p:spPr>
          <a:xfrm>
            <a:off x="7493000" y="4953000"/>
            <a:ext cx="88900" cy="1270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D1D7A-53C1-A43B-388A-157D94588F6F}"/>
              </a:ext>
            </a:extLst>
          </p:cNvPr>
          <p:cNvSpPr txBox="1"/>
          <p:nvPr/>
        </p:nvSpPr>
        <p:spPr>
          <a:xfrm>
            <a:off x="7721600" y="5080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45 / 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19EB6-C639-0227-E5D1-61F76D6DF814}"/>
              </a:ext>
            </a:extLst>
          </p:cNvPr>
          <p:cNvSpPr txBox="1"/>
          <p:nvPr/>
        </p:nvSpPr>
        <p:spPr>
          <a:xfrm>
            <a:off x="7721600" y="55626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scoring cases passed</a:t>
            </a:r>
          </a:p>
        </p:txBody>
      </p:sp>
    </p:spTree>
    <p:extLst>
      <p:ext uri="{BB962C8B-B14F-4D97-AF65-F5344CB8AC3E}">
        <p14:creationId xmlns:p14="http://schemas.microsoft.com/office/powerpoint/2010/main" val="1292296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81584C-05F6-A679-130C-4EB11A740C5E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449DA0C-5CFA-AF7B-126E-8B5402141EC1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E0B04-EC03-0FE8-1A89-E50F6EE55F09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247C2-CC1E-D7F4-711D-D19229CFE55B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DE10-F04A-99FB-1F5F-136C4986A54B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1411A881-17CB-FF6D-7CD2-B38D0A726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EC5254-3D4B-B9B5-FA7F-D5BB484E4105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WORKFLOW INTEGRE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261EA-72AA-9389-95A9-1BCA48674A10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From controlled opportunity to auditable outcome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6B577-9C96-BB19-0001-A1D855A2013D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Candidates and employers contribute bounded choices; AI never creates a hiring decision.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C8E15-3247-476A-DABB-20DFDBB6C294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7690D-1E66-BDD7-777A-AA84DFF0E871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439A6-7B2A-AF48-8511-BBA4A1B7079F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01E54-A507-8880-4E68-BD1728590FE5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D0758-EF85-442E-D25A-0F04CBD6C2A7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60936D-D240-8C55-4C0D-7FE05061531C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42796-2B15-7E92-7A8B-00B53FBF352F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0013B5-C09B-5C87-AE6B-818AD236EF38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C344A3-2374-9238-91A2-686A520FB390}"/>
              </a:ext>
            </a:extLst>
          </p:cNvPr>
          <p:cNvSpPr/>
          <p:nvPr/>
        </p:nvSpPr>
        <p:spPr>
          <a:xfrm>
            <a:off x="5334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1CF496-C2D4-53C0-7EFF-F9DA2199E96D}"/>
              </a:ext>
            </a:extLst>
          </p:cNvPr>
          <p:cNvSpPr/>
          <p:nvPr/>
        </p:nvSpPr>
        <p:spPr>
          <a:xfrm>
            <a:off x="533400" y="2222500"/>
            <a:ext cx="22225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7738A-C9FE-D205-03B3-B8B7D371FC5F}"/>
              </a:ext>
            </a:extLst>
          </p:cNvPr>
          <p:cNvSpPr txBox="1"/>
          <p:nvPr/>
        </p:nvSpPr>
        <p:spPr>
          <a:xfrm>
            <a:off x="6604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Employer defines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3505B-AEB0-3095-051C-5A47588B98D3}"/>
              </a:ext>
            </a:extLst>
          </p:cNvPr>
          <p:cNvSpPr txBox="1"/>
          <p:nvPr/>
        </p:nvSpPr>
        <p:spPr>
          <a:xfrm>
            <a:off x="6604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Role, tasks, support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9E1CDB-5AF0-9ED0-6B74-207A14C56AA0}"/>
              </a:ext>
            </a:extLst>
          </p:cNvPr>
          <p:cNvCxnSpPr/>
          <p:nvPr/>
        </p:nvCxnSpPr>
        <p:spPr>
          <a:xfrm>
            <a:off x="2806700" y="3060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C63020-61E2-7EB5-13B6-4380E6A08E57}"/>
              </a:ext>
            </a:extLst>
          </p:cNvPr>
          <p:cNvSpPr/>
          <p:nvPr/>
        </p:nvSpPr>
        <p:spPr>
          <a:xfrm>
            <a:off x="33020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6F405E-AC7C-6D77-3DB1-BC2561AD7EF5}"/>
              </a:ext>
            </a:extLst>
          </p:cNvPr>
          <p:cNvSpPr/>
          <p:nvPr/>
        </p:nvSpPr>
        <p:spPr>
          <a:xfrm>
            <a:off x="3302000" y="2222500"/>
            <a:ext cx="22225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8AAFE-8188-222F-712E-EBB4A2F10A24}"/>
              </a:ext>
            </a:extLst>
          </p:cNvPr>
          <p:cNvSpPr txBox="1"/>
          <p:nvPr/>
        </p:nvSpPr>
        <p:spPr>
          <a:xfrm>
            <a:off x="34290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Candidate explores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C8400-0B11-BF9B-93B0-ED45B9A7EA87}"/>
              </a:ext>
            </a:extLst>
          </p:cNvPr>
          <p:cNvSpPr txBox="1"/>
          <p:nvPr/>
        </p:nvSpPr>
        <p:spPr>
          <a:xfrm>
            <a:off x="34290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Jobs, training or both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1C3C16-9467-4AC3-5A3A-F9DD401FA22E}"/>
              </a:ext>
            </a:extLst>
          </p:cNvPr>
          <p:cNvCxnSpPr/>
          <p:nvPr/>
        </p:nvCxnSpPr>
        <p:spPr>
          <a:xfrm>
            <a:off x="5575300" y="3060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BF83FFF-07F9-C8B8-F90B-966B962B44AF}"/>
              </a:ext>
            </a:extLst>
          </p:cNvPr>
          <p:cNvSpPr/>
          <p:nvPr/>
        </p:nvSpPr>
        <p:spPr>
          <a:xfrm>
            <a:off x="60706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121132-4130-B9EA-17AC-84D507F3466D}"/>
              </a:ext>
            </a:extLst>
          </p:cNvPr>
          <p:cNvSpPr/>
          <p:nvPr/>
        </p:nvSpPr>
        <p:spPr>
          <a:xfrm>
            <a:off x="6070600" y="2222500"/>
            <a:ext cx="22225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4ACD4-5A42-2000-6E58-027736EA1F1A}"/>
              </a:ext>
            </a:extLst>
          </p:cNvPr>
          <p:cNvSpPr txBox="1"/>
          <p:nvPr/>
        </p:nvSpPr>
        <p:spPr>
          <a:xfrm>
            <a:off x="61976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System explains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3CFC31-E8CF-42BB-F302-1490205C5B29}"/>
              </a:ext>
            </a:extLst>
          </p:cNvPr>
          <p:cNvSpPr txBox="1"/>
          <p:nvPr/>
        </p:nvSpPr>
        <p:spPr>
          <a:xfrm>
            <a:off x="61976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Compatibility + gates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A7B99A7-C01C-9137-3459-6ED7FD46D618}"/>
              </a:ext>
            </a:extLst>
          </p:cNvPr>
          <p:cNvCxnSpPr/>
          <p:nvPr/>
        </p:nvCxnSpPr>
        <p:spPr>
          <a:xfrm>
            <a:off x="8343900" y="3060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EF9D98-A6EF-4A41-754E-9484EB40B1D4}"/>
              </a:ext>
            </a:extLst>
          </p:cNvPr>
          <p:cNvSpPr/>
          <p:nvPr/>
        </p:nvSpPr>
        <p:spPr>
          <a:xfrm>
            <a:off x="88392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3B5587-D11E-B20F-11E7-645B30120AE4}"/>
              </a:ext>
            </a:extLst>
          </p:cNvPr>
          <p:cNvSpPr/>
          <p:nvPr/>
        </p:nvSpPr>
        <p:spPr>
          <a:xfrm>
            <a:off x="8839200" y="2222500"/>
            <a:ext cx="22225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BA9EA-8DF1-3022-0AAE-D5A326A536C4}"/>
              </a:ext>
            </a:extLst>
          </p:cNvPr>
          <p:cNvSpPr txBox="1"/>
          <p:nvPr/>
        </p:nvSpPr>
        <p:spPr>
          <a:xfrm>
            <a:off x="89662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Humans decide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97D56A-3A38-10CD-DE6B-911F967EF903}"/>
              </a:ext>
            </a:extLst>
          </p:cNvPr>
          <p:cNvSpPr txBox="1"/>
          <p:nvPr/>
        </p:nvSpPr>
        <p:spPr>
          <a:xfrm>
            <a:off x="89662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Application + outcome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23933B2-8F6B-3C92-8C13-39C59B5DEA15}"/>
              </a:ext>
            </a:extLst>
          </p:cNvPr>
          <p:cNvSpPr/>
          <p:nvPr/>
        </p:nvSpPr>
        <p:spPr>
          <a:xfrm>
            <a:off x="3302000" y="4292600"/>
            <a:ext cx="5588000" cy="149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Employer job or training requirements and workplace assistance screen">
            <a:extLst>
              <a:ext uri="{FF2B5EF4-FFF2-40B4-BE49-F238E27FC236}">
                <a16:creationId xmlns:a16="http://schemas.microsoft.com/office/drawing/2014/main" id="{0FBBB287-20EB-D6B9-92E9-DC84999CC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4343400"/>
            <a:ext cx="2235200" cy="13970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3DC8DB5-7759-B20C-9FC3-43D8B4529093}"/>
              </a:ext>
            </a:extLst>
          </p:cNvPr>
          <p:cNvSpPr txBox="1"/>
          <p:nvPr/>
        </p:nvSpPr>
        <p:spPr>
          <a:xfrm>
            <a:off x="2222500" y="58801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Audit snapshot preserves score context and status history.</a:t>
            </a:r>
          </a:p>
        </p:txBody>
      </p:sp>
    </p:spTree>
    <p:extLst>
      <p:ext uri="{BB962C8B-B14F-4D97-AF65-F5344CB8AC3E}">
        <p14:creationId xmlns:p14="http://schemas.microsoft.com/office/powerpoint/2010/main" val="247802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A3EB1F1-0748-0F78-6DA3-11A6E2EFFDD3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D6622D2-078E-8C33-4864-193EFC4D2281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20AE5-97E0-C8CB-B53F-307A232A4229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4E3D0-D66D-9BF6-4CFD-259760E6A50F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769E4-9A26-3CE4-60CD-E8EF05248920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D479CDB0-0F5F-B412-F18D-D107AE41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516BDB-D4A4-43EC-B0AE-EFAA67517E4C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 PROJECT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5A2A3-4E82-DF6E-DDB1-820CE3FD7BD5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Iterative delivery from definition to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7D5B1-8CED-732A-8439-F0812C05538B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A June-September plan controlled through versioned evidence and explicit risks.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46065-EB3F-DEFD-4DBE-FFF872835E4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A96A3-3F41-EF51-2606-997FAFDB25A5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2C372-734F-DFF3-4EF2-A0C1F89D5125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E1A1BE-D665-867D-B775-1E8690A620E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A976B-240A-4585-591F-11D83490F21F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D74B8F-BF1F-4FAD-B231-01090DB42D0B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F3081C-6EF8-2D0B-DA1E-CCA90E3F4BBC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9EF2C-7D10-6ED4-1BE7-32C4E6D86B03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6F409-FC8B-1D64-9E5F-4DBB3B78EF66}"/>
              </a:ext>
            </a:extLst>
          </p:cNvPr>
          <p:cNvSpPr txBox="1"/>
          <p:nvPr/>
        </p:nvSpPr>
        <p:spPr>
          <a:xfrm>
            <a:off x="533400" y="2133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0502DC-2979-9428-8E2D-0E2C49196EB4}"/>
              </a:ext>
            </a:extLst>
          </p:cNvPr>
          <p:cNvSpPr/>
          <p:nvPr/>
        </p:nvSpPr>
        <p:spPr>
          <a:xfrm>
            <a:off x="1714500" y="2032000"/>
            <a:ext cx="3619500" cy="7366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286CDD-8B12-4635-8EB9-CA103B7BDE35}"/>
              </a:ext>
            </a:extLst>
          </p:cNvPr>
          <p:cNvSpPr txBox="1"/>
          <p:nvPr/>
        </p:nvSpPr>
        <p:spPr>
          <a:xfrm>
            <a:off x="1892300" y="2120900"/>
            <a:ext cx="3263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Discover + define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7A6D5-0FEE-68AC-81C4-0C9D58104B58}"/>
              </a:ext>
            </a:extLst>
          </p:cNvPr>
          <p:cNvSpPr txBox="1"/>
          <p:nvPr/>
        </p:nvSpPr>
        <p:spPr>
          <a:xfrm>
            <a:off x="1892300" y="2425700"/>
            <a:ext cx="3263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Needs, stakeholders, FR / NFR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06272-9FD1-EDF0-4C7D-BE3EA78C3DCF}"/>
              </a:ext>
            </a:extLst>
          </p:cNvPr>
          <p:cNvSpPr txBox="1"/>
          <p:nvPr/>
        </p:nvSpPr>
        <p:spPr>
          <a:xfrm>
            <a:off x="533400" y="2997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669CC5-4474-0913-6599-D5113801ED04}"/>
              </a:ext>
            </a:extLst>
          </p:cNvPr>
          <p:cNvSpPr/>
          <p:nvPr/>
        </p:nvSpPr>
        <p:spPr>
          <a:xfrm>
            <a:off x="3175000" y="2895600"/>
            <a:ext cx="3810000" cy="7366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F963D-8FAA-1A6C-D9EC-3DA3DD6096F5}"/>
              </a:ext>
            </a:extLst>
          </p:cNvPr>
          <p:cNvSpPr txBox="1"/>
          <p:nvPr/>
        </p:nvSpPr>
        <p:spPr>
          <a:xfrm>
            <a:off x="3352800" y="2984500"/>
            <a:ext cx="345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D2CC3-E31C-C2B1-EA7A-939E68A1AD98}"/>
              </a:ext>
            </a:extLst>
          </p:cNvPr>
          <p:cNvSpPr txBox="1"/>
          <p:nvPr/>
        </p:nvSpPr>
        <p:spPr>
          <a:xfrm>
            <a:off x="3352800" y="3289300"/>
            <a:ext cx="345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Alternatives, UML / C4, prototype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37659-73FF-751D-1C72-AD19348A87A9}"/>
              </a:ext>
            </a:extLst>
          </p:cNvPr>
          <p:cNvSpPr txBox="1"/>
          <p:nvPr/>
        </p:nvSpPr>
        <p:spPr>
          <a:xfrm>
            <a:off x="533400" y="3860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JUL-AUG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166D82-E931-3444-68B6-2B1EA1DA1E76}"/>
              </a:ext>
            </a:extLst>
          </p:cNvPr>
          <p:cNvSpPr/>
          <p:nvPr/>
        </p:nvSpPr>
        <p:spPr>
          <a:xfrm>
            <a:off x="4953000" y="3759200"/>
            <a:ext cx="4826000" cy="7366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27D421-E782-FDAB-074A-B035305A4248}"/>
              </a:ext>
            </a:extLst>
          </p:cNvPr>
          <p:cNvSpPr txBox="1"/>
          <p:nvPr/>
        </p:nvSpPr>
        <p:spPr>
          <a:xfrm>
            <a:off x="5130800" y="38481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B05FBE-3024-1C0D-8345-B39C07A2443E}"/>
              </a:ext>
            </a:extLst>
          </p:cNvPr>
          <p:cNvSpPr txBox="1"/>
          <p:nvPr/>
        </p:nvSpPr>
        <p:spPr>
          <a:xfrm>
            <a:off x="5130800" y="41529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FFFFFF"/>
                </a:solidFill>
                <a:latin typeface="Aptos" panose="020B0004020202020204" pitchFamily="34" charset="0"/>
              </a:rPr>
              <a:t>Catalogue, backend, AI, voice, scoring</a:t>
            </a:r>
            <a:endParaRPr lang="en-US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69CD5-E875-4AD1-EFF3-D7E63E074B15}"/>
              </a:ext>
            </a:extLst>
          </p:cNvPr>
          <p:cNvSpPr txBox="1"/>
          <p:nvPr/>
        </p:nvSpPr>
        <p:spPr>
          <a:xfrm>
            <a:off x="533400" y="47244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AUG-SEP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7F8638-8B23-F134-4516-C1656AF891FC}"/>
              </a:ext>
            </a:extLst>
          </p:cNvPr>
          <p:cNvSpPr/>
          <p:nvPr/>
        </p:nvSpPr>
        <p:spPr>
          <a:xfrm>
            <a:off x="7302500" y="4622800"/>
            <a:ext cx="4356100" cy="7366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E31A4A-EAB0-F906-43B0-4DF8DC7932F3}"/>
              </a:ext>
            </a:extLst>
          </p:cNvPr>
          <p:cNvSpPr txBox="1"/>
          <p:nvPr/>
        </p:nvSpPr>
        <p:spPr>
          <a:xfrm>
            <a:off x="7480300" y="471170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Verify + deliver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CA9AD6-E98E-C30D-A363-2068A6DEF430}"/>
              </a:ext>
            </a:extLst>
          </p:cNvPr>
          <p:cNvSpPr txBox="1"/>
          <p:nvPr/>
        </p:nvSpPr>
        <p:spPr>
          <a:xfrm>
            <a:off x="7480300" y="501650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Tests, users, staging, report, defence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8D0C7D-1D71-66CC-D489-8855F2BB953E}"/>
              </a:ext>
            </a:extLst>
          </p:cNvPr>
          <p:cNvCxnSpPr/>
          <p:nvPr/>
        </p:nvCxnSpPr>
        <p:spPr>
          <a:xfrm>
            <a:off x="533400" y="5537200"/>
            <a:ext cx="11125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44C824-E2C9-2032-D598-7883DBF5B505}"/>
              </a:ext>
            </a:extLst>
          </p:cNvPr>
          <p:cNvSpPr txBox="1"/>
          <p:nvPr/>
        </p:nvSpPr>
        <p:spPr>
          <a:xfrm>
            <a:off x="533400" y="57023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Controls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3BEB9-79CE-B19D-FC91-2BF649FDC2EF}"/>
              </a:ext>
            </a:extLst>
          </p:cNvPr>
          <p:cNvSpPr txBox="1"/>
          <p:nvPr/>
        </p:nvSpPr>
        <p:spPr>
          <a:xfrm>
            <a:off x="1651000" y="5651500"/>
            <a:ext cx="1000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Focused Git commits | staging-deployment | render.yaml | requirement-to-test evidence | retained risks</a:t>
            </a:r>
          </a:p>
        </p:txBody>
      </p:sp>
    </p:spTree>
    <p:extLst>
      <p:ext uri="{BB962C8B-B14F-4D97-AF65-F5344CB8AC3E}">
        <p14:creationId xmlns:p14="http://schemas.microsoft.com/office/powerpoint/2010/main" val="1921293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9A4C53-FF6D-ED65-FBE5-226C3C751AC5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40D0DCA-33D6-8619-3018-9F6693F01768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53A57-BAB1-95F6-6C33-F22D99C55FB4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FD0EC-00C5-C593-13C1-C8C2832DCE5C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E1770-A866-8B88-8EB6-B5794E57ED0C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03198132-F79C-2946-89FA-3BBE2E026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EBAA10-16B2-5928-8680-B79F79F49116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11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83349-AD2C-6221-C4E4-F674C8EB61DB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Verification and validation across the lifecycle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FA224-DCDA-0ED3-2E50-C2C3E4342B4A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Verification checks the specification; validation checks the user need.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12679-00FF-A5B3-99C0-3D4507FE946E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6A400-CB9F-2B58-E12E-94EA8257CC3D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6C8FDA-619E-10AC-093E-5C15F31BAE75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ABAAE7-34C7-5288-ECC5-4ABF4DB0CE46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4DC89A-05C9-7BE2-C8A4-315E3FD00AEC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EF0EA7-7DE9-D854-E232-6835F036CDEC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0E3541-CD7C-3E40-7A9C-4E567538EF7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A265D-B5C9-4CEA-C9D9-1275FC871C2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376014-D72A-EE85-AA76-F38191C52DEB}"/>
              </a:ext>
            </a:extLst>
          </p:cNvPr>
          <p:cNvSpPr/>
          <p:nvPr/>
        </p:nvSpPr>
        <p:spPr>
          <a:xfrm>
            <a:off x="533400" y="4508500"/>
            <a:ext cx="111252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AE7D6-61D9-28FC-4C9E-A043A4C19EA0}"/>
              </a:ext>
            </a:extLst>
          </p:cNvPr>
          <p:cNvSpPr txBox="1"/>
          <p:nvPr/>
        </p:nvSpPr>
        <p:spPr>
          <a:xfrm>
            <a:off x="762000" y="46609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63A4B"/>
                </a:solidFill>
                <a:latin typeface="Aptos Display" panose="020B0004020202020204" pitchFamily="34" charset="0"/>
              </a:rPr>
              <a:t>Human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C91DC-F754-053C-9C78-AEB9AB8ECF2D}"/>
              </a:ext>
            </a:extLst>
          </p:cNvPr>
          <p:cNvSpPr txBox="1"/>
          <p:nvPr/>
        </p:nvSpPr>
        <p:spPr>
          <a:xfrm>
            <a:off x="3517900" y="4597400"/>
            <a:ext cx="791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Arc en Ciel session | JAWS workflow | stakeholder observation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28AC51-4044-1216-D950-1D568E6C95F5}"/>
              </a:ext>
            </a:extLst>
          </p:cNvPr>
          <p:cNvSpPr/>
          <p:nvPr/>
        </p:nvSpPr>
        <p:spPr>
          <a:xfrm>
            <a:off x="1270000" y="3708400"/>
            <a:ext cx="9652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EDDC77-4C63-31A7-3EC3-A937119A6B43}"/>
              </a:ext>
            </a:extLst>
          </p:cNvPr>
          <p:cNvSpPr txBox="1"/>
          <p:nvPr/>
        </p:nvSpPr>
        <p:spPr>
          <a:xfrm>
            <a:off x="1498600" y="3860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A64B2A"/>
                </a:solidFill>
                <a:latin typeface="Aptos Display" panose="020B0004020202020204" pitchFamily="34" charset="0"/>
              </a:rPr>
              <a:t>System + staging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17BF9-E156-6203-1E4B-45C76AFEA8ED}"/>
              </a:ext>
            </a:extLst>
          </p:cNvPr>
          <p:cNvSpPr txBox="1"/>
          <p:nvPr/>
        </p:nvSpPr>
        <p:spPr>
          <a:xfrm>
            <a:off x="4254500" y="3797300"/>
            <a:ext cx="643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Browser E2E | security routes | performance | deployed origins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7956C3-9994-FA0C-DB69-48580E2B2865}"/>
              </a:ext>
            </a:extLst>
          </p:cNvPr>
          <p:cNvSpPr/>
          <p:nvPr/>
        </p:nvSpPr>
        <p:spPr>
          <a:xfrm>
            <a:off x="2006600" y="2908300"/>
            <a:ext cx="81788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3CB82-DD00-1E92-F92C-C938F55CBE5C}"/>
              </a:ext>
            </a:extLst>
          </p:cNvPr>
          <p:cNvSpPr txBox="1"/>
          <p:nvPr/>
        </p:nvSpPr>
        <p:spPr>
          <a:xfrm>
            <a:off x="2235200" y="30607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57A55"/>
                </a:solidFill>
                <a:latin typeface="Aptos Display" panose="020B0004020202020204" pitchFamily="34" charset="0"/>
              </a:rPr>
              <a:t>Service + 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B73CE-DA00-3596-25FC-28129504273D}"/>
              </a:ext>
            </a:extLst>
          </p:cNvPr>
          <p:cNvSpPr txBox="1"/>
          <p:nvPr/>
        </p:nvSpPr>
        <p:spPr>
          <a:xfrm>
            <a:off x="4991100" y="2997200"/>
            <a:ext cx="4965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API workflows | scoring oracles | voice registry | AI matrix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660C78-3493-3837-273E-B7784DC82436}"/>
              </a:ext>
            </a:extLst>
          </p:cNvPr>
          <p:cNvSpPr/>
          <p:nvPr/>
        </p:nvSpPr>
        <p:spPr>
          <a:xfrm>
            <a:off x="2743200" y="2108200"/>
            <a:ext cx="67056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20C11-EEBB-F108-939F-9F030CE6777A}"/>
              </a:ext>
            </a:extLst>
          </p:cNvPr>
          <p:cNvSpPr txBox="1"/>
          <p:nvPr/>
        </p:nvSpPr>
        <p:spPr>
          <a:xfrm>
            <a:off x="2971800" y="2260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565D8"/>
                </a:solidFill>
                <a:latin typeface="Aptos Display" panose="020B0004020202020204" pitchFamily="34" charset="0"/>
              </a:rPr>
              <a:t>Static + component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2345E6-C212-231C-9874-CC63462C1EA7}"/>
              </a:ext>
            </a:extLst>
          </p:cNvPr>
          <p:cNvSpPr txBox="1"/>
          <p:nvPr/>
        </p:nvSpPr>
        <p:spPr>
          <a:xfrm>
            <a:off x="5727700" y="21971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Build, lint, syntax, schema and unit checks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092975-FC8C-EEDA-B288-3DDB8A2A511E}"/>
              </a:ext>
            </a:extLst>
          </p:cNvPr>
          <p:cNvSpPr txBox="1"/>
          <p:nvPr/>
        </p:nvSpPr>
        <p:spPr>
          <a:xfrm>
            <a:off x="952500" y="56007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Documentation: SRS -&gt; architecture -&gt; code/configuration -&gt; test register -&gt; evidence -&gt; operational limits</a:t>
            </a:r>
          </a:p>
        </p:txBody>
      </p:sp>
    </p:spTree>
    <p:extLst>
      <p:ext uri="{BB962C8B-B14F-4D97-AF65-F5344CB8AC3E}">
        <p14:creationId xmlns:p14="http://schemas.microsoft.com/office/powerpoint/2010/main" val="67710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E4B96D-57F4-94E0-1195-B3D2DA42F867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64274A-8C9C-6BF8-A51C-59D43516643A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DED8A-80C8-8D9A-3010-FE10B7F18062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0CACB-9861-60F0-A549-E682C5F08D27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BCA5F-D141-AE42-FBFD-7FEF5BD93C5E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67587755-4E3F-7286-7611-B480553E0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B33C73-12B5-1629-3AAD-4C5147AD36FA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b="1">
                <a:solidFill>
                  <a:srgbClr val="A64B2A"/>
                </a:solidFill>
                <a:latin typeface="Aptos" panose="020B0004020202020204" pitchFamily="34" charset="0"/>
              </a:rPr>
              <a:t>MESURES ET MISE AU POINT</a:t>
            </a:r>
            <a:endParaRPr lang="en-US" sz="11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44772-1E19-F593-4A81-E5A060BB5D23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310 cases completed; findings remained visible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E5EB7-0B5E-87A0-E2F6-F529C68D439F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The campaign records corrections and retained limitations, not only passes.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06ECE-8A9B-2963-1A60-530BEB655A5B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BF889-79D4-7EBB-0E2A-9C8B713CD138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43593-58D3-0C54-8A68-AA3CED219BD1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17D88B-B832-D6F6-819C-E185555976AE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C33A31-EA36-AF4A-C06E-6CE659222A29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09D173-CDA1-5671-7676-38AA5CC4B6B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EE2626-ADA9-E5B6-9C36-648089A01224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B4F606-10C3-9C96-1581-D4A9D42545EC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010B17-55BB-F99D-93B5-69FA3E51B43C}"/>
              </a:ext>
            </a:extLst>
          </p:cNvPr>
          <p:cNvSpPr/>
          <p:nvPr/>
        </p:nvSpPr>
        <p:spPr>
          <a:xfrm>
            <a:off x="5334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20131F-409A-C9C8-BB15-CE9508AC5317}"/>
              </a:ext>
            </a:extLst>
          </p:cNvPr>
          <p:cNvSpPr/>
          <p:nvPr/>
        </p:nvSpPr>
        <p:spPr>
          <a:xfrm>
            <a:off x="533400" y="2006600"/>
            <a:ext cx="88900" cy="1270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BE384-8E52-449D-4200-A691B1072C11}"/>
              </a:ext>
            </a:extLst>
          </p:cNvPr>
          <p:cNvSpPr txBox="1"/>
          <p:nvPr/>
        </p:nvSpPr>
        <p:spPr>
          <a:xfrm>
            <a:off x="7620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8061-4104-4C5E-E45D-4D6D13506E60}"/>
              </a:ext>
            </a:extLst>
          </p:cNvPr>
          <p:cNvSpPr txBox="1"/>
          <p:nvPr/>
        </p:nvSpPr>
        <p:spPr>
          <a:xfrm>
            <a:off x="7620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final pass rate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BAAC31-557B-8137-76E4-EF1DEA65E576}"/>
              </a:ext>
            </a:extLst>
          </p:cNvPr>
          <p:cNvSpPr/>
          <p:nvPr/>
        </p:nvSpPr>
        <p:spPr>
          <a:xfrm>
            <a:off x="33782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9162F6-5839-042E-27D0-D5BBE29FF083}"/>
              </a:ext>
            </a:extLst>
          </p:cNvPr>
          <p:cNvSpPr/>
          <p:nvPr/>
        </p:nvSpPr>
        <p:spPr>
          <a:xfrm>
            <a:off x="3378200" y="20066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8E4EB-8109-1CDD-A5CB-DBEE20AA7AC3}"/>
              </a:ext>
            </a:extLst>
          </p:cNvPr>
          <p:cNvSpPr txBox="1"/>
          <p:nvPr/>
        </p:nvSpPr>
        <p:spPr>
          <a:xfrm>
            <a:off x="36068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274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5812C-ACDE-F439-FFD7-4E50B57470D2}"/>
              </a:ext>
            </a:extLst>
          </p:cNvPr>
          <p:cNvSpPr txBox="1"/>
          <p:nvPr/>
        </p:nvSpPr>
        <p:spPr>
          <a:xfrm>
            <a:off x="36068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first-run passes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CAE6DA8-B2A7-3B0F-E634-E4A2BF638765}"/>
              </a:ext>
            </a:extLst>
          </p:cNvPr>
          <p:cNvSpPr/>
          <p:nvPr/>
        </p:nvSpPr>
        <p:spPr>
          <a:xfrm>
            <a:off x="62230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E5DD3-9BB8-17EB-D2EA-EADCF0560962}"/>
              </a:ext>
            </a:extLst>
          </p:cNvPr>
          <p:cNvSpPr/>
          <p:nvPr/>
        </p:nvSpPr>
        <p:spPr>
          <a:xfrm>
            <a:off x="6223000" y="2006600"/>
            <a:ext cx="88900" cy="12700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AB47AE-C497-47FA-7957-C4A920BE294F}"/>
              </a:ext>
            </a:extLst>
          </p:cNvPr>
          <p:cNvSpPr txBox="1"/>
          <p:nvPr/>
        </p:nvSpPr>
        <p:spPr>
          <a:xfrm>
            <a:off x="64516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1DC536-8AA1-D314-98DA-40B823081283}"/>
              </a:ext>
            </a:extLst>
          </p:cNvPr>
          <p:cNvSpPr txBox="1"/>
          <p:nvPr/>
        </p:nvSpPr>
        <p:spPr>
          <a:xfrm>
            <a:off x="64516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noisy partials corrected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6D71BE-2D8A-C505-5A61-10C7D4DFD172}"/>
              </a:ext>
            </a:extLst>
          </p:cNvPr>
          <p:cNvSpPr/>
          <p:nvPr/>
        </p:nvSpPr>
        <p:spPr>
          <a:xfrm>
            <a:off x="90678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0AED1-5803-444F-6CFA-E2AF1B283FD2}"/>
              </a:ext>
            </a:extLst>
          </p:cNvPr>
          <p:cNvSpPr/>
          <p:nvPr/>
        </p:nvSpPr>
        <p:spPr>
          <a:xfrm>
            <a:off x="9067800" y="20066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29EAE-E67F-C181-658D-2706816E584D}"/>
              </a:ext>
            </a:extLst>
          </p:cNvPr>
          <p:cNvSpPr txBox="1"/>
          <p:nvPr/>
        </p:nvSpPr>
        <p:spPr>
          <a:xfrm>
            <a:off x="92964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CBDAF-4FCC-8C6E-F0B4-4E1397FDEF64}"/>
              </a:ext>
            </a:extLst>
          </p:cNvPr>
          <p:cNvSpPr txBox="1"/>
          <p:nvPr/>
        </p:nvSpPr>
        <p:spPr>
          <a:xfrm>
            <a:off x="92964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retained failures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5F2CED7-E33D-5F4A-CE4A-A23946E2611C}"/>
              </a:ext>
            </a:extLst>
          </p:cNvPr>
          <p:cNvSpPr/>
          <p:nvPr/>
        </p:nvSpPr>
        <p:spPr>
          <a:xfrm>
            <a:off x="533400" y="3619500"/>
            <a:ext cx="3429000" cy="18034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40A2BB3-DDFC-26DA-C4C8-E514079E1E97}"/>
              </a:ext>
            </a:extLst>
          </p:cNvPr>
          <p:cNvSpPr/>
          <p:nvPr/>
        </p:nvSpPr>
        <p:spPr>
          <a:xfrm>
            <a:off x="533400" y="3619500"/>
            <a:ext cx="101600" cy="18034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AB834-0D6F-BDC3-2AEE-5E83AD4E85B5}"/>
              </a:ext>
            </a:extLst>
          </p:cNvPr>
          <p:cNvSpPr txBox="1"/>
          <p:nvPr/>
        </p:nvSpPr>
        <p:spPr>
          <a:xfrm>
            <a:off x="8128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5A9AB-969E-265A-7A33-152491DCF9ED}"/>
              </a:ext>
            </a:extLst>
          </p:cNvPr>
          <p:cNvSpPr txBox="1"/>
          <p:nvPr/>
        </p:nvSpPr>
        <p:spPr>
          <a:xfrm>
            <a:off x="8128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Profile contrast
200% zoom overflow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5C7DE3-9B14-049F-6E68-87324E13FA15}"/>
              </a:ext>
            </a:extLst>
          </p:cNvPr>
          <p:cNvSpPr/>
          <p:nvPr/>
        </p:nvSpPr>
        <p:spPr>
          <a:xfrm>
            <a:off x="4381500" y="3619500"/>
            <a:ext cx="3429000" cy="18034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CB517F-8391-C8C8-DD33-681F9F5F8005}"/>
              </a:ext>
            </a:extLst>
          </p:cNvPr>
          <p:cNvSpPr/>
          <p:nvPr/>
        </p:nvSpPr>
        <p:spPr>
          <a:xfrm>
            <a:off x="4381500" y="3619500"/>
            <a:ext cx="101600" cy="1803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52352F-24DB-4D06-7314-1A1A52B60DFB}"/>
              </a:ext>
            </a:extLst>
          </p:cNvPr>
          <p:cNvSpPr txBox="1"/>
          <p:nvPr/>
        </p:nvSpPr>
        <p:spPr>
          <a:xfrm>
            <a:off x="46609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B2F336-06F8-35AB-9B9E-C40EC58A1763}"/>
              </a:ext>
            </a:extLst>
          </p:cNvPr>
          <p:cNvSpPr txBox="1"/>
          <p:nvPr/>
        </p:nvSpPr>
        <p:spPr>
          <a:xfrm>
            <a:off x="46609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Oversized upload path
Both-preference omission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530F581-1A7E-83E7-9769-37C74B708E72}"/>
              </a:ext>
            </a:extLst>
          </p:cNvPr>
          <p:cNvSpPr/>
          <p:nvPr/>
        </p:nvSpPr>
        <p:spPr>
          <a:xfrm>
            <a:off x="8229600" y="3619500"/>
            <a:ext cx="3429000" cy="18034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55AD39B-8D39-EA45-5BC1-AA1BEFD993BD}"/>
              </a:ext>
            </a:extLst>
          </p:cNvPr>
          <p:cNvSpPr/>
          <p:nvPr/>
        </p:nvSpPr>
        <p:spPr>
          <a:xfrm>
            <a:off x="8229600" y="3619500"/>
            <a:ext cx="101600" cy="1803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194B82-8498-6568-300D-8CE376FA460D}"/>
              </a:ext>
            </a:extLst>
          </p:cNvPr>
          <p:cNvSpPr txBox="1"/>
          <p:nvPr/>
        </p:nvSpPr>
        <p:spPr>
          <a:xfrm>
            <a:off x="85090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Performance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4FAAD-4F3C-E3A6-F5D9-197A927E7240}"/>
              </a:ext>
            </a:extLst>
          </p:cNvPr>
          <p:cNvSpPr txBox="1"/>
          <p:nvPr/>
        </p:nvSpPr>
        <p:spPr>
          <a:xfrm>
            <a:off x="85090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Staging write p95
Free-tier latency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97FA4-FF99-6DB3-D371-D5C1E8C6EAC4}"/>
              </a:ext>
            </a:extLst>
          </p:cNvPr>
          <p:cNvSpPr txBox="1"/>
          <p:nvPr/>
        </p:nvSpPr>
        <p:spPr>
          <a:xfrm>
            <a:off x="2413000" y="58039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All 310 were executed; no case remained blocked or not run.</a:t>
            </a:r>
          </a:p>
        </p:txBody>
      </p:sp>
    </p:spTree>
    <p:extLst>
      <p:ext uri="{BB962C8B-B14F-4D97-AF65-F5344CB8AC3E}">
        <p14:creationId xmlns:p14="http://schemas.microsoft.com/office/powerpoint/2010/main" val="327906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BC133D-67B0-3086-096D-09EE2337A3C7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E6C7CB4-51A4-1A87-4E3B-7ADB17493A30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001EE-0810-F429-6F7D-BB6BED48C022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CB181-5393-60B8-D3A9-94DA48E99AC0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1BC38-8F17-B8D5-4472-224BAEA856DC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BD0E13E7-088A-B509-4F1C-6CAE8A690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74A28A-0755-672E-81AB-02767FB92CEE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VALIDATION UTILISATEUR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015E-5A09-5265-4EC1-8E28220D91D8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The platform was evaluated with its intended users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1ABBC-501A-7127-7E28-65844DD097A5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Human evidence supports tested users, not a universal accessibility claim.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C035F1-E238-4D4A-3503-E4F28BFBF188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C3A79-7366-8A6F-D444-534CBCA14BB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9E27FA-87E9-A986-8C51-76DC277BA94F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5F6E9-7A23-0FD1-0E2D-67FC960F9636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6D90F-1EA7-F397-4B61-87F1CB6FA04A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A23988-E0E0-8E9D-2C28-78A2E71BBF6F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96274F-D2DF-CFFA-72AD-4F9B6A0B26D3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CDC41-2138-F2FD-A983-43BFDC28544A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4850D1-29D9-DF7D-D69C-2B6761C7EBA6}"/>
              </a:ext>
            </a:extLst>
          </p:cNvPr>
          <p:cNvSpPr/>
          <p:nvPr/>
        </p:nvSpPr>
        <p:spPr>
          <a:xfrm>
            <a:off x="533400" y="2032000"/>
            <a:ext cx="31750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Participant using the Arabic candidate profile during the Arc en Ciel session">
            <a:extLst>
              <a:ext uri="{FF2B5EF4-FFF2-40B4-BE49-F238E27FC236}">
                <a16:creationId xmlns:a16="http://schemas.microsoft.com/office/drawing/2014/main" id="{ECC37728-C287-BBAB-C077-1D2EC8D7B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0" y="2082800"/>
            <a:ext cx="2019300" cy="26924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80C92D-46C5-073C-702F-A4C59703F6AC}"/>
              </a:ext>
            </a:extLst>
          </p:cNvPr>
          <p:cNvSpPr/>
          <p:nvPr/>
        </p:nvSpPr>
        <p:spPr>
          <a:xfrm>
            <a:off x="4508500" y="2032000"/>
            <a:ext cx="31750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rc en Ciel group session with twenty participants">
            <a:extLst>
              <a:ext uri="{FF2B5EF4-FFF2-40B4-BE49-F238E27FC236}">
                <a16:creationId xmlns:a16="http://schemas.microsoft.com/office/drawing/2014/main" id="{F641C62A-5790-16DA-6B3B-7C491BCB6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300" y="2276475"/>
            <a:ext cx="3073400" cy="230505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3A9976-AB95-CA26-DF8F-646982E72D1F}"/>
              </a:ext>
            </a:extLst>
          </p:cNvPr>
          <p:cNvSpPr/>
          <p:nvPr/>
        </p:nvSpPr>
        <p:spPr>
          <a:xfrm>
            <a:off x="8483600" y="2032000"/>
            <a:ext cx="31750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Noelle Marie Gabrielle using JAWS on her adapted device">
            <a:extLst>
              <a:ext uri="{FF2B5EF4-FFF2-40B4-BE49-F238E27FC236}">
                <a16:creationId xmlns:a16="http://schemas.microsoft.com/office/drawing/2014/main" id="{1C6C965D-4D96-86B2-8E34-B8662B066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448" y="2082800"/>
            <a:ext cx="1633304" cy="2692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EDAB2FE-93C6-797A-0356-82B44301F952}"/>
              </a:ext>
            </a:extLst>
          </p:cNvPr>
          <p:cNvSpPr txBox="1"/>
          <p:nvPr/>
        </p:nvSpPr>
        <p:spPr>
          <a:xfrm>
            <a:off x="533400" y="497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565D8"/>
                </a:solidFill>
                <a:latin typeface="Aptos Display" panose="020B0004020202020204" pitchFamily="34" charset="0"/>
              </a:rPr>
              <a:t>Arabic workflow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950C5F-53A9-BAE5-45C8-C56D1DF48EFE}"/>
              </a:ext>
            </a:extLst>
          </p:cNvPr>
          <p:cNvSpPr txBox="1"/>
          <p:nvPr/>
        </p:nvSpPr>
        <p:spPr>
          <a:xfrm>
            <a:off x="4508500" y="497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57A55"/>
                </a:solidFill>
                <a:latin typeface="Aptos Display" panose="020B0004020202020204" pitchFamily="34" charset="0"/>
              </a:rPr>
              <a:t>20-person session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6A4BE-DD18-5C56-5042-42254A8276D1}"/>
              </a:ext>
            </a:extLst>
          </p:cNvPr>
          <p:cNvSpPr txBox="1"/>
          <p:nvPr/>
        </p:nvSpPr>
        <p:spPr>
          <a:xfrm>
            <a:off x="8483600" y="497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563A4B"/>
                </a:solidFill>
                <a:latin typeface="Aptos Display" panose="020B0004020202020204" pitchFamily="34" charset="0"/>
              </a:rPr>
              <a:t>JAWS workflow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1B2DD2-E785-5198-8FBC-567B20872E8E}"/>
              </a:ext>
            </a:extLst>
          </p:cNvPr>
          <p:cNvSpPr/>
          <p:nvPr/>
        </p:nvSpPr>
        <p:spPr>
          <a:xfrm>
            <a:off x="1206500" y="5461000"/>
            <a:ext cx="9779000" cy="7112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396A97-BEB0-EAB6-455B-091D2C1B649E}"/>
              </a:ext>
            </a:extLst>
          </p:cNvPr>
          <p:cNvSpPr txBox="1"/>
          <p:nvPr/>
        </p:nvSpPr>
        <p:spPr>
          <a:xfrm>
            <a:off x="1498600" y="5562600"/>
            <a:ext cx="919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JAWS registration and application completed; open contrast and zoom findings remain reported.</a:t>
            </a:r>
          </a:p>
        </p:txBody>
      </p:sp>
    </p:spTree>
    <p:extLst>
      <p:ext uri="{BB962C8B-B14F-4D97-AF65-F5344CB8AC3E}">
        <p14:creationId xmlns:p14="http://schemas.microsoft.com/office/powerpoint/2010/main" val="2636026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454B6E-0510-6319-7E4E-DB8AB4F9ED03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1A309FB-AC1B-963A-A977-E6E14E511DDF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3EC81-000E-155B-CF67-B7487E33D42F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E03E82-3950-8AF3-3974-FC83C5E18382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E6AE7-48C3-2C3E-C8DF-10D4ED99C2FF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038E8BF-F61B-D856-E2D9-2C077FC21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C77610-8A1A-8848-AE48-D610BA9C34BF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DELIVERY ET MAINTENANCE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7A84A-6D88-3279-E2A6-EC5C98148398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Measured constraints guide the next engineering 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6236F-AD9A-840A-9260-5108CDE35631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Latency and production governance define the remaining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C63FEF-19C0-1F79-FC9C-A1E1C9B78266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C083D-BF28-FCE8-F685-68CD1B9A238D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A1F3E0-5D1A-307A-C840-3E3A0F85E219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90ABA-CF0C-88F9-4D53-431682C74399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5865A4-6D46-B050-55A7-FC81EDB39F3B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F75F4-4CC4-2917-8E8C-7AB8A80A5F2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B61F6-9C02-4948-593C-E506763F008E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20778-DFA4-56F7-8B4F-63394DAC2024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E654A9-11DB-FDD8-1883-EBCABC654913}"/>
              </a:ext>
            </a:extLst>
          </p:cNvPr>
          <p:cNvSpPr/>
          <p:nvPr/>
        </p:nvSpPr>
        <p:spPr>
          <a:xfrm>
            <a:off x="533400" y="2032000"/>
            <a:ext cx="3429000" cy="29845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E27055-A98F-E191-F0DE-10B7295C79ED}"/>
              </a:ext>
            </a:extLst>
          </p:cNvPr>
          <p:cNvSpPr/>
          <p:nvPr/>
        </p:nvSpPr>
        <p:spPr>
          <a:xfrm>
            <a:off x="533400" y="2032000"/>
            <a:ext cx="101600" cy="29845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6D534A-FAB3-5EBF-2D40-6AE600947CF9}"/>
              </a:ext>
            </a:extLst>
          </p:cNvPr>
          <p:cNvSpPr txBox="1"/>
          <p:nvPr/>
        </p:nvSpPr>
        <p:spPr>
          <a:xfrm>
            <a:off x="8128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Measured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84942D-CEAD-6C7D-68E8-1FAF6C54B954}"/>
              </a:ext>
            </a:extLst>
          </p:cNvPr>
          <p:cNvSpPr txBox="1"/>
          <p:nvPr/>
        </p:nvSpPr>
        <p:spPr>
          <a:xfrm>
            <a:off x="8128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144/144 shared-load responses
100% functional availability
Latency target not consistent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8782CF-DADD-8DBA-EB68-1B55846C36CE}"/>
              </a:ext>
            </a:extLst>
          </p:cNvPr>
          <p:cNvSpPr/>
          <p:nvPr/>
        </p:nvSpPr>
        <p:spPr>
          <a:xfrm>
            <a:off x="4381500" y="2032000"/>
            <a:ext cx="3429000" cy="29845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2C5C51-25B9-63E2-75DE-129CD4059234}"/>
              </a:ext>
            </a:extLst>
          </p:cNvPr>
          <p:cNvSpPr/>
          <p:nvPr/>
        </p:nvSpPr>
        <p:spPr>
          <a:xfrm>
            <a:off x="4381500" y="2032000"/>
            <a:ext cx="101600" cy="29845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BED23-EFA9-57CC-08B4-E840922D099A}"/>
              </a:ext>
            </a:extLst>
          </p:cNvPr>
          <p:cNvSpPr txBox="1"/>
          <p:nvPr/>
        </p:nvSpPr>
        <p:spPr>
          <a:xfrm>
            <a:off x="46609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Cost controls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BDDE2A-2ACA-5B56-3801-41699F0B3198}"/>
              </a:ext>
            </a:extLst>
          </p:cNvPr>
          <p:cNvSpPr txBox="1"/>
          <p:nvPr/>
        </p:nvSpPr>
        <p:spPr>
          <a:xfrm>
            <a:off x="46609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Bottom-up by subsystem
AI and voice quotas
Measure before caching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7B0EC6-F647-3AFC-D7DA-4C315F88663E}"/>
              </a:ext>
            </a:extLst>
          </p:cNvPr>
          <p:cNvSpPr/>
          <p:nvPr/>
        </p:nvSpPr>
        <p:spPr>
          <a:xfrm>
            <a:off x="8229600" y="2032000"/>
            <a:ext cx="3429000" cy="29845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EF563B-4F42-F532-435D-FE6DE33FC6BB}"/>
              </a:ext>
            </a:extLst>
          </p:cNvPr>
          <p:cNvSpPr/>
          <p:nvPr/>
        </p:nvSpPr>
        <p:spPr>
          <a:xfrm>
            <a:off x="8229600" y="2032000"/>
            <a:ext cx="101600" cy="29845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AB3DC-A550-07CD-7752-840510C08014}"/>
              </a:ext>
            </a:extLst>
          </p:cNvPr>
          <p:cNvSpPr txBox="1"/>
          <p:nvPr/>
        </p:nvSpPr>
        <p:spPr>
          <a:xfrm>
            <a:off x="85090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Next cycle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9DE4A-ED43-0041-B824-73E38DED9F08}"/>
              </a:ext>
            </a:extLst>
          </p:cNvPr>
          <p:cNvSpPr txBox="1"/>
          <p:nvPr/>
        </p:nvSpPr>
        <p:spPr>
          <a:xfrm>
            <a:off x="85090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Fix five material findings
Monitoring, backups and email
Repeat controlled user tests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A7784F-E236-78B6-7FA9-07B34C32E2E1}"/>
              </a:ext>
            </a:extLst>
          </p:cNvPr>
          <p:cNvSpPr/>
          <p:nvPr/>
        </p:nvSpPr>
        <p:spPr>
          <a:xfrm>
            <a:off x="1168400" y="5410200"/>
            <a:ext cx="9855200" cy="6858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2BB83B-0856-AF40-7811-C95811922DBB}"/>
              </a:ext>
            </a:extLst>
          </p:cNvPr>
          <p:cNvSpPr txBox="1"/>
          <p:nvPr/>
        </p:nvSpPr>
        <p:spPr>
          <a:xfrm>
            <a:off x="1460500" y="55245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Maintenance: corrective defects | adaptive change | perfective features | preventive refactoring</a:t>
            </a:r>
          </a:p>
        </p:txBody>
      </p:sp>
    </p:spTree>
    <p:extLst>
      <p:ext uri="{BB962C8B-B14F-4D97-AF65-F5344CB8AC3E}">
        <p14:creationId xmlns:p14="http://schemas.microsoft.com/office/powerpoint/2010/main" val="3060854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1832D0-A2E8-15E7-0A45-BF0D308DD530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F874738-0263-A3E9-AC3E-DE21901E297F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CEE9-7DFE-1B85-6F29-D6E058DC6965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7DE96-798C-4414-6E8C-AF7FDD0AAC6D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B7920-B6FF-54F9-7E5F-26DAFE5B3A2F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977F7EA4-6B31-4083-7336-5F9C14D05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FFD006-9B45-9010-E6C9-9B553FDBE3F5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73F38-3E3E-C82F-D208-3A97EC8265D8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6687D-17B4-BA76-8CB5-B284C60F9C98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Three ideas to retain.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1C99D-4639-E3E3-26AD-15385E0D316A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B6989-696F-D5F0-F7FA-D4C85331A27C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3CC48-7C7D-B8A9-6C2E-3911C72B3FBD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55DC00-EEBF-70E9-14B7-5D11D11373DB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DFCC90-66E2-1833-E774-9E2DFC27D86D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08D075-6D2A-D68E-516C-B2822EF2F339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737D6-8B44-F912-8E4A-99592ACD0427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03E68-5D8D-A553-05A9-521C82906772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F76432-BB85-64D5-242B-C916232A2ADA}"/>
              </a:ext>
            </a:extLst>
          </p:cNvPr>
          <p:cNvSpPr/>
          <p:nvPr/>
        </p:nvSpPr>
        <p:spPr>
          <a:xfrm>
            <a:off x="533400" y="2159000"/>
            <a:ext cx="3429000" cy="26670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5D9E96-86E5-E428-8138-20EB8E3E076B}"/>
              </a:ext>
            </a:extLst>
          </p:cNvPr>
          <p:cNvSpPr/>
          <p:nvPr/>
        </p:nvSpPr>
        <p:spPr>
          <a:xfrm>
            <a:off x="533400" y="2159000"/>
            <a:ext cx="101600" cy="26670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103C2-BDCB-94A5-39EA-A5E4D0F93B14}"/>
              </a:ext>
            </a:extLst>
          </p:cNvPr>
          <p:cNvSpPr txBox="1"/>
          <p:nvPr/>
        </p:nvSpPr>
        <p:spPr>
          <a:xfrm>
            <a:off x="812800" y="2362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1. Human 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99CE5C-5D64-2351-C756-9E82A6F21A19}"/>
              </a:ext>
            </a:extLst>
          </p:cNvPr>
          <p:cNvSpPr txBox="1"/>
          <p:nvPr/>
        </p:nvSpPr>
        <p:spPr>
          <a:xfrm>
            <a:off x="812800" y="2857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AI suggests; candidates confirm; employers and verifiers decide.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A92AD3-DDAE-C677-239D-ADE2638AB7AB}"/>
              </a:ext>
            </a:extLst>
          </p:cNvPr>
          <p:cNvSpPr/>
          <p:nvPr/>
        </p:nvSpPr>
        <p:spPr>
          <a:xfrm>
            <a:off x="4381500" y="2159000"/>
            <a:ext cx="3429000" cy="26670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9C4F14-6905-2D0B-F6F6-8E0DD5D6F4D8}"/>
              </a:ext>
            </a:extLst>
          </p:cNvPr>
          <p:cNvSpPr/>
          <p:nvPr/>
        </p:nvSpPr>
        <p:spPr>
          <a:xfrm>
            <a:off x="4381500" y="2159000"/>
            <a:ext cx="101600" cy="26670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439BD3-A711-1E2A-1730-A13B6E5C2ACE}"/>
              </a:ext>
            </a:extLst>
          </p:cNvPr>
          <p:cNvSpPr txBox="1"/>
          <p:nvPr/>
        </p:nvSpPr>
        <p:spPr>
          <a:xfrm>
            <a:off x="4660900" y="2362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2. Explainable engineering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864F0-F14D-1340-04AC-F8E949F1B1E0}"/>
              </a:ext>
            </a:extLst>
          </p:cNvPr>
          <p:cNvSpPr txBox="1"/>
          <p:nvPr/>
        </p:nvSpPr>
        <p:spPr>
          <a:xfrm>
            <a:off x="4660900" y="2857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Deterministic matching, explicit trust boundaries and auditable outcomes.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98AD89-939D-423C-0F09-3927BF2AA445}"/>
              </a:ext>
            </a:extLst>
          </p:cNvPr>
          <p:cNvSpPr/>
          <p:nvPr/>
        </p:nvSpPr>
        <p:spPr>
          <a:xfrm>
            <a:off x="8229600" y="2159000"/>
            <a:ext cx="3429000" cy="26670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23AB3B-EC2B-605A-3A02-78F03DE4A3CC}"/>
              </a:ext>
            </a:extLst>
          </p:cNvPr>
          <p:cNvSpPr/>
          <p:nvPr/>
        </p:nvSpPr>
        <p:spPr>
          <a:xfrm>
            <a:off x="8229600" y="2159000"/>
            <a:ext cx="101600" cy="26670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47CBC3-ADF6-9DC5-A292-3D4509C821FE}"/>
              </a:ext>
            </a:extLst>
          </p:cNvPr>
          <p:cNvSpPr txBox="1"/>
          <p:nvPr/>
        </p:nvSpPr>
        <p:spPr>
          <a:xfrm>
            <a:off x="8509000" y="2362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3. Evidence with limits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EA80B5-C37A-2340-99A9-5235C00AA628}"/>
              </a:ext>
            </a:extLst>
          </p:cNvPr>
          <p:cNvSpPr txBox="1"/>
          <p:nvPr/>
        </p:nvSpPr>
        <p:spPr>
          <a:xfrm>
            <a:off x="8509000" y="2857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Cloud staging, 310 cases and human sessions - with open findings retained.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E2921-6ED4-4E48-26A6-5CC169524E95}"/>
              </a:ext>
            </a:extLst>
          </p:cNvPr>
          <p:cNvSpPr txBox="1"/>
          <p:nvPr/>
        </p:nvSpPr>
        <p:spPr>
          <a:xfrm>
            <a:off x="3556000" y="5334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000" b="1">
                <a:solidFill>
                  <a:srgbClr val="0B1F49"/>
                </a:solidFill>
                <a:latin typeface="Aptos Display" panose="020B0004020202020204" pitchFamily="34" charset="0"/>
              </a:rPr>
              <a:t>Questions?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E2DA7-E28D-1D5B-8296-A9EE5C426E93}"/>
              </a:ext>
            </a:extLst>
          </p:cNvPr>
          <p:cNvSpPr txBox="1"/>
          <p:nvPr/>
        </p:nvSpPr>
        <p:spPr>
          <a:xfrm>
            <a:off x="3556000" y="5918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Opportunity should be shaped by ability.</a:t>
            </a:r>
          </a:p>
        </p:txBody>
      </p:sp>
    </p:spTree>
    <p:extLst>
      <p:ext uri="{BB962C8B-B14F-4D97-AF65-F5344CB8AC3E}">
        <p14:creationId xmlns:p14="http://schemas.microsoft.com/office/powerpoint/2010/main" val="230632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2362</Words>
  <Application>Microsoft Office PowerPoint</Application>
  <PresentationFormat>Widescreen</PresentationFormat>
  <Paragraphs>335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Zaidan Mansour</dc:creator>
  <cp:lastModifiedBy>Zaidan Mansour</cp:lastModifiedBy>
  <cp:revision>3</cp:revision>
  <dcterms:created xsi:type="dcterms:W3CDTF">2026-09-12T17:39:33Z</dcterms:created>
  <dcterms:modified xsi:type="dcterms:W3CDTF">2026-09-12T21:21:32Z</dcterms:modified>
</cp:coreProperties>
</file>