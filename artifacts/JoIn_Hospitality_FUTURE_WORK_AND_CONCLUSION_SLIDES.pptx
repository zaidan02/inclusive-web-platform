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588F01-1DDC-4540-8785-9DB86AD9D1CE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8F479E-B121-46D7-8FEC-67E9D57C2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290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30 seconds. Future work is ordered by engineering risk. First close retained quality and accessibility findings. Next strengthen production operations and control paid AI usage. Only then expand the product with a verified-knowledge chatbot and human-controlled interview assistance.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8F479E-B121-46D7-8FEC-67E9D57C21C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1060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25 seconds. Conclude that the project is more than a user interface: it combines accessible interaction, protected workflows, explainable matching, controlled AI, deployment and measured verification. The evidence supports technical feasibility and practical relevance without claiming universal accessibility or production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8F479E-B121-46D7-8FEC-67E9D57C21C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188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7EB75-DDB4-A73A-D48A-667B047D90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B7768F-9B58-6828-47C7-D40497B81B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6D4ED-EE4B-1D8E-6C98-814E2B684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62BDE-21CA-43BA-98C4-40CA34FC0C8A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CB711-0A44-3FA1-5BDC-574A43797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AFD5B-B77F-2E96-7C46-60C0A93E6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0A471-8783-425A-B935-E86353E919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346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38F25-3D64-5F36-5914-1F37D2BF8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83A29-0588-CDA7-0A87-56CBF7472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28FA6-E306-D0D2-AC94-8E9F57EC1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62BDE-21CA-43BA-98C4-40CA34FC0C8A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7915D-1DE8-66F4-72F3-1AC475361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6BC68-C83F-0AB5-35D7-7E551A4E8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0A471-8783-425A-B935-E86353E919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863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00C17-23E3-78F9-8EF5-6A9427DD8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F19640-BB18-F9F5-5C9E-7DF430457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E4E43-539E-9861-B723-E2D865333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62BDE-21CA-43BA-98C4-40CA34FC0C8A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EA0E6-367E-3F22-2F89-53DB88164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0B91D-4C79-E783-DCBB-CCA5CE78E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0A471-8783-425A-B935-E86353E919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81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B3202-F686-CD16-3F9B-F62B44CB3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AD3DB-C992-6B29-4E9D-4DCC17C1E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00E761-F684-E69A-5579-23C9AACD09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38679E-C719-C457-FB34-814F2DAD5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62BDE-21CA-43BA-98C4-40CA34FC0C8A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F85E95-CB8B-288A-7F46-EE832154F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83BBE5-EBA6-AC0A-1CFC-CB4C35938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0A471-8783-425A-B935-E86353E919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721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97C12-DEFF-AF29-556B-E068A3ADE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619B1A-663A-AAB8-D50C-6D181A265A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15442F-3081-06C7-6BAB-187C56E9A9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7297B0-8E87-875B-655C-362754D312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4419DF-02AC-EF03-7030-3B80FB4681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CD526F-84D9-35D5-9567-EFA86C6D9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62BDE-21CA-43BA-98C4-40CA34FC0C8A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938637-04D6-AA4B-D58D-805E323DA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E28B65-B535-6DEB-76D0-B1DADC3AE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0A471-8783-425A-B935-E86353E919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919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3AE3F-34AF-DFC8-CCC7-BF1043B08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EEE033-AA18-CF3C-F89F-45B91963F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62BDE-21CA-43BA-98C4-40CA34FC0C8A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577E54-9EA9-4A3C-63CF-2C6582F21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B74551-A351-FF05-37F9-615F42F81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0A471-8783-425A-B935-E86353E919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833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42DCDA-0B01-C49F-E1A5-57F9DCE0F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62BDE-21CA-43BA-98C4-40CA34FC0C8A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E3ED02-BBB7-7414-252A-8C7A41945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139D56-375C-B0D4-3D17-5E888D601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0A471-8783-425A-B935-E86353E919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487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8D3A9-552F-FFEF-A584-A525E0F0A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8AF89-B82B-2A90-5B19-B1B37D4AF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47DCF5-AAFA-C835-4663-B4D29B0AC5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DCA828-FF43-53FB-6801-9BB72CF0C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62BDE-21CA-43BA-98C4-40CA34FC0C8A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8C5BFF-C9AA-0A47-670B-D5D2B7454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441A60-EA35-9B22-9163-7D767C1BB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0A471-8783-425A-B935-E86353E919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875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39F62-6D66-551B-982E-67B8200AB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34463D-AA2F-620F-C913-AC2C065923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6F7BE-778A-63E2-227E-29260FED5B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72E1E2-663C-C474-C2F2-B542F8594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62BDE-21CA-43BA-98C4-40CA34FC0C8A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0BE8CA-F8B5-0157-5693-C14200F9C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DCA7F4-94E7-B2A9-B50B-1CBB66C0E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0A471-8783-425A-B935-E86353E919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935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A44CC-4B81-D02D-CE58-7FF951DA3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0C57B4-B275-DD06-F98C-FBF7CD383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2CD31-D0C6-0E36-C0D5-756D11BC1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62BDE-21CA-43BA-98C4-40CA34FC0C8A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19D43-5A4B-74B8-C1F7-E0B524694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83AF1-3EA7-AA4A-D966-36ED82BAA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0A471-8783-425A-B935-E86353E919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765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FDC498-9F56-4AA2-50E4-644A6129CA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4A0765-B27B-E262-88FD-905CD54412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8D377B-9D1F-B78B-F44D-5BA05BE22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62BDE-21CA-43BA-98C4-40CA34FC0C8A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3F39D-450F-2B2B-07F1-D9DA6AF54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CDBB2-96FA-89E1-6310-0D2BEC1F5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0A471-8783-425A-B935-E86353E919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654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0C6E7D-1AA8-2C80-185B-E774A5585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789B9C-C1BF-5A54-AE12-8E8B8F343A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D682E-AB03-5F80-3FF4-3865F920EC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862BDE-21CA-43BA-98C4-40CA34FC0C8A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04578-D7EE-F24D-46B9-930FF35FC8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116BC-1656-344C-287D-296E04AA4F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80A471-8783-425A-B935-E86353E919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103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2A99D5-BCFC-4335-9EF7-932FE69340E1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8FA710-F751-7AE8-828E-0197FB136036}"/>
              </a:ext>
            </a:extLst>
          </p:cNvPr>
          <p:cNvSpPr txBox="1"/>
          <p:nvPr/>
        </p:nvSpPr>
        <p:spPr>
          <a:xfrm>
            <a:off x="609600" y="3429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64B2A"/>
                </a:solidFill>
                <a:latin typeface="Aptos" panose="020B0004020202020204" pitchFamily="34" charset="0"/>
              </a:rPr>
              <a:t>FUTURE 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9C7215-7BAE-F9AE-95B2-114C744A92B4}"/>
              </a:ext>
            </a:extLst>
          </p:cNvPr>
          <p:cNvSpPr txBox="1"/>
          <p:nvPr/>
        </p:nvSpPr>
        <p:spPr>
          <a:xfrm>
            <a:off x="609600" y="635000"/>
            <a:ext cx="10414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700" b="1">
                <a:solidFill>
                  <a:srgbClr val="0B1F49"/>
                </a:solidFill>
                <a:latin typeface="Aptos Display" panose="020B0004020202020204" pitchFamily="34" charset="0"/>
              </a:rPr>
              <a:t>From validated staging prototype to production readiness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7148F7-EB7B-B247-9C2C-0BD5F1D6F024}"/>
              </a:ext>
            </a:extLst>
          </p:cNvPr>
          <p:cNvSpPr txBox="1"/>
          <p:nvPr/>
        </p:nvSpPr>
        <p:spPr>
          <a:xfrm>
            <a:off x="609600" y="1219200"/>
            <a:ext cx="10541000" cy="1569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5D6B80"/>
                </a:solidFill>
                <a:latin typeface="Aptos" panose="020B0004020202020204" pitchFamily="34" charset="0"/>
              </a:rPr>
              <a:t>Future development is prioritised by measured defects, operational risk and real user needs.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E38841F8-A2AB-B285-D7E3-D34860E6633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279400"/>
            <a:ext cx="711200" cy="317500"/>
          </a:xfrm>
          <a:prstGeom prst="rect">
            <a:avLst/>
          </a:prstGeom>
          <a:ln w="10160">
            <a:noFill/>
          </a:ln>
          <a:extLst>
            <a:ext uri="{91240B29-F687-4F45-9708-019B960494DF}">
              <a14:hiddenLine xmlns:a14="http://schemas.microsoft.com/office/drawing/2010/main" w="10160">
                <a:solidFill>
                  <a:srgbClr val="CBD5E1"/>
                </a:solidFill>
              </a14:hiddenLine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302DBF2-DF79-BB53-6E81-F3536ACBF6B0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9B78537-D149-21A2-5F69-A467C12167F9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C060E2-BF99-FFCA-308A-58B11C84AC82}"/>
              </a:ext>
            </a:extLst>
          </p:cNvPr>
          <p:cNvSpPr txBox="1"/>
          <p:nvPr/>
        </p:nvSpPr>
        <p:spPr>
          <a:xfrm>
            <a:off x="10998200" y="6527800"/>
            <a:ext cx="584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F1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3FF6CAF-A9D4-A619-FE32-22A36718A9BB}"/>
              </a:ext>
            </a:extLst>
          </p:cNvPr>
          <p:cNvSpPr/>
          <p:nvPr/>
        </p:nvSpPr>
        <p:spPr>
          <a:xfrm>
            <a:off x="609600" y="1968500"/>
            <a:ext cx="3429000" cy="332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17DB2E-92CE-81D4-89A5-8160C60351BD}"/>
              </a:ext>
            </a:extLst>
          </p:cNvPr>
          <p:cNvSpPr/>
          <p:nvPr/>
        </p:nvSpPr>
        <p:spPr>
          <a:xfrm>
            <a:off x="609600" y="1968500"/>
            <a:ext cx="88900" cy="33274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1BE3584-AB01-5DCE-21FB-83512430240A}"/>
              </a:ext>
            </a:extLst>
          </p:cNvPr>
          <p:cNvSpPr/>
          <p:nvPr/>
        </p:nvSpPr>
        <p:spPr>
          <a:xfrm>
            <a:off x="876300" y="2209800"/>
            <a:ext cx="1168400" cy="304800"/>
          </a:xfrm>
          <a:prstGeom prst="round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347827-C0B1-2905-81DA-089EEA36D75B}"/>
              </a:ext>
            </a:extLst>
          </p:cNvPr>
          <p:cNvSpPr txBox="1"/>
          <p:nvPr/>
        </p:nvSpPr>
        <p:spPr>
          <a:xfrm>
            <a:off x="977900" y="2273300"/>
            <a:ext cx="965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NEAR TERM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AA0C0D-A2FB-3002-7A90-1EA27A4B7279}"/>
              </a:ext>
            </a:extLst>
          </p:cNvPr>
          <p:cNvSpPr txBox="1"/>
          <p:nvPr/>
        </p:nvSpPr>
        <p:spPr>
          <a:xfrm>
            <a:off x="876300" y="2743200"/>
            <a:ext cx="2895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157A55"/>
                </a:solidFill>
                <a:latin typeface="Aptos Display" panose="020B0004020202020204" pitchFamily="34" charset="0"/>
              </a:rPr>
              <a:t>Quality and accessibility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6F51B3-C196-800D-3AE0-F4ABAF9BDB79}"/>
              </a:ext>
            </a:extLst>
          </p:cNvPr>
          <p:cNvSpPr txBox="1"/>
          <p:nvPr/>
        </p:nvSpPr>
        <p:spPr>
          <a:xfrm>
            <a:off x="876300" y="3479800"/>
            <a:ext cx="28956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+ Correct retained AI extraction, contrast, reflow and upload findings
+ Independent WCAG 2.1 AA audit
+ Broader JAWS, NVDA, mobile and real-user validation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8C9C0C0-E30F-E601-96EE-25F0064F9ABC}"/>
              </a:ext>
            </a:extLst>
          </p:cNvPr>
          <p:cNvSpPr/>
          <p:nvPr/>
        </p:nvSpPr>
        <p:spPr>
          <a:xfrm>
            <a:off x="4381500" y="1968500"/>
            <a:ext cx="3429000" cy="332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549E844-40F5-92B9-3254-F33CE54B207A}"/>
              </a:ext>
            </a:extLst>
          </p:cNvPr>
          <p:cNvSpPr/>
          <p:nvPr/>
        </p:nvSpPr>
        <p:spPr>
          <a:xfrm>
            <a:off x="4381500" y="1968500"/>
            <a:ext cx="88900" cy="33274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53BDEC2-AB49-C246-722D-F1119AEDDAA3}"/>
              </a:ext>
            </a:extLst>
          </p:cNvPr>
          <p:cNvSpPr/>
          <p:nvPr/>
        </p:nvSpPr>
        <p:spPr>
          <a:xfrm>
            <a:off x="4648200" y="2209800"/>
            <a:ext cx="1168400" cy="304800"/>
          </a:xfrm>
          <a:prstGeom prst="round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CA4E3D-EB6A-2A2D-B8A5-E9C05AD3739A}"/>
              </a:ext>
            </a:extLst>
          </p:cNvPr>
          <p:cNvSpPr txBox="1"/>
          <p:nvPr/>
        </p:nvSpPr>
        <p:spPr>
          <a:xfrm>
            <a:off x="4749800" y="2273300"/>
            <a:ext cx="965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MEDIUM TERM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71566E-8C4F-9EEF-0C02-AE04D389A444}"/>
              </a:ext>
            </a:extLst>
          </p:cNvPr>
          <p:cNvSpPr txBox="1"/>
          <p:nvPr/>
        </p:nvSpPr>
        <p:spPr>
          <a:xfrm>
            <a:off x="4648200" y="2743200"/>
            <a:ext cx="2895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1565D8"/>
                </a:solidFill>
                <a:latin typeface="Aptos Display" panose="020B0004020202020204" pitchFamily="34" charset="0"/>
              </a:rPr>
              <a:t>Production and cost control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7924B7-0525-85AA-EE6B-31E6C0BBCC6E}"/>
              </a:ext>
            </a:extLst>
          </p:cNvPr>
          <p:cNvSpPr txBox="1"/>
          <p:nvPr/>
        </p:nvSpPr>
        <p:spPr>
          <a:xfrm>
            <a:off x="4648200" y="3479800"/>
            <a:ext cx="2895600" cy="6278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+ Non-sleeping services, monitoring and recovery
+ Per-user AI/voice quotas and budget alerts
+ Profile queries, add indexes, then cache only repeated non-sensitive reads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BFE1DD7-487F-27B7-D986-8DDCDD974E26}"/>
              </a:ext>
            </a:extLst>
          </p:cNvPr>
          <p:cNvSpPr/>
          <p:nvPr/>
        </p:nvSpPr>
        <p:spPr>
          <a:xfrm>
            <a:off x="8153400" y="1968500"/>
            <a:ext cx="3429000" cy="332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75CF457-143B-229E-0BF4-DC35170BC678}"/>
              </a:ext>
            </a:extLst>
          </p:cNvPr>
          <p:cNvSpPr/>
          <p:nvPr/>
        </p:nvSpPr>
        <p:spPr>
          <a:xfrm>
            <a:off x="8153400" y="1968500"/>
            <a:ext cx="88900" cy="3327400"/>
          </a:xfrm>
          <a:prstGeom prst="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1816EA9-86BB-582B-0975-49D69896C965}"/>
              </a:ext>
            </a:extLst>
          </p:cNvPr>
          <p:cNvSpPr/>
          <p:nvPr/>
        </p:nvSpPr>
        <p:spPr>
          <a:xfrm>
            <a:off x="8420100" y="2209800"/>
            <a:ext cx="1168400" cy="304800"/>
          </a:xfrm>
          <a:prstGeom prst="round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B7C12B-E7F1-931C-39D8-62FDAD10D5E4}"/>
              </a:ext>
            </a:extLst>
          </p:cNvPr>
          <p:cNvSpPr txBox="1"/>
          <p:nvPr/>
        </p:nvSpPr>
        <p:spPr>
          <a:xfrm>
            <a:off x="8521700" y="2273300"/>
            <a:ext cx="965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LONG TERM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256F879-1BF2-27CD-FA80-5F3619D6E0A9}"/>
              </a:ext>
            </a:extLst>
          </p:cNvPr>
          <p:cNvSpPr txBox="1"/>
          <p:nvPr/>
        </p:nvSpPr>
        <p:spPr>
          <a:xfrm>
            <a:off x="8420100" y="2743200"/>
            <a:ext cx="2895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A64B2A"/>
                </a:solidFill>
                <a:latin typeface="Aptos Display" panose="020B0004020202020204" pitchFamily="34" charset="0"/>
              </a:rPr>
              <a:t>Product evolution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34DB68-0F9F-0033-FD84-67C3D0BC4DEF}"/>
              </a:ext>
            </a:extLst>
          </p:cNvPr>
          <p:cNvSpPr txBox="1"/>
          <p:nvPr/>
        </p:nvSpPr>
        <p:spPr>
          <a:xfrm>
            <a:off x="8420100" y="3479800"/>
            <a:ext cx="2895600" cy="6278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17243A"/>
                </a:solidFill>
                <a:latin typeface="Aptos" panose="020B0004020202020204" pitchFamily="34" charset="0"/>
              </a:rPr>
              <a:t>+ Accessible RAG chatbot using verified knowledge
+ Human-controlled AI interview preparation
+ More hospitality roles, training programs and employer partnerships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100916C-73EB-C7EB-A450-522314C9E002}"/>
              </a:ext>
            </a:extLst>
          </p:cNvPr>
          <p:cNvSpPr/>
          <p:nvPr/>
        </p:nvSpPr>
        <p:spPr>
          <a:xfrm>
            <a:off x="1295400" y="5613400"/>
            <a:ext cx="9601200" cy="546100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97BD80-C419-B446-1270-B06065DAAD16}"/>
              </a:ext>
            </a:extLst>
          </p:cNvPr>
          <p:cNvSpPr txBox="1"/>
          <p:nvPr/>
        </p:nvSpPr>
        <p:spPr>
          <a:xfrm>
            <a:off x="1625600" y="5765800"/>
            <a:ext cx="8940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Scale and automation will follow measured evidence; accessibility, explainability and human control remain mandatory.</a:t>
            </a:r>
          </a:p>
        </p:txBody>
      </p:sp>
    </p:spTree>
    <p:extLst>
      <p:ext uri="{BB962C8B-B14F-4D97-AF65-F5344CB8AC3E}">
        <p14:creationId xmlns:p14="http://schemas.microsoft.com/office/powerpoint/2010/main" val="4222218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4794EDB-0A79-2F72-560F-A0CD12DFC668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170A41-9EF5-DCA5-6584-50EE0EA64934}"/>
              </a:ext>
            </a:extLst>
          </p:cNvPr>
          <p:cNvSpPr txBox="1"/>
          <p:nvPr/>
        </p:nvSpPr>
        <p:spPr>
          <a:xfrm>
            <a:off x="609600" y="3429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 dirty="0">
                <a:solidFill>
                  <a:srgbClr val="A64B2A"/>
                </a:solidFill>
                <a:latin typeface="Aptos" panose="020B0004020202020204" pitchFamily="34" charset="0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81DB52-DBF4-555E-EBF8-C4D0901CE5B3}"/>
              </a:ext>
            </a:extLst>
          </p:cNvPr>
          <p:cNvSpPr txBox="1"/>
          <p:nvPr/>
        </p:nvSpPr>
        <p:spPr>
          <a:xfrm>
            <a:off x="609600" y="635000"/>
            <a:ext cx="10414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700" b="1">
                <a:solidFill>
                  <a:srgbClr val="0B1F49"/>
                </a:solidFill>
                <a:latin typeface="Aptos Display" panose="020B0004020202020204" pitchFamily="34" charset="0"/>
              </a:rPr>
              <a:t>A validated bridge from ability to opportunity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BCF6D0F2-1F5F-0D78-5C04-FCF32C41F4A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279400"/>
            <a:ext cx="711200" cy="317500"/>
          </a:xfrm>
          <a:prstGeom prst="rect">
            <a:avLst/>
          </a:prstGeom>
          <a:ln w="10160">
            <a:noFill/>
          </a:ln>
          <a:extLst>
            <a:ext uri="{91240B29-F687-4F45-9708-019B960494DF}">
              <a14:hiddenLine xmlns:a14="http://schemas.microsoft.com/office/drawing/2010/main" w="10160">
                <a:solidFill>
                  <a:srgbClr val="CBD5E1"/>
                </a:solidFill>
              </a14:hiddenLine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175BE04-7A76-7C61-A201-4CEFB56CDAAE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EF4342F-400F-B2DD-7237-A7751345C6D5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 | 14 SEP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B9E112-8DC8-3977-BBFD-B0CEE1DB7B7D}"/>
              </a:ext>
            </a:extLst>
          </p:cNvPr>
          <p:cNvSpPr txBox="1"/>
          <p:nvPr/>
        </p:nvSpPr>
        <p:spPr>
          <a:xfrm>
            <a:off x="10998200" y="6527800"/>
            <a:ext cx="584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F2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30AF810-1BED-884E-D902-E005E08C1313}"/>
              </a:ext>
            </a:extLst>
          </p:cNvPr>
          <p:cNvSpPr/>
          <p:nvPr/>
        </p:nvSpPr>
        <p:spPr>
          <a:xfrm>
            <a:off x="609600" y="1905000"/>
            <a:ext cx="6350000" cy="3886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407074-C908-B50E-54D2-B40ADB13801D}"/>
              </a:ext>
            </a:extLst>
          </p:cNvPr>
          <p:cNvSpPr txBox="1"/>
          <p:nvPr/>
        </p:nvSpPr>
        <p:spPr>
          <a:xfrm>
            <a:off x="965200" y="22098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157A55"/>
                </a:solidFill>
                <a:latin typeface="Aptos Display" panose="020B0004020202020204" pitchFamily="34" charset="0"/>
              </a:rPr>
              <a:t>Delivered engineering contribution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C746DD-A2E6-AEB2-ACE3-8483832A9709}"/>
              </a:ext>
            </a:extLst>
          </p:cNvPr>
          <p:cNvSpPr txBox="1"/>
          <p:nvPr/>
        </p:nvSpPr>
        <p:spPr>
          <a:xfrm>
            <a:off x="965200" y="2870200"/>
            <a:ext cx="5461000" cy="147732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17243A"/>
                </a:solidFill>
                <a:latin typeface="Aptos" panose="020B0004020202020204" pitchFamily="34" charset="0"/>
              </a:rPr>
              <a:t>+ Accessible English, French and Arabic role workflows
+ Protected Symfony security and business boundary
+ Deterministic, explainable task-level matching
+ Candidate-controlled AI and bounded voice assistance
+ PostgreSQL data and purpose-specific object storage
+ Repeatable cloud staging and retained verification evidence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95A8117-6B31-5849-878D-85B33CF2E88A}"/>
              </a:ext>
            </a:extLst>
          </p:cNvPr>
          <p:cNvSpPr/>
          <p:nvPr/>
        </p:nvSpPr>
        <p:spPr>
          <a:xfrm>
            <a:off x="7366000" y="1905000"/>
            <a:ext cx="4216400" cy="38862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24B79E-8375-9588-5917-DCA2F6EDD328}"/>
              </a:ext>
            </a:extLst>
          </p:cNvPr>
          <p:cNvSpPr txBox="1"/>
          <p:nvPr/>
        </p:nvSpPr>
        <p:spPr>
          <a:xfrm>
            <a:off x="7683500" y="2209800"/>
            <a:ext cx="3581400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b="1">
                <a:latin typeface="Aptos Display" panose="020B0004020202020204" pitchFamily="34" charset="0"/>
              </a:rPr>
              <a:t>Evidence at final evaluation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F256DB-87FB-6E2E-2556-164ACB5B72FA}"/>
              </a:ext>
            </a:extLst>
          </p:cNvPr>
          <p:cNvSpPr txBox="1"/>
          <p:nvPr/>
        </p:nvSpPr>
        <p:spPr>
          <a:xfrm>
            <a:off x="7747000" y="2908300"/>
            <a:ext cx="787400" cy="4308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800" b="1">
                <a:latin typeface="Aptos Display" panose="020B0004020202020204" pitchFamily="34" charset="0"/>
              </a:rPr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2B7089-4D32-42D8-3BF0-AA7A21B34983}"/>
              </a:ext>
            </a:extLst>
          </p:cNvPr>
          <p:cNvSpPr txBox="1"/>
          <p:nvPr/>
        </p:nvSpPr>
        <p:spPr>
          <a:xfrm>
            <a:off x="8661400" y="2997200"/>
            <a:ext cx="1143000" cy="1538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latin typeface="Aptos" panose="020B0004020202020204" pitchFamily="34" charset="0"/>
              </a:rPr>
              <a:t>protected roles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9F9EE7-FEF9-6A6B-CB34-2DE34D278ABA}"/>
              </a:ext>
            </a:extLst>
          </p:cNvPr>
          <p:cNvSpPr txBox="1"/>
          <p:nvPr/>
        </p:nvSpPr>
        <p:spPr>
          <a:xfrm>
            <a:off x="7747000" y="3568700"/>
            <a:ext cx="787400" cy="4308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800" b="1">
                <a:latin typeface="Aptos Display" panose="020B0004020202020204" pitchFamily="34" charset="0"/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0B9CBE-5F2B-8EC4-A0EC-6424772D6757}"/>
              </a:ext>
            </a:extLst>
          </p:cNvPr>
          <p:cNvSpPr txBox="1"/>
          <p:nvPr/>
        </p:nvSpPr>
        <p:spPr>
          <a:xfrm>
            <a:off x="8661400" y="3657600"/>
            <a:ext cx="1651000" cy="1538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latin typeface="Aptos" panose="020B0004020202020204" pitchFamily="34" charset="0"/>
              </a:rPr>
              <a:t>interface languages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755A7A-CC00-8FAB-0AFB-B0BFD8780FFF}"/>
              </a:ext>
            </a:extLst>
          </p:cNvPr>
          <p:cNvSpPr txBox="1"/>
          <p:nvPr/>
        </p:nvSpPr>
        <p:spPr>
          <a:xfrm>
            <a:off x="7747000" y="4229100"/>
            <a:ext cx="787400" cy="4308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800" b="1">
                <a:latin typeface="Aptos Display" panose="020B0004020202020204" pitchFamily="34" charset="0"/>
              </a:rPr>
              <a:t>310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55FDE7-8617-BC5C-3235-DE8D34B9E006}"/>
              </a:ext>
            </a:extLst>
          </p:cNvPr>
          <p:cNvSpPr txBox="1"/>
          <p:nvPr/>
        </p:nvSpPr>
        <p:spPr>
          <a:xfrm>
            <a:off x="8661400" y="4318000"/>
            <a:ext cx="2032000" cy="1538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 dirty="0">
                <a:latin typeface="Aptos" panose="020B0004020202020204" pitchFamily="34" charset="0"/>
              </a:rPr>
              <a:t>executed staging cases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C9AD87-BEA4-FE01-E1C0-1A9C8FC92BBF}"/>
              </a:ext>
            </a:extLst>
          </p:cNvPr>
          <p:cNvSpPr txBox="1"/>
          <p:nvPr/>
        </p:nvSpPr>
        <p:spPr>
          <a:xfrm>
            <a:off x="7747000" y="4889500"/>
            <a:ext cx="95250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400" b="1">
                <a:solidFill>
                  <a:srgbClr val="157A55"/>
                </a:solidFill>
                <a:latin typeface="Aptos Display" panose="020B0004020202020204" pitchFamily="34" charset="0"/>
              </a:rPr>
              <a:t>93.2%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5251706-5EBD-A904-ACB9-568BE57D61FA}"/>
              </a:ext>
            </a:extLst>
          </p:cNvPr>
          <p:cNvSpPr txBox="1"/>
          <p:nvPr/>
        </p:nvSpPr>
        <p:spPr>
          <a:xfrm>
            <a:off x="8839200" y="4978400"/>
            <a:ext cx="1968500" cy="1538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latin typeface="Aptos" panose="020B0004020202020204" pitchFamily="34" charset="0"/>
              </a:rPr>
              <a:t>final staging pass rate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23E8A8-487F-DF3C-30A8-63D7EB316BB8}"/>
              </a:ext>
            </a:extLst>
          </p:cNvPr>
          <p:cNvSpPr txBox="1"/>
          <p:nvPr/>
        </p:nvSpPr>
        <p:spPr>
          <a:xfrm>
            <a:off x="7747000" y="5410200"/>
            <a:ext cx="3429000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 b="1">
                <a:solidFill>
                  <a:srgbClr val="157A55"/>
                </a:solidFill>
                <a:latin typeface="Aptos" panose="020B0004020202020204" pitchFamily="34" charset="0"/>
              </a:rPr>
              <a:t>Human validation: 20-person Arc en Ciel session plus a separate JAWS workflow.</a:t>
            </a:r>
          </a:p>
        </p:txBody>
      </p:sp>
    </p:spTree>
    <p:extLst>
      <p:ext uri="{BB962C8B-B14F-4D97-AF65-F5344CB8AC3E}">
        <p14:creationId xmlns:p14="http://schemas.microsoft.com/office/powerpoint/2010/main" val="378576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353</Words>
  <Application>Microsoft Office PowerPoint</Application>
  <PresentationFormat>Widescreen</PresentationFormat>
  <Paragraphs>35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Zaidan Mansour</dc:creator>
  <cp:lastModifiedBy>Zaidan Mansour</cp:lastModifiedBy>
  <cp:revision>2</cp:revision>
  <dcterms:created xsi:type="dcterms:W3CDTF">2026-09-12T15:24:08Z</dcterms:created>
  <dcterms:modified xsi:type="dcterms:W3CDTF">2026-09-12T15:57:24Z</dcterms:modified>
</cp:coreProperties>
</file>