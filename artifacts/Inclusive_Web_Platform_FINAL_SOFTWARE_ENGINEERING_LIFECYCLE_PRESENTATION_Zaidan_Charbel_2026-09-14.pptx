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95" r:id="rId2"/>
    <p:sldId id="258" r:id="rId3"/>
    <p:sldId id="259" r:id="rId4"/>
    <p:sldId id="260" r:id="rId5"/>
    <p:sldId id="289" r:id="rId6"/>
    <p:sldId id="290" r:id="rId7"/>
    <p:sldId id="261" r:id="rId8"/>
    <p:sldId id="291" r:id="rId9"/>
    <p:sldId id="262" r:id="rId10"/>
    <p:sldId id="263" r:id="rId11"/>
    <p:sldId id="264" r:id="rId12"/>
    <p:sldId id="265" r:id="rId13"/>
    <p:sldId id="266" r:id="rId14"/>
    <p:sldId id="267" r:id="rId15"/>
    <p:sldId id="292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93" r:id="rId30"/>
    <p:sldId id="294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550EB9-4D77-4FA9-A07B-F1B7C4D3DC77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5591C0-78FE-4DE8-B4CA-78076F635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12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25 seconds - Zaidan. State the three business numbers and the precise problem: capability and opportunity remain disconnected. The platform reduces recruitment barriers; it does not claim to create jobs.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63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 seconds - Zaidan. Explain the evolution from physical processes to online portals and AI assistance, with new accessibility, privacy and opacity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75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25 seconds - Zaidan. Compare solution categories and identify the integration gap: accessible interaction, task evidence, explainability and human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99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30 seconds - Zaidan. Name the course lifecycle stages. Explain that JoIn used evolutionary prototyping and iterative increments, with V-model-style requirement-to-test traceability inside each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502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30 seconds - Zaidan. Present elicitation sources and techniques. The Arc en Ciel and JAWS sessions are later validation evidence, while early prototypes, documents and stakeholder feedback refined the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875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25 seconds - Zaidan. Translate the needs into the delivered scope and engineering scale. The staging figures are implementation evidence, not production or employment-impact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766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30 seconds - Zaidan. State the seven SRS qualities from the course, then trace one example across need, design and test. Requirements describe what and how well, not premature implementation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978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25 seconds - Zaidan. Walk across the four actors and their use-case responsibilities. Mention nominal flows, rejected roles and error extensions.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105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25 seconds - Zaidan. Define NFRs as measurable quality constraints and identify the principal trade-off: stronger security and external services can affect response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59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35 seconds - Zaidan. Define POUR and Level AA. Show implemented examples and explicitly retain the open contrast and high-zoom findings; this is a target with evidence, not a conformance certificate.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2488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35 seconds - Zaidan. Walk across the architecture and trust boundaries. React presents; Symfony authorises; storage, scoring and AI services have separate responsibilities.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429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25 seconds - Zaidan. Connect the patterns to course goals: low coupling, high cohesion, localised change and traceable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6789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30 seconds - Zaidan. Explain backend-controlled RBAC, private evidence, consent and auditability. End with the retained oversized-upload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6103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25 seconds - Zaidan. Close the first half: programming included integration, configuration and regression-safe refactoring, not only writing code. Hand over to Charbel.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8215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 seconds - Charbel. Show the deployed Render and Supabase topology. render.yaml is configuration management and infrastructure as code; HTTPS supports remote microphone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980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25 seconds - Charbel. Trace editable text, consent, schema-constrained suggestions, human review and Symfony validation. Nothing is saved without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010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 seconds - Charbel. Give the multilingual AI result: 53 of 60 passed, seven extraction defects retained, and no unsafe automatic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330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30 seconds - Charbel. Separate transcription quality from action safety. The deterministic registry authorises commands; noise and dictated character sequences sometimes require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847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35 seconds - Charbel. Explain the deterministic formula, feasibility factors and explicit gates. Forty-five of forty-five staging decisions matched their expected oracle.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461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 seconds - Charbel. Employers choose a controlled role, then configure actual requirements, priority tasks and available assistance for work or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690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 seconds - Charbel. Trace candidate, compatibility, application, employer decision and immutable audit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4242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30 seconds - Charbel. Define verification versus validation, then show the layered static, service, integration, system and human evidence. Testing was planned from the specifications.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6797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30 seconds - Charbel. Lead with all 310 executed. Explain 274 first passes, 15 noisy partials corrected on repetition or editing, 21 retained failures and 289 final passes: 93.2 percent.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77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25 seconds - Charbel. Do not read every rate. Seven areas reached 100 percent; AI, security and especially performance define the remaining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9056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 seconds - Charbel. A successful test campaign exposes defects. Link each finding to corrective work and non-regression retesting.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4292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30 seconds - Charbel. Distinguish the 20-person Arc en Ciel session from Noelle Marie Gabrielle's JAWS workflow. These validate relevance for tested users, not universal accessibility.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657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25 seconds - Charbel. Apply the course measurement process: define objective, method and reference. Correctness held under shared load, but latency targets exposed free-tier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4875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35 seconds - Charbel. Define cost as engineering effort plus infrastructure, external services and maintenance. Explain bottom-up subsystem estimates, usage scenarios, AI quotas and why a general cache was deferred.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3477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25 seconds - Charbel. Show the artefact chain from needs to operations. Documentation and evidence support communication, reproduction, maintenance and change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812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 seconds - Charbel. Conclude with the delivered engineering contribution and limitations, then transition directly to the five-minute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7210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Leave this slide visible during questions. Slides 33 to 37 are hidden appendix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226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Appendix only. Use if the jury asks for the exact denominator and per-area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8395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Appendix only. Use if the jury asks which specific WCAG success criteria were considered.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492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Appendix only. Use if the jury asks how a natural-language command becomes a controlled React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835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Appendix only. Use if the jury asks for database proof, dataset scale or storage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675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Appendix only. Use if the jury asks for source traceability.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91C0-78FE-4DE8-B4CA-78076F635DA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377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CF5D7-6EB7-EEB3-7ECD-B1DA420508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871BE-7957-A1AE-DB0C-32B18CCF9D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E7C01-B063-7608-E3C7-0CF9330AD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9F7E-99D9-43A9-A09C-81CD2F07283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DF905-76F4-662F-9174-81B09255D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7746B-8A8A-9FEF-BD4E-7E2C041EF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B693-315D-438F-97C8-C84FD8CD1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844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B0841-46E0-6E9D-4624-3018E5357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F30F9-1E51-556B-8FC0-6957C4BA3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DE58B-50FC-DBEC-610E-E56C526EC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9F7E-99D9-43A9-A09C-81CD2F07283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B3B43-65C3-9763-8688-E01A04969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990CB-DEE9-7A0E-8549-8ABA546E1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B693-315D-438F-97C8-C84FD8CD1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143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66A4B-81DD-E01F-0378-996FD8149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B4A2B-4B75-478A-5BA0-AC9186B6B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8DC66-E0FE-CE16-E2E0-C9B0DC402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9F7E-99D9-43A9-A09C-81CD2F07283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1F512-E53E-8C3D-4DDA-65CE9624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66E42-3AEB-86D5-2A3E-06B922EBC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B693-315D-438F-97C8-C84FD8CD1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898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4F874-5E9D-6F73-BC4D-B4039BBD0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D12B7-68BC-BD53-F460-B514618B9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50851E-D4D8-A5D6-BEDD-DD16C08B4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BA056-9A8B-BB99-0241-BAD0ADF01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9F7E-99D9-43A9-A09C-81CD2F07283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6E281-55DF-16C4-F1F1-CDB35F7B9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5E297-FB14-E499-1B09-49A7984C1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B693-315D-438F-97C8-C84FD8CD1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135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1D280-02BA-8D77-DBB1-F46D73CE0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236EC-2EC6-00EC-A1DD-F1A1CE383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CC918-C5A8-7F88-D134-D6AA92882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D9921F-A855-C33E-25A1-20B0A702C4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779635-7EA4-D5AF-58A0-F28178A018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E55D11-40F4-1E77-CDC0-1F45D8A68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9F7E-99D9-43A9-A09C-81CD2F07283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531B57-A47B-B2F0-AA0E-AC47C6B6A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3E70FC-ACEF-947C-5B7E-E2A03E868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B693-315D-438F-97C8-C84FD8CD1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0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74BAC-0547-086C-CEC7-E9988151C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01A80E-4B6F-7B19-D796-DF109A800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9F7E-99D9-43A9-A09C-81CD2F07283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22405-86E9-2FA9-1636-0C1409B42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B10FCC-0C28-EB6A-4715-670460D6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B693-315D-438F-97C8-C84FD8CD1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57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44ED76-686C-0E99-04CD-E173B7DC3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9F7E-99D9-43A9-A09C-81CD2F07283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FA09EF-5B4F-F788-C647-E0F5228A5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30EF7-2754-B89A-66B8-514572F6F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B693-315D-438F-97C8-C84FD8CD1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84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28216-C7A6-C983-8646-FDCE294E5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1ECA5-EB0D-FA6D-6EDE-2DE3740F4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EDF234-20D1-F728-7468-49D902BB1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B645A-8D5E-B0E2-EED4-3C062B2E2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9F7E-99D9-43A9-A09C-81CD2F07283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9B572-75A1-F02C-72DE-C75D77097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BB388-A251-0143-A332-E9780D53D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B693-315D-438F-97C8-C84FD8CD1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506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618C7-75AD-6D34-4D77-A34D59F5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9B9A29-8669-87B0-D02F-7B0AE18C8E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889EB3-8692-BD27-4652-3A611AD7E9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781D16-8F17-23AA-4663-EB9518424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9F7E-99D9-43A9-A09C-81CD2F07283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7E780-D08E-0130-2F20-1C931FC23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11BAE-8135-5BB3-B97D-20FED0525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B693-315D-438F-97C8-C84FD8CD1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775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C9E60-9CFD-ED45-2C56-668C16980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74B63A-5ACC-C3BB-C4E1-BB42AF04E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7AE94-A90E-2F69-9A30-8281CE1D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9F7E-99D9-43A9-A09C-81CD2F07283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15F27-1745-4460-A158-DAE8494AB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32F75-006F-5FE9-F419-233D4F47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B693-315D-438F-97C8-C84FD8CD1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9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51954F-86DA-E2B3-0918-5005027243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D3933-BD36-3342-D39A-2978D3BC9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13AE4-3ABF-FF7D-0A86-61EDFD1F8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9F7E-99D9-43A9-A09C-81CD2F07283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0E72B-85BC-2922-7815-4F8643451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AABAC-AA67-65D7-540E-2738AB09B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B693-315D-438F-97C8-C84FD8CD1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94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F79D23-F3E2-AD44-0B50-715D5E279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952B7-C021-BA51-37A2-A8ED132F1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435F2-F3D7-3A43-FE8B-7C582EA26C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C29F7E-99D9-43A9-A09C-81CD2F07283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91760-46AE-EA99-2C83-8695BFF43A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7817C-3DA3-DC07-3877-E0C5E6411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3BB693-315D-438F-97C8-C84FD8CD1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750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4.jpeg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16" y="137450"/>
            <a:ext cx="2905125" cy="95440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/>
          <p:cNvSpPr/>
          <p:nvPr/>
        </p:nvSpPr>
        <p:spPr>
          <a:xfrm>
            <a:off x="83663" y="1187548"/>
            <a:ext cx="47196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kern="1400" spc="2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Université Saint-Joseph de Beyrouth</a:t>
            </a:r>
            <a:endParaRPr lang="fr-FR" sz="2000" kern="1400" spc="25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spcAft>
                <a:spcPts val="0"/>
              </a:spcAft>
            </a:pPr>
            <a:r>
              <a:rPr lang="fr-FR" b="1" kern="1400" spc="2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Faculté d’Ingénierie et d’Architecture</a:t>
            </a:r>
          </a:p>
          <a:p>
            <a:pPr algn="ctr">
              <a:spcAft>
                <a:spcPts val="0"/>
              </a:spcAft>
            </a:pPr>
            <a:r>
              <a:rPr lang="fr-FR" b="1" kern="1400" spc="2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École Supérieure d’Ingénieurs de Beyrouth</a:t>
            </a:r>
            <a:endParaRPr lang="fr-FR" sz="2000" kern="1400" spc="25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3012" y="2598752"/>
            <a:ext cx="1155898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LB" sz="3200" b="1" dirty="0"/>
              <a:t>Inclusive Employment Platform: AI-Powered Accessible Recruitment Platform for Persons with Physical Disabilities</a:t>
            </a:r>
          </a:p>
          <a:p>
            <a:endParaRPr lang="en-LB" sz="3200" dirty="0"/>
          </a:p>
        </p:txBody>
      </p:sp>
      <p:sp>
        <p:nvSpPr>
          <p:cNvPr id="10" name="Rectangle 9"/>
          <p:cNvSpPr/>
          <p:nvPr/>
        </p:nvSpPr>
        <p:spPr>
          <a:xfrm>
            <a:off x="3249549" y="3923376"/>
            <a:ext cx="5692896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fr-FR" sz="2000" b="1" kern="1400" spc="2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Soutenu par :</a:t>
            </a:r>
          </a:p>
          <a:p>
            <a:pPr algn="ctr">
              <a:spcAft>
                <a:spcPts val="0"/>
              </a:spcAft>
            </a:pPr>
            <a:r>
              <a:rPr lang="fr-FR" sz="1600" b="1" kern="1400" spc="2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Zaidan MANSOUR</a:t>
            </a:r>
          </a:p>
          <a:p>
            <a:pPr algn="ctr">
              <a:spcAft>
                <a:spcPts val="0"/>
              </a:spcAft>
            </a:pPr>
            <a:r>
              <a:rPr lang="fr-FR" b="1" kern="14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fr-FR" b="1" kern="1400" spc="2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 RIZK</a:t>
            </a:r>
            <a:endParaRPr lang="fr-FR" kern="1400" spc="25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/>
            <a:r>
              <a:rPr lang="fr-FR" sz="1600" b="1" dirty="0"/>
              <a:t>Département de génie informatique et communications </a:t>
            </a:r>
          </a:p>
          <a:p>
            <a:pPr algn="ctr"/>
            <a:r>
              <a:rPr lang="fr-FR" sz="1600" b="1" dirty="0"/>
              <a:t>Génie logiciel</a:t>
            </a:r>
            <a:endParaRPr lang="en-LB" sz="1600" dirty="0"/>
          </a:p>
        </p:txBody>
      </p:sp>
      <p:sp>
        <p:nvSpPr>
          <p:cNvPr id="2" name="Rectangle 1"/>
          <p:cNvSpPr/>
          <p:nvPr/>
        </p:nvSpPr>
        <p:spPr>
          <a:xfrm>
            <a:off x="5359257" y="5505931"/>
            <a:ext cx="14734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b="1" kern="1400" spc="25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 15/9/2026</a:t>
            </a:r>
            <a:endParaRPr lang="en-GB" b="1" kern="1400" spc="25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20EB1C-E2AA-7422-A9C0-FC48129AE763}"/>
              </a:ext>
            </a:extLst>
          </p:cNvPr>
          <p:cNvSpPr txBox="1"/>
          <p:nvPr/>
        </p:nvSpPr>
        <p:spPr>
          <a:xfrm>
            <a:off x="-1294476" y="4631262"/>
            <a:ext cx="6097772" cy="1725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1260"/>
              </a:spcAft>
              <a:buNone/>
            </a:pPr>
            <a:r>
              <a:rPr lang="en-L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LB" sz="1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1905" algn="ctr">
              <a:lnSpc>
                <a:spcPct val="107000"/>
              </a:lnSpc>
              <a:spcAft>
                <a:spcPts val="1090"/>
              </a:spcAft>
              <a:buNone/>
            </a:pPr>
            <a:r>
              <a:rPr lang="en-LB" b="1" dirty="0">
                <a:effectLst/>
                <a:ea typeface="Times New Roman" panose="02020603050405020304" pitchFamily="18" charset="0"/>
              </a:rPr>
              <a:t>Supervisor(</a:t>
            </a:r>
            <a:r>
              <a:rPr lang="en-LB" b="1" dirty="0">
                <a:ea typeface="Times New Roman" panose="02020603050405020304" pitchFamily="18" charset="0"/>
              </a:rPr>
              <a:t>s)</a:t>
            </a:r>
            <a:r>
              <a:rPr lang="en-LB" b="1" dirty="0">
                <a:effectLst/>
                <a:ea typeface="Times New Roman" panose="02020603050405020304" pitchFamily="18" charset="0"/>
              </a:rPr>
              <a:t>: </a:t>
            </a:r>
          </a:p>
          <a:p>
            <a:pPr algn="ctr">
              <a:buNone/>
            </a:pPr>
            <a:r>
              <a:rPr lang="en-LB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Dr. Jean Yves Youssef</a:t>
            </a:r>
          </a:p>
          <a:p>
            <a:pPr algn="ctr">
              <a:buNone/>
            </a:pPr>
            <a:r>
              <a:rPr lang="en-LB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Dr. Roger Obeid</a:t>
            </a:r>
          </a:p>
          <a:p>
            <a:pPr algn="ctr">
              <a:buNone/>
            </a:pPr>
            <a:r>
              <a:rPr lang="en-LB" b="1" dirty="0">
                <a:effectLst/>
                <a:ea typeface="Times New Roman" panose="02020603050405020304" pitchFamily="18" charset="0"/>
              </a:rPr>
              <a:t>    Dr. Rima Kilany</a:t>
            </a:r>
            <a:r>
              <a:rPr lang="en-LB" b="1" dirty="0">
                <a:effectLst/>
              </a:rPr>
              <a:t> </a:t>
            </a:r>
            <a:endParaRPr lang="en-LB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89A2F9-A876-2011-A033-CB63BA3AF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7" y="6675437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5D6B80"/>
                </a:solidFill>
                <a:latin typeface="Aptos" panose="020B0004020202020204" pitchFamily="34" charset="0"/>
              </a:rPr>
              <a:t>INCLUSIVE WEB PLATFORM | PROGRESS PRESENTATION </a:t>
            </a:r>
          </a:p>
          <a:p>
            <a:endParaRPr lang="en-LB" sz="3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16F868-330C-7DEE-3CE9-EACF14C20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1058" y="111668"/>
            <a:ext cx="2597279" cy="21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642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B1AEF8-4FC8-D1B5-AEC5-6F86BDCC6878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76C8F2-CFAB-BE1E-B3F0-84A762940275}"/>
              </a:ext>
            </a:extLst>
          </p:cNvPr>
          <p:cNvSpPr txBox="1"/>
          <p:nvPr/>
        </p:nvSpPr>
        <p:spPr>
          <a:xfrm>
            <a:off x="609600" y="342900"/>
            <a:ext cx="609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b="1" dirty="0">
                <a:solidFill>
                  <a:srgbClr val="A64B2A"/>
                </a:solidFill>
                <a:latin typeface="Aptos" panose="020B0004020202020204" pitchFamily="34" charset="0"/>
              </a:rPr>
              <a:t>BUSINESS NEED | REQUIRMENT ELICITATION </a:t>
            </a:r>
            <a:endParaRPr lang="en-US" b="1" dirty="0">
              <a:solidFill>
                <a:srgbClr val="A64B2A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7C7407-13EC-E95C-6AD0-1FE3360F7372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Capability and opportunity remain disconnected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F23E297C-C50A-7E47-3B56-B080E23BC9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7B9AAF-5DBF-540D-39F1-F0EE97EB3E32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23F52C4-2A35-7C38-9C93-ED5AEB62C400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1BBB13-57D2-C7C3-C660-2EE8C154149B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B94EA58-D90A-C49A-55F7-10E62598F0D4}"/>
              </a:ext>
            </a:extLst>
          </p:cNvPr>
          <p:cNvSpPr/>
          <p:nvPr/>
        </p:nvSpPr>
        <p:spPr>
          <a:xfrm>
            <a:off x="609600" y="1905000"/>
            <a:ext cx="31750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1B67FB-679E-8F64-6D88-E8E4DD3946B0}"/>
              </a:ext>
            </a:extLst>
          </p:cNvPr>
          <p:cNvSpPr txBox="1"/>
          <p:nvPr/>
        </p:nvSpPr>
        <p:spPr>
          <a:xfrm>
            <a:off x="812800" y="2044700"/>
            <a:ext cx="2870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1.3B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D24BA8-1B8E-A0A3-B5AA-184F58FF291D}"/>
              </a:ext>
            </a:extLst>
          </p:cNvPr>
          <p:cNvSpPr txBox="1"/>
          <p:nvPr/>
        </p:nvSpPr>
        <p:spPr>
          <a:xfrm>
            <a:off x="812800" y="2451100"/>
            <a:ext cx="2870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people experience significant disability worldwide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CCDA6CF-3207-4805-99A7-B15B28237FF1}"/>
              </a:ext>
            </a:extLst>
          </p:cNvPr>
          <p:cNvSpPr/>
          <p:nvPr/>
        </p:nvSpPr>
        <p:spPr>
          <a:xfrm>
            <a:off x="4508500" y="1905000"/>
            <a:ext cx="31750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F6DE74-FDDB-0132-3ABC-1C4A73F29517}"/>
              </a:ext>
            </a:extLst>
          </p:cNvPr>
          <p:cNvSpPr txBox="1"/>
          <p:nvPr/>
        </p:nvSpPr>
        <p:spPr>
          <a:xfrm>
            <a:off x="4711700" y="2044700"/>
            <a:ext cx="2870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30% lower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84A18B-3592-4A46-5099-E59CBC0E2A1F}"/>
              </a:ext>
            </a:extLst>
          </p:cNvPr>
          <p:cNvSpPr txBox="1"/>
          <p:nvPr/>
        </p:nvSpPr>
        <p:spPr>
          <a:xfrm>
            <a:off x="4711700" y="24511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labour-market participation than persons without disabilities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3BDDE09-1116-0A7E-04A4-88756D40DFD3}"/>
              </a:ext>
            </a:extLst>
          </p:cNvPr>
          <p:cNvSpPr/>
          <p:nvPr/>
        </p:nvSpPr>
        <p:spPr>
          <a:xfrm>
            <a:off x="8407400" y="1905000"/>
            <a:ext cx="31750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5658B4-3C52-149F-B4FC-279909CA4380}"/>
              </a:ext>
            </a:extLst>
          </p:cNvPr>
          <p:cNvSpPr txBox="1"/>
          <p:nvPr/>
        </p:nvSpPr>
        <p:spPr>
          <a:xfrm>
            <a:off x="8610600" y="2044700"/>
            <a:ext cx="2870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&gt;80%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097690-A63B-BFA1-12F8-13477D34C731}"/>
              </a:ext>
            </a:extLst>
          </p:cNvPr>
          <p:cNvSpPr txBox="1"/>
          <p:nvPr/>
        </p:nvSpPr>
        <p:spPr>
          <a:xfrm>
            <a:off x="8610600" y="24511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of 700+ surveyed candidates named identifying inclusive employers as the greatest barrier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8B05D8F-85ED-FEE5-CC0D-E26F0389B73E}"/>
              </a:ext>
            </a:extLst>
          </p:cNvPr>
          <p:cNvSpPr/>
          <p:nvPr/>
        </p:nvSpPr>
        <p:spPr>
          <a:xfrm>
            <a:off x="1193800" y="3307089"/>
            <a:ext cx="9702800" cy="19050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C88485-CF18-5609-2B9E-F92BFA0709CE}"/>
              </a:ext>
            </a:extLst>
          </p:cNvPr>
          <p:cNvSpPr txBox="1"/>
          <p:nvPr/>
        </p:nvSpPr>
        <p:spPr>
          <a:xfrm>
            <a:off x="1651000" y="3708400"/>
            <a:ext cx="889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 panose="020B0004020202020204" pitchFamily="34" charset="0"/>
              </a:rPr>
              <a:t>The engineering problem is not a lack of ability.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3BBBA9-73F6-5904-944A-BB644EDAB877}"/>
              </a:ext>
            </a:extLst>
          </p:cNvPr>
          <p:cNvSpPr txBox="1"/>
          <p:nvPr/>
        </p:nvSpPr>
        <p:spPr>
          <a:xfrm>
            <a:off x="1841500" y="4381500"/>
            <a:ext cx="8509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>
                <a:solidFill>
                  <a:srgbClr val="DDE7F5"/>
                </a:solidFill>
                <a:latin typeface="Aptos" panose="020B0004020202020204" pitchFamily="34" charset="0"/>
              </a:rPr>
              <a:t>It is the distance between candidates, accessible recruitment processes, structured job tasks, workplace support and employers prepared to evaluate ability.</a:t>
            </a:r>
          </a:p>
        </p:txBody>
      </p:sp>
    </p:spTree>
    <p:extLst>
      <p:ext uri="{BB962C8B-B14F-4D97-AF65-F5344CB8AC3E}">
        <p14:creationId xmlns:p14="http://schemas.microsoft.com/office/powerpoint/2010/main" val="2077598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DE9661-DDCA-D79D-335F-86E79BBBECD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45C6C1-0F85-0E34-3D28-94D4A3E28610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 dirty="0">
                <a:solidFill>
                  <a:srgbClr val="A64B2A"/>
                </a:solidFill>
                <a:latin typeface="Aptos" panose="020B0004020202020204" pitchFamily="34" charset="0"/>
              </a:rPr>
              <a:t>BACKGROUND RESEARCH | </a:t>
            </a:r>
            <a:r>
              <a:rPr lang="fr-FR" sz="900" b="1" dirty="0">
                <a:solidFill>
                  <a:srgbClr val="A64B2A"/>
                </a:solidFill>
                <a:latin typeface="Aptos" panose="020B0004020202020204" pitchFamily="34" charset="0"/>
              </a:rPr>
              <a:t>REQUIRMENT ELICITATION </a:t>
            </a:r>
            <a:endParaRPr lang="en-US" sz="900" b="1" dirty="0">
              <a:solidFill>
                <a:srgbClr val="A64B2A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5C1269-988F-0308-8210-648201F7A914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From disability-as-deficit to accessible decision support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E12564D3-6895-935A-90A3-F56EBA6B7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0296E4-46C1-92DA-3577-153E199CD292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4FDC9D5-BC0B-7E10-E10D-28C822C89935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B96E13-E24C-3707-17D7-A10EC5A8D8E5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22EB554-26B5-5B39-8A89-4D9A5A7FA37A}"/>
              </a:ext>
            </a:extLst>
          </p:cNvPr>
          <p:cNvSpPr/>
          <p:nvPr/>
        </p:nvSpPr>
        <p:spPr>
          <a:xfrm>
            <a:off x="609600" y="2286000"/>
            <a:ext cx="18415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EE0875-4CF2-EAAD-594B-0F638FDA3FCF}"/>
              </a:ext>
            </a:extLst>
          </p:cNvPr>
          <p:cNvSpPr txBox="1"/>
          <p:nvPr/>
        </p:nvSpPr>
        <p:spPr>
          <a:xfrm>
            <a:off x="812800" y="25654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563A4B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FA0172-1C20-5143-B9D1-78E0BFA07E64}"/>
              </a:ext>
            </a:extLst>
          </p:cNvPr>
          <p:cNvSpPr txBox="1"/>
          <p:nvPr/>
        </p:nvSpPr>
        <p:spPr>
          <a:xfrm>
            <a:off x="812800" y="3035300"/>
            <a:ext cx="1422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Medical / deficit focus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02521E-F807-12AE-C3FA-27FFA60B5EC9}"/>
              </a:ext>
            </a:extLst>
          </p:cNvPr>
          <p:cNvSpPr txBox="1"/>
          <p:nvPr/>
        </p:nvSpPr>
        <p:spPr>
          <a:xfrm>
            <a:off x="812800" y="3873500"/>
            <a:ext cx="1422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17243A"/>
                </a:solidFill>
                <a:latin typeface="Aptos" panose="020B0004020202020204" pitchFamily="34" charset="0"/>
              </a:rPr>
              <a:t>Recruitment starts from limitation.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513CCF9-9964-CF9B-970A-83B0AEBAA433}"/>
              </a:ext>
            </a:extLst>
          </p:cNvPr>
          <p:cNvCxnSpPr/>
          <p:nvPr/>
        </p:nvCxnSpPr>
        <p:spPr>
          <a:xfrm>
            <a:off x="2489200" y="3492500"/>
            <a:ext cx="241300" cy="0"/>
          </a:xfrm>
          <a:prstGeom prst="line">
            <a:avLst/>
          </a:prstGeom>
          <a:ln w="2794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9BEAD21-2878-6025-B0BB-A915C3448EDA}"/>
              </a:ext>
            </a:extLst>
          </p:cNvPr>
          <p:cNvSpPr/>
          <p:nvPr/>
        </p:nvSpPr>
        <p:spPr>
          <a:xfrm>
            <a:off x="2768600" y="2286000"/>
            <a:ext cx="18415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6B7C83-C7C1-055C-28EA-8AC34A4EAFC6}"/>
              </a:ext>
            </a:extLst>
          </p:cNvPr>
          <p:cNvSpPr txBox="1"/>
          <p:nvPr/>
        </p:nvSpPr>
        <p:spPr>
          <a:xfrm>
            <a:off x="2971800" y="25654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A64B2A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C8B708-CAE4-96B2-7C33-876AAB75BA4D}"/>
              </a:ext>
            </a:extLst>
          </p:cNvPr>
          <p:cNvSpPr txBox="1"/>
          <p:nvPr/>
        </p:nvSpPr>
        <p:spPr>
          <a:xfrm>
            <a:off x="2971800" y="3035300"/>
            <a:ext cx="1422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Social / rights model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A4B1EE-362C-0D6C-B1FD-00459F70B5B0}"/>
              </a:ext>
            </a:extLst>
          </p:cNvPr>
          <p:cNvSpPr txBox="1"/>
          <p:nvPr/>
        </p:nvSpPr>
        <p:spPr>
          <a:xfrm>
            <a:off x="2971800" y="3873500"/>
            <a:ext cx="14224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17243A"/>
                </a:solidFill>
                <a:latin typeface="Aptos" panose="020B0004020202020204" pitchFamily="34" charset="0"/>
              </a:rPr>
              <a:t>Barriers exist in processes and environments.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A970A4C-A39F-A1BC-A569-8726A917C9CD}"/>
              </a:ext>
            </a:extLst>
          </p:cNvPr>
          <p:cNvCxnSpPr/>
          <p:nvPr/>
        </p:nvCxnSpPr>
        <p:spPr>
          <a:xfrm>
            <a:off x="4648200" y="3492500"/>
            <a:ext cx="241300" cy="0"/>
          </a:xfrm>
          <a:prstGeom prst="line">
            <a:avLst/>
          </a:prstGeom>
          <a:ln w="2794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5653C16-7CB2-04FF-19B8-5A2E4E7628A2}"/>
              </a:ext>
            </a:extLst>
          </p:cNvPr>
          <p:cNvSpPr/>
          <p:nvPr/>
        </p:nvSpPr>
        <p:spPr>
          <a:xfrm>
            <a:off x="4927600" y="2286000"/>
            <a:ext cx="18415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570A67-D90E-3FFD-84EE-AF40A51D5E9E}"/>
              </a:ext>
            </a:extLst>
          </p:cNvPr>
          <p:cNvSpPr txBox="1"/>
          <p:nvPr/>
        </p:nvSpPr>
        <p:spPr>
          <a:xfrm>
            <a:off x="5130800" y="25654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565D8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F91B84-4830-8083-FFEB-76516B0C7966}"/>
              </a:ext>
            </a:extLst>
          </p:cNvPr>
          <p:cNvSpPr txBox="1"/>
          <p:nvPr/>
        </p:nvSpPr>
        <p:spPr>
          <a:xfrm>
            <a:off x="5130800" y="3035300"/>
            <a:ext cx="1422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Online job portals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A56A5C-8A9B-9E01-75A5-83D361C9D5EE}"/>
              </a:ext>
            </a:extLst>
          </p:cNvPr>
          <p:cNvSpPr txBox="1"/>
          <p:nvPr/>
        </p:nvSpPr>
        <p:spPr>
          <a:xfrm>
            <a:off x="5130800" y="3873500"/>
            <a:ext cx="1422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17243A"/>
                </a:solidFill>
                <a:latin typeface="Aptos" panose="020B0004020202020204" pitchFamily="34" charset="0"/>
              </a:rPr>
              <a:t>Visibility increases, but profiles stay generic.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EBE3B6F-970F-8731-C4A2-185044052B57}"/>
              </a:ext>
            </a:extLst>
          </p:cNvPr>
          <p:cNvCxnSpPr/>
          <p:nvPr/>
        </p:nvCxnSpPr>
        <p:spPr>
          <a:xfrm>
            <a:off x="6807200" y="3492500"/>
            <a:ext cx="241300" cy="0"/>
          </a:xfrm>
          <a:prstGeom prst="line">
            <a:avLst/>
          </a:prstGeom>
          <a:ln w="2794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86CDF6A-305D-5CEF-8AD0-C86321796CA0}"/>
              </a:ext>
            </a:extLst>
          </p:cNvPr>
          <p:cNvSpPr/>
          <p:nvPr/>
        </p:nvSpPr>
        <p:spPr>
          <a:xfrm>
            <a:off x="7086600" y="2286000"/>
            <a:ext cx="18415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DCB80A-0C4D-3E7B-B1D8-533D6180509D}"/>
              </a:ext>
            </a:extLst>
          </p:cNvPr>
          <p:cNvSpPr txBox="1"/>
          <p:nvPr/>
        </p:nvSpPr>
        <p:spPr>
          <a:xfrm>
            <a:off x="7289800" y="25654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C27A19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95063C-1D14-BEA3-58CB-13EFC428A61D}"/>
              </a:ext>
            </a:extLst>
          </p:cNvPr>
          <p:cNvSpPr txBox="1"/>
          <p:nvPr/>
        </p:nvSpPr>
        <p:spPr>
          <a:xfrm>
            <a:off x="7289800" y="3035300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AI recruitment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CFA400-A934-D93E-A1A6-C91EF3792689}"/>
              </a:ext>
            </a:extLst>
          </p:cNvPr>
          <p:cNvSpPr txBox="1"/>
          <p:nvPr/>
        </p:nvSpPr>
        <p:spPr>
          <a:xfrm>
            <a:off x="7289800" y="3873500"/>
            <a:ext cx="1422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17243A"/>
                </a:solidFill>
                <a:latin typeface="Aptos" panose="020B0004020202020204" pitchFamily="34" charset="0"/>
              </a:rPr>
              <a:t>Scale increases, with bias and opacity risks.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F9F12A4-E320-5E97-AAEA-12FED7A82F18}"/>
              </a:ext>
            </a:extLst>
          </p:cNvPr>
          <p:cNvCxnSpPr/>
          <p:nvPr/>
        </p:nvCxnSpPr>
        <p:spPr>
          <a:xfrm>
            <a:off x="8966200" y="3492500"/>
            <a:ext cx="241300" cy="0"/>
          </a:xfrm>
          <a:prstGeom prst="line">
            <a:avLst/>
          </a:prstGeom>
          <a:ln w="2794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95D3ECF-A7F5-FC27-F77C-573B0AD7A998}"/>
              </a:ext>
            </a:extLst>
          </p:cNvPr>
          <p:cNvSpPr/>
          <p:nvPr/>
        </p:nvSpPr>
        <p:spPr>
          <a:xfrm>
            <a:off x="9245600" y="2286000"/>
            <a:ext cx="18415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BBE172-74F0-402D-2DF9-4129A048ED3A}"/>
              </a:ext>
            </a:extLst>
          </p:cNvPr>
          <p:cNvSpPr txBox="1"/>
          <p:nvPr/>
        </p:nvSpPr>
        <p:spPr>
          <a:xfrm>
            <a:off x="9448800" y="25654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57A55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C848CE-FA24-7956-5CB4-40A0DDA84616}"/>
              </a:ext>
            </a:extLst>
          </p:cNvPr>
          <p:cNvSpPr txBox="1"/>
          <p:nvPr/>
        </p:nvSpPr>
        <p:spPr>
          <a:xfrm>
            <a:off x="9448800" y="3035300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JoIn approach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7145C3B-30B2-1A14-789D-2B60CDAB565E}"/>
              </a:ext>
            </a:extLst>
          </p:cNvPr>
          <p:cNvSpPr txBox="1"/>
          <p:nvPr/>
        </p:nvSpPr>
        <p:spPr>
          <a:xfrm>
            <a:off x="9448800" y="3873500"/>
            <a:ext cx="1422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17243A"/>
                </a:solidFill>
                <a:latin typeface="Aptos" panose="020B0004020202020204" pitchFamily="34" charset="0"/>
              </a:rPr>
              <a:t>Ability-to-task evidence with human control.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5062B0-99C6-4354-CC8E-80235E3247D3}"/>
              </a:ext>
            </a:extLst>
          </p:cNvPr>
          <p:cNvSpPr txBox="1"/>
          <p:nvPr/>
        </p:nvSpPr>
        <p:spPr>
          <a:xfrm>
            <a:off x="2032000" y="5270500"/>
            <a:ext cx="812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B1F49"/>
                </a:solidFill>
                <a:latin typeface="Aptos Display" panose="020B0004020202020204" pitchFamily="34" charset="0"/>
              </a:rPr>
              <a:t>Software contribution: change the recruitment interaction and explanation, not the candidate.</a:t>
            </a:r>
          </a:p>
        </p:txBody>
      </p:sp>
    </p:spTree>
    <p:extLst>
      <p:ext uri="{BB962C8B-B14F-4D97-AF65-F5344CB8AC3E}">
        <p14:creationId xmlns:p14="http://schemas.microsoft.com/office/powerpoint/2010/main" val="3305982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C2D13B-31F0-1F3C-8D93-D511015363D2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22E7F8-3C48-BD9A-BB95-BA868D7EE059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900" b="1">
                <a:solidFill>
                  <a:srgbClr val="A64B2A"/>
                </a:solidFill>
                <a:latin typeface="Aptos" panose="020B0004020202020204" pitchFamily="34" charset="0"/>
              </a:rPr>
              <a:t>RESEARCH GAP | EXPRESSION DES BESOINS</a:t>
            </a:r>
            <a:endParaRPr lang="en-US" sz="900" b="1">
              <a:solidFill>
                <a:srgbClr val="A64B2A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87CE4D-76F9-44AC-F226-85F14899CE92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Related approaches and the remaining gap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0074F0-9E2D-1A9A-218E-BEC6AE3D8134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A synthesis of solution categories studied in Phase I and Phase II; not an exhaustive commercial benchmark.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BF30601C-51F1-9B13-2CED-F02A8C37CC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F906AF-E8C3-D0B8-D394-6EBE676EE25E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202B252-5029-8E1E-99D8-0F32FA8B5D4F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54F3FD-95A2-D317-F747-F8BD40DA7CF6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81DB98E-BF78-3C5A-BCE5-B564DF5FD16C}"/>
              </a:ext>
            </a:extLst>
          </p:cNvPr>
          <p:cNvSpPr/>
          <p:nvPr/>
        </p:nvSpPr>
        <p:spPr>
          <a:xfrm>
            <a:off x="609600" y="1905000"/>
            <a:ext cx="24765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A9B81B-2141-777E-5D72-4C56E7691ACC}"/>
              </a:ext>
            </a:extLst>
          </p:cNvPr>
          <p:cNvSpPr/>
          <p:nvPr/>
        </p:nvSpPr>
        <p:spPr>
          <a:xfrm>
            <a:off x="609600" y="1905000"/>
            <a:ext cx="88900" cy="24130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23A563-478E-5B7A-519B-10AF2225DDE3}"/>
              </a:ext>
            </a:extLst>
          </p:cNvPr>
          <p:cNvSpPr txBox="1"/>
          <p:nvPr/>
        </p:nvSpPr>
        <p:spPr>
          <a:xfrm>
            <a:off x="876300" y="2108200"/>
            <a:ext cx="19939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General job platforms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A4B717-BA0D-A33D-03F2-B87B15991F77}"/>
              </a:ext>
            </a:extLst>
          </p:cNvPr>
          <p:cNvSpPr txBox="1"/>
          <p:nvPr/>
        </p:nvSpPr>
        <p:spPr>
          <a:xfrm>
            <a:off x="876300" y="2603500"/>
            <a:ext cx="199390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Strength: reach and familiar workflows.
Gap: generic profiles and limited disability-specific support.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88095BA-EE96-B9B8-1D1D-AEC0A48DAF13}"/>
              </a:ext>
            </a:extLst>
          </p:cNvPr>
          <p:cNvSpPr/>
          <p:nvPr/>
        </p:nvSpPr>
        <p:spPr>
          <a:xfrm>
            <a:off x="3340100" y="1905000"/>
            <a:ext cx="24765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9432CA-984C-DAB2-7FE3-29E9FAE2D162}"/>
              </a:ext>
            </a:extLst>
          </p:cNvPr>
          <p:cNvSpPr/>
          <p:nvPr/>
        </p:nvSpPr>
        <p:spPr>
          <a:xfrm>
            <a:off x="3340100" y="1905000"/>
            <a:ext cx="88900" cy="24130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DC3867-E8D0-BDE3-0C9C-2F55A4062737}"/>
              </a:ext>
            </a:extLst>
          </p:cNvPr>
          <p:cNvSpPr txBox="1"/>
          <p:nvPr/>
        </p:nvSpPr>
        <p:spPr>
          <a:xfrm>
            <a:off x="3606800" y="2108200"/>
            <a:ext cx="19939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Inclusive job portals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E803FB-61D4-8559-4A8A-7A0378013ED5}"/>
              </a:ext>
            </a:extLst>
          </p:cNvPr>
          <p:cNvSpPr txBox="1"/>
          <p:nvPr/>
        </p:nvSpPr>
        <p:spPr>
          <a:xfrm>
            <a:off x="3606800" y="2603500"/>
            <a:ext cx="199390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Strength: targeted visibility and employer awareness.
Gap: listings may not explain task-level feasibility.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C4A920-DE71-E574-EBAE-04AA9F50BA4A}"/>
              </a:ext>
            </a:extLst>
          </p:cNvPr>
          <p:cNvSpPr/>
          <p:nvPr/>
        </p:nvSpPr>
        <p:spPr>
          <a:xfrm>
            <a:off x="6070600" y="1905000"/>
            <a:ext cx="24765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89B9D1-5F9A-AFF6-A3A6-137CB250AD95}"/>
              </a:ext>
            </a:extLst>
          </p:cNvPr>
          <p:cNvSpPr/>
          <p:nvPr/>
        </p:nvSpPr>
        <p:spPr>
          <a:xfrm>
            <a:off x="6070600" y="1905000"/>
            <a:ext cx="88900" cy="24130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BAD232-D858-C27B-E9F9-D529AD4E7CB0}"/>
              </a:ext>
            </a:extLst>
          </p:cNvPr>
          <p:cNvSpPr txBox="1"/>
          <p:nvPr/>
        </p:nvSpPr>
        <p:spPr>
          <a:xfrm>
            <a:off x="6337300" y="2108200"/>
            <a:ext cx="19939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C27A19"/>
                </a:solidFill>
                <a:latin typeface="Aptos Display" panose="020B0004020202020204" pitchFamily="34" charset="0"/>
              </a:rPr>
              <a:t>Automated AI screening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BDDE43-A506-2B3D-C83D-4A48453B14AB}"/>
              </a:ext>
            </a:extLst>
          </p:cNvPr>
          <p:cNvSpPr txBox="1"/>
          <p:nvPr/>
        </p:nvSpPr>
        <p:spPr>
          <a:xfrm>
            <a:off x="6337300" y="2603500"/>
            <a:ext cx="1993900" cy="4708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Strength: speed and scale.
Gap: data quality, bias, privacy and individual explainability.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B4F7D31-95C8-CCDE-28EE-04B1EB23F4FF}"/>
              </a:ext>
            </a:extLst>
          </p:cNvPr>
          <p:cNvSpPr/>
          <p:nvPr/>
        </p:nvSpPr>
        <p:spPr>
          <a:xfrm>
            <a:off x="8801100" y="1905000"/>
            <a:ext cx="24765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E36300-8AF7-7DD3-AA7F-A4DE52CF3E47}"/>
              </a:ext>
            </a:extLst>
          </p:cNvPr>
          <p:cNvSpPr/>
          <p:nvPr/>
        </p:nvSpPr>
        <p:spPr>
          <a:xfrm>
            <a:off x="8801100" y="1905000"/>
            <a:ext cx="88900" cy="24130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658E29-3491-88E2-D51C-A9EEF54CE923}"/>
              </a:ext>
            </a:extLst>
          </p:cNvPr>
          <p:cNvSpPr txBox="1"/>
          <p:nvPr/>
        </p:nvSpPr>
        <p:spPr>
          <a:xfrm>
            <a:off x="9067800" y="2108200"/>
            <a:ext cx="19939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563A4B"/>
                </a:solidFill>
                <a:latin typeface="Aptos Display" panose="020B0004020202020204" pitchFamily="34" charset="0"/>
              </a:rPr>
              <a:t>Human coaching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104BA8-AB64-506D-6340-82DAF36C48BE}"/>
              </a:ext>
            </a:extLst>
          </p:cNvPr>
          <p:cNvSpPr txBox="1"/>
          <p:nvPr/>
        </p:nvSpPr>
        <p:spPr>
          <a:xfrm>
            <a:off x="9067800" y="2603500"/>
            <a:ext cx="199390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Strength: contextual judgement and adaptation.
Gap: intensive case-by-case work is difficult to scale digitally.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2824D5D-B664-3808-2272-464A86BA6389}"/>
              </a:ext>
            </a:extLst>
          </p:cNvPr>
          <p:cNvSpPr/>
          <p:nvPr/>
        </p:nvSpPr>
        <p:spPr>
          <a:xfrm>
            <a:off x="1524000" y="4775200"/>
            <a:ext cx="9144000" cy="9144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56806C-3622-6FAD-14C7-5E0818335234}"/>
              </a:ext>
            </a:extLst>
          </p:cNvPr>
          <p:cNvSpPr txBox="1"/>
          <p:nvPr/>
        </p:nvSpPr>
        <p:spPr>
          <a:xfrm>
            <a:off x="1841500" y="4991100"/>
            <a:ext cx="152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Research gap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A8D49D-358C-B61B-A874-7EE841B85E27}"/>
              </a:ext>
            </a:extLst>
          </p:cNvPr>
          <p:cNvSpPr txBox="1"/>
          <p:nvPr/>
        </p:nvSpPr>
        <p:spPr>
          <a:xfrm>
            <a:off x="3429000" y="4940300"/>
            <a:ext cx="6858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FFFFFF"/>
                </a:solidFill>
                <a:latin typeface="Aptos" panose="020B0004020202020204" pitchFamily="34" charset="0"/>
              </a:rPr>
              <a:t>One accessible workflow joining controlled hospitality tasks, candidate abilities, workplace assistance, explainable matching and human review.</a:t>
            </a:r>
          </a:p>
        </p:txBody>
      </p:sp>
    </p:spTree>
    <p:extLst>
      <p:ext uri="{BB962C8B-B14F-4D97-AF65-F5344CB8AC3E}">
        <p14:creationId xmlns:p14="http://schemas.microsoft.com/office/powerpoint/2010/main" val="4111692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C1B5D2-5380-93EE-E7F1-F8E929C6BF5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780D67-D3C8-BE5F-A42E-32E6D70FC25E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900" b="1">
                <a:solidFill>
                  <a:srgbClr val="A64B2A"/>
                </a:solidFill>
                <a:latin typeface="Aptos" panose="020B0004020202020204" pitchFamily="34" charset="0"/>
              </a:rPr>
              <a:t>CYCLE DE VIE DU LOGICIEL</a:t>
            </a:r>
            <a:endParaRPr lang="en-US" sz="900" b="1">
              <a:solidFill>
                <a:srgbClr val="A64B2A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A828ED-3CAA-021A-9284-5B5DC725804D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An iterative lifecycle with V-model traceability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C4871C-C747-8B61-6E73-6A99784A9CF9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The lifecycle is evolutionary; verification and validation are prepared from the specification stage and repeated after material change.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244982F9-4720-B371-0175-78067F1958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AF8A5E-41EC-2367-895F-64554DCF4A71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E02415-1BC2-3C2E-1107-BBDAF1C2D76F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5D6405-FFBD-85A0-6C74-0C0C346176F8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2BE55D7-5668-E6A1-5246-1BC74AB59FAF}"/>
              </a:ext>
            </a:extLst>
          </p:cNvPr>
          <p:cNvSpPr/>
          <p:nvPr/>
        </p:nvSpPr>
        <p:spPr>
          <a:xfrm>
            <a:off x="609600" y="1968500"/>
            <a:ext cx="25146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68EA93-1A90-8A06-2CF0-F813AEBE0E4E}"/>
              </a:ext>
            </a:extLst>
          </p:cNvPr>
          <p:cNvSpPr/>
          <p:nvPr/>
        </p:nvSpPr>
        <p:spPr>
          <a:xfrm>
            <a:off x="609600" y="1968500"/>
            <a:ext cx="2514600" cy="889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DDE023-C033-0351-6FD8-85E02BD2017F}"/>
              </a:ext>
            </a:extLst>
          </p:cNvPr>
          <p:cNvSpPr txBox="1"/>
          <p:nvPr/>
        </p:nvSpPr>
        <p:spPr>
          <a:xfrm>
            <a:off x="812800" y="22225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20DCD6-7408-9611-B99D-7A63D9845F48}"/>
              </a:ext>
            </a:extLst>
          </p:cNvPr>
          <p:cNvSpPr txBox="1"/>
          <p:nvPr/>
        </p:nvSpPr>
        <p:spPr>
          <a:xfrm>
            <a:off x="1270000" y="21971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0B1F49"/>
                </a:solidFill>
                <a:latin typeface="Aptos Display" panose="020B0004020202020204" pitchFamily="34" charset="0"/>
              </a:rPr>
              <a:t>Needs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0D7703-7B02-CB89-C9B2-6E27DAD1668B}"/>
              </a:ext>
            </a:extLst>
          </p:cNvPr>
          <p:cNvSpPr txBox="1"/>
          <p:nvPr/>
        </p:nvSpPr>
        <p:spPr>
          <a:xfrm>
            <a:off x="812800" y="2806700"/>
            <a:ext cx="21082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70">
                <a:solidFill>
                  <a:srgbClr val="17243A"/>
                </a:solidFill>
                <a:latin typeface="Aptos" panose="020B0004020202020204" pitchFamily="34" charset="0"/>
              </a:rPr>
              <a:t>Stakeholders, context, problem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7CB8AE6-C7AC-5B9E-A96A-5F9BD08C7595}"/>
              </a:ext>
            </a:extLst>
          </p:cNvPr>
          <p:cNvSpPr/>
          <p:nvPr/>
        </p:nvSpPr>
        <p:spPr>
          <a:xfrm>
            <a:off x="3429000" y="1968500"/>
            <a:ext cx="25146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190201-E02C-B05D-99B3-AEBE2909AA9A}"/>
              </a:ext>
            </a:extLst>
          </p:cNvPr>
          <p:cNvSpPr/>
          <p:nvPr/>
        </p:nvSpPr>
        <p:spPr>
          <a:xfrm>
            <a:off x="3429000" y="1968500"/>
            <a:ext cx="25146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4EB1D1-3270-A189-886A-BD58F927722B}"/>
              </a:ext>
            </a:extLst>
          </p:cNvPr>
          <p:cNvSpPr txBox="1"/>
          <p:nvPr/>
        </p:nvSpPr>
        <p:spPr>
          <a:xfrm>
            <a:off x="3632200" y="22225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565D8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D2A44C-50F7-B3FE-7E2B-09C01897F65C}"/>
              </a:ext>
            </a:extLst>
          </p:cNvPr>
          <p:cNvSpPr txBox="1"/>
          <p:nvPr/>
        </p:nvSpPr>
        <p:spPr>
          <a:xfrm>
            <a:off x="4089400" y="21971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0B1F49"/>
                </a:solidFill>
                <a:latin typeface="Aptos Display" panose="020B0004020202020204" pitchFamily="34" charset="0"/>
              </a:rPr>
              <a:t>Specification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364041-F83A-084D-B980-4E79C35B06FC}"/>
              </a:ext>
            </a:extLst>
          </p:cNvPr>
          <p:cNvSpPr txBox="1"/>
          <p:nvPr/>
        </p:nvSpPr>
        <p:spPr>
          <a:xfrm>
            <a:off x="3632200" y="2806700"/>
            <a:ext cx="21082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70">
                <a:solidFill>
                  <a:srgbClr val="17243A"/>
                </a:solidFill>
                <a:latin typeface="Aptos" panose="020B0004020202020204" pitchFamily="34" charset="0"/>
              </a:rPr>
              <a:t>FR, NFR, data, acceptance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34B7D24-1EB4-6279-2C9A-7DAC33EFC276}"/>
              </a:ext>
            </a:extLst>
          </p:cNvPr>
          <p:cNvSpPr/>
          <p:nvPr/>
        </p:nvSpPr>
        <p:spPr>
          <a:xfrm>
            <a:off x="6248400" y="1968500"/>
            <a:ext cx="25146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EB870B-981C-6196-3820-475C25EAF237}"/>
              </a:ext>
            </a:extLst>
          </p:cNvPr>
          <p:cNvSpPr/>
          <p:nvPr/>
        </p:nvSpPr>
        <p:spPr>
          <a:xfrm>
            <a:off x="6248400" y="1968500"/>
            <a:ext cx="2514600" cy="889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A2C919-ED38-8B43-9431-32472C736303}"/>
              </a:ext>
            </a:extLst>
          </p:cNvPr>
          <p:cNvSpPr txBox="1"/>
          <p:nvPr/>
        </p:nvSpPr>
        <p:spPr>
          <a:xfrm>
            <a:off x="6451600" y="22225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57A55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79337D-F33F-91FF-6580-91E7D41E21A1}"/>
              </a:ext>
            </a:extLst>
          </p:cNvPr>
          <p:cNvSpPr txBox="1"/>
          <p:nvPr/>
        </p:nvSpPr>
        <p:spPr>
          <a:xfrm>
            <a:off x="6908800" y="21971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0B1F49"/>
                </a:solidFill>
                <a:latin typeface="Aptos Display" panose="020B0004020202020204" pitchFamily="34" charset="0"/>
              </a:rPr>
              <a:t>Design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9C5759-0C15-08E8-31C5-3BB79136E0C8}"/>
              </a:ext>
            </a:extLst>
          </p:cNvPr>
          <p:cNvSpPr txBox="1"/>
          <p:nvPr/>
        </p:nvSpPr>
        <p:spPr>
          <a:xfrm>
            <a:off x="6451600" y="2806700"/>
            <a:ext cx="21082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70">
                <a:solidFill>
                  <a:srgbClr val="17243A"/>
                </a:solidFill>
                <a:latin typeface="Aptos" panose="020B0004020202020204" pitchFamily="34" charset="0"/>
              </a:rPr>
              <a:t>Architecture, interfaces, algorithms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7AE8839-A4AC-80A8-FFDD-ADD8D65AC955}"/>
              </a:ext>
            </a:extLst>
          </p:cNvPr>
          <p:cNvSpPr/>
          <p:nvPr/>
        </p:nvSpPr>
        <p:spPr>
          <a:xfrm>
            <a:off x="9067800" y="1968500"/>
            <a:ext cx="25146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4FB4977-6DDE-8F48-74D9-13C980140E20}"/>
              </a:ext>
            </a:extLst>
          </p:cNvPr>
          <p:cNvSpPr/>
          <p:nvPr/>
        </p:nvSpPr>
        <p:spPr>
          <a:xfrm>
            <a:off x="9067800" y="1968500"/>
            <a:ext cx="2514600" cy="8890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77734D-9F5D-2302-75B6-F22534920AF5}"/>
              </a:ext>
            </a:extLst>
          </p:cNvPr>
          <p:cNvSpPr txBox="1"/>
          <p:nvPr/>
        </p:nvSpPr>
        <p:spPr>
          <a:xfrm>
            <a:off x="9271000" y="22225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000000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1C45C6-9506-7768-0C61-2B32187C0BD8}"/>
              </a:ext>
            </a:extLst>
          </p:cNvPr>
          <p:cNvSpPr txBox="1"/>
          <p:nvPr/>
        </p:nvSpPr>
        <p:spPr>
          <a:xfrm>
            <a:off x="9728200" y="21971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0B1F49"/>
                </a:solidFill>
                <a:latin typeface="Aptos Display" panose="020B0004020202020204" pitchFamily="34" charset="0"/>
              </a:rPr>
              <a:t>Programming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03FFE3-5732-12BB-3CBC-7E94081FB1F7}"/>
              </a:ext>
            </a:extLst>
          </p:cNvPr>
          <p:cNvSpPr txBox="1"/>
          <p:nvPr/>
        </p:nvSpPr>
        <p:spPr>
          <a:xfrm>
            <a:off x="9271000" y="2806700"/>
            <a:ext cx="21082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70">
                <a:solidFill>
                  <a:srgbClr val="17243A"/>
                </a:solidFill>
                <a:latin typeface="Aptos" panose="020B0004020202020204" pitchFamily="34" charset="0"/>
              </a:rPr>
              <a:t>Components, integration, configuration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825AC6E-AB9C-46CB-6E13-B8D0EA6A386F}"/>
              </a:ext>
            </a:extLst>
          </p:cNvPr>
          <p:cNvSpPr/>
          <p:nvPr/>
        </p:nvSpPr>
        <p:spPr>
          <a:xfrm>
            <a:off x="609600" y="4191000"/>
            <a:ext cx="25146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D0D926-D03E-8A9C-76D7-205D39618F45}"/>
              </a:ext>
            </a:extLst>
          </p:cNvPr>
          <p:cNvSpPr/>
          <p:nvPr/>
        </p:nvSpPr>
        <p:spPr>
          <a:xfrm>
            <a:off x="609600" y="4191000"/>
            <a:ext cx="2514600" cy="889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7CE375-EBDB-D099-F936-9766B7635D18}"/>
              </a:ext>
            </a:extLst>
          </p:cNvPr>
          <p:cNvSpPr txBox="1"/>
          <p:nvPr/>
        </p:nvSpPr>
        <p:spPr>
          <a:xfrm>
            <a:off x="812800" y="44450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C27A19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6A660E-4120-782B-6400-DCF2A7367FD9}"/>
              </a:ext>
            </a:extLst>
          </p:cNvPr>
          <p:cNvSpPr txBox="1"/>
          <p:nvPr/>
        </p:nvSpPr>
        <p:spPr>
          <a:xfrm>
            <a:off x="1270000" y="44196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0B1F49"/>
                </a:solidFill>
                <a:latin typeface="Aptos Display" panose="020B0004020202020204" pitchFamily="34" charset="0"/>
              </a:rPr>
              <a:t>Tests + debugging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1B9183-9D46-1390-B6B3-933B4FD5EA18}"/>
              </a:ext>
            </a:extLst>
          </p:cNvPr>
          <p:cNvSpPr txBox="1"/>
          <p:nvPr/>
        </p:nvSpPr>
        <p:spPr>
          <a:xfrm>
            <a:off x="812800" y="5029200"/>
            <a:ext cx="21082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70">
                <a:solidFill>
                  <a:srgbClr val="17243A"/>
                </a:solidFill>
                <a:latin typeface="Aptos" panose="020B0004020202020204" pitchFamily="34" charset="0"/>
              </a:rPr>
              <a:t>Static + dynamic V&amp;V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3306D87-B0C1-C000-B7D2-5FFCA59D66FD}"/>
              </a:ext>
            </a:extLst>
          </p:cNvPr>
          <p:cNvSpPr/>
          <p:nvPr/>
        </p:nvSpPr>
        <p:spPr>
          <a:xfrm>
            <a:off x="3429000" y="4191000"/>
            <a:ext cx="25146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FDD0518-D433-09E4-A488-F3DA42FD001B}"/>
              </a:ext>
            </a:extLst>
          </p:cNvPr>
          <p:cNvSpPr/>
          <p:nvPr/>
        </p:nvSpPr>
        <p:spPr>
          <a:xfrm>
            <a:off x="3429000" y="4191000"/>
            <a:ext cx="25146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F8126E5-8876-18BC-F168-7ED9F0E00D4E}"/>
              </a:ext>
            </a:extLst>
          </p:cNvPr>
          <p:cNvSpPr txBox="1"/>
          <p:nvPr/>
        </p:nvSpPr>
        <p:spPr>
          <a:xfrm>
            <a:off x="3632200" y="44450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565D8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A3D432-33DD-E51E-7C21-54CA24E5077B}"/>
              </a:ext>
            </a:extLst>
          </p:cNvPr>
          <p:cNvSpPr txBox="1"/>
          <p:nvPr/>
        </p:nvSpPr>
        <p:spPr>
          <a:xfrm>
            <a:off x="4089400" y="44196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0B1F49"/>
                </a:solidFill>
                <a:latin typeface="Aptos Display" panose="020B0004020202020204" pitchFamily="34" charset="0"/>
              </a:rPr>
              <a:t>Documentation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313221-54E8-4076-8191-C360D39A4316}"/>
              </a:ext>
            </a:extLst>
          </p:cNvPr>
          <p:cNvSpPr txBox="1"/>
          <p:nvPr/>
        </p:nvSpPr>
        <p:spPr>
          <a:xfrm>
            <a:off x="3632200" y="5029200"/>
            <a:ext cx="21082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70">
                <a:solidFill>
                  <a:srgbClr val="17243A"/>
                </a:solidFill>
                <a:latin typeface="Aptos" panose="020B0004020202020204" pitchFamily="34" charset="0"/>
              </a:rPr>
              <a:t>SRS, design, tests, operations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43AC4D2-00B7-5984-E53E-2ED4E3AC3FCF}"/>
              </a:ext>
            </a:extLst>
          </p:cNvPr>
          <p:cNvSpPr/>
          <p:nvPr/>
        </p:nvSpPr>
        <p:spPr>
          <a:xfrm>
            <a:off x="6248400" y="4191000"/>
            <a:ext cx="25146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EF941CC-1AB4-8F06-41AB-9D39CFC468E0}"/>
              </a:ext>
            </a:extLst>
          </p:cNvPr>
          <p:cNvSpPr/>
          <p:nvPr/>
        </p:nvSpPr>
        <p:spPr>
          <a:xfrm>
            <a:off x="6248400" y="4191000"/>
            <a:ext cx="2514600" cy="889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E0ADA4-6DE1-10AF-E50B-19E5CD5D6F5C}"/>
              </a:ext>
            </a:extLst>
          </p:cNvPr>
          <p:cNvSpPr txBox="1"/>
          <p:nvPr/>
        </p:nvSpPr>
        <p:spPr>
          <a:xfrm>
            <a:off x="6451600" y="44450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57A55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8116A5-4195-A001-56D6-B05C6BACBA3C}"/>
              </a:ext>
            </a:extLst>
          </p:cNvPr>
          <p:cNvSpPr txBox="1"/>
          <p:nvPr/>
        </p:nvSpPr>
        <p:spPr>
          <a:xfrm>
            <a:off x="6908800" y="4419600"/>
            <a:ext cx="1651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0B1F49"/>
                </a:solidFill>
                <a:latin typeface="Aptos Display" panose="020B0004020202020204" pitchFamily="34" charset="0"/>
              </a:rPr>
              <a:t>Deployment + maintenance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238A3B-8688-5260-C1D1-730903B7EBFE}"/>
              </a:ext>
            </a:extLst>
          </p:cNvPr>
          <p:cNvSpPr txBox="1"/>
          <p:nvPr/>
        </p:nvSpPr>
        <p:spPr>
          <a:xfrm>
            <a:off x="6451600" y="5029200"/>
            <a:ext cx="21082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70">
                <a:solidFill>
                  <a:srgbClr val="17243A"/>
                </a:solidFill>
                <a:latin typeface="Aptos" panose="020B0004020202020204" pitchFamily="34" charset="0"/>
              </a:rPr>
              <a:t>Staging, correction, evolution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5C515D8A-D478-A07D-7650-8895DA05DB4F}"/>
              </a:ext>
            </a:extLst>
          </p:cNvPr>
          <p:cNvSpPr/>
          <p:nvPr/>
        </p:nvSpPr>
        <p:spPr>
          <a:xfrm>
            <a:off x="9067800" y="4191000"/>
            <a:ext cx="25146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92F4A3A-7ABF-4109-4786-845FD11F3D68}"/>
              </a:ext>
            </a:extLst>
          </p:cNvPr>
          <p:cNvSpPr/>
          <p:nvPr/>
        </p:nvSpPr>
        <p:spPr>
          <a:xfrm>
            <a:off x="9067800" y="4191000"/>
            <a:ext cx="2514600" cy="889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A70FFC-6883-10B1-AD7E-897E71FD77DA}"/>
              </a:ext>
            </a:extLst>
          </p:cNvPr>
          <p:cNvSpPr txBox="1"/>
          <p:nvPr/>
        </p:nvSpPr>
        <p:spPr>
          <a:xfrm>
            <a:off x="9271000" y="44450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50020D9-0AEA-F1FD-31FA-B834BEDFB86A}"/>
              </a:ext>
            </a:extLst>
          </p:cNvPr>
          <p:cNvSpPr txBox="1"/>
          <p:nvPr/>
        </p:nvSpPr>
        <p:spPr>
          <a:xfrm>
            <a:off x="9728200" y="44196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0B1F49"/>
                </a:solidFill>
                <a:latin typeface="Aptos Display" panose="020B0004020202020204" pitchFamily="34" charset="0"/>
              </a:rPr>
              <a:t>Conclusion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255515-A5AA-5407-D854-D25EC1A61E49}"/>
              </a:ext>
            </a:extLst>
          </p:cNvPr>
          <p:cNvSpPr txBox="1"/>
          <p:nvPr/>
        </p:nvSpPr>
        <p:spPr>
          <a:xfrm>
            <a:off x="9271000" y="5029200"/>
            <a:ext cx="21082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70">
                <a:solidFill>
                  <a:srgbClr val="17243A"/>
                </a:solidFill>
                <a:latin typeface="Aptos" panose="020B0004020202020204" pitchFamily="34" charset="0"/>
              </a:rPr>
              <a:t>Evidence, limits, next cycle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BE54E69-AD36-C7B9-1B4A-1E4416702368}"/>
              </a:ext>
            </a:extLst>
          </p:cNvPr>
          <p:cNvSpPr txBox="1"/>
          <p:nvPr/>
        </p:nvSpPr>
        <p:spPr>
          <a:xfrm>
            <a:off x="1498600" y="6070600"/>
            <a:ext cx="91948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 b="1">
                <a:solidFill>
                  <a:srgbClr val="0B1F49"/>
                </a:solidFill>
                <a:latin typeface="Aptos" panose="020B0004020202020204" pitchFamily="34" charset="0"/>
              </a:rPr>
              <a:t>Chosen process: evolutionary prototyping + iterative increments | Quality control: requirement-to-test traceability inspired by the V-model</a:t>
            </a:r>
          </a:p>
        </p:txBody>
      </p:sp>
    </p:spTree>
    <p:extLst>
      <p:ext uri="{BB962C8B-B14F-4D97-AF65-F5344CB8AC3E}">
        <p14:creationId xmlns:p14="http://schemas.microsoft.com/office/powerpoint/2010/main" val="2029970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571A0E-A7C8-3594-E0A7-9691224B0E7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07DF91-9498-3A97-53D4-184D3D4018BD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900" b="1">
                <a:solidFill>
                  <a:srgbClr val="A64B2A"/>
                </a:solidFill>
                <a:latin typeface="Aptos" panose="020B0004020202020204" pitchFamily="34" charset="0"/>
              </a:rPr>
              <a:t>NEEDS ELICITATION | EXPRESSION DES BESOINS</a:t>
            </a:r>
            <a:endParaRPr lang="en-US" sz="900" b="1">
              <a:solidFill>
                <a:srgbClr val="A64B2A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C963EC-FE74-6360-D26B-0BF8F2F7F7D4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Needs came from documents, prototypes and real users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2CEB06-F965-6713-7A03-DBE49DB8DAEF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The target need was refined from multiple sources; stakeholder feedback did not replace standards or measurable engineering evidence.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E3E688CF-0F00-ACE0-1790-F74CB03786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507BEBE-3B78-0AE6-F896-D634E799605A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2B21F0E-DF5A-FCEF-8D30-E4A8F15010C1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293D91-A606-3E6C-43BA-3116E37D2466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0024B05-6B6A-669C-6B58-BC9839B3CB7D}"/>
              </a:ext>
            </a:extLst>
          </p:cNvPr>
          <p:cNvSpPr/>
          <p:nvPr/>
        </p:nvSpPr>
        <p:spPr>
          <a:xfrm>
            <a:off x="609600" y="1905000"/>
            <a:ext cx="3429000" cy="1841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BA091C-141F-50BC-92E9-8CF166CF509A}"/>
              </a:ext>
            </a:extLst>
          </p:cNvPr>
          <p:cNvSpPr/>
          <p:nvPr/>
        </p:nvSpPr>
        <p:spPr>
          <a:xfrm>
            <a:off x="609600" y="1905000"/>
            <a:ext cx="88900" cy="18415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3EFEA6-A716-7B36-E12B-5B47A925813B}"/>
              </a:ext>
            </a:extLst>
          </p:cNvPr>
          <p:cNvSpPr txBox="1"/>
          <p:nvPr/>
        </p:nvSpPr>
        <p:spPr>
          <a:xfrm>
            <a:off x="876300" y="21082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People and stakeholders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698FBB-857F-2EA4-1D26-C1B47FCC4111}"/>
              </a:ext>
            </a:extLst>
          </p:cNvPr>
          <p:cNvSpPr txBox="1"/>
          <p:nvPr/>
        </p:nvSpPr>
        <p:spPr>
          <a:xfrm>
            <a:off x="876300" y="2603500"/>
            <a:ext cx="294640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Candidates with varied access needs
Employers and hospitality teams
Verifier and administrator roles
Supervisors and institutional context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8CA4C86-B506-C10D-606D-293C480DF990}"/>
              </a:ext>
            </a:extLst>
          </p:cNvPr>
          <p:cNvSpPr/>
          <p:nvPr/>
        </p:nvSpPr>
        <p:spPr>
          <a:xfrm>
            <a:off x="4381500" y="1905000"/>
            <a:ext cx="3429000" cy="1841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D4A76C-6C04-38A7-63A7-F6572794D7F7}"/>
              </a:ext>
            </a:extLst>
          </p:cNvPr>
          <p:cNvSpPr/>
          <p:nvPr/>
        </p:nvSpPr>
        <p:spPr>
          <a:xfrm>
            <a:off x="4381500" y="1905000"/>
            <a:ext cx="88900" cy="18415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D3E8A8-059B-5950-9D40-22DAB7D64D37}"/>
              </a:ext>
            </a:extLst>
          </p:cNvPr>
          <p:cNvSpPr txBox="1"/>
          <p:nvPr/>
        </p:nvSpPr>
        <p:spPr>
          <a:xfrm>
            <a:off x="4648200" y="21082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Documents and domain sources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EF6E73-AA98-AFA8-1063-A423C30DC449}"/>
              </a:ext>
            </a:extLst>
          </p:cNvPr>
          <p:cNvSpPr txBox="1"/>
          <p:nvPr/>
        </p:nvSpPr>
        <p:spPr>
          <a:xfrm>
            <a:off x="4648200" y="2603500"/>
            <a:ext cx="294640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Phase I artefacts and feedback
WCAG 2.1 and accessibility research
Hospitality job descriptions and tasks
Security, privacy and deployment constraints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5A02E98-FDA1-C566-5B32-6CAB22DE3F9B}"/>
              </a:ext>
            </a:extLst>
          </p:cNvPr>
          <p:cNvSpPr/>
          <p:nvPr/>
        </p:nvSpPr>
        <p:spPr>
          <a:xfrm>
            <a:off x="8153400" y="1905000"/>
            <a:ext cx="3429000" cy="1841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9D8ABC-A18F-F6A9-E6CE-7D4786BECDA5}"/>
              </a:ext>
            </a:extLst>
          </p:cNvPr>
          <p:cNvSpPr/>
          <p:nvPr/>
        </p:nvSpPr>
        <p:spPr>
          <a:xfrm>
            <a:off x="8153400" y="1905000"/>
            <a:ext cx="88900" cy="18415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782A79-5F27-E824-FB74-F73FB7642342}"/>
              </a:ext>
            </a:extLst>
          </p:cNvPr>
          <p:cNvSpPr txBox="1"/>
          <p:nvPr/>
        </p:nvSpPr>
        <p:spPr>
          <a:xfrm>
            <a:off x="8420100" y="21082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Elicitation techniques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85C021-E5A7-5F65-BBB7-4A9FDBF81A0E}"/>
              </a:ext>
            </a:extLst>
          </p:cNvPr>
          <p:cNvSpPr txBox="1"/>
          <p:nvPr/>
        </p:nvSpPr>
        <p:spPr>
          <a:xfrm>
            <a:off x="8420100" y="2603500"/>
            <a:ext cx="294640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Background reading
Iterative prototyping and review
Scenario-based task observation
Arc en Ciel and JAWS evaluation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129A56D-6C35-8444-01BE-4070AD2A40FF}"/>
              </a:ext>
            </a:extLst>
          </p:cNvPr>
          <p:cNvSpPr/>
          <p:nvPr/>
        </p:nvSpPr>
        <p:spPr>
          <a:xfrm>
            <a:off x="609600" y="4089400"/>
            <a:ext cx="3429000" cy="1841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Arc en Ciel stakeholder observation session">
            <a:extLst>
              <a:ext uri="{FF2B5EF4-FFF2-40B4-BE49-F238E27FC236}">
                <a16:creationId xmlns:a16="http://schemas.microsoft.com/office/drawing/2014/main" id="{DBA14832-7A35-3C0E-A847-19E6F8FB8F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233" y="4127500"/>
            <a:ext cx="2353733" cy="1765300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87328B1-9E30-8106-B6E6-8DB4B473D7B1}"/>
              </a:ext>
            </a:extLst>
          </p:cNvPr>
          <p:cNvSpPr/>
          <p:nvPr/>
        </p:nvSpPr>
        <p:spPr>
          <a:xfrm>
            <a:off x="4381500" y="4089400"/>
            <a:ext cx="7200900" cy="18415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51F658-0A30-C013-1227-D28EBE31CAE6}"/>
              </a:ext>
            </a:extLst>
          </p:cNvPr>
          <p:cNvSpPr txBox="1"/>
          <p:nvPr/>
        </p:nvSpPr>
        <p:spPr>
          <a:xfrm>
            <a:off x="4737100" y="4368800"/>
            <a:ext cx="3683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57A55"/>
                </a:solidFill>
                <a:latin typeface="Aptos Display" panose="020B0004020202020204" pitchFamily="34" charset="0"/>
              </a:rPr>
              <a:t>Needs that shaped the product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E4BE0A-CC61-C7DE-DDD2-BB991A672258}"/>
              </a:ext>
            </a:extLst>
          </p:cNvPr>
          <p:cNvSpPr txBox="1"/>
          <p:nvPr/>
        </p:nvSpPr>
        <p:spPr>
          <a:xfrm>
            <a:off x="4737100" y="4864100"/>
            <a:ext cx="64135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>
                <a:solidFill>
                  <a:srgbClr val="FFFFFF"/>
                </a:solidFill>
                <a:latin typeface="Aptos" panose="020B0004020202020204" pitchFamily="34" charset="0"/>
              </a:rPr>
              <a:t>Low literacy and digital confidence -&gt; simple flows and voice support
Motor or visual barriers -&gt; keyboard, reflow and assistive-technology support
Privacy and trust -&gt; consent, private evidence and human confirmation
Employer uncertainty -&gt; controlled tasks and explainable compatibility</a:t>
            </a:r>
          </a:p>
        </p:txBody>
      </p:sp>
    </p:spTree>
    <p:extLst>
      <p:ext uri="{BB962C8B-B14F-4D97-AF65-F5344CB8AC3E}">
        <p14:creationId xmlns:p14="http://schemas.microsoft.com/office/powerpoint/2010/main" val="3248769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D9FA57-A8EF-79F1-F743-54D73CF2BD56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23771D-CBF7-F856-631E-608A5DE56AB6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900" b="1">
                <a:solidFill>
                  <a:srgbClr val="A64B2A"/>
                </a:solidFill>
                <a:latin typeface="Aptos" panose="020B0004020202020204" pitchFamily="34" charset="0"/>
              </a:rPr>
              <a:t>ENGINEERING OBJECTIVES | EXPRESSION DES BESOINS</a:t>
            </a:r>
            <a:endParaRPr lang="en-US" sz="900" b="1">
              <a:solidFill>
                <a:srgbClr val="A64B2A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4372F3-C872-0E29-9D2F-DF90C83F2962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What Phase II delivered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2E9935-4121-83A0-7CC4-B859095D8A2B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The final prototype expands Phase I into a multilingual, multimodal and cloud-deployed engineering system.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153B1956-E3BE-E0CD-0C71-141D59F2EA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46FF815-AD7E-662B-A2A4-3B816BE5C668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AE859FA-9A8D-9881-E417-1B47E7BAAAFF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45151C-553F-1EC0-B5B8-4AF1F36FE308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F325313-7B37-A618-A930-AD40EE686351}"/>
              </a:ext>
            </a:extLst>
          </p:cNvPr>
          <p:cNvSpPr/>
          <p:nvPr/>
        </p:nvSpPr>
        <p:spPr>
          <a:xfrm>
            <a:off x="609600" y="1841500"/>
            <a:ext cx="16764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30EEF8-884C-6D23-0BAF-5FFB8015AC8E}"/>
              </a:ext>
            </a:extLst>
          </p:cNvPr>
          <p:cNvSpPr/>
          <p:nvPr/>
        </p:nvSpPr>
        <p:spPr>
          <a:xfrm>
            <a:off x="609600" y="1841500"/>
            <a:ext cx="63500" cy="9144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E74DEC-8A52-1412-AC39-43504AE03FC5}"/>
              </a:ext>
            </a:extLst>
          </p:cNvPr>
          <p:cNvSpPr txBox="1"/>
          <p:nvPr/>
        </p:nvSpPr>
        <p:spPr>
          <a:xfrm>
            <a:off x="812800" y="1981200"/>
            <a:ext cx="1371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3EDB70-FB07-8721-9A1A-0959CBC4FBE5}"/>
              </a:ext>
            </a:extLst>
          </p:cNvPr>
          <p:cNvSpPr txBox="1"/>
          <p:nvPr/>
        </p:nvSpPr>
        <p:spPr>
          <a:xfrm>
            <a:off x="812800" y="2387600"/>
            <a:ext cx="1371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authorized user roles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279B021-B0D8-2C7E-2E96-E0588056FA7B}"/>
              </a:ext>
            </a:extLst>
          </p:cNvPr>
          <p:cNvSpPr/>
          <p:nvPr/>
        </p:nvSpPr>
        <p:spPr>
          <a:xfrm>
            <a:off x="2463800" y="1841500"/>
            <a:ext cx="16764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E8BF06-C1B0-28A7-0290-D3DA84952C11}"/>
              </a:ext>
            </a:extLst>
          </p:cNvPr>
          <p:cNvSpPr/>
          <p:nvPr/>
        </p:nvSpPr>
        <p:spPr>
          <a:xfrm>
            <a:off x="2463800" y="1841500"/>
            <a:ext cx="63500" cy="9144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0FCF14-54ED-0914-61FC-1FC8956EF01E}"/>
              </a:ext>
            </a:extLst>
          </p:cNvPr>
          <p:cNvSpPr txBox="1"/>
          <p:nvPr/>
        </p:nvSpPr>
        <p:spPr>
          <a:xfrm>
            <a:off x="2667000" y="1981200"/>
            <a:ext cx="1371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EC25C9-76A4-ED2C-8E63-40925AD80E9D}"/>
              </a:ext>
            </a:extLst>
          </p:cNvPr>
          <p:cNvSpPr txBox="1"/>
          <p:nvPr/>
        </p:nvSpPr>
        <p:spPr>
          <a:xfrm>
            <a:off x="2667000" y="2387600"/>
            <a:ext cx="1371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hospitality positions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AAFA330-CD6F-3C15-8A84-155F304B9EE4}"/>
              </a:ext>
            </a:extLst>
          </p:cNvPr>
          <p:cNvSpPr/>
          <p:nvPr/>
        </p:nvSpPr>
        <p:spPr>
          <a:xfrm>
            <a:off x="4318000" y="1841500"/>
            <a:ext cx="16764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6308D8-D0C8-9468-B644-FC53DC4BBA91}"/>
              </a:ext>
            </a:extLst>
          </p:cNvPr>
          <p:cNvSpPr/>
          <p:nvPr/>
        </p:nvSpPr>
        <p:spPr>
          <a:xfrm>
            <a:off x="4318000" y="1841500"/>
            <a:ext cx="63500" cy="9144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8A1679-047C-A554-D7B5-2C7BCEF2BBEA}"/>
              </a:ext>
            </a:extLst>
          </p:cNvPr>
          <p:cNvSpPr txBox="1"/>
          <p:nvPr/>
        </p:nvSpPr>
        <p:spPr>
          <a:xfrm>
            <a:off x="4521200" y="1981200"/>
            <a:ext cx="1371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923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95551D-EA59-9A48-8CF0-91FB6793FC21}"/>
              </a:ext>
            </a:extLst>
          </p:cNvPr>
          <p:cNvSpPr txBox="1"/>
          <p:nvPr/>
        </p:nvSpPr>
        <p:spPr>
          <a:xfrm>
            <a:off x="4521200" y="2387600"/>
            <a:ext cx="1371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catalogue tasks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21519ED-BC1E-B557-F88D-6BB7602FBDC3}"/>
              </a:ext>
            </a:extLst>
          </p:cNvPr>
          <p:cNvSpPr/>
          <p:nvPr/>
        </p:nvSpPr>
        <p:spPr>
          <a:xfrm>
            <a:off x="6172200" y="1841500"/>
            <a:ext cx="16764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1525DA-0A75-103F-E761-D7FC5C1D36F7}"/>
              </a:ext>
            </a:extLst>
          </p:cNvPr>
          <p:cNvSpPr/>
          <p:nvPr/>
        </p:nvSpPr>
        <p:spPr>
          <a:xfrm>
            <a:off x="6172200" y="1841500"/>
            <a:ext cx="63500" cy="9144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AB9931-EA9B-9B7C-C910-8C69E4BF446C}"/>
              </a:ext>
            </a:extLst>
          </p:cNvPr>
          <p:cNvSpPr txBox="1"/>
          <p:nvPr/>
        </p:nvSpPr>
        <p:spPr>
          <a:xfrm>
            <a:off x="6375400" y="1981200"/>
            <a:ext cx="1371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14,453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F23AAB-7787-5A52-3111-B64E0818BF06}"/>
              </a:ext>
            </a:extLst>
          </p:cNvPr>
          <p:cNvSpPr txBox="1"/>
          <p:nvPr/>
        </p:nvSpPr>
        <p:spPr>
          <a:xfrm>
            <a:off x="6375400" y="2387600"/>
            <a:ext cx="1371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task assessments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11E8C45-6401-0AEE-3B68-FCDCDB88C7E8}"/>
              </a:ext>
            </a:extLst>
          </p:cNvPr>
          <p:cNvSpPr/>
          <p:nvPr/>
        </p:nvSpPr>
        <p:spPr>
          <a:xfrm>
            <a:off x="8026400" y="1841500"/>
            <a:ext cx="16764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818009D-9798-7A85-2AC6-E60E9EA434D3}"/>
              </a:ext>
            </a:extLst>
          </p:cNvPr>
          <p:cNvSpPr/>
          <p:nvPr/>
        </p:nvSpPr>
        <p:spPr>
          <a:xfrm>
            <a:off x="8026400" y="1841500"/>
            <a:ext cx="63500" cy="9144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86ABD8-27A8-2734-5DE9-3A394A620578}"/>
              </a:ext>
            </a:extLst>
          </p:cNvPr>
          <p:cNvSpPr txBox="1"/>
          <p:nvPr/>
        </p:nvSpPr>
        <p:spPr>
          <a:xfrm>
            <a:off x="8229600" y="1981200"/>
            <a:ext cx="1371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74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4137F9-1AFE-B17C-A6BD-6761E5FBC68E}"/>
              </a:ext>
            </a:extLst>
          </p:cNvPr>
          <p:cNvSpPr txBox="1"/>
          <p:nvPr/>
        </p:nvSpPr>
        <p:spPr>
          <a:xfrm>
            <a:off x="8229600" y="2387600"/>
            <a:ext cx="1371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published opportunities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121F076-BCDD-5769-CF7B-75E8BA654D44}"/>
              </a:ext>
            </a:extLst>
          </p:cNvPr>
          <p:cNvSpPr/>
          <p:nvPr/>
        </p:nvSpPr>
        <p:spPr>
          <a:xfrm>
            <a:off x="9880600" y="1841500"/>
            <a:ext cx="16764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75E1888-9C7C-8FD3-489E-A52A871F4BE4}"/>
              </a:ext>
            </a:extLst>
          </p:cNvPr>
          <p:cNvSpPr/>
          <p:nvPr/>
        </p:nvSpPr>
        <p:spPr>
          <a:xfrm>
            <a:off x="9880600" y="1841500"/>
            <a:ext cx="63500" cy="9144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463E3A-FA45-003D-BDAF-B7487EC63064}"/>
              </a:ext>
            </a:extLst>
          </p:cNvPr>
          <p:cNvSpPr txBox="1"/>
          <p:nvPr/>
        </p:nvSpPr>
        <p:spPr>
          <a:xfrm>
            <a:off x="10083800" y="1981200"/>
            <a:ext cx="1371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3D8F38-0085-6E1A-2EC2-DF82344D63A5}"/>
              </a:ext>
            </a:extLst>
          </p:cNvPr>
          <p:cNvSpPr txBox="1"/>
          <p:nvPr/>
        </p:nvSpPr>
        <p:spPr>
          <a:xfrm>
            <a:off x="10083800" y="2387600"/>
            <a:ext cx="1371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interface languages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8F1EA22-4038-73F1-9EC8-7CC94259DDD3}"/>
              </a:ext>
            </a:extLst>
          </p:cNvPr>
          <p:cNvSpPr/>
          <p:nvPr/>
        </p:nvSpPr>
        <p:spPr>
          <a:xfrm>
            <a:off x="609600" y="3175000"/>
            <a:ext cx="5143500" cy="2667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Candidate matching and opportunity exploration screen">
            <a:extLst>
              <a:ext uri="{FF2B5EF4-FFF2-40B4-BE49-F238E27FC236}">
                <a16:creationId xmlns:a16="http://schemas.microsoft.com/office/drawing/2014/main" id="{17232141-C857-A78C-C62F-31CC2C330D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10" y="3213100"/>
            <a:ext cx="4145280" cy="2590800"/>
          </a:xfrm>
          <a:prstGeom prst="rect">
            <a:avLst/>
          </a:pr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B1A13A4-D2A2-522A-865C-269F510B5998}"/>
              </a:ext>
            </a:extLst>
          </p:cNvPr>
          <p:cNvSpPr/>
          <p:nvPr/>
        </p:nvSpPr>
        <p:spPr>
          <a:xfrm>
            <a:off x="6197600" y="3175000"/>
            <a:ext cx="5384800" cy="26670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2CF6CE-CE95-18A4-1360-3C517274C37A}"/>
              </a:ext>
            </a:extLst>
          </p:cNvPr>
          <p:cNvSpPr/>
          <p:nvPr/>
        </p:nvSpPr>
        <p:spPr>
          <a:xfrm>
            <a:off x="6197600" y="3175000"/>
            <a:ext cx="88900" cy="26670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51367A-CC55-B29C-F051-8AE6CBFE9AEB}"/>
              </a:ext>
            </a:extLst>
          </p:cNvPr>
          <p:cNvSpPr txBox="1"/>
          <p:nvPr/>
        </p:nvSpPr>
        <p:spPr>
          <a:xfrm>
            <a:off x="6464300" y="3378200"/>
            <a:ext cx="4902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Aptos Display" panose="020B0004020202020204" pitchFamily="34" charset="0"/>
              </a:rPr>
              <a:t>Integrated outcome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4D2782-ED67-B93B-0FD3-D5E02DD6F1E5}"/>
              </a:ext>
            </a:extLst>
          </p:cNvPr>
          <p:cNvSpPr txBox="1"/>
          <p:nvPr/>
        </p:nvSpPr>
        <p:spPr>
          <a:xfrm>
            <a:off x="6464300" y="3873500"/>
            <a:ext cx="4902200" cy="9417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DDE7F5"/>
                </a:solidFill>
                <a:latin typeface="Aptos" panose="020B0004020202020204" pitchFamily="34" charset="0"/>
              </a:rPr>
              <a:t>Candidate-controlled AI profile assistance
Jobs, hospitality training, or both
Deterministic explainable compatibility
Employer requirements and assistance
Verifier and administrator oversight
English, French and Arabic with RTL</a:t>
            </a:r>
          </a:p>
        </p:txBody>
      </p:sp>
    </p:spTree>
    <p:extLst>
      <p:ext uri="{BB962C8B-B14F-4D97-AF65-F5344CB8AC3E}">
        <p14:creationId xmlns:p14="http://schemas.microsoft.com/office/powerpoint/2010/main" val="4277926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77A4D4-EB53-C81A-1D84-62D92A5966F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D1F35A-8777-DF70-DAA6-56E1C7775FC4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SOFTWARE SPECIFICATION | SPECIFICATIONS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71BFBF-5DDC-A3DC-4E17-25B9E6DDE181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Requirements were measurable, reviewable and traceable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3060F1-A647-E1B2-3BFB-D27447EA993A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The SRS states what the system must do and how well it must do it, without prematurely prescribing implementation.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DAF038CD-43BC-68EC-F659-AA1FA895E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DD047D0-7A13-D55A-8492-60D270D9FC6E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7465976-7BCA-6DF5-82F7-663DD56EA3AC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B9E895-D385-3544-1E7C-3F726FBBBEEE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F8DD06-E8E2-8BF1-4906-55D96B8A6F15}"/>
              </a:ext>
            </a:extLst>
          </p:cNvPr>
          <p:cNvSpPr txBox="1"/>
          <p:nvPr/>
        </p:nvSpPr>
        <p:spPr>
          <a:xfrm>
            <a:off x="609600" y="1828800"/>
            <a:ext cx="317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0B1F49"/>
                </a:solidFill>
                <a:latin typeface="Aptos Display" panose="020B0004020202020204" pitchFamily="34" charset="0"/>
              </a:rPr>
              <a:t>SRS quality criteria used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CDCD876-CBCD-3BFB-1A8F-FFA582C13B0A}"/>
              </a:ext>
            </a:extLst>
          </p:cNvPr>
          <p:cNvSpPr/>
          <p:nvPr/>
        </p:nvSpPr>
        <p:spPr>
          <a:xfrm>
            <a:off x="609600" y="2247900"/>
            <a:ext cx="1193800" cy="3048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FD93DD-EC4C-6EB1-D503-2A4BFF291A41}"/>
              </a:ext>
            </a:extLst>
          </p:cNvPr>
          <p:cNvSpPr txBox="1"/>
          <p:nvPr/>
        </p:nvSpPr>
        <p:spPr>
          <a:xfrm>
            <a:off x="711200" y="2311400"/>
            <a:ext cx="990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Unambiguous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46A16DD-61F1-23FB-EAD5-4222E916B509}"/>
              </a:ext>
            </a:extLst>
          </p:cNvPr>
          <p:cNvSpPr/>
          <p:nvPr/>
        </p:nvSpPr>
        <p:spPr>
          <a:xfrm>
            <a:off x="1905000" y="2247900"/>
            <a:ext cx="1193800" cy="3048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B24359-8F52-0DE1-E48B-B11CEEFDCCF1}"/>
              </a:ext>
            </a:extLst>
          </p:cNvPr>
          <p:cNvSpPr txBox="1"/>
          <p:nvPr/>
        </p:nvSpPr>
        <p:spPr>
          <a:xfrm>
            <a:off x="2006600" y="2311400"/>
            <a:ext cx="990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Complete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8C97B36-66D2-E032-8E95-66B4B8D65325}"/>
              </a:ext>
            </a:extLst>
          </p:cNvPr>
          <p:cNvSpPr/>
          <p:nvPr/>
        </p:nvSpPr>
        <p:spPr>
          <a:xfrm>
            <a:off x="3200400" y="2247900"/>
            <a:ext cx="1193800" cy="3048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F2CBCE-F2D7-6B3A-2339-877A3B59BA8B}"/>
              </a:ext>
            </a:extLst>
          </p:cNvPr>
          <p:cNvSpPr txBox="1"/>
          <p:nvPr/>
        </p:nvSpPr>
        <p:spPr>
          <a:xfrm>
            <a:off x="3302000" y="2311400"/>
            <a:ext cx="990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Consistent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EAA32DD-16B3-837B-A5FB-AEFA75F7F552}"/>
              </a:ext>
            </a:extLst>
          </p:cNvPr>
          <p:cNvSpPr/>
          <p:nvPr/>
        </p:nvSpPr>
        <p:spPr>
          <a:xfrm>
            <a:off x="4495800" y="2247900"/>
            <a:ext cx="1193800" cy="3048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386D3A-4433-84A6-C0B6-7B3ADCA00E1C}"/>
              </a:ext>
            </a:extLst>
          </p:cNvPr>
          <p:cNvSpPr txBox="1"/>
          <p:nvPr/>
        </p:nvSpPr>
        <p:spPr>
          <a:xfrm>
            <a:off x="4597400" y="2311400"/>
            <a:ext cx="990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Verifiable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D6AD1B5-F59A-A3DB-F668-D0C46870CC4C}"/>
              </a:ext>
            </a:extLst>
          </p:cNvPr>
          <p:cNvSpPr/>
          <p:nvPr/>
        </p:nvSpPr>
        <p:spPr>
          <a:xfrm>
            <a:off x="5791200" y="2247900"/>
            <a:ext cx="1193800" cy="3048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82765D-5916-5853-A34F-F28D079750A2}"/>
              </a:ext>
            </a:extLst>
          </p:cNvPr>
          <p:cNvSpPr txBox="1"/>
          <p:nvPr/>
        </p:nvSpPr>
        <p:spPr>
          <a:xfrm>
            <a:off x="5892800" y="2311400"/>
            <a:ext cx="990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Modifiable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F162F04-892C-1D49-9E4D-350FF5C36361}"/>
              </a:ext>
            </a:extLst>
          </p:cNvPr>
          <p:cNvSpPr/>
          <p:nvPr/>
        </p:nvSpPr>
        <p:spPr>
          <a:xfrm>
            <a:off x="7086600" y="2247900"/>
            <a:ext cx="1193800" cy="3048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36FAEB-8A1D-B54E-D2A9-AEF818478B36}"/>
              </a:ext>
            </a:extLst>
          </p:cNvPr>
          <p:cNvSpPr txBox="1"/>
          <p:nvPr/>
        </p:nvSpPr>
        <p:spPr>
          <a:xfrm>
            <a:off x="7188200" y="2311400"/>
            <a:ext cx="990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Traceable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AF02F4C-630E-EB79-DC97-0F101141978B}"/>
              </a:ext>
            </a:extLst>
          </p:cNvPr>
          <p:cNvSpPr/>
          <p:nvPr/>
        </p:nvSpPr>
        <p:spPr>
          <a:xfrm>
            <a:off x="8382000" y="2247900"/>
            <a:ext cx="1371600" cy="3048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6BA9DF-C81D-5222-DDF4-E027DD703515}"/>
              </a:ext>
            </a:extLst>
          </p:cNvPr>
          <p:cNvSpPr txBox="1"/>
          <p:nvPr/>
        </p:nvSpPr>
        <p:spPr>
          <a:xfrm>
            <a:off x="8483600" y="231140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Maintainable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641A4D1-BA25-18AC-16DC-D25C2FF010FA}"/>
              </a:ext>
            </a:extLst>
          </p:cNvPr>
          <p:cNvSpPr/>
          <p:nvPr/>
        </p:nvSpPr>
        <p:spPr>
          <a:xfrm>
            <a:off x="609600" y="3022600"/>
            <a:ext cx="3708400" cy="3810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C09ABF-08DD-0F95-2D5F-294E4BD2FB25}"/>
              </a:ext>
            </a:extLst>
          </p:cNvPr>
          <p:cNvSpPr txBox="1"/>
          <p:nvPr/>
        </p:nvSpPr>
        <p:spPr>
          <a:xfrm>
            <a:off x="711200" y="3136900"/>
            <a:ext cx="3505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NEED / REQUIREMENT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6A5C22-0A75-D64D-6357-D2315683EBF9}"/>
              </a:ext>
            </a:extLst>
          </p:cNvPr>
          <p:cNvSpPr/>
          <p:nvPr/>
        </p:nvSpPr>
        <p:spPr>
          <a:xfrm>
            <a:off x="4318000" y="3022600"/>
            <a:ext cx="3937000" cy="3810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BB37F3-37C0-9D97-7F1E-9D4B531B091A}"/>
              </a:ext>
            </a:extLst>
          </p:cNvPr>
          <p:cNvSpPr txBox="1"/>
          <p:nvPr/>
        </p:nvSpPr>
        <p:spPr>
          <a:xfrm>
            <a:off x="4419600" y="3136900"/>
            <a:ext cx="3733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DESIGN + IMPLEMENTATION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788F3CE-3EB8-E815-F0E3-E80D13AC3526}"/>
              </a:ext>
            </a:extLst>
          </p:cNvPr>
          <p:cNvSpPr/>
          <p:nvPr/>
        </p:nvSpPr>
        <p:spPr>
          <a:xfrm>
            <a:off x="8255000" y="3022600"/>
            <a:ext cx="3327400" cy="3810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710E50-80EF-2758-DD5A-BA652D5DD312}"/>
              </a:ext>
            </a:extLst>
          </p:cNvPr>
          <p:cNvSpPr txBox="1"/>
          <p:nvPr/>
        </p:nvSpPr>
        <p:spPr>
          <a:xfrm>
            <a:off x="8356600" y="3136900"/>
            <a:ext cx="3124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TEST / EVIDENCE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720FB62-C9A3-5F83-C2B5-9617B415356F}"/>
              </a:ext>
            </a:extLst>
          </p:cNvPr>
          <p:cNvSpPr/>
          <p:nvPr/>
        </p:nvSpPr>
        <p:spPr>
          <a:xfrm>
            <a:off x="609600" y="3403600"/>
            <a:ext cx="3708400" cy="609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EB6BD2-D16E-FC8E-1555-9426C73D59CC}"/>
              </a:ext>
            </a:extLst>
          </p:cNvPr>
          <p:cNvSpPr txBox="1"/>
          <p:nvPr/>
        </p:nvSpPr>
        <p:spPr>
          <a:xfrm>
            <a:off x="736600" y="3530600"/>
            <a:ext cx="34544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17243A"/>
                </a:solidFill>
                <a:latin typeface="Aptos" panose="020B0004020202020204" pitchFamily="34" charset="0"/>
              </a:rPr>
              <a:t>Accessible candidate workflow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71BDE69-F1F0-E6F9-98E1-2E77B35326B4}"/>
              </a:ext>
            </a:extLst>
          </p:cNvPr>
          <p:cNvSpPr/>
          <p:nvPr/>
        </p:nvSpPr>
        <p:spPr>
          <a:xfrm>
            <a:off x="4318000" y="3403600"/>
            <a:ext cx="3937000" cy="609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03044A-CE4C-F471-B0A2-F9F594058DAD}"/>
              </a:ext>
            </a:extLst>
          </p:cNvPr>
          <p:cNvSpPr txBox="1"/>
          <p:nvPr/>
        </p:nvSpPr>
        <p:spPr>
          <a:xfrm>
            <a:off x="4445000" y="3530600"/>
            <a:ext cx="3683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>
                <a:solidFill>
                  <a:srgbClr val="17243A"/>
                </a:solidFill>
                <a:latin typeface="Aptos" panose="020B0004020202020204" pitchFamily="34" charset="0"/>
              </a:rPr>
              <a:t>Semantic React controls + translated UI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133E32F-6FEF-6EF9-DC2D-28BECAFD8EF7}"/>
              </a:ext>
            </a:extLst>
          </p:cNvPr>
          <p:cNvSpPr/>
          <p:nvPr/>
        </p:nvSpPr>
        <p:spPr>
          <a:xfrm>
            <a:off x="8255000" y="3403600"/>
            <a:ext cx="3327400" cy="609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4BB2E1-845B-83D8-4F55-F87D520C97F4}"/>
              </a:ext>
            </a:extLst>
          </p:cNvPr>
          <p:cNvSpPr txBox="1"/>
          <p:nvPr/>
        </p:nvSpPr>
        <p:spPr>
          <a:xfrm>
            <a:off x="8382000" y="3530600"/>
            <a:ext cx="30734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>
                <a:solidFill>
                  <a:srgbClr val="17243A"/>
                </a:solidFill>
                <a:latin typeface="Aptos" panose="020B0004020202020204" pitchFamily="34" charset="0"/>
              </a:rPr>
              <a:t>18/18 workflows + JAWS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0EF99B1-2D92-5B9E-C083-DE45F507041E}"/>
              </a:ext>
            </a:extLst>
          </p:cNvPr>
          <p:cNvSpPr/>
          <p:nvPr/>
        </p:nvSpPr>
        <p:spPr>
          <a:xfrm>
            <a:off x="609600" y="4013200"/>
            <a:ext cx="3708400" cy="609600"/>
          </a:xfrm>
          <a:prstGeom prst="rect">
            <a:avLst/>
          </a:prstGeom>
          <a:solidFill>
            <a:srgbClr val="E9EEF5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DE1959-DC41-FC2E-BDC3-B228F69E17B3}"/>
              </a:ext>
            </a:extLst>
          </p:cNvPr>
          <p:cNvSpPr txBox="1"/>
          <p:nvPr/>
        </p:nvSpPr>
        <p:spPr>
          <a:xfrm>
            <a:off x="736600" y="4140200"/>
            <a:ext cx="34544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17243A"/>
                </a:solidFill>
                <a:latin typeface="Aptos" panose="020B0004020202020204" pitchFamily="34" charset="0"/>
              </a:rPr>
              <a:t>Role isolation and private evidence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C984641-CE19-A88B-162A-7B11E6DB4117}"/>
              </a:ext>
            </a:extLst>
          </p:cNvPr>
          <p:cNvSpPr/>
          <p:nvPr/>
        </p:nvSpPr>
        <p:spPr>
          <a:xfrm>
            <a:off x="4318000" y="4013200"/>
            <a:ext cx="3937000" cy="609600"/>
          </a:xfrm>
          <a:prstGeom prst="rect">
            <a:avLst/>
          </a:prstGeom>
          <a:solidFill>
            <a:srgbClr val="E9EEF5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9736845-48C8-EF03-BD85-A5CB8316C77A}"/>
              </a:ext>
            </a:extLst>
          </p:cNvPr>
          <p:cNvSpPr txBox="1"/>
          <p:nvPr/>
        </p:nvSpPr>
        <p:spPr>
          <a:xfrm>
            <a:off x="4445000" y="4140200"/>
            <a:ext cx="3683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>
                <a:solidFill>
                  <a:srgbClr val="17243A"/>
                </a:solidFill>
                <a:latin typeface="Aptos" panose="020B0004020202020204" pitchFamily="34" charset="0"/>
              </a:rPr>
              <a:t>Symfony JWT/RBAC + private storage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BB0A5FC-688F-1A7E-806A-B211EA4B6B70}"/>
              </a:ext>
            </a:extLst>
          </p:cNvPr>
          <p:cNvSpPr/>
          <p:nvPr/>
        </p:nvSpPr>
        <p:spPr>
          <a:xfrm>
            <a:off x="8255000" y="4013200"/>
            <a:ext cx="3327400" cy="609600"/>
          </a:xfrm>
          <a:prstGeom prst="rect">
            <a:avLst/>
          </a:prstGeom>
          <a:solidFill>
            <a:srgbClr val="E9EEF5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5F3E62-D735-0FB7-62B1-11431489BB9C}"/>
              </a:ext>
            </a:extLst>
          </p:cNvPr>
          <p:cNvSpPr txBox="1"/>
          <p:nvPr/>
        </p:nvSpPr>
        <p:spPr>
          <a:xfrm>
            <a:off x="8382000" y="4140200"/>
            <a:ext cx="30734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>
                <a:solidFill>
                  <a:srgbClr val="17243A"/>
                </a:solidFill>
                <a:latin typeface="Aptos" panose="020B0004020202020204" pitchFamily="34" charset="0"/>
              </a:rPr>
              <a:t>51/51 route probes; 19/20 security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7BB4DD0-EF71-8997-7A54-670CEAFCD2D9}"/>
              </a:ext>
            </a:extLst>
          </p:cNvPr>
          <p:cNvSpPr/>
          <p:nvPr/>
        </p:nvSpPr>
        <p:spPr>
          <a:xfrm>
            <a:off x="609600" y="4622800"/>
            <a:ext cx="3708400" cy="609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64B5F4-3D39-C44E-2E80-C22A568348B5}"/>
              </a:ext>
            </a:extLst>
          </p:cNvPr>
          <p:cNvSpPr txBox="1"/>
          <p:nvPr/>
        </p:nvSpPr>
        <p:spPr>
          <a:xfrm>
            <a:off x="736600" y="4749800"/>
            <a:ext cx="34544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17243A"/>
                </a:solidFill>
                <a:latin typeface="Aptos" panose="020B0004020202020204" pitchFamily="34" charset="0"/>
              </a:rPr>
              <a:t>Explainable compatibility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D5E5FF2-44FC-8221-9C40-C65A538AEDA9}"/>
              </a:ext>
            </a:extLst>
          </p:cNvPr>
          <p:cNvSpPr/>
          <p:nvPr/>
        </p:nvSpPr>
        <p:spPr>
          <a:xfrm>
            <a:off x="4318000" y="4622800"/>
            <a:ext cx="3937000" cy="609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0917A28-85E2-7EFF-879D-0342519ED15D}"/>
              </a:ext>
            </a:extLst>
          </p:cNvPr>
          <p:cNvSpPr txBox="1"/>
          <p:nvPr/>
        </p:nvSpPr>
        <p:spPr>
          <a:xfrm>
            <a:off x="4445000" y="4749800"/>
            <a:ext cx="3683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>
                <a:solidFill>
                  <a:srgbClr val="17243A"/>
                </a:solidFill>
                <a:latin typeface="Aptos" panose="020B0004020202020204" pitchFamily="34" charset="0"/>
              </a:rPr>
              <a:t>Versioned deterministic scoring policy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BBEBF1B-80AC-1F6B-053A-7EC4A9C06CEF}"/>
              </a:ext>
            </a:extLst>
          </p:cNvPr>
          <p:cNvSpPr/>
          <p:nvPr/>
        </p:nvSpPr>
        <p:spPr>
          <a:xfrm>
            <a:off x="8255000" y="4622800"/>
            <a:ext cx="3327400" cy="609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2B9C944-FC5F-E6E2-1376-6A6760C5DB01}"/>
              </a:ext>
            </a:extLst>
          </p:cNvPr>
          <p:cNvSpPr txBox="1"/>
          <p:nvPr/>
        </p:nvSpPr>
        <p:spPr>
          <a:xfrm>
            <a:off x="8382000" y="4749800"/>
            <a:ext cx="30734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>
                <a:solidFill>
                  <a:srgbClr val="17243A"/>
                </a:solidFill>
                <a:latin typeface="Aptos" panose="020B0004020202020204" pitchFamily="34" charset="0"/>
              </a:rPr>
              <a:t>45/45 staging decisions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E62A420-94BE-20EE-BA29-84C511CAAF51}"/>
              </a:ext>
            </a:extLst>
          </p:cNvPr>
          <p:cNvSpPr/>
          <p:nvPr/>
        </p:nvSpPr>
        <p:spPr>
          <a:xfrm>
            <a:off x="609600" y="5232400"/>
            <a:ext cx="3708400" cy="609600"/>
          </a:xfrm>
          <a:prstGeom prst="rect">
            <a:avLst/>
          </a:prstGeom>
          <a:solidFill>
            <a:srgbClr val="E9EEF5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E570B59-F94A-F643-8372-5FED00527F6D}"/>
              </a:ext>
            </a:extLst>
          </p:cNvPr>
          <p:cNvSpPr txBox="1"/>
          <p:nvPr/>
        </p:nvSpPr>
        <p:spPr>
          <a:xfrm>
            <a:off x="736600" y="5359400"/>
            <a:ext cx="34544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17243A"/>
                </a:solidFill>
                <a:latin typeface="Aptos" panose="020B0004020202020204" pitchFamily="34" charset="0"/>
              </a:rPr>
              <a:t>Multilingual human-controlled AI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A54D0BB-0E2F-D367-E07F-3943E085E4B3}"/>
              </a:ext>
            </a:extLst>
          </p:cNvPr>
          <p:cNvSpPr/>
          <p:nvPr/>
        </p:nvSpPr>
        <p:spPr>
          <a:xfrm>
            <a:off x="4318000" y="5232400"/>
            <a:ext cx="3937000" cy="609600"/>
          </a:xfrm>
          <a:prstGeom prst="rect">
            <a:avLst/>
          </a:prstGeom>
          <a:solidFill>
            <a:srgbClr val="E9EEF5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2215373-8ACE-2467-9165-128CE60E9F3E}"/>
              </a:ext>
            </a:extLst>
          </p:cNvPr>
          <p:cNvSpPr txBox="1"/>
          <p:nvPr/>
        </p:nvSpPr>
        <p:spPr>
          <a:xfrm>
            <a:off x="4445000" y="5359400"/>
            <a:ext cx="3683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>
                <a:solidFill>
                  <a:srgbClr val="17243A"/>
                </a:solidFill>
                <a:latin typeface="Aptos" panose="020B0004020202020204" pitchFamily="34" charset="0"/>
              </a:rPr>
              <a:t>Consent + schema validation + review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1E6D8C8-DEAD-C2E9-F566-AD47EA2D628F}"/>
              </a:ext>
            </a:extLst>
          </p:cNvPr>
          <p:cNvSpPr/>
          <p:nvPr/>
        </p:nvSpPr>
        <p:spPr>
          <a:xfrm>
            <a:off x="8255000" y="5232400"/>
            <a:ext cx="3327400" cy="609600"/>
          </a:xfrm>
          <a:prstGeom prst="rect">
            <a:avLst/>
          </a:prstGeom>
          <a:solidFill>
            <a:srgbClr val="E9EEF5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7E4D3F-37F4-D1F9-BA49-9952BB09622B}"/>
              </a:ext>
            </a:extLst>
          </p:cNvPr>
          <p:cNvSpPr txBox="1"/>
          <p:nvPr/>
        </p:nvSpPr>
        <p:spPr>
          <a:xfrm>
            <a:off x="8382000" y="5359400"/>
            <a:ext cx="30734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>
                <a:solidFill>
                  <a:srgbClr val="17243A"/>
                </a:solidFill>
                <a:latin typeface="Aptos" panose="020B0004020202020204" pitchFamily="34" charset="0"/>
              </a:rPr>
              <a:t>60 cases; 53 pass; 7 retained defects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24AD1FD-D2E6-A465-21F7-BF0B3EE1E3B3}"/>
              </a:ext>
            </a:extLst>
          </p:cNvPr>
          <p:cNvSpPr txBox="1"/>
          <p:nvPr/>
        </p:nvSpPr>
        <p:spPr>
          <a:xfrm>
            <a:off x="1752600" y="6070600"/>
            <a:ext cx="86868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 b="1">
                <a:solidFill>
                  <a:srgbClr val="A64B2A"/>
                </a:solidFill>
                <a:latin typeface="Aptos" panose="020B0004020202020204" pitchFamily="34" charset="0"/>
              </a:rPr>
              <a:t>Traceability chain: stakeholder need -&gt; specification -&gt; design decision -&gt; code/service -&gt; test oracle -&gt; retained evidence</a:t>
            </a:r>
          </a:p>
        </p:txBody>
      </p:sp>
    </p:spTree>
    <p:extLst>
      <p:ext uri="{BB962C8B-B14F-4D97-AF65-F5344CB8AC3E}">
        <p14:creationId xmlns:p14="http://schemas.microsoft.com/office/powerpoint/2010/main" val="2754223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F13F13-AFD9-2EF2-D5FC-2D6A8C5F9F42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13C6E7-5003-0BC1-6F73-3B3608C0EB23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SOFTWARE SPECIFICATION | SPECIFICATIONS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D7978C-F67F-46A5-7664-B25BAF95FE49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Functional requirements implemented by role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7505B-10D1-9322-3C62-64C6B9CAE101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The platform is a coordinated workflow, not a collection of disconnected pages.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91A2F28D-6D10-361D-C0D5-484768670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F27677-D41F-7561-2837-581D96DD91AB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07DA779-315D-09C1-464F-D4CA16E114CD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1583E4-66E5-2B1F-C1B5-EF42D0CBB456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D778746-0063-8D97-4312-3326A9BCC251}"/>
              </a:ext>
            </a:extLst>
          </p:cNvPr>
          <p:cNvSpPr/>
          <p:nvPr/>
        </p:nvSpPr>
        <p:spPr>
          <a:xfrm>
            <a:off x="609600" y="1905000"/>
            <a:ext cx="2540000" cy="3708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96100B-203A-9038-D38E-577480E34A8C}"/>
              </a:ext>
            </a:extLst>
          </p:cNvPr>
          <p:cNvSpPr/>
          <p:nvPr/>
        </p:nvSpPr>
        <p:spPr>
          <a:xfrm>
            <a:off x="609600" y="1905000"/>
            <a:ext cx="88900" cy="37084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4082F6-60F5-30C6-0274-DAC8FE9B25AF}"/>
              </a:ext>
            </a:extLst>
          </p:cNvPr>
          <p:cNvSpPr txBox="1"/>
          <p:nvPr/>
        </p:nvSpPr>
        <p:spPr>
          <a:xfrm>
            <a:off x="876300" y="2108200"/>
            <a:ext cx="205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Candidate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8EE212-D3E4-1783-42B2-319A52C5FDA8}"/>
              </a:ext>
            </a:extLst>
          </p:cNvPr>
          <p:cNvSpPr txBox="1"/>
          <p:nvPr/>
        </p:nvSpPr>
        <p:spPr>
          <a:xfrm>
            <a:off x="876300" y="2603500"/>
            <a:ext cx="20574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Register and verify email
Submit private evidence
Build or reset profile
Choose work, training or both
Match, explore and apply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0AD7DEB-1EBA-26E2-64F3-702FBD5FB08F}"/>
              </a:ext>
            </a:extLst>
          </p:cNvPr>
          <p:cNvSpPr/>
          <p:nvPr/>
        </p:nvSpPr>
        <p:spPr>
          <a:xfrm>
            <a:off x="3352800" y="1905000"/>
            <a:ext cx="2540000" cy="3708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013F9D-2A57-C62F-8399-671579585E03}"/>
              </a:ext>
            </a:extLst>
          </p:cNvPr>
          <p:cNvSpPr/>
          <p:nvPr/>
        </p:nvSpPr>
        <p:spPr>
          <a:xfrm>
            <a:off x="3352800" y="1905000"/>
            <a:ext cx="88900" cy="37084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E6B741-2937-3861-CD82-6C704C368112}"/>
              </a:ext>
            </a:extLst>
          </p:cNvPr>
          <p:cNvSpPr txBox="1"/>
          <p:nvPr/>
        </p:nvSpPr>
        <p:spPr>
          <a:xfrm>
            <a:off x="3619500" y="2108200"/>
            <a:ext cx="205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Employer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8D859C-20C1-E3B8-1941-421A543AEEC8}"/>
              </a:ext>
            </a:extLst>
          </p:cNvPr>
          <p:cNvSpPr txBox="1"/>
          <p:nvPr/>
        </p:nvSpPr>
        <p:spPr>
          <a:xfrm>
            <a:off x="3619500" y="2603500"/>
            <a:ext cx="20574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Manage company profile
Publish job or training offer
Set education and abilities
Prioritize tasks and assistance
Review and update applications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6414438-840B-0A57-0B77-1E34EEE31972}"/>
              </a:ext>
            </a:extLst>
          </p:cNvPr>
          <p:cNvSpPr/>
          <p:nvPr/>
        </p:nvSpPr>
        <p:spPr>
          <a:xfrm>
            <a:off x="6096000" y="1905000"/>
            <a:ext cx="2540000" cy="3708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C3FD4F-1F55-2346-CCD7-CE464B28FB89}"/>
              </a:ext>
            </a:extLst>
          </p:cNvPr>
          <p:cNvSpPr/>
          <p:nvPr/>
        </p:nvSpPr>
        <p:spPr>
          <a:xfrm>
            <a:off x="6096000" y="1905000"/>
            <a:ext cx="88900" cy="37084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D41B63-F166-8275-762C-A604B09CEBFB}"/>
              </a:ext>
            </a:extLst>
          </p:cNvPr>
          <p:cNvSpPr txBox="1"/>
          <p:nvPr/>
        </p:nvSpPr>
        <p:spPr>
          <a:xfrm>
            <a:off x="6362700" y="2108200"/>
            <a:ext cx="205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563A4B"/>
                </a:solidFill>
                <a:latin typeface="Aptos Display" panose="020B0004020202020204" pitchFamily="34" charset="0"/>
              </a:rPr>
              <a:t>Verifier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D2A1EF-A356-DB4B-9EA9-35C7073C7A82}"/>
              </a:ext>
            </a:extLst>
          </p:cNvPr>
          <p:cNvSpPr txBox="1"/>
          <p:nvPr/>
        </p:nvSpPr>
        <p:spPr>
          <a:xfrm>
            <a:off x="6362700" y="2603500"/>
            <a:ext cx="205740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Access authorized requests
Retrieve private evidence
Approve or reject verification
Record auditable decisions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E1062F6-1AFE-3285-F854-101983A16060}"/>
              </a:ext>
            </a:extLst>
          </p:cNvPr>
          <p:cNvSpPr/>
          <p:nvPr/>
        </p:nvSpPr>
        <p:spPr>
          <a:xfrm>
            <a:off x="8839200" y="1905000"/>
            <a:ext cx="2540000" cy="3708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9641B1-E245-DA0E-45E9-5C61DAA9DA41}"/>
              </a:ext>
            </a:extLst>
          </p:cNvPr>
          <p:cNvSpPr/>
          <p:nvPr/>
        </p:nvSpPr>
        <p:spPr>
          <a:xfrm>
            <a:off x="8839200" y="1905000"/>
            <a:ext cx="88900" cy="37084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DD1597-D576-7853-1249-B6D27C5A7D93}"/>
              </a:ext>
            </a:extLst>
          </p:cNvPr>
          <p:cNvSpPr txBox="1"/>
          <p:nvPr/>
        </p:nvSpPr>
        <p:spPr>
          <a:xfrm>
            <a:off x="9105900" y="2108200"/>
            <a:ext cx="205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Administrator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D2813E-459E-FA21-917F-3639DFCB1C3E}"/>
              </a:ext>
            </a:extLst>
          </p:cNvPr>
          <p:cNvSpPr txBox="1"/>
          <p:nvPr/>
        </p:nvSpPr>
        <p:spPr>
          <a:xfrm>
            <a:off x="9105900" y="2603500"/>
            <a:ext cx="205740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Manage users and catalogue
Import validated role datasets
Inspect jobs and applications
Maintain controlled definitions</a:t>
            </a:r>
          </a:p>
        </p:txBody>
      </p:sp>
    </p:spTree>
    <p:extLst>
      <p:ext uri="{BB962C8B-B14F-4D97-AF65-F5344CB8AC3E}">
        <p14:creationId xmlns:p14="http://schemas.microsoft.com/office/powerpoint/2010/main" val="1316269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A898D6-A91A-393E-0A8D-538BB1B3F3A6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2B7A1E-CB77-5ED1-CCF3-62A867CB16E3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SOFTWARE SPECIFICATION | SPECIFICATIONS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ED2DBA-6DF2-5C66-BF35-8E097B883BF4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Non-functional requirements and measurable qualities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068ED-0EC8-09EC-D235-7408AE2C4E90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Quality attributes were connected to controls and evidence rather than treated as general promises.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B432E210-4600-9EB5-3922-C03C4A6960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20E8D2-40F9-722B-DBE3-43FAD705DAA0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5EC1E01-B830-B6E0-2373-F0E8BC44C936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2D7FC4-9216-77E8-0AC3-5B412A384BD3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899DA0E-6C35-B419-AB26-EC7FF218E2B3}"/>
              </a:ext>
            </a:extLst>
          </p:cNvPr>
          <p:cNvSpPr/>
          <p:nvPr/>
        </p:nvSpPr>
        <p:spPr>
          <a:xfrm>
            <a:off x="609600" y="1905000"/>
            <a:ext cx="2540000" cy="3708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658718-B7D5-9A59-AB65-25BC4A38D496}"/>
              </a:ext>
            </a:extLst>
          </p:cNvPr>
          <p:cNvSpPr/>
          <p:nvPr/>
        </p:nvSpPr>
        <p:spPr>
          <a:xfrm>
            <a:off x="609600" y="1905000"/>
            <a:ext cx="88900" cy="37084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6FF450-C342-07FC-6FD7-1B505CE075FE}"/>
              </a:ext>
            </a:extLst>
          </p:cNvPr>
          <p:cNvSpPr txBox="1"/>
          <p:nvPr/>
        </p:nvSpPr>
        <p:spPr>
          <a:xfrm>
            <a:off x="876300" y="2108200"/>
            <a:ext cx="205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Accessibility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D7BBD0-253E-1870-7684-0549014FB245}"/>
              </a:ext>
            </a:extLst>
          </p:cNvPr>
          <p:cNvSpPr txBox="1"/>
          <p:nvPr/>
        </p:nvSpPr>
        <p:spPr>
          <a:xfrm>
            <a:off x="876300" y="2603500"/>
            <a:ext cx="20574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WCAG 2.1 AA target
Keyboard and assistive technology
Responsive reflow and reduced motion
Clear status and error recovery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43F0D49-264D-3D32-CD24-9F5818342D20}"/>
              </a:ext>
            </a:extLst>
          </p:cNvPr>
          <p:cNvSpPr/>
          <p:nvPr/>
        </p:nvSpPr>
        <p:spPr>
          <a:xfrm>
            <a:off x="3352800" y="1905000"/>
            <a:ext cx="2540000" cy="3708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2266DF-1B53-F385-B90B-6BCA9F4ABA81}"/>
              </a:ext>
            </a:extLst>
          </p:cNvPr>
          <p:cNvSpPr/>
          <p:nvPr/>
        </p:nvSpPr>
        <p:spPr>
          <a:xfrm>
            <a:off x="3352800" y="1905000"/>
            <a:ext cx="88900" cy="37084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A8CA4B-C656-734F-4E9B-6BCC46718DB7}"/>
              </a:ext>
            </a:extLst>
          </p:cNvPr>
          <p:cNvSpPr txBox="1"/>
          <p:nvPr/>
        </p:nvSpPr>
        <p:spPr>
          <a:xfrm>
            <a:off x="3619500" y="2108200"/>
            <a:ext cx="205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563A4B"/>
                </a:solidFill>
                <a:latin typeface="Aptos Display" panose="020B0004020202020204" pitchFamily="34" charset="0"/>
              </a:rPr>
              <a:t>Security + privacy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ADDA58-1560-2720-BB4B-832710985264}"/>
              </a:ext>
            </a:extLst>
          </p:cNvPr>
          <p:cNvSpPr txBox="1"/>
          <p:nvPr/>
        </p:nvSpPr>
        <p:spPr>
          <a:xfrm>
            <a:off x="3619500" y="2603500"/>
            <a:ext cx="2057400" cy="10987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JWT and server-side RBAC
Private documents and bounded uploads
Consent, export, withdrawal and erasure
Audit events without sensitive payloads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069F104-35E2-8A23-E52C-D55A5C22AEB8}"/>
              </a:ext>
            </a:extLst>
          </p:cNvPr>
          <p:cNvSpPr/>
          <p:nvPr/>
        </p:nvSpPr>
        <p:spPr>
          <a:xfrm>
            <a:off x="6096000" y="1905000"/>
            <a:ext cx="2540000" cy="3708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9358A3-69DA-A27C-4292-4F5617CBB7B4}"/>
              </a:ext>
            </a:extLst>
          </p:cNvPr>
          <p:cNvSpPr/>
          <p:nvPr/>
        </p:nvSpPr>
        <p:spPr>
          <a:xfrm>
            <a:off x="6096000" y="1905000"/>
            <a:ext cx="88900" cy="37084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70FC20-6E43-7FD0-9B96-00ABB341922D}"/>
              </a:ext>
            </a:extLst>
          </p:cNvPr>
          <p:cNvSpPr txBox="1"/>
          <p:nvPr/>
        </p:nvSpPr>
        <p:spPr>
          <a:xfrm>
            <a:off x="6362700" y="2108200"/>
            <a:ext cx="205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Reliability + performance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68CE6C-CF75-E581-306A-3BB29186AF53}"/>
              </a:ext>
            </a:extLst>
          </p:cNvPr>
          <p:cNvSpPr txBox="1"/>
          <p:nvPr/>
        </p:nvSpPr>
        <p:spPr>
          <a:xfrm>
            <a:off x="6362700" y="2603500"/>
            <a:ext cx="2057400" cy="10987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Health endpoints and Docker boundaries
Repeatable p50 / p95 measurements
No silent rollback on email failure
Transparent cold-start and latency limits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42DCABD-A836-8D83-E986-6CA61F7D89FA}"/>
              </a:ext>
            </a:extLst>
          </p:cNvPr>
          <p:cNvSpPr/>
          <p:nvPr/>
        </p:nvSpPr>
        <p:spPr>
          <a:xfrm>
            <a:off x="8839200" y="1905000"/>
            <a:ext cx="2540000" cy="3708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6FC718-806B-654C-F9C4-EF4E19270D69}"/>
              </a:ext>
            </a:extLst>
          </p:cNvPr>
          <p:cNvSpPr/>
          <p:nvPr/>
        </p:nvSpPr>
        <p:spPr>
          <a:xfrm>
            <a:off x="8839200" y="1905000"/>
            <a:ext cx="88900" cy="37084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BB77E9-9697-B655-4F3F-E4E7D86350F8}"/>
              </a:ext>
            </a:extLst>
          </p:cNvPr>
          <p:cNvSpPr txBox="1"/>
          <p:nvPr/>
        </p:nvSpPr>
        <p:spPr>
          <a:xfrm>
            <a:off x="9105900" y="2108200"/>
            <a:ext cx="205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Maintainability + i18n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1B21D9-CC99-8354-36F8-956E309B761E}"/>
              </a:ext>
            </a:extLst>
          </p:cNvPr>
          <p:cNvSpPr txBox="1"/>
          <p:nvPr/>
        </p:nvSpPr>
        <p:spPr>
          <a:xfrm>
            <a:off x="9105900" y="2603500"/>
            <a:ext cx="2057400" cy="9417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Component-based React interface
Controller-service-repository backend
Versioned scoring policy
Three locales with stable codes and IDs</a:t>
            </a:r>
          </a:p>
        </p:txBody>
      </p:sp>
    </p:spTree>
    <p:extLst>
      <p:ext uri="{BB962C8B-B14F-4D97-AF65-F5344CB8AC3E}">
        <p14:creationId xmlns:p14="http://schemas.microsoft.com/office/powerpoint/2010/main" val="4217485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D27FDC-49E6-9646-A0D9-6DE4806D8C4F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4F490F-BB4C-1E51-A4F5-84076D0E3551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ACCESSIBILITY SPECIFICATION | SPECIFICATIONS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4C282A-910B-C6A5-243A-633CF540E479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WCAG 2.1 Level AA: target, implementation and evidence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633673-F985-0448-E476-1473503AF413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WCAG organizes success criteria under four principles; Level AA includes all applicable Level A and AA criteria.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01E993F2-ECCF-B623-9851-1E000E0B54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4EBFD5-E4E2-E58C-9AFD-699B1FA83C32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CF5682A-D56E-1694-034E-C3BE28200F27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492A8B-08A7-3390-0167-A38677D8D7B1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F28CFA3-2CFA-9E54-DA9E-83570CBF24C0}"/>
              </a:ext>
            </a:extLst>
          </p:cNvPr>
          <p:cNvSpPr/>
          <p:nvPr/>
        </p:nvSpPr>
        <p:spPr>
          <a:xfrm>
            <a:off x="609600" y="1841500"/>
            <a:ext cx="2540000" cy="2730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30ADA8-9CAA-A1C4-089B-3A1A13A0A121}"/>
              </a:ext>
            </a:extLst>
          </p:cNvPr>
          <p:cNvSpPr/>
          <p:nvPr/>
        </p:nvSpPr>
        <p:spPr>
          <a:xfrm>
            <a:off x="609600" y="1841500"/>
            <a:ext cx="88900" cy="27305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571136-F833-EDC9-B209-3E1B3E8EF407}"/>
              </a:ext>
            </a:extLst>
          </p:cNvPr>
          <p:cNvSpPr txBox="1"/>
          <p:nvPr/>
        </p:nvSpPr>
        <p:spPr>
          <a:xfrm>
            <a:off x="876300" y="2044700"/>
            <a:ext cx="205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Perceivable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05219F-BE3D-6DEE-906B-7913D677AEDD}"/>
              </a:ext>
            </a:extLst>
          </p:cNvPr>
          <p:cNvSpPr txBox="1"/>
          <p:nvPr/>
        </p:nvSpPr>
        <p:spPr>
          <a:xfrm>
            <a:off x="876300" y="2540000"/>
            <a:ext cx="205740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Labels and alternatives
Structure and headings
Status not based on colour alone
Contrast target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036CD34-4FFF-1E01-727B-B62D272F3BBE}"/>
              </a:ext>
            </a:extLst>
          </p:cNvPr>
          <p:cNvSpPr/>
          <p:nvPr/>
        </p:nvSpPr>
        <p:spPr>
          <a:xfrm>
            <a:off x="3352800" y="1841500"/>
            <a:ext cx="2540000" cy="2730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085BDF-6205-EF75-82C5-FD4B799B1B04}"/>
              </a:ext>
            </a:extLst>
          </p:cNvPr>
          <p:cNvSpPr/>
          <p:nvPr/>
        </p:nvSpPr>
        <p:spPr>
          <a:xfrm>
            <a:off x="3352800" y="1841500"/>
            <a:ext cx="88900" cy="27305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07345C-026C-6CAC-3D57-4D616DEAA5D6}"/>
              </a:ext>
            </a:extLst>
          </p:cNvPr>
          <p:cNvSpPr txBox="1"/>
          <p:nvPr/>
        </p:nvSpPr>
        <p:spPr>
          <a:xfrm>
            <a:off x="3619500" y="2044700"/>
            <a:ext cx="205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Operable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CDA02D-958F-0B47-C3F9-61042181EBEB}"/>
              </a:ext>
            </a:extLst>
          </p:cNvPr>
          <p:cNvSpPr txBox="1"/>
          <p:nvPr/>
        </p:nvSpPr>
        <p:spPr>
          <a:xfrm>
            <a:off x="3619500" y="2540000"/>
            <a:ext cx="205740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Keyboard workflows
Visible focus
No pointer-only critical path
Reduced-motion support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145B2FC-36CA-CF7F-C310-C51B54E1460F}"/>
              </a:ext>
            </a:extLst>
          </p:cNvPr>
          <p:cNvSpPr/>
          <p:nvPr/>
        </p:nvSpPr>
        <p:spPr>
          <a:xfrm>
            <a:off x="6096000" y="1841500"/>
            <a:ext cx="2540000" cy="2730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FF220B-E8DC-A21B-0EE0-A91298015B4B}"/>
              </a:ext>
            </a:extLst>
          </p:cNvPr>
          <p:cNvSpPr/>
          <p:nvPr/>
        </p:nvSpPr>
        <p:spPr>
          <a:xfrm>
            <a:off x="6096000" y="1841500"/>
            <a:ext cx="88900" cy="27305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DB74DD-A972-2497-8DD4-F49A173FC5D9}"/>
              </a:ext>
            </a:extLst>
          </p:cNvPr>
          <p:cNvSpPr txBox="1"/>
          <p:nvPr/>
        </p:nvSpPr>
        <p:spPr>
          <a:xfrm>
            <a:off x="6362700" y="2044700"/>
            <a:ext cx="205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Understandable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8689C9-CC13-6FF6-4291-586E521F57C8}"/>
              </a:ext>
            </a:extLst>
          </p:cNvPr>
          <p:cNvSpPr txBox="1"/>
          <p:nvPr/>
        </p:nvSpPr>
        <p:spPr>
          <a:xfrm>
            <a:off x="6362700" y="2540000"/>
            <a:ext cx="205740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Consistent navigation
Instructions and linked errors
Confirmation and recovery
Plain-language feedback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6822E72-4CE5-1E8B-6089-0A04CB0D5CB1}"/>
              </a:ext>
            </a:extLst>
          </p:cNvPr>
          <p:cNvSpPr/>
          <p:nvPr/>
        </p:nvSpPr>
        <p:spPr>
          <a:xfrm>
            <a:off x="8839200" y="1841500"/>
            <a:ext cx="2540000" cy="2730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5985D9-5451-EA5E-B147-7C2E6A8AEA2C}"/>
              </a:ext>
            </a:extLst>
          </p:cNvPr>
          <p:cNvSpPr/>
          <p:nvPr/>
        </p:nvSpPr>
        <p:spPr>
          <a:xfrm>
            <a:off x="8839200" y="1841500"/>
            <a:ext cx="88900" cy="27305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AD55BE-C59A-D45F-9672-5699FF6CF1F2}"/>
              </a:ext>
            </a:extLst>
          </p:cNvPr>
          <p:cNvSpPr txBox="1"/>
          <p:nvPr/>
        </p:nvSpPr>
        <p:spPr>
          <a:xfrm>
            <a:off x="9105900" y="2044700"/>
            <a:ext cx="205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563A4B"/>
                </a:solidFill>
                <a:latin typeface="Aptos Display" panose="020B0004020202020204" pitchFamily="34" charset="0"/>
              </a:rPr>
              <a:t>Robust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9A47E3-53F6-C1B2-6A48-112812A18509}"/>
              </a:ext>
            </a:extLst>
          </p:cNvPr>
          <p:cNvSpPr txBox="1"/>
          <p:nvPr/>
        </p:nvSpPr>
        <p:spPr>
          <a:xfrm>
            <a:off x="9105900" y="2540000"/>
            <a:ext cx="205740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Semantic controls
ARIA status / alert patterns
Stable focus management
JAWS-tested workflow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3A623EE-4D58-DC56-F975-B01E914EE680}"/>
              </a:ext>
            </a:extLst>
          </p:cNvPr>
          <p:cNvSpPr/>
          <p:nvPr/>
        </p:nvSpPr>
        <p:spPr>
          <a:xfrm>
            <a:off x="609600" y="4851400"/>
            <a:ext cx="10972800" cy="9652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D38CE8-973A-85F4-7695-B80C270F7194}"/>
              </a:ext>
            </a:extLst>
          </p:cNvPr>
          <p:cNvSpPr txBox="1"/>
          <p:nvPr/>
        </p:nvSpPr>
        <p:spPr>
          <a:xfrm>
            <a:off x="863600" y="5067300"/>
            <a:ext cx="88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57A55"/>
                </a:solidFill>
                <a:latin typeface="Aptos" panose="020B0004020202020204" pitchFamily="34" charset="0"/>
              </a:rPr>
              <a:t>Evidence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03B69F-2FF8-C9B4-6E27-5FD1E55A4D48}"/>
              </a:ext>
            </a:extLst>
          </p:cNvPr>
          <p:cNvSpPr txBox="1"/>
          <p:nvPr/>
        </p:nvSpPr>
        <p:spPr>
          <a:xfrm>
            <a:off x="1778000" y="5041900"/>
            <a:ext cx="9334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18/18 accessibility workflow cases completed | 104 automated route-layout scenarios | JAWS registration and application completed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ECDE30-A397-9B0F-52C6-A1F953CDD54A}"/>
              </a:ext>
            </a:extLst>
          </p:cNvPr>
          <p:cNvSpPr txBox="1"/>
          <p:nvPr/>
        </p:nvSpPr>
        <p:spPr>
          <a:xfrm>
            <a:off x="863600" y="5410200"/>
            <a:ext cx="10236200" cy="1292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40">
                <a:solidFill>
                  <a:srgbClr val="F4D8CC"/>
                </a:solidFill>
                <a:latin typeface="Aptos" panose="020B0004020202020204" pitchFamily="34" charset="0"/>
              </a:rPr>
              <a:t>Honest boundary: 16 scenarios retained axe findings and 2 high-zoom scenarios showed overflow; therefore this is a WCAG 2.1 AA target, not a full conformance claim.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0E5944-D1D8-2A6A-A684-E483C85846AA}"/>
              </a:ext>
            </a:extLst>
          </p:cNvPr>
          <p:cNvSpPr txBox="1"/>
          <p:nvPr/>
        </p:nvSpPr>
        <p:spPr>
          <a:xfrm>
            <a:off x="609600" y="6172200"/>
            <a:ext cx="104140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680">
                <a:solidFill>
                  <a:srgbClr val="5D6B80"/>
                </a:solidFill>
                <a:latin typeface="Aptos" panose="020B0004020202020204" pitchFamily="34" charset="0"/>
              </a:rPr>
              <a:t>Standard: W3C Web Content Accessibility Guidelines (WCAG) 2.1, Recommendation, Level A and AA success criteria.</a:t>
            </a:r>
          </a:p>
        </p:txBody>
      </p:sp>
    </p:spTree>
    <p:extLst>
      <p:ext uri="{BB962C8B-B14F-4D97-AF65-F5344CB8AC3E}">
        <p14:creationId xmlns:p14="http://schemas.microsoft.com/office/powerpoint/2010/main" val="3642735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053E80-17F9-C6E1-D97A-B8EEAB4F414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8185C5-EEEA-98CA-79E7-EBAFCE4DE720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ARCHITECTURAL DESIGN | CONCEPTION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2D6797-7C55-96E4-C9F9-52D2D18A81A8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Cloud architecture and explicit trust boundaries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0F1487-F4BD-D797-96DE-C5F162203EDE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The browser presents the interface; Symfony remains the authoritative security and business-workflow boundary.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53E306EC-5AAA-B441-185B-EB756614F2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2A02B8D-9893-AE1B-DB04-6D166603D757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833683C-F628-5979-DEF7-D7A0F02B8603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5845B9-0C26-704A-5A62-6F8562294385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D9277AC-065D-B6D3-22EA-852FDBF97E8F}"/>
              </a:ext>
            </a:extLst>
          </p:cNvPr>
          <p:cNvSpPr/>
          <p:nvPr/>
        </p:nvSpPr>
        <p:spPr>
          <a:xfrm>
            <a:off x="609600" y="2387600"/>
            <a:ext cx="1778000" cy="1905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040A97-9FCE-D950-46A0-F1C32B2C6B0B}"/>
              </a:ext>
            </a:extLst>
          </p:cNvPr>
          <p:cNvSpPr/>
          <p:nvPr/>
        </p:nvSpPr>
        <p:spPr>
          <a:xfrm>
            <a:off x="609600" y="2387600"/>
            <a:ext cx="17780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086B2D-943D-A835-664B-BF62ABBFFC3B}"/>
              </a:ext>
            </a:extLst>
          </p:cNvPr>
          <p:cNvSpPr txBox="1"/>
          <p:nvPr/>
        </p:nvSpPr>
        <p:spPr>
          <a:xfrm>
            <a:off x="736600" y="2679700"/>
            <a:ext cx="152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React / Vite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40570C-3FEE-053C-D7E2-26565EB0E450}"/>
              </a:ext>
            </a:extLst>
          </p:cNvPr>
          <p:cNvSpPr txBox="1"/>
          <p:nvPr/>
        </p:nvSpPr>
        <p:spPr>
          <a:xfrm>
            <a:off x="749300" y="3302000"/>
            <a:ext cx="1498600" cy="4247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Static frontend
Role workspaces
i18next + RTL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53AF911-D809-422A-9B66-0C452707E277}"/>
              </a:ext>
            </a:extLst>
          </p:cNvPr>
          <p:cNvCxnSpPr/>
          <p:nvPr/>
        </p:nvCxnSpPr>
        <p:spPr>
          <a:xfrm>
            <a:off x="2438400" y="33401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5E090DE-EF0A-F3A8-F35F-708468C9E831}"/>
              </a:ext>
            </a:extLst>
          </p:cNvPr>
          <p:cNvSpPr/>
          <p:nvPr/>
        </p:nvSpPr>
        <p:spPr>
          <a:xfrm>
            <a:off x="2768600" y="2184400"/>
            <a:ext cx="1905000" cy="231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BF0356-9A5B-B90B-7696-794139134AC8}"/>
              </a:ext>
            </a:extLst>
          </p:cNvPr>
          <p:cNvSpPr/>
          <p:nvPr/>
        </p:nvSpPr>
        <p:spPr>
          <a:xfrm>
            <a:off x="2768600" y="2184400"/>
            <a:ext cx="1905000" cy="889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214909-09B8-FBAC-9D03-3A4163E1D631}"/>
              </a:ext>
            </a:extLst>
          </p:cNvPr>
          <p:cNvSpPr txBox="1"/>
          <p:nvPr/>
        </p:nvSpPr>
        <p:spPr>
          <a:xfrm>
            <a:off x="2895600" y="24765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Symfony API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C493A6-0B05-1098-6E94-83033B4A3D36}"/>
              </a:ext>
            </a:extLst>
          </p:cNvPr>
          <p:cNvSpPr txBox="1"/>
          <p:nvPr/>
        </p:nvSpPr>
        <p:spPr>
          <a:xfrm>
            <a:off x="2908300" y="3098800"/>
            <a:ext cx="1625600" cy="4247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JWT + RBAC
Validation
Workflow orchestration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CAED6AD-4306-EB50-16F2-137354748D6F}"/>
              </a:ext>
            </a:extLst>
          </p:cNvPr>
          <p:cNvCxnSpPr/>
          <p:nvPr/>
        </p:nvCxnSpPr>
        <p:spPr>
          <a:xfrm>
            <a:off x="4724400" y="33401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BD4C880-D5AE-B599-A022-D7A880FEB98A}"/>
              </a:ext>
            </a:extLst>
          </p:cNvPr>
          <p:cNvSpPr/>
          <p:nvPr/>
        </p:nvSpPr>
        <p:spPr>
          <a:xfrm>
            <a:off x="5181600" y="1714500"/>
            <a:ext cx="1905000" cy="1651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4F905E-C42F-C1C0-3914-06D5F171B24F}"/>
              </a:ext>
            </a:extLst>
          </p:cNvPr>
          <p:cNvSpPr/>
          <p:nvPr/>
        </p:nvSpPr>
        <p:spPr>
          <a:xfrm>
            <a:off x="5181600" y="1714500"/>
            <a:ext cx="1905000" cy="889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A19F45-9181-F0C2-6A11-75CD0DAD3888}"/>
              </a:ext>
            </a:extLst>
          </p:cNvPr>
          <p:cNvSpPr txBox="1"/>
          <p:nvPr/>
        </p:nvSpPr>
        <p:spPr>
          <a:xfrm>
            <a:off x="5308600" y="20066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Supabase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DB6BE7-6153-AAE5-4124-1FD4180F629A}"/>
              </a:ext>
            </a:extLst>
          </p:cNvPr>
          <p:cNvSpPr txBox="1"/>
          <p:nvPr/>
        </p:nvSpPr>
        <p:spPr>
          <a:xfrm>
            <a:off x="5321300" y="2628900"/>
            <a:ext cx="1625600" cy="4247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920">
                <a:solidFill>
                  <a:srgbClr val="17243A"/>
                </a:solidFill>
                <a:latin typeface="Aptos" panose="020B0004020202020204" pitchFamily="34" charset="0"/>
              </a:rPr>
              <a:t>PostgreSQL
Private documents
Public employer logos</a:t>
            </a:r>
            <a:endParaRPr lang="en-US" sz="920">
              <a:solidFill>
                <a:srgbClr val="17243A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48D6E50-3C32-87B6-29FE-CC057EBC80FF}"/>
              </a:ext>
            </a:extLst>
          </p:cNvPr>
          <p:cNvSpPr/>
          <p:nvPr/>
        </p:nvSpPr>
        <p:spPr>
          <a:xfrm>
            <a:off x="5181600" y="3873500"/>
            <a:ext cx="1905000" cy="1651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D545DCA-E0E5-D8C8-9D05-11B0F4A672D1}"/>
              </a:ext>
            </a:extLst>
          </p:cNvPr>
          <p:cNvSpPr/>
          <p:nvPr/>
        </p:nvSpPr>
        <p:spPr>
          <a:xfrm>
            <a:off x="5181600" y="3873500"/>
            <a:ext cx="1905000" cy="889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4841BB-FD0F-C417-19E3-8F03AFAA3F93}"/>
              </a:ext>
            </a:extLst>
          </p:cNvPr>
          <p:cNvSpPr txBox="1"/>
          <p:nvPr/>
        </p:nvSpPr>
        <p:spPr>
          <a:xfrm>
            <a:off x="5308600" y="41656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Scoring service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58E0B-6DE6-E760-08A6-06E11B3BA0E2}"/>
              </a:ext>
            </a:extLst>
          </p:cNvPr>
          <p:cNvSpPr txBox="1"/>
          <p:nvPr/>
        </p:nvSpPr>
        <p:spPr>
          <a:xfrm>
            <a:off x="5321300" y="4787900"/>
            <a:ext cx="1625600" cy="4247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Deterministic
Versioned rules
Explainable JSON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4A487CC-92A9-019C-DC74-85DBBADBC430}"/>
              </a:ext>
            </a:extLst>
          </p:cNvPr>
          <p:cNvSpPr/>
          <p:nvPr/>
        </p:nvSpPr>
        <p:spPr>
          <a:xfrm>
            <a:off x="7747000" y="2184400"/>
            <a:ext cx="1905000" cy="231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F5E1491-5969-E9F9-B1D0-7B0F638D6936}"/>
              </a:ext>
            </a:extLst>
          </p:cNvPr>
          <p:cNvSpPr/>
          <p:nvPr/>
        </p:nvSpPr>
        <p:spPr>
          <a:xfrm>
            <a:off x="7747000" y="2184400"/>
            <a:ext cx="1905000" cy="889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99C24B-24F1-133F-D113-06E60CBEA210}"/>
              </a:ext>
            </a:extLst>
          </p:cNvPr>
          <p:cNvSpPr txBox="1"/>
          <p:nvPr/>
        </p:nvSpPr>
        <p:spPr>
          <a:xfrm>
            <a:off x="7874000" y="24765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Voice / profile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163631-2F07-FB03-AE66-3DE037F37F1D}"/>
              </a:ext>
            </a:extLst>
          </p:cNvPr>
          <p:cNvSpPr txBox="1"/>
          <p:nvPr/>
        </p:nvSpPr>
        <p:spPr>
          <a:xfrm>
            <a:off x="7886700" y="3098800"/>
            <a:ext cx="1625600" cy="4247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Transcription
Schema-constrained AI
Safe command registry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0EF638C-0CBA-A336-F94D-7D60D4C5B73F}"/>
              </a:ext>
            </a:extLst>
          </p:cNvPr>
          <p:cNvCxnSpPr/>
          <p:nvPr/>
        </p:nvCxnSpPr>
        <p:spPr>
          <a:xfrm>
            <a:off x="9702800" y="33401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56A1E63-19D5-035C-E0A6-26CD4D20F3D7}"/>
              </a:ext>
            </a:extLst>
          </p:cNvPr>
          <p:cNvSpPr/>
          <p:nvPr/>
        </p:nvSpPr>
        <p:spPr>
          <a:xfrm>
            <a:off x="10083800" y="2387600"/>
            <a:ext cx="1498600" cy="1905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D57A662-7A7C-D0E5-8521-EA96FCDA8FCC}"/>
              </a:ext>
            </a:extLst>
          </p:cNvPr>
          <p:cNvSpPr/>
          <p:nvPr/>
        </p:nvSpPr>
        <p:spPr>
          <a:xfrm>
            <a:off x="10083800" y="2387600"/>
            <a:ext cx="14986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774155-1009-2591-FFF9-64BE8AE54398}"/>
              </a:ext>
            </a:extLst>
          </p:cNvPr>
          <p:cNvSpPr txBox="1"/>
          <p:nvPr/>
        </p:nvSpPr>
        <p:spPr>
          <a:xfrm>
            <a:off x="10210800" y="2679700"/>
            <a:ext cx="1244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OpenAI API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DFFDCD-76F8-F398-0844-FF3545AD9B5E}"/>
              </a:ext>
            </a:extLst>
          </p:cNvPr>
          <p:cNvSpPr txBox="1"/>
          <p:nvPr/>
        </p:nvSpPr>
        <p:spPr>
          <a:xfrm>
            <a:off x="10223500" y="3302000"/>
            <a:ext cx="1219200" cy="4247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External provider
No database authority
Replaceable adapter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D27434C-A12A-7806-0856-2557192F172A}"/>
              </a:ext>
            </a:extLst>
          </p:cNvPr>
          <p:cNvCxnSpPr/>
          <p:nvPr/>
        </p:nvCxnSpPr>
        <p:spPr>
          <a:xfrm flipV="1">
            <a:off x="4673600" y="2540000"/>
            <a:ext cx="508000" cy="444500"/>
          </a:xfrm>
          <a:prstGeom prst="line">
            <a:avLst/>
          </a:prstGeom>
          <a:ln w="25400">
            <a:solidFill>
              <a:srgbClr val="157A5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EB52995-ADD5-06F0-5ABC-AE09ABC88370}"/>
              </a:ext>
            </a:extLst>
          </p:cNvPr>
          <p:cNvCxnSpPr/>
          <p:nvPr/>
        </p:nvCxnSpPr>
        <p:spPr>
          <a:xfrm>
            <a:off x="4673600" y="3581400"/>
            <a:ext cx="508000" cy="1117600"/>
          </a:xfrm>
          <a:prstGeom prst="line">
            <a:avLst/>
          </a:prstGeom>
          <a:ln w="25400">
            <a:solidFill>
              <a:srgbClr val="C27A1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8A5308C-9F71-C271-93CA-2742E61537D9}"/>
              </a:ext>
            </a:extLst>
          </p:cNvPr>
          <p:cNvCxnSpPr/>
          <p:nvPr/>
        </p:nvCxnSpPr>
        <p:spPr>
          <a:xfrm>
            <a:off x="7086600" y="2540000"/>
            <a:ext cx="660400" cy="444500"/>
          </a:xfrm>
          <a:prstGeom prst="line">
            <a:avLst/>
          </a:prstGeom>
          <a:ln w="25400">
            <a:solidFill>
              <a:srgbClr val="563A4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EC4A238-D8C1-A1E4-00CB-955D3578DCDD}"/>
              </a:ext>
            </a:extLst>
          </p:cNvPr>
          <p:cNvSpPr/>
          <p:nvPr/>
        </p:nvSpPr>
        <p:spPr>
          <a:xfrm>
            <a:off x="1968500" y="5727700"/>
            <a:ext cx="8255000" cy="4191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356810-E832-DCB0-8356-4EDE6F814C39}"/>
              </a:ext>
            </a:extLst>
          </p:cNvPr>
          <p:cNvSpPr txBox="1"/>
          <p:nvPr/>
        </p:nvSpPr>
        <p:spPr>
          <a:xfrm>
            <a:off x="2222500" y="5854700"/>
            <a:ext cx="77470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 b="1">
                <a:solidFill>
                  <a:srgbClr val="FFFFFF"/>
                </a:solidFill>
                <a:latin typeface="Aptos" panose="020B0004020202020204" pitchFamily="34" charset="0"/>
              </a:rPr>
              <a:t>Shared service tokens protect Symfony-to-Python calls; secrets stay server-side and HTTPS protects public origins.</a:t>
            </a:r>
          </a:p>
        </p:txBody>
      </p:sp>
    </p:spTree>
    <p:extLst>
      <p:ext uri="{BB962C8B-B14F-4D97-AF65-F5344CB8AC3E}">
        <p14:creationId xmlns:p14="http://schemas.microsoft.com/office/powerpoint/2010/main" val="4100137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918A9B-B3EA-059A-38C6-E8FE804763C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3E3E6E-6A40-9A21-0115-7C8B395E1805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DETAILED DESIGN | CONCEPTION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0D6C99-AF30-E21E-0594-739AB97857E7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Design patterns used to control complexity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D13C1D-AB51-C09C-BAC7-969C7F7C10BB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The implementation combines patterns at the presentation, application, integration and decision layers.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749BCD14-823F-8E34-A3C0-7B27AD285A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07A288-F35C-FDF4-72FF-9675F3B1C1B3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59EEC72-91ED-B705-065C-36CB39D00F9C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9BC132-EE01-64A5-B6C9-DCCE72142D57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BF03A72-C24E-E823-122E-BEF3D374A13F}"/>
              </a:ext>
            </a:extLst>
          </p:cNvPr>
          <p:cNvSpPr/>
          <p:nvPr/>
        </p:nvSpPr>
        <p:spPr>
          <a:xfrm>
            <a:off x="609600" y="1841500"/>
            <a:ext cx="3429000" cy="1549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0843B8-587D-3978-1DDC-E88C23F90C0B}"/>
              </a:ext>
            </a:extLst>
          </p:cNvPr>
          <p:cNvSpPr/>
          <p:nvPr/>
        </p:nvSpPr>
        <p:spPr>
          <a:xfrm>
            <a:off x="609600" y="1841500"/>
            <a:ext cx="88900" cy="15494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462C07-F695-C759-59B2-C019FE8FE637}"/>
              </a:ext>
            </a:extLst>
          </p:cNvPr>
          <p:cNvSpPr txBox="1"/>
          <p:nvPr/>
        </p:nvSpPr>
        <p:spPr>
          <a:xfrm>
            <a:off x="876300" y="20447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Layered / MVC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1CC7A-A2FB-4161-4DCD-445C206CD90B}"/>
              </a:ext>
            </a:extLst>
          </p:cNvPr>
          <p:cNvSpPr txBox="1"/>
          <p:nvPr/>
        </p:nvSpPr>
        <p:spPr>
          <a:xfrm>
            <a:off x="876300" y="2540000"/>
            <a:ext cx="29464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React presentation, Symfony APIs, Doctrine persistence, isolated Python services.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2E5CA0B-41B0-4D25-E7DC-552725D0DBBA}"/>
              </a:ext>
            </a:extLst>
          </p:cNvPr>
          <p:cNvSpPr/>
          <p:nvPr/>
        </p:nvSpPr>
        <p:spPr>
          <a:xfrm>
            <a:off x="4292600" y="1841500"/>
            <a:ext cx="3429000" cy="1549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B88EC1-03A9-9E00-85FA-85F9E2107B9F}"/>
              </a:ext>
            </a:extLst>
          </p:cNvPr>
          <p:cNvSpPr/>
          <p:nvPr/>
        </p:nvSpPr>
        <p:spPr>
          <a:xfrm>
            <a:off x="4292600" y="1841500"/>
            <a:ext cx="88900" cy="15494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5B1D8C-E599-0F4B-21D9-992E230A2907}"/>
              </a:ext>
            </a:extLst>
          </p:cNvPr>
          <p:cNvSpPr txBox="1"/>
          <p:nvPr/>
        </p:nvSpPr>
        <p:spPr>
          <a:xfrm>
            <a:off x="4559300" y="20447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Controller-Service-Repository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9F1258-2FE1-1975-3DA5-8F591173BD94}"/>
              </a:ext>
            </a:extLst>
          </p:cNvPr>
          <p:cNvSpPr txBox="1"/>
          <p:nvPr/>
        </p:nvSpPr>
        <p:spPr>
          <a:xfrm>
            <a:off x="4559300" y="2540000"/>
            <a:ext cx="29464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HTTP, orchestration and data access remain separately testable.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C386D2A-C292-8BCD-A3DE-EE31072D9E41}"/>
              </a:ext>
            </a:extLst>
          </p:cNvPr>
          <p:cNvSpPr/>
          <p:nvPr/>
        </p:nvSpPr>
        <p:spPr>
          <a:xfrm>
            <a:off x="7975600" y="1841500"/>
            <a:ext cx="3429000" cy="1549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6D7680-0CF6-81D5-DD4C-5E3F668CD47E}"/>
              </a:ext>
            </a:extLst>
          </p:cNvPr>
          <p:cNvSpPr/>
          <p:nvPr/>
        </p:nvSpPr>
        <p:spPr>
          <a:xfrm>
            <a:off x="7975600" y="1841500"/>
            <a:ext cx="88900" cy="15494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121A7B-8224-4A06-D36D-9ECFB7C75602}"/>
              </a:ext>
            </a:extLst>
          </p:cNvPr>
          <p:cNvSpPr txBox="1"/>
          <p:nvPr/>
        </p:nvSpPr>
        <p:spPr>
          <a:xfrm>
            <a:off x="8242300" y="20447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563A4B"/>
                </a:solidFill>
                <a:latin typeface="Aptos Display" panose="020B0004020202020204" pitchFamily="34" charset="0"/>
              </a:rPr>
              <a:t>Adapter / Gateway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330108-F879-50E1-99B3-5AEAD5207969}"/>
              </a:ext>
            </a:extLst>
          </p:cNvPr>
          <p:cNvSpPr txBox="1"/>
          <p:nvPr/>
        </p:nvSpPr>
        <p:spPr>
          <a:xfrm>
            <a:off x="8242300" y="2540000"/>
            <a:ext cx="29464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OpenAI is accessed through bounded replaceable service contracts.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9A62B0B-B5C8-96F6-F2E0-17E71C489C77}"/>
              </a:ext>
            </a:extLst>
          </p:cNvPr>
          <p:cNvSpPr/>
          <p:nvPr/>
        </p:nvSpPr>
        <p:spPr>
          <a:xfrm>
            <a:off x="609600" y="3708400"/>
            <a:ext cx="3429000" cy="1549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5BADB3-276B-3ECC-0305-BBAE45E5FC5C}"/>
              </a:ext>
            </a:extLst>
          </p:cNvPr>
          <p:cNvSpPr/>
          <p:nvPr/>
        </p:nvSpPr>
        <p:spPr>
          <a:xfrm>
            <a:off x="609600" y="3708400"/>
            <a:ext cx="88900" cy="15494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15B77C-B18B-7314-4551-B254CB4F189B}"/>
              </a:ext>
            </a:extLst>
          </p:cNvPr>
          <p:cNvSpPr txBox="1"/>
          <p:nvPr/>
        </p:nvSpPr>
        <p:spPr>
          <a:xfrm>
            <a:off x="876300" y="39116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Strategy / Policy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2D6576-2728-BD0F-57AE-5789DBD4D9B3}"/>
              </a:ext>
            </a:extLst>
          </p:cNvPr>
          <p:cNvSpPr txBox="1"/>
          <p:nvPr/>
        </p:nvSpPr>
        <p:spPr>
          <a:xfrm>
            <a:off x="876300" y="4406900"/>
            <a:ext cx="29464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Versioned weights, assistance factors and eligibility gates.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421A57C-F528-9AE4-87A4-1A5214123591}"/>
              </a:ext>
            </a:extLst>
          </p:cNvPr>
          <p:cNvSpPr/>
          <p:nvPr/>
        </p:nvSpPr>
        <p:spPr>
          <a:xfrm>
            <a:off x="4292600" y="3708400"/>
            <a:ext cx="3429000" cy="1549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23A63FF-5591-E69D-D40D-695BDE3E7D52}"/>
              </a:ext>
            </a:extLst>
          </p:cNvPr>
          <p:cNvSpPr/>
          <p:nvPr/>
        </p:nvSpPr>
        <p:spPr>
          <a:xfrm>
            <a:off x="4292600" y="3708400"/>
            <a:ext cx="88900" cy="15494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4DBB99-28B2-DD7B-8AFF-F8C3727E7138}"/>
              </a:ext>
            </a:extLst>
          </p:cNvPr>
          <p:cNvSpPr txBox="1"/>
          <p:nvPr/>
        </p:nvSpPr>
        <p:spPr>
          <a:xfrm>
            <a:off x="4559300" y="39116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C27A19"/>
                </a:solidFill>
                <a:latin typeface="Aptos Display" panose="020B0004020202020204" pitchFamily="34" charset="0"/>
              </a:rPr>
              <a:t>Command Registry + FSM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18055B-C918-8C91-CC88-DE08AB6B1111}"/>
              </a:ext>
            </a:extLst>
          </p:cNvPr>
          <p:cNvSpPr txBox="1"/>
          <p:nvPr/>
        </p:nvSpPr>
        <p:spPr>
          <a:xfrm>
            <a:off x="4559300" y="4406900"/>
            <a:ext cx="29464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Allowlisted voice actions and mutually exclusive interaction states.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4802F7B-B750-33BD-DAC8-CC1DDB2304FA}"/>
              </a:ext>
            </a:extLst>
          </p:cNvPr>
          <p:cNvSpPr/>
          <p:nvPr/>
        </p:nvSpPr>
        <p:spPr>
          <a:xfrm>
            <a:off x="7975600" y="3708400"/>
            <a:ext cx="3429000" cy="1549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845368E-C46D-E33E-3BF2-02AA63BF73BD}"/>
              </a:ext>
            </a:extLst>
          </p:cNvPr>
          <p:cNvSpPr/>
          <p:nvPr/>
        </p:nvSpPr>
        <p:spPr>
          <a:xfrm>
            <a:off x="7975600" y="3708400"/>
            <a:ext cx="88900" cy="15494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B0BEB8-9412-F986-66BF-6BF41DCE8936}"/>
              </a:ext>
            </a:extLst>
          </p:cNvPr>
          <p:cNvSpPr txBox="1"/>
          <p:nvPr/>
        </p:nvSpPr>
        <p:spPr>
          <a:xfrm>
            <a:off x="8242300" y="39116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Audit + Immutable Snapshot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701834-0515-2404-3E3F-6FAEDE4706FA}"/>
              </a:ext>
            </a:extLst>
          </p:cNvPr>
          <p:cNvSpPr txBox="1"/>
          <p:nvPr/>
        </p:nvSpPr>
        <p:spPr>
          <a:xfrm>
            <a:off x="8242300" y="4406900"/>
            <a:ext cx="29464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Consent, verification, status events and score context remain traceable.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F54498-787B-5156-E920-0CA8852BD446}"/>
              </a:ext>
            </a:extLst>
          </p:cNvPr>
          <p:cNvSpPr txBox="1"/>
          <p:nvPr/>
        </p:nvSpPr>
        <p:spPr>
          <a:xfrm>
            <a:off x="1905000" y="5740400"/>
            <a:ext cx="838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Engineering value: lower coupling, safer external AI, reproducible decisions and independent verification.</a:t>
            </a:r>
          </a:p>
        </p:txBody>
      </p:sp>
    </p:spTree>
    <p:extLst>
      <p:ext uri="{BB962C8B-B14F-4D97-AF65-F5344CB8AC3E}">
        <p14:creationId xmlns:p14="http://schemas.microsoft.com/office/powerpoint/2010/main" val="244173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651DA0-0891-9994-2BC4-1385E9ED6346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6665A1-93A7-84E2-87AA-4B2008DFD443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SECURITY DESIGN | CONCEPTION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9FB37C-AAF0-09DD-E309-C9F629603327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Sensitive data is controlled by the backend, not the interface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230029-A04A-1981-B834-786D347954EE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Frontend checks improve usability; Symfony authorization remains decisive for every protected request.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2B907A61-F880-4E9C-0215-35360464D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69D8234-7215-4E56-0C1A-186067C5FB34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3FD3EF6-3BB8-1438-675B-B69B998B9984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C1A34C-3E0A-5E54-8B0B-58B7B0561E94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4FFF3D9-5F65-BB8E-817E-EC3D11BAFC77}"/>
              </a:ext>
            </a:extLst>
          </p:cNvPr>
          <p:cNvSpPr/>
          <p:nvPr/>
        </p:nvSpPr>
        <p:spPr>
          <a:xfrm>
            <a:off x="609600" y="1879600"/>
            <a:ext cx="3302000" cy="304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F5F841-71E7-1258-DD77-70E00C4DB6EB}"/>
              </a:ext>
            </a:extLst>
          </p:cNvPr>
          <p:cNvSpPr/>
          <p:nvPr/>
        </p:nvSpPr>
        <p:spPr>
          <a:xfrm>
            <a:off x="609600" y="1879600"/>
            <a:ext cx="88900" cy="30480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9CB7EF-08C0-61D0-0BB6-442B4D54E76F}"/>
              </a:ext>
            </a:extLst>
          </p:cNvPr>
          <p:cNvSpPr txBox="1"/>
          <p:nvPr/>
        </p:nvSpPr>
        <p:spPr>
          <a:xfrm>
            <a:off x="876300" y="2082800"/>
            <a:ext cx="2819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Identity and role isolation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33BD14-E1FA-C3BF-4478-A60207182212}"/>
              </a:ext>
            </a:extLst>
          </p:cNvPr>
          <p:cNvSpPr txBox="1"/>
          <p:nvPr/>
        </p:nvSpPr>
        <p:spPr>
          <a:xfrm>
            <a:off x="876300" y="2578100"/>
            <a:ext cx="281940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Email verification
JWT via X-Auth-Token
Candidate | Employer | Verifier | Admin
Anonymous, forged and cross-role rejection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3672074-BD29-6CEA-AEA9-CF9703CF12A3}"/>
              </a:ext>
            </a:extLst>
          </p:cNvPr>
          <p:cNvSpPr/>
          <p:nvPr/>
        </p:nvSpPr>
        <p:spPr>
          <a:xfrm>
            <a:off x="4445000" y="1879600"/>
            <a:ext cx="3302000" cy="304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788122-50E5-0916-C18A-FD055F039AC2}"/>
              </a:ext>
            </a:extLst>
          </p:cNvPr>
          <p:cNvSpPr/>
          <p:nvPr/>
        </p:nvSpPr>
        <p:spPr>
          <a:xfrm>
            <a:off x="4445000" y="1879600"/>
            <a:ext cx="88900" cy="30480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034437-9022-9F6C-7219-A0CBA7D31605}"/>
              </a:ext>
            </a:extLst>
          </p:cNvPr>
          <p:cNvSpPr txBox="1"/>
          <p:nvPr/>
        </p:nvSpPr>
        <p:spPr>
          <a:xfrm>
            <a:off x="4711700" y="2082800"/>
            <a:ext cx="2819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563A4B"/>
                </a:solidFill>
                <a:latin typeface="Aptos Display" panose="020B0004020202020204" pitchFamily="34" charset="0"/>
              </a:rPr>
              <a:t>Private evidence and uploads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C415BA-3ED5-471F-63FF-794442BC0511}"/>
              </a:ext>
            </a:extLst>
          </p:cNvPr>
          <p:cNvSpPr txBox="1"/>
          <p:nvPr/>
        </p:nvSpPr>
        <p:spPr>
          <a:xfrm>
            <a:off x="4711700" y="2578100"/>
            <a:ext cx="281940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Private candidate-verification bucket
Private application documents
Public employer logos only
MIME and size restrictions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ECEBC32-FE87-F9CF-BED3-7E96F01C4299}"/>
              </a:ext>
            </a:extLst>
          </p:cNvPr>
          <p:cNvSpPr/>
          <p:nvPr/>
        </p:nvSpPr>
        <p:spPr>
          <a:xfrm>
            <a:off x="8280400" y="1879600"/>
            <a:ext cx="3302000" cy="304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8923E2-89B9-6F61-0A6D-C51AB15044DD}"/>
              </a:ext>
            </a:extLst>
          </p:cNvPr>
          <p:cNvSpPr/>
          <p:nvPr/>
        </p:nvSpPr>
        <p:spPr>
          <a:xfrm>
            <a:off x="8280400" y="1879600"/>
            <a:ext cx="88900" cy="30480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D9E8B0-2565-4672-1774-EEE7303067F6}"/>
              </a:ext>
            </a:extLst>
          </p:cNvPr>
          <p:cNvSpPr txBox="1"/>
          <p:nvPr/>
        </p:nvSpPr>
        <p:spPr>
          <a:xfrm>
            <a:off x="8547100" y="2082800"/>
            <a:ext cx="2819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Consent and auditability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13F903-C595-D983-1693-6AEE8501F42D}"/>
              </a:ext>
            </a:extLst>
          </p:cNvPr>
          <p:cNvSpPr txBox="1"/>
          <p:nvPr/>
        </p:nvSpPr>
        <p:spPr>
          <a:xfrm>
            <a:off x="8547100" y="2578100"/>
            <a:ext cx="281940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Explicit AI consent
No unconfirmed suggestion saved
Export, withdrawal and account erasure
Audited status and verifier decisions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B937D3D-DCFB-E86C-9C40-86B5781B19C6}"/>
              </a:ext>
            </a:extLst>
          </p:cNvPr>
          <p:cNvSpPr/>
          <p:nvPr/>
        </p:nvSpPr>
        <p:spPr>
          <a:xfrm>
            <a:off x="1397000" y="5257800"/>
            <a:ext cx="9398000" cy="6350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D4E25B-53F0-E069-C42F-CD6CA6DD4A84}"/>
              </a:ext>
            </a:extLst>
          </p:cNvPr>
          <p:cNvSpPr txBox="1"/>
          <p:nvPr/>
        </p:nvSpPr>
        <p:spPr>
          <a:xfrm>
            <a:off x="1714500" y="5448300"/>
            <a:ext cx="876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Evidence: 51/51 prerequisite route checks passed | Final security register: 19/20 | Open upload-validation defect retained</a:t>
            </a:r>
          </a:p>
        </p:txBody>
      </p:sp>
    </p:spTree>
    <p:extLst>
      <p:ext uri="{BB962C8B-B14F-4D97-AF65-F5344CB8AC3E}">
        <p14:creationId xmlns:p14="http://schemas.microsoft.com/office/powerpoint/2010/main" val="4091763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A84066-9F69-52DB-6A89-6F826F527A1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BDC9A7-E239-7A5A-0EE4-83BA82E21FF8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IMPLEMENTATION QUALITY | PROGRAMMATION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3D5C21-A433-AB41-C8FE-587B6308D827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Implementation separated concerns and protected behaviour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9F3EAC-00F0-08B8-2662-C4CD0C758FE8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Coding was one lifecycle activity: integration, configuration management, refactoring and repeatable tests were developed with it.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F9D3642C-F18F-8A4B-2B13-E21D33898B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C4631B-33FF-9385-17B7-B68FAC856FCC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013C5DF-4BA5-1F52-F8C8-5A161F7FBDE0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31D814-91BC-5C55-C262-2F75AAD68B67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2CE2C8B-EEDF-CF55-900D-0273000C94B9}"/>
              </a:ext>
            </a:extLst>
          </p:cNvPr>
          <p:cNvSpPr/>
          <p:nvPr/>
        </p:nvSpPr>
        <p:spPr>
          <a:xfrm>
            <a:off x="609600" y="1905000"/>
            <a:ext cx="3429000" cy="3175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93A7E8-6520-1FA2-2C23-71289362BB56}"/>
              </a:ext>
            </a:extLst>
          </p:cNvPr>
          <p:cNvSpPr/>
          <p:nvPr/>
        </p:nvSpPr>
        <p:spPr>
          <a:xfrm>
            <a:off x="609600" y="1905000"/>
            <a:ext cx="88900" cy="31750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3652A3-7679-6959-AC15-F7352C9CF353}"/>
              </a:ext>
            </a:extLst>
          </p:cNvPr>
          <p:cNvSpPr txBox="1"/>
          <p:nvPr/>
        </p:nvSpPr>
        <p:spPr>
          <a:xfrm>
            <a:off x="876300" y="21082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Implemented components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6E117B-35A6-85E1-A149-114C99BEC1E9}"/>
              </a:ext>
            </a:extLst>
          </p:cNvPr>
          <p:cNvSpPr txBox="1"/>
          <p:nvPr/>
        </p:nvSpPr>
        <p:spPr>
          <a:xfrm>
            <a:off x="876300" y="2603500"/>
            <a:ext cx="29464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React/Vite presentation layer
Symfony/Doctrine business boundary
Python deterministic scoring
Python voice/profile assistance
PostgreSQL and object storage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A6FA922-BB5A-AFA6-0C09-1E19BE3A00D8}"/>
              </a:ext>
            </a:extLst>
          </p:cNvPr>
          <p:cNvSpPr/>
          <p:nvPr/>
        </p:nvSpPr>
        <p:spPr>
          <a:xfrm>
            <a:off x="4381500" y="1905000"/>
            <a:ext cx="3429000" cy="3175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7CF60B-2969-3D30-38EB-422F8060F2EF}"/>
              </a:ext>
            </a:extLst>
          </p:cNvPr>
          <p:cNvSpPr/>
          <p:nvPr/>
        </p:nvSpPr>
        <p:spPr>
          <a:xfrm>
            <a:off x="4381500" y="1905000"/>
            <a:ext cx="88900" cy="31750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00771E-245F-CC7F-8BA7-14967D12A2C3}"/>
              </a:ext>
            </a:extLst>
          </p:cNvPr>
          <p:cNvSpPr txBox="1"/>
          <p:nvPr/>
        </p:nvSpPr>
        <p:spPr>
          <a:xfrm>
            <a:off x="4648200" y="21082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Configuration and integration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FF2444-CA25-E651-F349-B01FE2D15261}"/>
              </a:ext>
            </a:extLst>
          </p:cNvPr>
          <p:cNvSpPr txBox="1"/>
          <p:nvPr/>
        </p:nvSpPr>
        <p:spPr>
          <a:xfrm>
            <a:off x="4648200" y="2603500"/>
            <a:ext cx="29464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Version-controlled staging branch
Docker service boundaries
render.yaml infrastructure as code
Environment-only secrets and JWT keys
Versioned migrations and datasets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D55C6D3-0537-27BB-1B04-1FEEC5A7D6ED}"/>
              </a:ext>
            </a:extLst>
          </p:cNvPr>
          <p:cNvSpPr/>
          <p:nvPr/>
        </p:nvSpPr>
        <p:spPr>
          <a:xfrm>
            <a:off x="8153400" y="1905000"/>
            <a:ext cx="3429000" cy="3175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C90B61-9591-56DC-CDCB-B8E976F468BA}"/>
              </a:ext>
            </a:extLst>
          </p:cNvPr>
          <p:cNvSpPr/>
          <p:nvPr/>
        </p:nvSpPr>
        <p:spPr>
          <a:xfrm>
            <a:off x="8153400" y="1905000"/>
            <a:ext cx="88900" cy="31750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45CDDD-EBA3-8BBF-B618-8739D1414F1D}"/>
              </a:ext>
            </a:extLst>
          </p:cNvPr>
          <p:cNvSpPr txBox="1"/>
          <p:nvPr/>
        </p:nvSpPr>
        <p:spPr>
          <a:xfrm>
            <a:off x="8420100" y="21082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Refactoring discipline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86768F-B88E-426C-DEE4-C4B62E17BED2}"/>
              </a:ext>
            </a:extLst>
          </p:cNvPr>
          <p:cNvSpPr txBox="1"/>
          <p:nvPr/>
        </p:nvSpPr>
        <p:spPr>
          <a:xfrm>
            <a:off x="8420100" y="2603500"/>
            <a:ext cx="29464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External behaviour preserved
Smaller cohesive services
Adapters localise OpenAI changes
Command registry limits voice actions
Regression tests before and after fixes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C3FD248-6043-67BE-713C-1B2987FCF829}"/>
              </a:ext>
            </a:extLst>
          </p:cNvPr>
          <p:cNvSpPr/>
          <p:nvPr/>
        </p:nvSpPr>
        <p:spPr>
          <a:xfrm>
            <a:off x="1270000" y="5486400"/>
            <a:ext cx="9652000" cy="6096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2BA6BE-49FC-ED0F-7AFF-C22FE514C988}"/>
              </a:ext>
            </a:extLst>
          </p:cNvPr>
          <p:cNvSpPr txBox="1"/>
          <p:nvPr/>
        </p:nvSpPr>
        <p:spPr>
          <a:xfrm>
            <a:off x="1651000" y="56769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Design objective: low coupling, high cohesion and localised change - not simply more source code.</a:t>
            </a:r>
          </a:p>
        </p:txBody>
      </p:sp>
    </p:spTree>
    <p:extLst>
      <p:ext uri="{BB962C8B-B14F-4D97-AF65-F5344CB8AC3E}">
        <p14:creationId xmlns:p14="http://schemas.microsoft.com/office/powerpoint/2010/main" val="1659415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D00243-5802-6E1C-01E7-431837F1436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567991-62D8-0960-A11D-D7F0759C6476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DEPLOYMENT AND CONFIGURATION | PROGRAMMATION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F69338-BFC6-F03E-3461-09E28D68E60A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Render and Supabase staging topology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09F183-4E0F-6D34-1CE9-ADABB8125E42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The deployed system proves multi-service integration over public HTTPS; it is a staging prototype, not a production SLA.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185D28C9-2281-34BE-6608-0A2271DE6B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989030-ED40-D9BF-E481-80FD9E1E7A7C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233D89D-1359-E722-158B-2B954093AF10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3B37A7-EE39-9440-FF14-88D020E8B3AA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16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D624F04-1E3F-0DC5-47C1-F809D455B43B}"/>
              </a:ext>
            </a:extLst>
          </p:cNvPr>
          <p:cNvSpPr/>
          <p:nvPr/>
        </p:nvSpPr>
        <p:spPr>
          <a:xfrm>
            <a:off x="609600" y="1841500"/>
            <a:ext cx="5334000" cy="2984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Render Blueprint showing four deployed services">
            <a:extLst>
              <a:ext uri="{FF2B5EF4-FFF2-40B4-BE49-F238E27FC236}">
                <a16:creationId xmlns:a16="http://schemas.microsoft.com/office/drawing/2014/main" id="{FA8A7385-C44B-904A-3B98-DAB159A166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2265203"/>
            <a:ext cx="5257800" cy="2137094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406C34F-BC48-3068-5C9D-C5EA25CA0DA2}"/>
              </a:ext>
            </a:extLst>
          </p:cNvPr>
          <p:cNvSpPr/>
          <p:nvPr/>
        </p:nvSpPr>
        <p:spPr>
          <a:xfrm>
            <a:off x="6248400" y="1841500"/>
            <a:ext cx="5334000" cy="2984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Supabase storage buckets and upload restrictions">
            <a:extLst>
              <a:ext uri="{FF2B5EF4-FFF2-40B4-BE49-F238E27FC236}">
                <a16:creationId xmlns:a16="http://schemas.microsoft.com/office/drawing/2014/main" id="{08469F03-F326-D910-A56E-303078A739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0" y="1986370"/>
            <a:ext cx="5257800" cy="26947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150D690-9AF5-0018-DA97-79067ACDCD77}"/>
              </a:ext>
            </a:extLst>
          </p:cNvPr>
          <p:cNvSpPr txBox="1"/>
          <p:nvPr/>
        </p:nvSpPr>
        <p:spPr>
          <a:xfrm>
            <a:off x="609600" y="4965700"/>
            <a:ext cx="533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0B1F49"/>
                </a:solidFill>
                <a:latin typeface="Aptos Display" panose="020B0004020202020204" pitchFamily="34" charset="0"/>
              </a:rPr>
              <a:t>Render Blueprint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4D38A9-4A4C-479F-A43A-6A744685735F}"/>
              </a:ext>
            </a:extLst>
          </p:cNvPr>
          <p:cNvSpPr txBox="1"/>
          <p:nvPr/>
        </p:nvSpPr>
        <p:spPr>
          <a:xfrm>
            <a:off x="825500" y="5270500"/>
            <a:ext cx="49022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React static site + Symfony API + voice/profile service + scoring service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4C8CFC-57C0-2A14-F9E8-DD295ECFC463}"/>
              </a:ext>
            </a:extLst>
          </p:cNvPr>
          <p:cNvSpPr txBox="1"/>
          <p:nvPr/>
        </p:nvSpPr>
        <p:spPr>
          <a:xfrm>
            <a:off x="6248400" y="4965700"/>
            <a:ext cx="533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0B1F49"/>
                </a:solidFill>
                <a:latin typeface="Aptos Display" panose="020B0004020202020204" pitchFamily="34" charset="0"/>
              </a:rPr>
              <a:t>Supabase data layer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1FB015-0668-D0A7-6749-5797A67FC63E}"/>
              </a:ext>
            </a:extLst>
          </p:cNvPr>
          <p:cNvSpPr txBox="1"/>
          <p:nvPr/>
        </p:nvSpPr>
        <p:spPr>
          <a:xfrm>
            <a:off x="6464300" y="5270500"/>
            <a:ext cx="49022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SSL PostgreSQL pooler + three purpose-specific storage buckets</a:t>
            </a:r>
          </a:p>
        </p:txBody>
      </p:sp>
    </p:spTree>
    <p:extLst>
      <p:ext uri="{BB962C8B-B14F-4D97-AF65-F5344CB8AC3E}">
        <p14:creationId xmlns:p14="http://schemas.microsoft.com/office/powerpoint/2010/main" val="94827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C1A7B2-1C6C-CA5C-8893-02A46CF02EE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7DD633-F950-AD5C-67EE-0B067CBB20D7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CANDIDATE WORKFLOW | PROGRAMMATION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EE4316-5B82-5315-970A-7BF31CD3F156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AI-assisted profile: advisory, consent-gated and reversible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9CBE6F-C151-6855-6ACA-086913C45DFA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The candidate can type or speak; every AI result remains a suggestion until explicit confirmation.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85F95EC7-3CBE-2FC6-94F6-0F7EBA5E3A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5C7EEF-8517-CDE9-DE2A-D1E1A14A26F8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66A0A4E-EF7C-DDEB-7357-ECD9F5F3ECB9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BB1764-13B8-5E0B-81C6-472DFE4276A7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17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E660E58-5586-0BCF-2CEC-E0A88284DEB8}"/>
              </a:ext>
            </a:extLst>
          </p:cNvPr>
          <p:cNvSpPr/>
          <p:nvPr/>
        </p:nvSpPr>
        <p:spPr>
          <a:xfrm>
            <a:off x="609600" y="2222500"/>
            <a:ext cx="1524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E38DC2-9C6F-B583-B6D4-5624EC359DF4}"/>
              </a:ext>
            </a:extLst>
          </p:cNvPr>
          <p:cNvSpPr/>
          <p:nvPr/>
        </p:nvSpPr>
        <p:spPr>
          <a:xfrm>
            <a:off x="609600" y="2222500"/>
            <a:ext cx="15240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41DA4E-4EBA-537C-A668-B71C101DA486}"/>
              </a:ext>
            </a:extLst>
          </p:cNvPr>
          <p:cNvSpPr txBox="1"/>
          <p:nvPr/>
        </p:nvSpPr>
        <p:spPr>
          <a:xfrm>
            <a:off x="736600" y="25146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Describe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2FA369-120E-F187-A807-26E5AEF06CC9}"/>
              </a:ext>
            </a:extLst>
          </p:cNvPr>
          <p:cNvSpPr txBox="1"/>
          <p:nvPr/>
        </p:nvSpPr>
        <p:spPr>
          <a:xfrm>
            <a:off x="749300" y="3136900"/>
            <a:ext cx="1244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Select EN, FR or AR; type or record.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5D65DB1-C302-447F-1D77-FDB98B19CD0D}"/>
              </a:ext>
            </a:extLst>
          </p:cNvPr>
          <p:cNvCxnSpPr/>
          <p:nvPr/>
        </p:nvCxnSpPr>
        <p:spPr>
          <a:xfrm>
            <a:off x="2184400" y="34290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BF167C6-55C6-9435-668E-034E3413CC96}"/>
              </a:ext>
            </a:extLst>
          </p:cNvPr>
          <p:cNvSpPr/>
          <p:nvPr/>
        </p:nvSpPr>
        <p:spPr>
          <a:xfrm>
            <a:off x="2438400" y="2222500"/>
            <a:ext cx="1524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B30BFF-86ED-A445-F59C-72DF46850B70}"/>
              </a:ext>
            </a:extLst>
          </p:cNvPr>
          <p:cNvSpPr/>
          <p:nvPr/>
        </p:nvSpPr>
        <p:spPr>
          <a:xfrm>
            <a:off x="2438400" y="2222500"/>
            <a:ext cx="1524000" cy="889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39E5BD-8972-7F3E-35F9-4697937DED9E}"/>
              </a:ext>
            </a:extLst>
          </p:cNvPr>
          <p:cNvSpPr txBox="1"/>
          <p:nvPr/>
        </p:nvSpPr>
        <p:spPr>
          <a:xfrm>
            <a:off x="2565400" y="25146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Edit transcript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C28D81-3FC0-151C-8343-C335E7B7F196}"/>
              </a:ext>
            </a:extLst>
          </p:cNvPr>
          <p:cNvSpPr txBox="1"/>
          <p:nvPr/>
        </p:nvSpPr>
        <p:spPr>
          <a:xfrm>
            <a:off x="2578100" y="3136900"/>
            <a:ext cx="1244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Correct speech-to-text before processing.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5E92F1-56C4-7C1B-1E30-95E95799C740}"/>
              </a:ext>
            </a:extLst>
          </p:cNvPr>
          <p:cNvCxnSpPr/>
          <p:nvPr/>
        </p:nvCxnSpPr>
        <p:spPr>
          <a:xfrm>
            <a:off x="4013200" y="34290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4CDECF1-E787-E5CD-DEC0-666710FBED8E}"/>
              </a:ext>
            </a:extLst>
          </p:cNvPr>
          <p:cNvSpPr/>
          <p:nvPr/>
        </p:nvSpPr>
        <p:spPr>
          <a:xfrm>
            <a:off x="4267200" y="2222500"/>
            <a:ext cx="1524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10843F-5D99-A6D3-93F8-B729118279B2}"/>
              </a:ext>
            </a:extLst>
          </p:cNvPr>
          <p:cNvSpPr/>
          <p:nvPr/>
        </p:nvSpPr>
        <p:spPr>
          <a:xfrm>
            <a:off x="4267200" y="2222500"/>
            <a:ext cx="1524000" cy="889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51F658-A014-B448-596C-F4987232E416}"/>
              </a:ext>
            </a:extLst>
          </p:cNvPr>
          <p:cNvSpPr txBox="1"/>
          <p:nvPr/>
        </p:nvSpPr>
        <p:spPr>
          <a:xfrm>
            <a:off x="4394200" y="25146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Consent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3BBC0A-4452-9229-B977-E34E7865B41E}"/>
              </a:ext>
            </a:extLst>
          </p:cNvPr>
          <p:cNvSpPr txBox="1"/>
          <p:nvPr/>
        </p:nvSpPr>
        <p:spPr>
          <a:xfrm>
            <a:off x="4406900" y="3136900"/>
            <a:ext cx="1244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Approve sending the text to the assistant.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2261CB-A049-C419-4F94-75628E5831EC}"/>
              </a:ext>
            </a:extLst>
          </p:cNvPr>
          <p:cNvCxnSpPr/>
          <p:nvPr/>
        </p:nvCxnSpPr>
        <p:spPr>
          <a:xfrm>
            <a:off x="5842000" y="34290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356A148-77ED-E0F7-A929-D454E59FB3C2}"/>
              </a:ext>
            </a:extLst>
          </p:cNvPr>
          <p:cNvSpPr/>
          <p:nvPr/>
        </p:nvSpPr>
        <p:spPr>
          <a:xfrm>
            <a:off x="6096000" y="2222500"/>
            <a:ext cx="1524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DB98B9-14E6-9D2E-D3E7-AF0DC97ACF90}"/>
              </a:ext>
            </a:extLst>
          </p:cNvPr>
          <p:cNvSpPr/>
          <p:nvPr/>
        </p:nvSpPr>
        <p:spPr>
          <a:xfrm>
            <a:off x="6096000" y="2222500"/>
            <a:ext cx="1524000" cy="889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5AA179-9474-FE42-97B5-BEC3296D9F8D}"/>
              </a:ext>
            </a:extLst>
          </p:cNvPr>
          <p:cNvSpPr txBox="1"/>
          <p:nvPr/>
        </p:nvSpPr>
        <p:spPr>
          <a:xfrm>
            <a:off x="6223000" y="25146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Interpret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3D3FE4-E683-CF0D-0609-CC347B867017}"/>
              </a:ext>
            </a:extLst>
          </p:cNvPr>
          <p:cNvSpPr txBox="1"/>
          <p:nvPr/>
        </p:nvSpPr>
        <p:spPr>
          <a:xfrm>
            <a:off x="6235700" y="3136900"/>
            <a:ext cx="1244600" cy="4247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Return schema-constrained suggestions.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05C95B9-64A0-CDA2-50A0-E9DBD4F05E4C}"/>
              </a:ext>
            </a:extLst>
          </p:cNvPr>
          <p:cNvCxnSpPr/>
          <p:nvPr/>
        </p:nvCxnSpPr>
        <p:spPr>
          <a:xfrm>
            <a:off x="7670800" y="34290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9EEA274-65BD-3E2D-273B-95E8497D160A}"/>
              </a:ext>
            </a:extLst>
          </p:cNvPr>
          <p:cNvSpPr/>
          <p:nvPr/>
        </p:nvSpPr>
        <p:spPr>
          <a:xfrm>
            <a:off x="7924800" y="2222500"/>
            <a:ext cx="1524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103520-1A6A-8F1F-1CDD-39D882A029A9}"/>
              </a:ext>
            </a:extLst>
          </p:cNvPr>
          <p:cNvSpPr/>
          <p:nvPr/>
        </p:nvSpPr>
        <p:spPr>
          <a:xfrm>
            <a:off x="7924800" y="2222500"/>
            <a:ext cx="1524000" cy="889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696F39-616A-9DE5-F5DC-8A7400101737}"/>
              </a:ext>
            </a:extLst>
          </p:cNvPr>
          <p:cNvSpPr txBox="1"/>
          <p:nvPr/>
        </p:nvSpPr>
        <p:spPr>
          <a:xfrm>
            <a:off x="8051800" y="25146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Review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DBCBC1-4FC7-BA88-5770-105694F13AF8}"/>
              </a:ext>
            </a:extLst>
          </p:cNvPr>
          <p:cNvSpPr txBox="1"/>
          <p:nvPr/>
        </p:nvSpPr>
        <p:spPr>
          <a:xfrm>
            <a:off x="8064500" y="3136900"/>
            <a:ext cx="1244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Accept, edit or reject every item.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7DE4C4D-27F2-CB51-777D-3317BE912A7A}"/>
              </a:ext>
            </a:extLst>
          </p:cNvPr>
          <p:cNvCxnSpPr/>
          <p:nvPr/>
        </p:nvCxnSpPr>
        <p:spPr>
          <a:xfrm>
            <a:off x="9499600" y="34290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5D615C9-AA7F-F2CE-6BD7-CDC483A11630}"/>
              </a:ext>
            </a:extLst>
          </p:cNvPr>
          <p:cNvSpPr/>
          <p:nvPr/>
        </p:nvSpPr>
        <p:spPr>
          <a:xfrm>
            <a:off x="9753600" y="2222500"/>
            <a:ext cx="1524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9DC2F62-9BA5-A39C-5329-85BA7E7BC10F}"/>
              </a:ext>
            </a:extLst>
          </p:cNvPr>
          <p:cNvSpPr/>
          <p:nvPr/>
        </p:nvSpPr>
        <p:spPr>
          <a:xfrm>
            <a:off x="9753600" y="2222500"/>
            <a:ext cx="15240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0D2091-687F-B96C-776B-8AC8155674F4}"/>
              </a:ext>
            </a:extLst>
          </p:cNvPr>
          <p:cNvSpPr txBox="1"/>
          <p:nvPr/>
        </p:nvSpPr>
        <p:spPr>
          <a:xfrm>
            <a:off x="9880600" y="25146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Confirm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43A42F-7C95-2403-0C9F-D034FD125A90}"/>
              </a:ext>
            </a:extLst>
          </p:cNvPr>
          <p:cNvSpPr txBox="1"/>
          <p:nvPr/>
        </p:nvSpPr>
        <p:spPr>
          <a:xfrm>
            <a:off x="9893300" y="3136900"/>
            <a:ext cx="1244600" cy="4247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Symfony validates and saves selected values only.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69CB590-94D7-8A2D-4254-5D54398C077A}"/>
              </a:ext>
            </a:extLst>
          </p:cNvPr>
          <p:cNvSpPr/>
          <p:nvPr/>
        </p:nvSpPr>
        <p:spPr>
          <a:xfrm>
            <a:off x="3492500" y="4953000"/>
            <a:ext cx="5207000" cy="104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 descr="Candidate profile builder with optional AI assistance">
            <a:extLst>
              <a:ext uri="{FF2B5EF4-FFF2-40B4-BE49-F238E27FC236}">
                <a16:creationId xmlns:a16="http://schemas.microsoft.com/office/drawing/2014/main" id="{D2D3C1C4-03DB-1244-460E-F22C85B74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840" y="4991100"/>
            <a:ext cx="154432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361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DD3DB6-8CB3-E1BB-1869-0A8F7096F75D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52338-0168-484F-C872-7C9811F03157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AI EVIDENCE | PROGRAMMATION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5759EA-1997-7F87-214E-361FA29C1ECE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Structured suggestions in English, French and Arabic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DF17B8-5427-10EB-22FE-772500FE357C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Sixty gold-standard narratives covered clean and imperfect wording, abilities, preferences, positions, tasks and safety boundaries.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A82C6C63-445A-1843-F1E3-E610631259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DD12DE-B496-A2AB-5DEB-4628C5E2B3D5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7DFC5C2-43C5-F182-E8EE-222DE24F701F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D27916-4DAD-3CB1-C840-26DE28777ED1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18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7D9CE3C-0A40-AA86-CAEB-64D857AEF85C}"/>
              </a:ext>
            </a:extLst>
          </p:cNvPr>
          <p:cNvSpPr/>
          <p:nvPr/>
        </p:nvSpPr>
        <p:spPr>
          <a:xfrm>
            <a:off x="609600" y="1841500"/>
            <a:ext cx="3429000" cy="2984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English AI profile suggestion evidence">
            <a:extLst>
              <a:ext uri="{FF2B5EF4-FFF2-40B4-BE49-F238E27FC236}">
                <a16:creationId xmlns:a16="http://schemas.microsoft.com/office/drawing/2014/main" id="{2CC169AD-5971-7358-4F95-FB7FFEEB3F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" y="1905000"/>
            <a:ext cx="3302000" cy="1519589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4496C75-2DAC-0016-BB21-D5539C4F4A84}"/>
              </a:ext>
            </a:extLst>
          </p:cNvPr>
          <p:cNvSpPr/>
          <p:nvPr/>
        </p:nvSpPr>
        <p:spPr>
          <a:xfrm>
            <a:off x="609600" y="4826000"/>
            <a:ext cx="3429000" cy="1524000"/>
          </a:xfrm>
          <a:prstGeom prst="rect">
            <a:avLst/>
          </a:prstGeom>
          <a:solidFill>
            <a:srgbClr val="FBFAF7"/>
          </a:solidFill>
          <a:ln w="10160">
            <a:solidFill>
              <a:srgbClr val="FBF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B5F6B82-BCC9-D33D-1FF3-1CAA27B9344D}"/>
              </a:ext>
            </a:extLst>
          </p:cNvPr>
          <p:cNvCxnSpPr/>
          <p:nvPr/>
        </p:nvCxnSpPr>
        <p:spPr>
          <a:xfrm>
            <a:off x="609600" y="4826000"/>
            <a:ext cx="3429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B164553-20D1-F870-EB07-BE1A9CB0AA26}"/>
              </a:ext>
            </a:extLst>
          </p:cNvPr>
          <p:cNvSpPr/>
          <p:nvPr/>
        </p:nvSpPr>
        <p:spPr>
          <a:xfrm>
            <a:off x="4381500" y="1841500"/>
            <a:ext cx="3429000" cy="2984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French AI profile suggestion evidence">
            <a:extLst>
              <a:ext uri="{FF2B5EF4-FFF2-40B4-BE49-F238E27FC236}">
                <a16:creationId xmlns:a16="http://schemas.microsoft.com/office/drawing/2014/main" id="{F4DB06C2-56BA-C25A-9981-C6162886F0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0" y="1905000"/>
            <a:ext cx="3302000" cy="1560207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E5B8B2C-0FC9-E4C0-D008-3923B82456FF}"/>
              </a:ext>
            </a:extLst>
          </p:cNvPr>
          <p:cNvSpPr/>
          <p:nvPr/>
        </p:nvSpPr>
        <p:spPr>
          <a:xfrm>
            <a:off x="4381500" y="4826000"/>
            <a:ext cx="3429000" cy="1524000"/>
          </a:xfrm>
          <a:prstGeom prst="rect">
            <a:avLst/>
          </a:prstGeom>
          <a:solidFill>
            <a:srgbClr val="FBFAF7"/>
          </a:solidFill>
          <a:ln w="10160">
            <a:solidFill>
              <a:srgbClr val="FBF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CB43B66-D8E3-0DBF-AAD5-6914CF899C13}"/>
              </a:ext>
            </a:extLst>
          </p:cNvPr>
          <p:cNvCxnSpPr/>
          <p:nvPr/>
        </p:nvCxnSpPr>
        <p:spPr>
          <a:xfrm>
            <a:off x="4381500" y="4826000"/>
            <a:ext cx="3429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010E5D3-6D49-6DB3-0C62-05099F63561E}"/>
              </a:ext>
            </a:extLst>
          </p:cNvPr>
          <p:cNvSpPr/>
          <p:nvPr/>
        </p:nvSpPr>
        <p:spPr>
          <a:xfrm>
            <a:off x="8153400" y="1841500"/>
            <a:ext cx="3429000" cy="2984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rabic RTL AI profile suggestion evidence">
            <a:extLst>
              <a:ext uri="{FF2B5EF4-FFF2-40B4-BE49-F238E27FC236}">
                <a16:creationId xmlns:a16="http://schemas.microsoft.com/office/drawing/2014/main" id="{3969DE2D-BDDB-6575-338B-B948C3BFFC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900" y="1905000"/>
            <a:ext cx="3302000" cy="1284004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C6D7D4B-90C2-4844-0741-508354B87BE1}"/>
              </a:ext>
            </a:extLst>
          </p:cNvPr>
          <p:cNvSpPr/>
          <p:nvPr/>
        </p:nvSpPr>
        <p:spPr>
          <a:xfrm>
            <a:off x="8153400" y="4826000"/>
            <a:ext cx="3429000" cy="1524000"/>
          </a:xfrm>
          <a:prstGeom prst="rect">
            <a:avLst/>
          </a:prstGeom>
          <a:solidFill>
            <a:srgbClr val="FBFAF7"/>
          </a:solidFill>
          <a:ln w="10160">
            <a:solidFill>
              <a:srgbClr val="FBF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D141E4E-E49E-1CE0-CF27-71916994953D}"/>
              </a:ext>
            </a:extLst>
          </p:cNvPr>
          <p:cNvCxnSpPr/>
          <p:nvPr/>
        </p:nvCxnSpPr>
        <p:spPr>
          <a:xfrm>
            <a:off x="8153400" y="4826000"/>
            <a:ext cx="3429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C3E5CE5-FF09-18B4-8531-FA7470C95151}"/>
              </a:ext>
            </a:extLst>
          </p:cNvPr>
          <p:cNvSpPr txBox="1"/>
          <p:nvPr/>
        </p:nvSpPr>
        <p:spPr>
          <a:xfrm>
            <a:off x="609600" y="4978400"/>
            <a:ext cx="342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565D8"/>
                </a:solidFill>
                <a:latin typeface="Aptos" panose="020B0004020202020204" pitchFamily="34" charset="0"/>
              </a:rPr>
              <a:t>ENGLISH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1DA9FE-B815-26F7-0F26-FF12F838550A}"/>
              </a:ext>
            </a:extLst>
          </p:cNvPr>
          <p:cNvSpPr txBox="1"/>
          <p:nvPr/>
        </p:nvSpPr>
        <p:spPr>
          <a:xfrm>
            <a:off x="4381500" y="4978400"/>
            <a:ext cx="342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57A55"/>
                </a:solidFill>
                <a:latin typeface="Aptos" panose="020B0004020202020204" pitchFamily="34" charset="0"/>
              </a:rPr>
              <a:t>FRENCH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24A7C1-63B8-338E-4E04-240D58270A24}"/>
              </a:ext>
            </a:extLst>
          </p:cNvPr>
          <p:cNvSpPr txBox="1"/>
          <p:nvPr/>
        </p:nvSpPr>
        <p:spPr>
          <a:xfrm>
            <a:off x="8153400" y="4978400"/>
            <a:ext cx="342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A64B2A"/>
                </a:solidFill>
                <a:latin typeface="Aptos" panose="020B0004020202020204" pitchFamily="34" charset="0"/>
              </a:rPr>
              <a:t>ARABIC + RTL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DDBEB7C-B15F-7FEA-689F-A86893FE0FD6}"/>
              </a:ext>
            </a:extLst>
          </p:cNvPr>
          <p:cNvSpPr/>
          <p:nvPr/>
        </p:nvSpPr>
        <p:spPr>
          <a:xfrm>
            <a:off x="1968500" y="5461000"/>
            <a:ext cx="8255000" cy="5588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CAE712-F3E8-4FC0-50FB-32A7C94A1A38}"/>
              </a:ext>
            </a:extLst>
          </p:cNvPr>
          <p:cNvSpPr txBox="1"/>
          <p:nvPr/>
        </p:nvSpPr>
        <p:spPr>
          <a:xfrm>
            <a:off x="2222500" y="5626100"/>
            <a:ext cx="7747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53/60 passed (88.3%) | 7 failures retained | Main weakness: explicit Both work-and-training preference could be omitted</a:t>
            </a:r>
          </a:p>
        </p:txBody>
      </p:sp>
    </p:spTree>
    <p:extLst>
      <p:ext uri="{BB962C8B-B14F-4D97-AF65-F5344CB8AC3E}">
        <p14:creationId xmlns:p14="http://schemas.microsoft.com/office/powerpoint/2010/main" val="794460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37A379-C019-DF5F-1B36-326F08A9FACC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44E4BE-1799-2DA8-E559-3E5F8D23FD82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VOICE INTERACTION | PROGRAMMATION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299522-7FC7-F275-0E97-75D01F580488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Bounded voice-navigation execution path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49F448-EDB4-E895-393D-C9DDC2829AAB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Natural language proposes an action; only the deterministic registry may authorize and execute it.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3220CE74-4639-1B5A-0976-9998243853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3B9E77-4EA6-D533-F026-BB8F847F069E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1C2CAAC-8B95-DA2B-2286-D168D269C148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D8F924-A495-4F30-210E-184FFAFBBB89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19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ED17B44-8156-6681-3278-02FEF9F96EBD}"/>
              </a:ext>
            </a:extLst>
          </p:cNvPr>
          <p:cNvSpPr/>
          <p:nvPr/>
        </p:nvSpPr>
        <p:spPr>
          <a:xfrm>
            <a:off x="355600" y="2286000"/>
            <a:ext cx="1422400" cy="1968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F88A45-581E-7272-FE20-94CDCB928059}"/>
              </a:ext>
            </a:extLst>
          </p:cNvPr>
          <p:cNvSpPr/>
          <p:nvPr/>
        </p:nvSpPr>
        <p:spPr>
          <a:xfrm>
            <a:off x="355600" y="2286000"/>
            <a:ext cx="14224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C965A0-5995-C47B-8EA9-832227BBB217}"/>
              </a:ext>
            </a:extLst>
          </p:cNvPr>
          <p:cNvSpPr txBox="1"/>
          <p:nvPr/>
        </p:nvSpPr>
        <p:spPr>
          <a:xfrm>
            <a:off x="482600" y="2578100"/>
            <a:ext cx="1168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Record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641C32-156D-FCF9-3D4A-E10F62BD6617}"/>
              </a:ext>
            </a:extLst>
          </p:cNvPr>
          <p:cNvSpPr txBox="1"/>
          <p:nvPr/>
        </p:nvSpPr>
        <p:spPr>
          <a:xfrm>
            <a:off x="495300" y="3200400"/>
            <a:ext cx="11430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WebM / Opus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302278-141C-930A-E565-A6632BFA3865}"/>
              </a:ext>
            </a:extLst>
          </p:cNvPr>
          <p:cNvCxnSpPr/>
          <p:nvPr/>
        </p:nvCxnSpPr>
        <p:spPr>
          <a:xfrm>
            <a:off x="1828800" y="327025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A339C5F-0AD8-563A-0511-1C208B4F836E}"/>
              </a:ext>
            </a:extLst>
          </p:cNvPr>
          <p:cNvSpPr/>
          <p:nvPr/>
        </p:nvSpPr>
        <p:spPr>
          <a:xfrm>
            <a:off x="2006600" y="2286000"/>
            <a:ext cx="1422400" cy="1968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F38DB7-C903-9537-4B47-B00D926A17D1}"/>
              </a:ext>
            </a:extLst>
          </p:cNvPr>
          <p:cNvSpPr/>
          <p:nvPr/>
        </p:nvSpPr>
        <p:spPr>
          <a:xfrm>
            <a:off x="2006600" y="2286000"/>
            <a:ext cx="1422400" cy="889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51CF05-2132-F577-ED8E-07BAE4189F7D}"/>
              </a:ext>
            </a:extLst>
          </p:cNvPr>
          <p:cNvSpPr txBox="1"/>
          <p:nvPr/>
        </p:nvSpPr>
        <p:spPr>
          <a:xfrm>
            <a:off x="2133600" y="2578100"/>
            <a:ext cx="1168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Transcribe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26F792-A870-7F53-B7CA-C5772BFC4F00}"/>
              </a:ext>
            </a:extLst>
          </p:cNvPr>
          <p:cNvSpPr txBox="1"/>
          <p:nvPr/>
        </p:nvSpPr>
        <p:spPr>
          <a:xfrm>
            <a:off x="2146300" y="3200400"/>
            <a:ext cx="11430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Whisper-1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A842F70-7EAC-5C86-2732-483C42905B3C}"/>
              </a:ext>
            </a:extLst>
          </p:cNvPr>
          <p:cNvCxnSpPr/>
          <p:nvPr/>
        </p:nvCxnSpPr>
        <p:spPr>
          <a:xfrm>
            <a:off x="3479800" y="327025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9A32A40-DF7E-A92B-EDA4-FE746F12BDAA}"/>
              </a:ext>
            </a:extLst>
          </p:cNvPr>
          <p:cNvSpPr/>
          <p:nvPr/>
        </p:nvSpPr>
        <p:spPr>
          <a:xfrm>
            <a:off x="3657600" y="2286000"/>
            <a:ext cx="1422400" cy="1968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4DF2EE-7871-7DCE-FE5F-BD54A3C73997}"/>
              </a:ext>
            </a:extLst>
          </p:cNvPr>
          <p:cNvSpPr/>
          <p:nvPr/>
        </p:nvSpPr>
        <p:spPr>
          <a:xfrm>
            <a:off x="3657600" y="2286000"/>
            <a:ext cx="1422400" cy="889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97FAB7-EB43-0228-5FEF-9F9F129C0F48}"/>
              </a:ext>
            </a:extLst>
          </p:cNvPr>
          <p:cNvSpPr txBox="1"/>
          <p:nvPr/>
        </p:nvSpPr>
        <p:spPr>
          <a:xfrm>
            <a:off x="3784600" y="2578100"/>
            <a:ext cx="1168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Classify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3EB40E-C0E6-A111-5B65-7895174BBE82}"/>
              </a:ext>
            </a:extLst>
          </p:cNvPr>
          <p:cNvSpPr txBox="1"/>
          <p:nvPr/>
        </p:nvSpPr>
        <p:spPr>
          <a:xfrm>
            <a:off x="3797300" y="3200400"/>
            <a:ext cx="11430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Navigate / action / question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4A95443-2882-98BF-82AF-9FF5FC352761}"/>
              </a:ext>
            </a:extLst>
          </p:cNvPr>
          <p:cNvCxnSpPr/>
          <p:nvPr/>
        </p:nvCxnSpPr>
        <p:spPr>
          <a:xfrm>
            <a:off x="5130800" y="327025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080BEAF-ED74-1569-E577-7C267F741CB5}"/>
              </a:ext>
            </a:extLst>
          </p:cNvPr>
          <p:cNvSpPr/>
          <p:nvPr/>
        </p:nvSpPr>
        <p:spPr>
          <a:xfrm>
            <a:off x="5308600" y="2286000"/>
            <a:ext cx="1422400" cy="1968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3ADBB45-1FC6-00A0-AE8D-B06898697EEB}"/>
              </a:ext>
            </a:extLst>
          </p:cNvPr>
          <p:cNvSpPr/>
          <p:nvPr/>
        </p:nvSpPr>
        <p:spPr>
          <a:xfrm>
            <a:off x="5308600" y="2286000"/>
            <a:ext cx="1422400" cy="889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B308C7-30ED-847D-E1F6-8D50FB1C4195}"/>
              </a:ext>
            </a:extLst>
          </p:cNvPr>
          <p:cNvSpPr txBox="1"/>
          <p:nvPr/>
        </p:nvSpPr>
        <p:spPr>
          <a:xfrm>
            <a:off x="5435600" y="2578100"/>
            <a:ext cx="1168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Propose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5D6F01-B592-552C-F7C9-E7AACB8E3D0B}"/>
              </a:ext>
            </a:extLst>
          </p:cNvPr>
          <p:cNvSpPr txBox="1"/>
          <p:nvPr/>
        </p:nvSpPr>
        <p:spPr>
          <a:xfrm>
            <a:off x="5448300" y="3200400"/>
            <a:ext cx="11430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Canonical command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9F2DCFE-49B0-74B9-DF25-832B50CCAE4F}"/>
              </a:ext>
            </a:extLst>
          </p:cNvPr>
          <p:cNvCxnSpPr/>
          <p:nvPr/>
        </p:nvCxnSpPr>
        <p:spPr>
          <a:xfrm>
            <a:off x="6781800" y="327025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3E2E81F-458E-6CA7-2A70-789FA3560A3F}"/>
              </a:ext>
            </a:extLst>
          </p:cNvPr>
          <p:cNvSpPr/>
          <p:nvPr/>
        </p:nvSpPr>
        <p:spPr>
          <a:xfrm>
            <a:off x="6959600" y="2286000"/>
            <a:ext cx="1422400" cy="1968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819B0F8-EBA4-F76D-6F17-B0EB67683EE6}"/>
              </a:ext>
            </a:extLst>
          </p:cNvPr>
          <p:cNvSpPr/>
          <p:nvPr/>
        </p:nvSpPr>
        <p:spPr>
          <a:xfrm>
            <a:off x="6959600" y="2286000"/>
            <a:ext cx="1422400" cy="889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FBE5E2-8A53-36D1-9F96-08931818650E}"/>
              </a:ext>
            </a:extLst>
          </p:cNvPr>
          <p:cNvSpPr txBox="1"/>
          <p:nvPr/>
        </p:nvSpPr>
        <p:spPr>
          <a:xfrm>
            <a:off x="7086600" y="2578100"/>
            <a:ext cx="1168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Authorize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A525D9-67B2-348C-94F6-89AF6CD10502}"/>
              </a:ext>
            </a:extLst>
          </p:cNvPr>
          <p:cNvSpPr txBox="1"/>
          <p:nvPr/>
        </p:nvSpPr>
        <p:spPr>
          <a:xfrm>
            <a:off x="7099300" y="3200400"/>
            <a:ext cx="11430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Page + role registry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7BA6C48-0792-72E4-B526-D9FCC726EEDF}"/>
              </a:ext>
            </a:extLst>
          </p:cNvPr>
          <p:cNvCxnSpPr/>
          <p:nvPr/>
        </p:nvCxnSpPr>
        <p:spPr>
          <a:xfrm>
            <a:off x="8432800" y="327025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97E5333-BD0C-84BC-D02E-4902FAAD637C}"/>
              </a:ext>
            </a:extLst>
          </p:cNvPr>
          <p:cNvSpPr/>
          <p:nvPr/>
        </p:nvSpPr>
        <p:spPr>
          <a:xfrm>
            <a:off x="8610600" y="2286000"/>
            <a:ext cx="1422400" cy="1968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CC972E-C1E9-0682-15D4-21671DFD3B11}"/>
              </a:ext>
            </a:extLst>
          </p:cNvPr>
          <p:cNvSpPr/>
          <p:nvPr/>
        </p:nvSpPr>
        <p:spPr>
          <a:xfrm>
            <a:off x="8610600" y="2286000"/>
            <a:ext cx="14224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A804CB-6CAE-F068-70F8-AB909E6D8194}"/>
              </a:ext>
            </a:extLst>
          </p:cNvPr>
          <p:cNvSpPr txBox="1"/>
          <p:nvPr/>
        </p:nvSpPr>
        <p:spPr>
          <a:xfrm>
            <a:off x="8737600" y="2578100"/>
            <a:ext cx="1168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Execute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53B93B-0280-C9CA-8874-209F185B347F}"/>
              </a:ext>
            </a:extLst>
          </p:cNvPr>
          <p:cNvSpPr txBox="1"/>
          <p:nvPr/>
        </p:nvSpPr>
        <p:spPr>
          <a:xfrm>
            <a:off x="8750300" y="3200400"/>
            <a:ext cx="11430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Fixed React behavior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06DC434-FE14-E899-FCC0-146F79C9735E}"/>
              </a:ext>
            </a:extLst>
          </p:cNvPr>
          <p:cNvCxnSpPr/>
          <p:nvPr/>
        </p:nvCxnSpPr>
        <p:spPr>
          <a:xfrm>
            <a:off x="10083800" y="327025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ADD9262-5BC6-6F66-91D0-4A4A05A1B8FB}"/>
              </a:ext>
            </a:extLst>
          </p:cNvPr>
          <p:cNvSpPr/>
          <p:nvPr/>
        </p:nvSpPr>
        <p:spPr>
          <a:xfrm>
            <a:off x="10261600" y="2286000"/>
            <a:ext cx="1422400" cy="1968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F33FFD4-811B-60B4-EF6B-0410ADCB72D3}"/>
              </a:ext>
            </a:extLst>
          </p:cNvPr>
          <p:cNvSpPr/>
          <p:nvPr/>
        </p:nvSpPr>
        <p:spPr>
          <a:xfrm>
            <a:off x="10261600" y="2286000"/>
            <a:ext cx="1422400" cy="889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634AFD-2F5A-9782-AD5C-0C3F6E2CB8BA}"/>
              </a:ext>
            </a:extLst>
          </p:cNvPr>
          <p:cNvSpPr txBox="1"/>
          <p:nvPr/>
        </p:nvSpPr>
        <p:spPr>
          <a:xfrm>
            <a:off x="10388600" y="2578100"/>
            <a:ext cx="1168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Feedback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95A013-2987-9D4A-6AF1-228E66F61CD0}"/>
              </a:ext>
            </a:extLst>
          </p:cNvPr>
          <p:cNvSpPr txBox="1"/>
          <p:nvPr/>
        </p:nvSpPr>
        <p:spPr>
          <a:xfrm>
            <a:off x="10401300" y="3200400"/>
            <a:ext cx="11430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Visual + spoken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C117A7B-8114-C81E-91DD-926EE688D875}"/>
              </a:ext>
            </a:extLst>
          </p:cNvPr>
          <p:cNvSpPr/>
          <p:nvPr/>
        </p:nvSpPr>
        <p:spPr>
          <a:xfrm>
            <a:off x="736600" y="4660900"/>
            <a:ext cx="10718800" cy="1168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E01F6E-D7FC-7C10-7395-B935B2D67F1E}"/>
              </a:ext>
            </a:extLst>
          </p:cNvPr>
          <p:cNvSpPr txBox="1"/>
          <p:nvPr/>
        </p:nvSpPr>
        <p:spPr>
          <a:xfrm>
            <a:off x="990600" y="4902200"/>
            <a:ext cx="139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563A4B"/>
                </a:solidFill>
                <a:latin typeface="Aptos" panose="020B0004020202020204" pitchFamily="34" charset="0"/>
              </a:rPr>
              <a:t>Safety boundary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81C5AB-3B42-DA83-B2D8-20D594CC6CA9}"/>
              </a:ext>
            </a:extLst>
          </p:cNvPr>
          <p:cNvSpPr txBox="1"/>
          <p:nvPr/>
        </p:nvSpPr>
        <p:spPr>
          <a:xfrm>
            <a:off x="2540000" y="4851400"/>
            <a:ext cx="8509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>
                <a:solidFill>
                  <a:srgbClr val="17243A"/>
                </a:solidFill>
                <a:latin typeface="Aptos" panose="020B0004020202020204" pitchFamily="34" charset="0"/>
              </a:rPr>
              <a:t>Unregistered routes and cross-role actions are rejected. Submission and reset require confirmation. Context is sanitized and bounded to six turns.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7FAEC46-263A-25D0-4261-1A58B075FE3C}"/>
              </a:ext>
            </a:extLst>
          </p:cNvPr>
          <p:cNvSpPr txBox="1"/>
          <p:nvPr/>
        </p:nvSpPr>
        <p:spPr>
          <a:xfrm>
            <a:off x="990600" y="5384800"/>
            <a:ext cx="100330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70" b="1">
                <a:solidFill>
                  <a:srgbClr val="0B1F49"/>
                </a:solidFill>
                <a:latin typeface="Aptos" panose="020B0004020202020204" pitchFamily="34" charset="0"/>
              </a:rPr>
              <a:t>Evidence: 57/57 automated registry/action-safety checks passed. Quiet commands worked reliably; background noise and dictated email characters required correction in some trials.</a:t>
            </a:r>
          </a:p>
        </p:txBody>
      </p:sp>
    </p:spTree>
    <p:extLst>
      <p:ext uri="{BB962C8B-B14F-4D97-AF65-F5344CB8AC3E}">
        <p14:creationId xmlns:p14="http://schemas.microsoft.com/office/powerpoint/2010/main" val="32349950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EABD6C-24B9-DCE2-4D50-2E8BC4E45CC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21A11F-13C0-7DA4-ACB6-43AA262FB9F2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DECISION ALGORITHM | PROGRAMMATION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AB358E-FD13-197C-176C-920086266A4D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Deterministic compatibility: explainable by construction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283376-655E-11D9-90B3-B1F0B56B1B93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Matching uses controlled expert assessments rather than a learned model trained on unavailable employment outcomes.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7754BAED-0BB0-7559-48FA-4660D85EE0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B62772-E9EF-70DC-E842-C7D7EF99A3D6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F748C3-B181-6CEA-EDC7-9B7693F07D8B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A527A9-8781-D57C-5EBA-33EB019171E7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02D384D-E730-AE9E-3EFB-7C0E124AF3EB}"/>
              </a:ext>
            </a:extLst>
          </p:cNvPr>
          <p:cNvSpPr/>
          <p:nvPr/>
        </p:nvSpPr>
        <p:spPr>
          <a:xfrm>
            <a:off x="609600" y="1841500"/>
            <a:ext cx="6350000" cy="38100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618EE6-2A8E-AC72-8446-FCB97C13D5C2}"/>
              </a:ext>
            </a:extLst>
          </p:cNvPr>
          <p:cNvSpPr txBox="1"/>
          <p:nvPr/>
        </p:nvSpPr>
        <p:spPr>
          <a:xfrm>
            <a:off x="965200" y="2209800"/>
            <a:ext cx="228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 Display" panose="020B0004020202020204" pitchFamily="34" charset="0"/>
              </a:rPr>
              <a:t>Task score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1E4F09-F9C7-C34D-9B6B-ED30E1B37252}"/>
              </a:ext>
            </a:extLst>
          </p:cNvPr>
          <p:cNvSpPr txBox="1"/>
          <p:nvPr/>
        </p:nvSpPr>
        <p:spPr>
          <a:xfrm>
            <a:off x="965200" y="2794000"/>
            <a:ext cx="533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Sum(adjusted weight x feasibility factor)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3C45D16-9953-507F-5AA1-45F27BF81B1D}"/>
              </a:ext>
            </a:extLst>
          </p:cNvPr>
          <p:cNvCxnSpPr/>
          <p:nvPr/>
        </p:nvCxnSpPr>
        <p:spPr>
          <a:xfrm>
            <a:off x="965200" y="3187700"/>
            <a:ext cx="4673600" cy="0"/>
          </a:xfrm>
          <a:prstGeom prst="line">
            <a:avLst/>
          </a:prstGeom>
          <a:ln w="16510">
            <a:solidFill>
              <a:srgbClr val="DD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5405B09-B1E1-0D0E-559F-5658063CF225}"/>
              </a:ext>
            </a:extLst>
          </p:cNvPr>
          <p:cNvSpPr txBox="1"/>
          <p:nvPr/>
        </p:nvSpPr>
        <p:spPr>
          <a:xfrm>
            <a:off x="965200" y="3378200"/>
            <a:ext cx="533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Sum(adjusted weight)  x 100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3A43FC-F41E-90ED-1F65-B184169F0AE0}"/>
              </a:ext>
            </a:extLst>
          </p:cNvPr>
          <p:cNvSpPr txBox="1"/>
          <p:nvPr/>
        </p:nvSpPr>
        <p:spPr>
          <a:xfrm>
            <a:off x="965200" y="4064000"/>
            <a:ext cx="5397500" cy="60324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80">
                <a:solidFill>
                  <a:srgbClr val="DDE7F5"/>
                </a:solidFill>
                <a:latin typeface="Aptos" panose="020B0004020202020204" pitchFamily="34" charset="0"/>
              </a:rPr>
              <a:t>Feasibility: 1.00 feasible | 0.75 with offered assistance | 0.00 avoid
Important task multiplier: 1.5
Practical abilities: 25% and education: 10% when configured
Unsafe mandatory tasks and required abilities remain explicit gates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DFD239C-7766-1EDC-7022-161C4CF91E79}"/>
              </a:ext>
            </a:extLst>
          </p:cNvPr>
          <p:cNvSpPr/>
          <p:nvPr/>
        </p:nvSpPr>
        <p:spPr>
          <a:xfrm>
            <a:off x="7493000" y="1841500"/>
            <a:ext cx="4089400" cy="279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Candidate compatibility results with explanation">
            <a:extLst>
              <a:ext uri="{FF2B5EF4-FFF2-40B4-BE49-F238E27FC236}">
                <a16:creationId xmlns:a16="http://schemas.microsoft.com/office/drawing/2014/main" id="{84684C8D-EDAD-894E-2AFD-4E21A8E187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100" y="1984375"/>
            <a:ext cx="4013200" cy="250825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B627E8D-326F-978A-83E4-9814A07B8642}"/>
              </a:ext>
            </a:extLst>
          </p:cNvPr>
          <p:cNvSpPr/>
          <p:nvPr/>
        </p:nvSpPr>
        <p:spPr>
          <a:xfrm>
            <a:off x="7493000" y="4851400"/>
            <a:ext cx="40894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5B87B5-1D16-9D92-341A-5E1C75A2C4E2}"/>
              </a:ext>
            </a:extLst>
          </p:cNvPr>
          <p:cNvSpPr/>
          <p:nvPr/>
        </p:nvSpPr>
        <p:spPr>
          <a:xfrm>
            <a:off x="7493000" y="4851400"/>
            <a:ext cx="63500" cy="9144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4FFD53-8B02-138C-3752-CC590CE84A45}"/>
              </a:ext>
            </a:extLst>
          </p:cNvPr>
          <p:cNvSpPr txBox="1"/>
          <p:nvPr/>
        </p:nvSpPr>
        <p:spPr>
          <a:xfrm>
            <a:off x="7696200" y="4991100"/>
            <a:ext cx="3784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45 / 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73E5DC-801B-950B-8DE3-F25D6236A031}"/>
              </a:ext>
            </a:extLst>
          </p:cNvPr>
          <p:cNvSpPr txBox="1"/>
          <p:nvPr/>
        </p:nvSpPr>
        <p:spPr>
          <a:xfrm>
            <a:off x="7696200" y="5397500"/>
            <a:ext cx="3784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staging formula, eligibility and determinism cases passed</a:t>
            </a:r>
          </a:p>
        </p:txBody>
      </p:sp>
    </p:spTree>
    <p:extLst>
      <p:ext uri="{BB962C8B-B14F-4D97-AF65-F5344CB8AC3E}">
        <p14:creationId xmlns:p14="http://schemas.microsoft.com/office/powerpoint/2010/main" val="4254738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775180-EF84-092F-6870-4FDB4C4F45F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BA960A-BF33-FD86-B414-701C0E494D2D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EMPLOYER WORKFLOW | PROGRAMMATION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BCEBD9-92E5-4467-78BC-5ED009203952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From controlled role to published job or training program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FC3833-2633-95DC-3AD6-B48AAF2896F8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Employers configure the real opportunity; the catalogue supplies consistent tasks and matching inputs.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450F8390-EFD9-3770-5187-E685EF46A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8220D6C-B2F8-5172-28AB-7285D0ED7DDE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7A69674-B6EF-BC04-9239-2FB57D3F5F69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590118-73A8-47FD-63DD-5E3E451AF5CF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5729168-4F80-A94B-F15D-6A3BCC607092}"/>
              </a:ext>
            </a:extLst>
          </p:cNvPr>
          <p:cNvSpPr/>
          <p:nvPr/>
        </p:nvSpPr>
        <p:spPr>
          <a:xfrm>
            <a:off x="609600" y="2222500"/>
            <a:ext cx="152400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63C7A3-F08A-1689-348B-81A104715DDF}"/>
              </a:ext>
            </a:extLst>
          </p:cNvPr>
          <p:cNvSpPr/>
          <p:nvPr/>
        </p:nvSpPr>
        <p:spPr>
          <a:xfrm>
            <a:off x="609600" y="2222500"/>
            <a:ext cx="15240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07C9C6-15A1-F8D8-FFEA-C6EFB960E866}"/>
              </a:ext>
            </a:extLst>
          </p:cNvPr>
          <p:cNvSpPr txBox="1"/>
          <p:nvPr/>
        </p:nvSpPr>
        <p:spPr>
          <a:xfrm>
            <a:off x="736600" y="25146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Choose type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01CBBC-8726-EC5E-71D0-6FB503C42F26}"/>
              </a:ext>
            </a:extLst>
          </p:cNvPr>
          <p:cNvSpPr txBox="1"/>
          <p:nvPr/>
        </p:nvSpPr>
        <p:spPr>
          <a:xfrm>
            <a:off x="749300" y="3136900"/>
            <a:ext cx="1244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Job or hospitality training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ADFB52A-BB5B-EBE5-BE74-FC2551F4A8DA}"/>
              </a:ext>
            </a:extLst>
          </p:cNvPr>
          <p:cNvCxnSpPr/>
          <p:nvPr/>
        </p:nvCxnSpPr>
        <p:spPr>
          <a:xfrm>
            <a:off x="2184400" y="33655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6D50C39-46BB-597E-9F42-FE74A42A9D0C}"/>
              </a:ext>
            </a:extLst>
          </p:cNvPr>
          <p:cNvSpPr/>
          <p:nvPr/>
        </p:nvSpPr>
        <p:spPr>
          <a:xfrm>
            <a:off x="2438400" y="2222500"/>
            <a:ext cx="152400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66EEF6-9B78-E079-4EF8-8A8E24A62BFE}"/>
              </a:ext>
            </a:extLst>
          </p:cNvPr>
          <p:cNvSpPr/>
          <p:nvPr/>
        </p:nvSpPr>
        <p:spPr>
          <a:xfrm>
            <a:off x="2438400" y="2222500"/>
            <a:ext cx="1524000" cy="889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0BD81F-7321-B6C6-20EE-D5F9FC94AC37}"/>
              </a:ext>
            </a:extLst>
          </p:cNvPr>
          <p:cNvSpPr txBox="1"/>
          <p:nvPr/>
        </p:nvSpPr>
        <p:spPr>
          <a:xfrm>
            <a:off x="2565400" y="25146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Choose role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660A78-F15C-53CB-DDE4-DF434BF5D243}"/>
              </a:ext>
            </a:extLst>
          </p:cNvPr>
          <p:cNvSpPr txBox="1"/>
          <p:nvPr/>
        </p:nvSpPr>
        <p:spPr>
          <a:xfrm>
            <a:off x="2578100" y="3136900"/>
            <a:ext cx="1244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One of 15 controlled positions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BD950F2-6AEB-40EB-67F0-4CBC00AA532A}"/>
              </a:ext>
            </a:extLst>
          </p:cNvPr>
          <p:cNvCxnSpPr/>
          <p:nvPr/>
        </p:nvCxnSpPr>
        <p:spPr>
          <a:xfrm>
            <a:off x="4013200" y="33655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A9ABA91-4E88-4AC1-54A4-D3EB100EF3D3}"/>
              </a:ext>
            </a:extLst>
          </p:cNvPr>
          <p:cNvSpPr/>
          <p:nvPr/>
        </p:nvSpPr>
        <p:spPr>
          <a:xfrm>
            <a:off x="4267200" y="2222500"/>
            <a:ext cx="152400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996746-33E8-091B-014B-78E83F3771F0}"/>
              </a:ext>
            </a:extLst>
          </p:cNvPr>
          <p:cNvSpPr/>
          <p:nvPr/>
        </p:nvSpPr>
        <p:spPr>
          <a:xfrm>
            <a:off x="4267200" y="2222500"/>
            <a:ext cx="1524000" cy="889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7D73F5-E218-6EDA-7A24-8881EF6B7A75}"/>
              </a:ext>
            </a:extLst>
          </p:cNvPr>
          <p:cNvSpPr txBox="1"/>
          <p:nvPr/>
        </p:nvSpPr>
        <p:spPr>
          <a:xfrm>
            <a:off x="4394200" y="25146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Load tasks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5447ED-7DF2-2254-74B0-A474E0B7ABEC}"/>
              </a:ext>
            </a:extLst>
          </p:cNvPr>
          <p:cNvSpPr txBox="1"/>
          <p:nvPr/>
        </p:nvSpPr>
        <p:spPr>
          <a:xfrm>
            <a:off x="4406900" y="3136900"/>
            <a:ext cx="1244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Approved catalogue duties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035A81-CAF3-2549-DC45-7731EE9B075A}"/>
              </a:ext>
            </a:extLst>
          </p:cNvPr>
          <p:cNvCxnSpPr/>
          <p:nvPr/>
        </p:nvCxnSpPr>
        <p:spPr>
          <a:xfrm>
            <a:off x="5842000" y="33655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9BD3C4-30A7-983E-C636-90E7B2DBF200}"/>
              </a:ext>
            </a:extLst>
          </p:cNvPr>
          <p:cNvSpPr/>
          <p:nvPr/>
        </p:nvSpPr>
        <p:spPr>
          <a:xfrm>
            <a:off x="6096000" y="2222500"/>
            <a:ext cx="152400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C17A86-A569-EE2C-EA7A-8AE4DDC588C9}"/>
              </a:ext>
            </a:extLst>
          </p:cNvPr>
          <p:cNvSpPr/>
          <p:nvPr/>
        </p:nvSpPr>
        <p:spPr>
          <a:xfrm>
            <a:off x="6096000" y="2222500"/>
            <a:ext cx="1524000" cy="889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0F2AF7-AEEC-AACB-2322-A7B88925E998}"/>
              </a:ext>
            </a:extLst>
          </p:cNvPr>
          <p:cNvSpPr txBox="1"/>
          <p:nvPr/>
        </p:nvSpPr>
        <p:spPr>
          <a:xfrm>
            <a:off x="6223000" y="25146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Set requirements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F0128D-B3A6-81F4-84DB-600F7A40DAA5}"/>
              </a:ext>
            </a:extLst>
          </p:cNvPr>
          <p:cNvSpPr txBox="1"/>
          <p:nvPr/>
        </p:nvSpPr>
        <p:spPr>
          <a:xfrm>
            <a:off x="6235700" y="3136900"/>
            <a:ext cx="1244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Education and practical abilities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0C5C905-7A5F-C1F9-89FC-8AFA8D473F6E}"/>
              </a:ext>
            </a:extLst>
          </p:cNvPr>
          <p:cNvCxnSpPr/>
          <p:nvPr/>
        </p:nvCxnSpPr>
        <p:spPr>
          <a:xfrm>
            <a:off x="7670800" y="33655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DB10CC4-2744-D945-128A-6379F0AD16DC}"/>
              </a:ext>
            </a:extLst>
          </p:cNvPr>
          <p:cNvSpPr/>
          <p:nvPr/>
        </p:nvSpPr>
        <p:spPr>
          <a:xfrm>
            <a:off x="7924800" y="2222500"/>
            <a:ext cx="152400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9862ED9-0CDE-ED81-E394-B4DC80A815B5}"/>
              </a:ext>
            </a:extLst>
          </p:cNvPr>
          <p:cNvSpPr/>
          <p:nvPr/>
        </p:nvSpPr>
        <p:spPr>
          <a:xfrm>
            <a:off x="7924800" y="2222500"/>
            <a:ext cx="1524000" cy="889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EE664D-8CED-1A0D-9D8A-22C870B77B36}"/>
              </a:ext>
            </a:extLst>
          </p:cNvPr>
          <p:cNvSpPr txBox="1"/>
          <p:nvPr/>
        </p:nvSpPr>
        <p:spPr>
          <a:xfrm>
            <a:off x="8051800" y="25146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Set support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5D87D8-7947-F841-1804-09CD27573722}"/>
              </a:ext>
            </a:extLst>
          </p:cNvPr>
          <p:cNvSpPr txBox="1"/>
          <p:nvPr/>
        </p:nvSpPr>
        <p:spPr>
          <a:xfrm>
            <a:off x="8064500" y="3136900"/>
            <a:ext cx="1244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Important tasks and assistance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C93F6C7-F37D-54E1-40C7-D00EAD78C6CF}"/>
              </a:ext>
            </a:extLst>
          </p:cNvPr>
          <p:cNvCxnSpPr/>
          <p:nvPr/>
        </p:nvCxnSpPr>
        <p:spPr>
          <a:xfrm>
            <a:off x="9499600" y="33655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FA1A318-F861-5B66-0648-517F2921F519}"/>
              </a:ext>
            </a:extLst>
          </p:cNvPr>
          <p:cNvSpPr/>
          <p:nvPr/>
        </p:nvSpPr>
        <p:spPr>
          <a:xfrm>
            <a:off x="9753600" y="2222500"/>
            <a:ext cx="152400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F5057C2-C2DD-0E05-A953-AA40FBBE61F7}"/>
              </a:ext>
            </a:extLst>
          </p:cNvPr>
          <p:cNvSpPr/>
          <p:nvPr/>
        </p:nvSpPr>
        <p:spPr>
          <a:xfrm>
            <a:off x="9753600" y="2222500"/>
            <a:ext cx="15240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9BCDAD-A0DC-80BC-9BEF-335A69004146}"/>
              </a:ext>
            </a:extLst>
          </p:cNvPr>
          <p:cNvSpPr txBox="1"/>
          <p:nvPr/>
        </p:nvSpPr>
        <p:spPr>
          <a:xfrm>
            <a:off x="9880600" y="25146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Publish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C2DCF1A-6238-EECB-6652-16F5E068E917}"/>
              </a:ext>
            </a:extLst>
          </p:cNvPr>
          <p:cNvSpPr txBox="1"/>
          <p:nvPr/>
        </p:nvSpPr>
        <p:spPr>
          <a:xfrm>
            <a:off x="9893300" y="3136900"/>
            <a:ext cx="1244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Backend validation and matching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E706527-0479-F064-A980-3AC1F932CB0A}"/>
              </a:ext>
            </a:extLst>
          </p:cNvPr>
          <p:cNvSpPr/>
          <p:nvPr/>
        </p:nvSpPr>
        <p:spPr>
          <a:xfrm>
            <a:off x="3492500" y="4851400"/>
            <a:ext cx="5207000" cy="1206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 descr="Employer job or training requirements screen">
            <a:extLst>
              <a:ext uri="{FF2B5EF4-FFF2-40B4-BE49-F238E27FC236}">
                <a16:creationId xmlns:a16="http://schemas.microsoft.com/office/drawing/2014/main" id="{5BB1A47D-FD15-7FC0-5EE2-2FDF564B43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760" y="4889500"/>
            <a:ext cx="1808480" cy="113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552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1BDF30-9A44-0370-1565-76BFD26A89A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4906F7-EAB3-5BF8-A870-9E55EDF556E4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INTEGRATED WORKFLOW | PROGRAMMATION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5D2418-38A6-CD8A-F07B-D46751CF6B24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Human-controlled recruitment and auditable outcomes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1664F-34CC-1839-B2E5-83E4DE3B041D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Each role contributes a bounded decision; no single AI response creates an employment outcome.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AA638902-777C-A26E-78B1-176B69333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FE829E-2286-444C-312C-C795615EBE15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5FD969A-E719-108E-F0F2-77A661764570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74A968-9902-771D-7A48-369508C0555E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22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FF6200E-9B5D-D0A1-3F63-9669446C59C1}"/>
              </a:ext>
            </a:extLst>
          </p:cNvPr>
          <p:cNvSpPr/>
          <p:nvPr/>
        </p:nvSpPr>
        <p:spPr>
          <a:xfrm>
            <a:off x="609600" y="2260600"/>
            <a:ext cx="1905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1B7426-C85B-ADBD-06FF-81AE762F88A8}"/>
              </a:ext>
            </a:extLst>
          </p:cNvPr>
          <p:cNvSpPr/>
          <p:nvPr/>
        </p:nvSpPr>
        <p:spPr>
          <a:xfrm>
            <a:off x="609600" y="2260600"/>
            <a:ext cx="19050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3099CB-5A0C-B009-1175-522A8D3CF0FE}"/>
              </a:ext>
            </a:extLst>
          </p:cNvPr>
          <p:cNvSpPr txBox="1"/>
          <p:nvPr/>
        </p:nvSpPr>
        <p:spPr>
          <a:xfrm>
            <a:off x="736600" y="25527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Candidate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89F5B9-7FBC-9E96-3BB9-9C49F2F37125}"/>
              </a:ext>
            </a:extLst>
          </p:cNvPr>
          <p:cNvSpPr txBox="1"/>
          <p:nvPr/>
        </p:nvSpPr>
        <p:spPr>
          <a:xfrm>
            <a:off x="749300" y="3175000"/>
            <a:ext cx="1625600" cy="4247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Verified profile
Interests + abilities
Chooses opportunity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F045603-B17C-C6E0-7C48-30BD4E33B05F}"/>
              </a:ext>
            </a:extLst>
          </p:cNvPr>
          <p:cNvCxnSpPr/>
          <p:nvPr/>
        </p:nvCxnSpPr>
        <p:spPr>
          <a:xfrm>
            <a:off x="2565400" y="34671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6B93E9B-79A9-5252-184A-972F15D7B35F}"/>
              </a:ext>
            </a:extLst>
          </p:cNvPr>
          <p:cNvSpPr/>
          <p:nvPr/>
        </p:nvSpPr>
        <p:spPr>
          <a:xfrm>
            <a:off x="3022600" y="2260600"/>
            <a:ext cx="1905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C890D9-A734-CFBD-B85F-E8218E4E4C66}"/>
              </a:ext>
            </a:extLst>
          </p:cNvPr>
          <p:cNvSpPr/>
          <p:nvPr/>
        </p:nvSpPr>
        <p:spPr>
          <a:xfrm>
            <a:off x="3022600" y="2260600"/>
            <a:ext cx="1905000" cy="889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64D1F3-4B8E-12E7-76CB-34D878695BC5}"/>
              </a:ext>
            </a:extLst>
          </p:cNvPr>
          <p:cNvSpPr txBox="1"/>
          <p:nvPr/>
        </p:nvSpPr>
        <p:spPr>
          <a:xfrm>
            <a:off x="3149600" y="25527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Compatibility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ECE771-4010-6288-5458-3F3AA83BCE3D}"/>
              </a:ext>
            </a:extLst>
          </p:cNvPr>
          <p:cNvSpPr txBox="1"/>
          <p:nvPr/>
        </p:nvSpPr>
        <p:spPr>
          <a:xfrm>
            <a:off x="3162300" y="3175000"/>
            <a:ext cx="1625600" cy="4247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Deterministic score
Task explanation
Eligibility gates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A3F4EB1-7FF4-FEF4-21E8-BA00B25246A7}"/>
              </a:ext>
            </a:extLst>
          </p:cNvPr>
          <p:cNvCxnSpPr/>
          <p:nvPr/>
        </p:nvCxnSpPr>
        <p:spPr>
          <a:xfrm>
            <a:off x="4978400" y="34671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7887D28-FC6F-C381-7218-267C62A168F9}"/>
              </a:ext>
            </a:extLst>
          </p:cNvPr>
          <p:cNvSpPr/>
          <p:nvPr/>
        </p:nvSpPr>
        <p:spPr>
          <a:xfrm>
            <a:off x="5435600" y="2260600"/>
            <a:ext cx="1905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D9C368-0A57-55D4-FFA5-3943CE36441E}"/>
              </a:ext>
            </a:extLst>
          </p:cNvPr>
          <p:cNvSpPr/>
          <p:nvPr/>
        </p:nvSpPr>
        <p:spPr>
          <a:xfrm>
            <a:off x="5435600" y="2260600"/>
            <a:ext cx="1905000" cy="889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97E10E-40C8-B9D1-54DD-C4491375AFEF}"/>
              </a:ext>
            </a:extLst>
          </p:cNvPr>
          <p:cNvSpPr txBox="1"/>
          <p:nvPr/>
        </p:nvSpPr>
        <p:spPr>
          <a:xfrm>
            <a:off x="5562600" y="25527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Application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DBDF2C-B2C9-7F6D-0EC3-E11B626E5563}"/>
              </a:ext>
            </a:extLst>
          </p:cNvPr>
          <p:cNvSpPr txBox="1"/>
          <p:nvPr/>
        </p:nvSpPr>
        <p:spPr>
          <a:xfrm>
            <a:off x="5575300" y="3175000"/>
            <a:ext cx="1625600" cy="4247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Candidate confirms
Documents stay private
Snapshot recorded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F3AAA7F-5F3B-9E98-DC92-5BCC1D3EA7F2}"/>
              </a:ext>
            </a:extLst>
          </p:cNvPr>
          <p:cNvCxnSpPr/>
          <p:nvPr/>
        </p:nvCxnSpPr>
        <p:spPr>
          <a:xfrm>
            <a:off x="7391400" y="34671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5099557-45E8-7DDA-940A-CD704F8E8DC6}"/>
              </a:ext>
            </a:extLst>
          </p:cNvPr>
          <p:cNvSpPr/>
          <p:nvPr/>
        </p:nvSpPr>
        <p:spPr>
          <a:xfrm>
            <a:off x="7848600" y="2260600"/>
            <a:ext cx="1905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9919B8-AC46-5AD5-7DA3-FC8A680B182F}"/>
              </a:ext>
            </a:extLst>
          </p:cNvPr>
          <p:cNvSpPr/>
          <p:nvPr/>
        </p:nvSpPr>
        <p:spPr>
          <a:xfrm>
            <a:off x="7848600" y="2260600"/>
            <a:ext cx="1905000" cy="889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D9A0D9-383C-D7E7-A058-20A0475FBB08}"/>
              </a:ext>
            </a:extLst>
          </p:cNvPr>
          <p:cNvSpPr txBox="1"/>
          <p:nvPr/>
        </p:nvSpPr>
        <p:spPr>
          <a:xfrm>
            <a:off x="7975600" y="25527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Employer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B718D8-8366-6484-BE2D-49FD166D7C5D}"/>
              </a:ext>
            </a:extLst>
          </p:cNvPr>
          <p:cNvSpPr txBox="1"/>
          <p:nvPr/>
        </p:nvSpPr>
        <p:spPr>
          <a:xfrm>
            <a:off x="7988300" y="3175000"/>
            <a:ext cx="1625600" cy="4247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Reviews application
Changes status
Offers human decision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929CF27-B851-52B9-4B2C-FE81BD3A18C5}"/>
              </a:ext>
            </a:extLst>
          </p:cNvPr>
          <p:cNvCxnSpPr/>
          <p:nvPr/>
        </p:nvCxnSpPr>
        <p:spPr>
          <a:xfrm>
            <a:off x="9804400" y="34671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9CE5697-797A-ED21-39A5-5AD1E3ED7A57}"/>
              </a:ext>
            </a:extLst>
          </p:cNvPr>
          <p:cNvSpPr/>
          <p:nvPr/>
        </p:nvSpPr>
        <p:spPr>
          <a:xfrm>
            <a:off x="10261600" y="2260600"/>
            <a:ext cx="13208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52F3FA1-3BCE-C45E-4570-E0E24E9ED113}"/>
              </a:ext>
            </a:extLst>
          </p:cNvPr>
          <p:cNvSpPr/>
          <p:nvPr/>
        </p:nvSpPr>
        <p:spPr>
          <a:xfrm>
            <a:off x="10261600" y="2260600"/>
            <a:ext cx="1320800" cy="889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E32C8C-AC92-2545-8D5A-8A948C3AEACB}"/>
              </a:ext>
            </a:extLst>
          </p:cNvPr>
          <p:cNvSpPr txBox="1"/>
          <p:nvPr/>
        </p:nvSpPr>
        <p:spPr>
          <a:xfrm>
            <a:off x="10388600" y="2552700"/>
            <a:ext cx="1066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Outcome audit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692749-85E7-2EE6-78C1-C7ADD9931CFC}"/>
              </a:ext>
            </a:extLst>
          </p:cNvPr>
          <p:cNvSpPr txBox="1"/>
          <p:nvPr/>
        </p:nvSpPr>
        <p:spPr>
          <a:xfrm>
            <a:off x="10401300" y="3175000"/>
            <a:ext cx="1041400" cy="4247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Previous/new status
Actor + timestamp
Notification result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D418AD-0340-0B04-9048-4C0286273330}"/>
              </a:ext>
            </a:extLst>
          </p:cNvPr>
          <p:cNvSpPr txBox="1"/>
          <p:nvPr/>
        </p:nvSpPr>
        <p:spPr>
          <a:xfrm>
            <a:off x="1778000" y="5308600"/>
            <a:ext cx="863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0B1F49"/>
                </a:solidFill>
                <a:latin typeface="Aptos Display" panose="020B0004020202020204" pitchFamily="34" charset="0"/>
              </a:rPr>
              <a:t>Verifier authorizes disability-card evidence | Administrator maintains controlled catalogues and users</a:t>
            </a:r>
          </a:p>
        </p:txBody>
      </p:sp>
    </p:spTree>
    <p:extLst>
      <p:ext uri="{BB962C8B-B14F-4D97-AF65-F5344CB8AC3E}">
        <p14:creationId xmlns:p14="http://schemas.microsoft.com/office/powerpoint/2010/main" val="200063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E44173-06A0-CE09-0390-D8EED2D24E8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1E90AE-F969-CB4E-D7A8-9E274A735D9E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900" b="1">
                <a:solidFill>
                  <a:srgbClr val="A64B2A"/>
                </a:solidFill>
                <a:latin typeface="Aptos" panose="020B0004020202020204" pitchFamily="34" charset="0"/>
              </a:rPr>
              <a:t>TESTS ET MISE AU POINT</a:t>
            </a:r>
            <a:endParaRPr lang="en-US" sz="900" b="1">
              <a:solidFill>
                <a:srgbClr val="A64B2A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010FBC-FA15-5437-351B-E4CAEFCA8D88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Verification and validation across the lifecycle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9F3C9F-67AD-1798-22F3-D087BE1A157C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Verification asks whether specifications were implemented correctly; validation asks whether the right system was built for users and context.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D1CB2860-867B-6E38-F536-0055F70D6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351835-2690-6214-8954-79346FC99239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C8F19E0-A897-7D9C-7A98-5DC4DBDA39E6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7C05A3-22C8-5685-739C-D336A10A8044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23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F1E31A3-DE04-3FFE-0CF0-6A01E24BC654}"/>
              </a:ext>
            </a:extLst>
          </p:cNvPr>
          <p:cNvSpPr/>
          <p:nvPr/>
        </p:nvSpPr>
        <p:spPr>
          <a:xfrm>
            <a:off x="1524000" y="4978400"/>
            <a:ext cx="9144000" cy="609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BEB3FB-57CC-2FA5-01D6-AB905D56309A}"/>
              </a:ext>
            </a:extLst>
          </p:cNvPr>
          <p:cNvSpPr/>
          <p:nvPr/>
        </p:nvSpPr>
        <p:spPr>
          <a:xfrm>
            <a:off x="1524000" y="4978400"/>
            <a:ext cx="88900" cy="6096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E495EC-2714-44DB-18A1-44C2B648AEC5}"/>
              </a:ext>
            </a:extLst>
          </p:cNvPr>
          <p:cNvSpPr txBox="1"/>
          <p:nvPr/>
        </p:nvSpPr>
        <p:spPr>
          <a:xfrm>
            <a:off x="1752600" y="5080000"/>
            <a:ext cx="493776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b="1">
                <a:solidFill>
                  <a:srgbClr val="563A4B"/>
                </a:solidFill>
                <a:latin typeface="Aptos" panose="020B0004020202020204" pitchFamily="34" charset="0"/>
              </a:rPr>
              <a:t>Human and assistive-technology evaluation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576C51-696D-DDF4-54CF-7735154B47A9}"/>
              </a:ext>
            </a:extLst>
          </p:cNvPr>
          <p:cNvSpPr txBox="1"/>
          <p:nvPr/>
        </p:nvSpPr>
        <p:spPr>
          <a:xfrm>
            <a:off x="6644640" y="5080000"/>
            <a:ext cx="3749040" cy="1292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40">
                <a:solidFill>
                  <a:srgbClr val="17243A"/>
                </a:solidFill>
                <a:latin typeface="Aptos" panose="020B0004020202020204" pitchFamily="34" charset="0"/>
              </a:rPr>
              <a:t>20-person Arc en Ciel session + separate JAWS workflow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D39E51B-F06E-B2C1-B5F4-ECF1E2EBFA7D}"/>
              </a:ext>
            </a:extLst>
          </p:cNvPr>
          <p:cNvSpPr/>
          <p:nvPr/>
        </p:nvSpPr>
        <p:spPr>
          <a:xfrm>
            <a:off x="2095500" y="4216400"/>
            <a:ext cx="8001000" cy="609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CC1FDB-CEA7-9F54-FFCD-CA83CC03D4F4}"/>
              </a:ext>
            </a:extLst>
          </p:cNvPr>
          <p:cNvSpPr/>
          <p:nvPr/>
        </p:nvSpPr>
        <p:spPr>
          <a:xfrm>
            <a:off x="2095500" y="4216400"/>
            <a:ext cx="88900" cy="6096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9BDA04-FDD5-966E-8E1A-8B6A15482C8A}"/>
              </a:ext>
            </a:extLst>
          </p:cNvPr>
          <p:cNvSpPr txBox="1"/>
          <p:nvPr/>
        </p:nvSpPr>
        <p:spPr>
          <a:xfrm>
            <a:off x="2324100" y="4318000"/>
            <a:ext cx="432054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b="1">
                <a:solidFill>
                  <a:srgbClr val="A64B2A"/>
                </a:solidFill>
                <a:latin typeface="Aptos" panose="020B0004020202020204" pitchFamily="34" charset="0"/>
              </a:rPr>
              <a:t>Cloud staging quality register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AF0DB4-C454-F8E3-E9B6-A1C0CFE8947A}"/>
              </a:ext>
            </a:extLst>
          </p:cNvPr>
          <p:cNvSpPr txBox="1"/>
          <p:nvPr/>
        </p:nvSpPr>
        <p:spPr>
          <a:xfrm>
            <a:off x="6576060" y="4318000"/>
            <a:ext cx="3280410" cy="1292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40">
                <a:solidFill>
                  <a:srgbClr val="17243A"/>
                </a:solidFill>
                <a:latin typeface="Aptos" panose="020B0004020202020204" pitchFamily="34" charset="0"/>
              </a:rPr>
              <a:t>310 planned and executed cases across ten areas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82CB389-4BE6-D846-9486-3EF02F04E5D5}"/>
              </a:ext>
            </a:extLst>
          </p:cNvPr>
          <p:cNvSpPr/>
          <p:nvPr/>
        </p:nvSpPr>
        <p:spPr>
          <a:xfrm>
            <a:off x="2667000" y="3454400"/>
            <a:ext cx="6858000" cy="609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11A711-8464-8C96-56F9-B187FED0AC57}"/>
              </a:ext>
            </a:extLst>
          </p:cNvPr>
          <p:cNvSpPr/>
          <p:nvPr/>
        </p:nvSpPr>
        <p:spPr>
          <a:xfrm>
            <a:off x="2667000" y="3454400"/>
            <a:ext cx="88900" cy="609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A1E25E-5156-B244-0A1B-16FB8ACAED9F}"/>
              </a:ext>
            </a:extLst>
          </p:cNvPr>
          <p:cNvSpPr txBox="1"/>
          <p:nvPr/>
        </p:nvSpPr>
        <p:spPr>
          <a:xfrm>
            <a:off x="2895600" y="3556000"/>
            <a:ext cx="370332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b="1">
                <a:solidFill>
                  <a:srgbClr val="1565D8"/>
                </a:solidFill>
                <a:latin typeface="Aptos" panose="020B0004020202020204" pitchFamily="34" charset="0"/>
              </a:rPr>
              <a:t>Browser end-to-end and integration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629F6F-F570-96F1-005D-4001690F729F}"/>
              </a:ext>
            </a:extLst>
          </p:cNvPr>
          <p:cNvSpPr txBox="1"/>
          <p:nvPr/>
        </p:nvSpPr>
        <p:spPr>
          <a:xfrm>
            <a:off x="6507480" y="3556000"/>
            <a:ext cx="2811780" cy="1292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40">
                <a:solidFill>
                  <a:srgbClr val="17243A"/>
                </a:solidFill>
                <a:latin typeface="Aptos" panose="020B0004020202020204" pitchFamily="34" charset="0"/>
              </a:rPr>
              <a:t>26/26 browser scenarios + 25/25 API checks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5A6000B-54BD-2EAD-9F30-B2564678F497}"/>
              </a:ext>
            </a:extLst>
          </p:cNvPr>
          <p:cNvSpPr/>
          <p:nvPr/>
        </p:nvSpPr>
        <p:spPr>
          <a:xfrm>
            <a:off x="3238500" y="2692400"/>
            <a:ext cx="5715000" cy="609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E3E656-EE91-9448-8A19-A8D04D9806EE}"/>
              </a:ext>
            </a:extLst>
          </p:cNvPr>
          <p:cNvSpPr/>
          <p:nvPr/>
        </p:nvSpPr>
        <p:spPr>
          <a:xfrm>
            <a:off x="3238500" y="2692400"/>
            <a:ext cx="88900" cy="6096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419E56-2A68-3610-8B15-F62315663FCB}"/>
              </a:ext>
            </a:extLst>
          </p:cNvPr>
          <p:cNvSpPr txBox="1"/>
          <p:nvPr/>
        </p:nvSpPr>
        <p:spPr>
          <a:xfrm>
            <a:off x="3467100" y="2794000"/>
            <a:ext cx="30861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b="1">
                <a:solidFill>
                  <a:srgbClr val="157A55"/>
                </a:solidFill>
                <a:latin typeface="Aptos" panose="020B0004020202020204" pitchFamily="34" charset="0"/>
              </a:rPr>
              <a:t>Service and decision tests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C85F18-2777-8CD4-5436-9B5F8F5D9A5C}"/>
              </a:ext>
            </a:extLst>
          </p:cNvPr>
          <p:cNvSpPr txBox="1"/>
          <p:nvPr/>
        </p:nvSpPr>
        <p:spPr>
          <a:xfrm>
            <a:off x="6438900" y="2794000"/>
            <a:ext cx="2343150" cy="1292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40">
                <a:solidFill>
                  <a:srgbClr val="17243A"/>
                </a:solidFill>
                <a:latin typeface="Aptos" panose="020B0004020202020204" pitchFamily="34" charset="0"/>
              </a:rPr>
              <a:t>57/57 voice/action safety + 17/17 scoring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3C42862-7AFA-7937-6AD5-2CEF82E8AE18}"/>
              </a:ext>
            </a:extLst>
          </p:cNvPr>
          <p:cNvSpPr/>
          <p:nvPr/>
        </p:nvSpPr>
        <p:spPr>
          <a:xfrm>
            <a:off x="3810000" y="1930400"/>
            <a:ext cx="4572000" cy="609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8CD571-13E6-8A77-054D-08F0B642CDD7}"/>
              </a:ext>
            </a:extLst>
          </p:cNvPr>
          <p:cNvSpPr/>
          <p:nvPr/>
        </p:nvSpPr>
        <p:spPr>
          <a:xfrm>
            <a:off x="3810000" y="1930400"/>
            <a:ext cx="88900" cy="6096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C0FA10-6872-9D91-2615-52AFE42BD359}"/>
              </a:ext>
            </a:extLst>
          </p:cNvPr>
          <p:cNvSpPr txBox="1"/>
          <p:nvPr/>
        </p:nvSpPr>
        <p:spPr>
          <a:xfrm>
            <a:off x="4038600" y="2032000"/>
            <a:ext cx="246888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b="1">
                <a:solidFill>
                  <a:srgbClr val="C27A19"/>
                </a:solidFill>
                <a:latin typeface="Aptos" panose="020B0004020202020204" pitchFamily="34" charset="0"/>
              </a:rPr>
              <a:t>Static and contract checks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A2B7D1-C230-442A-D1DF-E429D26B6154}"/>
              </a:ext>
            </a:extLst>
          </p:cNvPr>
          <p:cNvSpPr txBox="1"/>
          <p:nvPr/>
        </p:nvSpPr>
        <p:spPr>
          <a:xfrm>
            <a:off x="6370320" y="2032000"/>
            <a:ext cx="1874520" cy="2585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40">
                <a:solidFill>
                  <a:srgbClr val="17243A"/>
                </a:solidFill>
                <a:latin typeface="Aptos" panose="020B0004020202020204" pitchFamily="34" charset="0"/>
              </a:rPr>
              <a:t>Schemas, translations, syntax, routes and build</a:t>
            </a:r>
          </a:p>
        </p:txBody>
      </p:sp>
    </p:spTree>
    <p:extLst>
      <p:ext uri="{BB962C8B-B14F-4D97-AF65-F5344CB8AC3E}">
        <p14:creationId xmlns:p14="http://schemas.microsoft.com/office/powerpoint/2010/main" val="2609198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AA0267-C829-8E01-D87A-FA91D620A5BD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0AAA22-B0A3-6D49-ECBA-BF9D3CD169A8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900" b="1">
                <a:solidFill>
                  <a:srgbClr val="A64B2A"/>
                </a:solidFill>
                <a:latin typeface="Aptos" panose="020B0004020202020204" pitchFamily="34" charset="0"/>
              </a:rPr>
              <a:t>TESTS ET MISE AU POINT</a:t>
            </a:r>
            <a:endParaRPr lang="en-US" sz="900" b="1">
              <a:solidFill>
                <a:srgbClr val="A64B2A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BCD4BC-6634-F373-A16E-D673699E837E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All 310 planned staging cases were completed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33C718-532E-A2BA-6B17-B57164B1431E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The register preserves first-run failures and noisy partials instead of hiding them behind the final result.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EBD7F1D5-6D4D-E535-C777-F8C848881A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D1D16D-AA09-24DC-483E-912E695E08A4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7D654B9-882E-2098-E271-DC127CF1E71C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2D9EF0-AC9F-5D5A-A89F-D6EAFCE5FC3B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24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E3ED8CB-E9FE-733E-5FE8-D44A29DFBDE0}"/>
              </a:ext>
            </a:extLst>
          </p:cNvPr>
          <p:cNvSpPr/>
          <p:nvPr/>
        </p:nvSpPr>
        <p:spPr>
          <a:xfrm>
            <a:off x="609600" y="1905000"/>
            <a:ext cx="3683000" cy="36830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1F5A2F-80E0-72FD-75F9-CAD63D2F493C}"/>
              </a:ext>
            </a:extLst>
          </p:cNvPr>
          <p:cNvSpPr txBox="1"/>
          <p:nvPr/>
        </p:nvSpPr>
        <p:spPr>
          <a:xfrm>
            <a:off x="990600" y="2387600"/>
            <a:ext cx="2921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4500" b="1">
                <a:solidFill>
                  <a:srgbClr val="FFFFFF"/>
                </a:solidFill>
                <a:latin typeface="Aptos Display" panose="020B0004020202020204" pitchFamily="34" charset="0"/>
              </a:rPr>
              <a:t>93.2%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131808-1B1F-DD99-0BDB-C501A6486664}"/>
              </a:ext>
            </a:extLst>
          </p:cNvPr>
          <p:cNvSpPr txBox="1"/>
          <p:nvPr/>
        </p:nvSpPr>
        <p:spPr>
          <a:xfrm>
            <a:off x="990600" y="3390900"/>
            <a:ext cx="292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157A55"/>
                </a:solidFill>
                <a:latin typeface="Aptos" panose="020B0004020202020204" pitchFamily="34" charset="0"/>
              </a:rPr>
              <a:t>FINAL PASS RATE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1019F4-382D-074F-726F-83B5B75A8BDC}"/>
              </a:ext>
            </a:extLst>
          </p:cNvPr>
          <p:cNvSpPr txBox="1"/>
          <p:nvPr/>
        </p:nvSpPr>
        <p:spPr>
          <a:xfrm>
            <a:off x="990600" y="4064000"/>
            <a:ext cx="2921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DDE7F5"/>
                </a:solidFill>
                <a:latin typeface="Aptos" panose="020B0004020202020204" pitchFamily="34" charset="0"/>
              </a:rPr>
              <a:t>289 final passes
21 retained failures
0 blocked / not run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D3727B-DA22-26EF-2FD6-E5C889E0B2C0}"/>
              </a:ext>
            </a:extLst>
          </p:cNvPr>
          <p:cNvSpPr txBox="1"/>
          <p:nvPr/>
        </p:nvSpPr>
        <p:spPr>
          <a:xfrm>
            <a:off x="4953000" y="1968500"/>
            <a:ext cx="317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B1F49"/>
                </a:solidFill>
                <a:latin typeface="Aptos Display" panose="020B0004020202020204" pitchFamily="34" charset="0"/>
              </a:rPr>
              <a:t>First execution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9670BE7-5408-BC07-9B08-9114E6C73333}"/>
              </a:ext>
            </a:extLst>
          </p:cNvPr>
          <p:cNvSpPr/>
          <p:nvPr/>
        </p:nvSpPr>
        <p:spPr>
          <a:xfrm>
            <a:off x="4953000" y="2603500"/>
            <a:ext cx="19050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B4AA0F-63EC-DE7B-A3A0-8F50C56C0EA0}"/>
              </a:ext>
            </a:extLst>
          </p:cNvPr>
          <p:cNvSpPr/>
          <p:nvPr/>
        </p:nvSpPr>
        <p:spPr>
          <a:xfrm>
            <a:off x="4953000" y="2603500"/>
            <a:ext cx="63500" cy="9144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6B13B8-DCA6-257E-FCCD-5C90E8A030DB}"/>
              </a:ext>
            </a:extLst>
          </p:cNvPr>
          <p:cNvSpPr txBox="1"/>
          <p:nvPr/>
        </p:nvSpPr>
        <p:spPr>
          <a:xfrm>
            <a:off x="5156200" y="2743200"/>
            <a:ext cx="1600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274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177217-1A53-C2D1-1F2B-98FEE9979E77}"/>
              </a:ext>
            </a:extLst>
          </p:cNvPr>
          <p:cNvSpPr txBox="1"/>
          <p:nvPr/>
        </p:nvSpPr>
        <p:spPr>
          <a:xfrm>
            <a:off x="5156200" y="3149600"/>
            <a:ext cx="1600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passed directly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E17B445-E36E-FF5C-F20D-582CB09FAB4C}"/>
              </a:ext>
            </a:extLst>
          </p:cNvPr>
          <p:cNvSpPr/>
          <p:nvPr/>
        </p:nvSpPr>
        <p:spPr>
          <a:xfrm>
            <a:off x="7188200" y="2603500"/>
            <a:ext cx="19050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A09B7D-3934-A237-1F28-74CDB3DD5165}"/>
              </a:ext>
            </a:extLst>
          </p:cNvPr>
          <p:cNvSpPr/>
          <p:nvPr/>
        </p:nvSpPr>
        <p:spPr>
          <a:xfrm>
            <a:off x="7188200" y="2603500"/>
            <a:ext cx="63500" cy="9144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6F9ABB-1953-D681-EFE4-FAFAC91859E1}"/>
              </a:ext>
            </a:extLst>
          </p:cNvPr>
          <p:cNvSpPr txBox="1"/>
          <p:nvPr/>
        </p:nvSpPr>
        <p:spPr>
          <a:xfrm>
            <a:off x="7391400" y="2743200"/>
            <a:ext cx="1600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15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4E462F-5EAD-C62B-9913-C43B9549A9DE}"/>
              </a:ext>
            </a:extLst>
          </p:cNvPr>
          <p:cNvSpPr txBox="1"/>
          <p:nvPr/>
        </p:nvSpPr>
        <p:spPr>
          <a:xfrm>
            <a:off x="7391400" y="3149600"/>
            <a:ext cx="1600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partial in noisy transcription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BB5E6E1-67D6-9517-17EE-65D8EE82966B}"/>
              </a:ext>
            </a:extLst>
          </p:cNvPr>
          <p:cNvSpPr/>
          <p:nvPr/>
        </p:nvSpPr>
        <p:spPr>
          <a:xfrm>
            <a:off x="9423400" y="2603500"/>
            <a:ext cx="19050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F0EEBA-3E57-BF93-C0FE-0A5F3871C8BD}"/>
              </a:ext>
            </a:extLst>
          </p:cNvPr>
          <p:cNvSpPr/>
          <p:nvPr/>
        </p:nvSpPr>
        <p:spPr>
          <a:xfrm>
            <a:off x="9423400" y="2603500"/>
            <a:ext cx="63500" cy="9144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15D5D3-6873-D40A-CBA8-7ED19DFEC45D}"/>
              </a:ext>
            </a:extLst>
          </p:cNvPr>
          <p:cNvSpPr txBox="1"/>
          <p:nvPr/>
        </p:nvSpPr>
        <p:spPr>
          <a:xfrm>
            <a:off x="9626600" y="2743200"/>
            <a:ext cx="1600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21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91E72C-2681-8900-2652-678E331266BD}"/>
              </a:ext>
            </a:extLst>
          </p:cNvPr>
          <p:cNvSpPr txBox="1"/>
          <p:nvPr/>
        </p:nvSpPr>
        <p:spPr>
          <a:xfrm>
            <a:off x="9626600" y="3149600"/>
            <a:ext cx="1600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failed and retained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5863B20-B2ED-6390-0E73-F59B1C4A0B8C}"/>
              </a:ext>
            </a:extLst>
          </p:cNvPr>
          <p:cNvSpPr/>
          <p:nvPr/>
        </p:nvSpPr>
        <p:spPr>
          <a:xfrm>
            <a:off x="4953000" y="4064000"/>
            <a:ext cx="63754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1DDD00-55BA-9422-339C-A62818C28C1E}"/>
              </a:ext>
            </a:extLst>
          </p:cNvPr>
          <p:cNvSpPr txBox="1"/>
          <p:nvPr/>
        </p:nvSpPr>
        <p:spPr>
          <a:xfrm>
            <a:off x="5232400" y="4305300"/>
            <a:ext cx="228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Retest interpretation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CB444C-266D-68A5-2110-B21CB89114CD}"/>
              </a:ext>
            </a:extLst>
          </p:cNvPr>
          <p:cNvSpPr txBox="1"/>
          <p:nvPr/>
        </p:nvSpPr>
        <p:spPr>
          <a:xfrm>
            <a:off x="5232400" y="4686300"/>
            <a:ext cx="5715000" cy="2862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30">
                <a:solidFill>
                  <a:srgbClr val="17243A"/>
                </a:solidFill>
                <a:latin typeface="Aptos" panose="020B0004020202020204" pitchFamily="34" charset="0"/>
              </a:rPr>
              <a:t>The 15 noisy cases passed after repetition or manual correction. Failures were not silently reclassified; they remain visible in the workbook and report.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5838A2-39B9-2A34-5015-61ED9AA5E327}"/>
              </a:ext>
            </a:extLst>
          </p:cNvPr>
          <p:cNvSpPr txBox="1"/>
          <p:nvPr/>
        </p:nvSpPr>
        <p:spPr>
          <a:xfrm>
            <a:off x="4953000" y="5511800"/>
            <a:ext cx="6350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50">
                <a:solidFill>
                  <a:srgbClr val="5D6B80"/>
                </a:solidFill>
                <a:latin typeface="Aptos" panose="020B0004020202020204" pitchFamily="34" charset="0"/>
              </a:rPr>
              <a:t>Evidence: JoIn Final Test Register - Master Register, Dashboard, Defects and Evidence Index.</a:t>
            </a:r>
          </a:p>
        </p:txBody>
      </p:sp>
    </p:spTree>
    <p:extLst>
      <p:ext uri="{BB962C8B-B14F-4D97-AF65-F5344CB8AC3E}">
        <p14:creationId xmlns:p14="http://schemas.microsoft.com/office/powerpoint/2010/main" val="14689340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C46B80-CB06-05AD-DA8C-6111B162E10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F9E13-0D66-4379-54B5-D4323F4A862E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MESURES ET METRIQUES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0514BB-34D8-D1A7-C8EC-EF9B1D6BF15E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Results by engineering test area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66411A-A5BE-A0B2-3962-2DB7E7E8EE49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Final pass rate is useful only when read together with each area, target and open defect.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1A7427F6-C233-CA30-6ACB-B495F2D49D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6415EE7-E0B3-191A-A0ED-214151FB89DE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59A7A88-4C41-5570-5ED0-7769A3A7842C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725B9B-D445-8EDE-B886-FA28FBF8A7E3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4013E0-8EF4-9529-6A38-C3FBBD21C6FB}"/>
              </a:ext>
            </a:extLst>
          </p:cNvPr>
          <p:cNvSpPr txBox="1"/>
          <p:nvPr/>
        </p:nvSpPr>
        <p:spPr>
          <a:xfrm>
            <a:off x="609600" y="1841500"/>
            <a:ext cx="2032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80" b="1">
                <a:solidFill>
                  <a:srgbClr val="17243A"/>
                </a:solidFill>
                <a:latin typeface="Aptos" panose="020B0004020202020204" pitchFamily="34" charset="0"/>
              </a:rPr>
              <a:t>AI profile suggestions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DAEC78C-893F-246D-57B6-B5D28DA06B0F}"/>
              </a:ext>
            </a:extLst>
          </p:cNvPr>
          <p:cNvSpPr/>
          <p:nvPr/>
        </p:nvSpPr>
        <p:spPr>
          <a:xfrm>
            <a:off x="2705100" y="1866900"/>
            <a:ext cx="2349500" cy="152400"/>
          </a:xfrm>
          <a:prstGeom prst="roundRect">
            <a:avLst/>
          </a:prstGeom>
          <a:solidFill>
            <a:srgbClr val="E9EEF5"/>
          </a:solidFill>
          <a:ln w="10160">
            <a:solidFill>
              <a:srgbClr val="E9EE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03E2CBA-45DD-5798-3715-DF6611FA806F}"/>
              </a:ext>
            </a:extLst>
          </p:cNvPr>
          <p:cNvSpPr/>
          <p:nvPr/>
        </p:nvSpPr>
        <p:spPr>
          <a:xfrm>
            <a:off x="2705100" y="1866900"/>
            <a:ext cx="2074608" cy="15240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625E24-8026-F10C-F62F-EDCDC113E41D}"/>
              </a:ext>
            </a:extLst>
          </p:cNvPr>
          <p:cNvSpPr txBox="1"/>
          <p:nvPr/>
        </p:nvSpPr>
        <p:spPr>
          <a:xfrm>
            <a:off x="5118100" y="1828800"/>
            <a:ext cx="635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80" b="1">
                <a:solidFill>
                  <a:srgbClr val="A64B2A"/>
                </a:solidFill>
                <a:latin typeface="Aptos" panose="020B0004020202020204" pitchFamily="34" charset="0"/>
              </a:rPr>
              <a:t>88.3%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416CC6-60EC-E27E-36D6-AB78FCAB27F7}"/>
              </a:ext>
            </a:extLst>
          </p:cNvPr>
          <p:cNvSpPr txBox="1"/>
          <p:nvPr/>
        </p:nvSpPr>
        <p:spPr>
          <a:xfrm>
            <a:off x="609600" y="2286000"/>
            <a:ext cx="2032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80" b="1">
                <a:solidFill>
                  <a:srgbClr val="17243A"/>
                </a:solidFill>
                <a:latin typeface="Aptos" panose="020B0004020202020204" pitchFamily="34" charset="0"/>
              </a:rPr>
              <a:t>Voice transcription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67D3778-8D3D-397B-3E04-518ADBDE69E1}"/>
              </a:ext>
            </a:extLst>
          </p:cNvPr>
          <p:cNvSpPr/>
          <p:nvPr/>
        </p:nvSpPr>
        <p:spPr>
          <a:xfrm>
            <a:off x="2705100" y="2311400"/>
            <a:ext cx="2349500" cy="152400"/>
          </a:xfrm>
          <a:prstGeom prst="roundRect">
            <a:avLst/>
          </a:prstGeom>
          <a:solidFill>
            <a:srgbClr val="E9EEF5"/>
          </a:solidFill>
          <a:ln w="10160">
            <a:solidFill>
              <a:srgbClr val="E9EE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F167C8C-E4C5-E3F6-70F0-7CFC049E8752}"/>
              </a:ext>
            </a:extLst>
          </p:cNvPr>
          <p:cNvSpPr/>
          <p:nvPr/>
        </p:nvSpPr>
        <p:spPr>
          <a:xfrm>
            <a:off x="2705100" y="2311400"/>
            <a:ext cx="2349500" cy="1524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678E35-6C15-3FA2-F0BC-47CB0E747E64}"/>
              </a:ext>
            </a:extLst>
          </p:cNvPr>
          <p:cNvSpPr txBox="1"/>
          <p:nvPr/>
        </p:nvSpPr>
        <p:spPr>
          <a:xfrm>
            <a:off x="5118100" y="2273300"/>
            <a:ext cx="635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80" b="1">
                <a:solidFill>
                  <a:srgbClr val="157A55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56B126-3843-596C-6273-C077DDCB2B40}"/>
              </a:ext>
            </a:extLst>
          </p:cNvPr>
          <p:cNvSpPr txBox="1"/>
          <p:nvPr/>
        </p:nvSpPr>
        <p:spPr>
          <a:xfrm>
            <a:off x="609600" y="2730500"/>
            <a:ext cx="2032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80" b="1">
                <a:solidFill>
                  <a:srgbClr val="17243A"/>
                </a:solidFill>
                <a:latin typeface="Aptos" panose="020B0004020202020204" pitchFamily="34" charset="0"/>
              </a:rPr>
              <a:t>Voice navigation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32B00A2-5F24-6B74-B62F-35EB614B71CE}"/>
              </a:ext>
            </a:extLst>
          </p:cNvPr>
          <p:cNvSpPr/>
          <p:nvPr/>
        </p:nvSpPr>
        <p:spPr>
          <a:xfrm>
            <a:off x="2705100" y="2755900"/>
            <a:ext cx="2349500" cy="152400"/>
          </a:xfrm>
          <a:prstGeom prst="roundRect">
            <a:avLst/>
          </a:prstGeom>
          <a:solidFill>
            <a:srgbClr val="E9EEF5"/>
          </a:solidFill>
          <a:ln w="10160">
            <a:solidFill>
              <a:srgbClr val="E9EE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C48C102-FA76-9553-690B-5C9F41A325BA}"/>
              </a:ext>
            </a:extLst>
          </p:cNvPr>
          <p:cNvSpPr/>
          <p:nvPr/>
        </p:nvSpPr>
        <p:spPr>
          <a:xfrm>
            <a:off x="2705100" y="2755900"/>
            <a:ext cx="2349500" cy="1524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048C0F-EBD5-1A61-D26C-242495D3CAD5}"/>
              </a:ext>
            </a:extLst>
          </p:cNvPr>
          <p:cNvSpPr txBox="1"/>
          <p:nvPr/>
        </p:nvSpPr>
        <p:spPr>
          <a:xfrm>
            <a:off x="5118100" y="2717800"/>
            <a:ext cx="635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80" b="1">
                <a:solidFill>
                  <a:srgbClr val="157A55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E1FA3F-DEDE-5FA1-28DD-A9E76549C120}"/>
              </a:ext>
            </a:extLst>
          </p:cNvPr>
          <p:cNvSpPr txBox="1"/>
          <p:nvPr/>
        </p:nvSpPr>
        <p:spPr>
          <a:xfrm>
            <a:off x="609600" y="3175000"/>
            <a:ext cx="2032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80" b="1">
                <a:solidFill>
                  <a:srgbClr val="17243A"/>
                </a:solidFill>
                <a:latin typeface="Aptos" panose="020B0004020202020204" pitchFamily="34" charset="0"/>
              </a:rPr>
              <a:t>Matching engine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33BA68C-27A9-9ED2-3433-8B4C342A5BD5}"/>
              </a:ext>
            </a:extLst>
          </p:cNvPr>
          <p:cNvSpPr/>
          <p:nvPr/>
        </p:nvSpPr>
        <p:spPr>
          <a:xfrm>
            <a:off x="2705100" y="3200400"/>
            <a:ext cx="2349500" cy="152400"/>
          </a:xfrm>
          <a:prstGeom prst="roundRect">
            <a:avLst/>
          </a:prstGeom>
          <a:solidFill>
            <a:srgbClr val="E9EEF5"/>
          </a:solidFill>
          <a:ln w="10160">
            <a:solidFill>
              <a:srgbClr val="E9EE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E45A0B0-B81B-E71B-D0B9-B817194F0B4C}"/>
              </a:ext>
            </a:extLst>
          </p:cNvPr>
          <p:cNvSpPr/>
          <p:nvPr/>
        </p:nvSpPr>
        <p:spPr>
          <a:xfrm>
            <a:off x="2705100" y="3200400"/>
            <a:ext cx="2349500" cy="1524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8639FE-9D34-DF42-E455-80E6EB7D058C}"/>
              </a:ext>
            </a:extLst>
          </p:cNvPr>
          <p:cNvSpPr txBox="1"/>
          <p:nvPr/>
        </p:nvSpPr>
        <p:spPr>
          <a:xfrm>
            <a:off x="5118100" y="3162300"/>
            <a:ext cx="635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80" b="1">
                <a:solidFill>
                  <a:srgbClr val="157A55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C825F2-245B-290F-3BCC-3122E19E4EAE}"/>
              </a:ext>
            </a:extLst>
          </p:cNvPr>
          <p:cNvSpPr txBox="1"/>
          <p:nvPr/>
        </p:nvSpPr>
        <p:spPr>
          <a:xfrm>
            <a:off x="609600" y="3619500"/>
            <a:ext cx="2032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80" b="1">
                <a:solidFill>
                  <a:srgbClr val="17243A"/>
                </a:solidFill>
                <a:latin typeface="Aptos" panose="020B0004020202020204" pitchFamily="34" charset="0"/>
              </a:rPr>
              <a:t>Complete workflows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A4B5086-49A4-D1AB-E300-08A5C1A902A6}"/>
              </a:ext>
            </a:extLst>
          </p:cNvPr>
          <p:cNvSpPr/>
          <p:nvPr/>
        </p:nvSpPr>
        <p:spPr>
          <a:xfrm>
            <a:off x="2705100" y="3644900"/>
            <a:ext cx="2349500" cy="152400"/>
          </a:xfrm>
          <a:prstGeom prst="roundRect">
            <a:avLst/>
          </a:prstGeom>
          <a:solidFill>
            <a:srgbClr val="E9EEF5"/>
          </a:solidFill>
          <a:ln w="10160">
            <a:solidFill>
              <a:srgbClr val="E9EE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670C4A3-95C8-42B1-6C1C-AAB627BF84E2}"/>
              </a:ext>
            </a:extLst>
          </p:cNvPr>
          <p:cNvSpPr/>
          <p:nvPr/>
        </p:nvSpPr>
        <p:spPr>
          <a:xfrm>
            <a:off x="2705100" y="3644900"/>
            <a:ext cx="2349500" cy="1524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57FC4A-FA71-6126-7CC3-0A330304C86E}"/>
              </a:ext>
            </a:extLst>
          </p:cNvPr>
          <p:cNvSpPr txBox="1"/>
          <p:nvPr/>
        </p:nvSpPr>
        <p:spPr>
          <a:xfrm>
            <a:off x="5118100" y="3606800"/>
            <a:ext cx="635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80" b="1">
                <a:solidFill>
                  <a:srgbClr val="157A55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E93A60-71DD-71AB-26EC-9C37CDFFE5AD}"/>
              </a:ext>
            </a:extLst>
          </p:cNvPr>
          <p:cNvSpPr txBox="1"/>
          <p:nvPr/>
        </p:nvSpPr>
        <p:spPr>
          <a:xfrm>
            <a:off x="6438900" y="1841500"/>
            <a:ext cx="2032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80" b="1">
                <a:solidFill>
                  <a:srgbClr val="17243A"/>
                </a:solidFill>
                <a:latin typeface="Aptos" panose="020B0004020202020204" pitchFamily="34" charset="0"/>
              </a:rPr>
              <a:t>Security + privacy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5E0C2F0-80E7-F509-151D-C866A727BEBE}"/>
              </a:ext>
            </a:extLst>
          </p:cNvPr>
          <p:cNvSpPr/>
          <p:nvPr/>
        </p:nvSpPr>
        <p:spPr>
          <a:xfrm>
            <a:off x="8534400" y="1866900"/>
            <a:ext cx="2349500" cy="152400"/>
          </a:xfrm>
          <a:prstGeom prst="roundRect">
            <a:avLst/>
          </a:prstGeom>
          <a:solidFill>
            <a:srgbClr val="E9EEF5"/>
          </a:solidFill>
          <a:ln w="10160">
            <a:solidFill>
              <a:srgbClr val="E9EE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EF3ECEA-1CD0-15EE-0563-54DDE0BD2657}"/>
              </a:ext>
            </a:extLst>
          </p:cNvPr>
          <p:cNvSpPr/>
          <p:nvPr/>
        </p:nvSpPr>
        <p:spPr>
          <a:xfrm>
            <a:off x="8534400" y="1866900"/>
            <a:ext cx="2232025" cy="15240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2D2F0D-0A55-17E3-2343-0DED0A71FA37}"/>
              </a:ext>
            </a:extLst>
          </p:cNvPr>
          <p:cNvSpPr txBox="1"/>
          <p:nvPr/>
        </p:nvSpPr>
        <p:spPr>
          <a:xfrm>
            <a:off x="10947400" y="1828800"/>
            <a:ext cx="635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80" b="1">
                <a:solidFill>
                  <a:srgbClr val="A64B2A"/>
                </a:solidFill>
                <a:latin typeface="Aptos" panose="020B0004020202020204" pitchFamily="34" charset="0"/>
              </a:rPr>
              <a:t>95.0%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DB4487-3AEE-5053-D1DF-AE4341189258}"/>
              </a:ext>
            </a:extLst>
          </p:cNvPr>
          <p:cNvSpPr txBox="1"/>
          <p:nvPr/>
        </p:nvSpPr>
        <p:spPr>
          <a:xfrm>
            <a:off x="6438900" y="2286000"/>
            <a:ext cx="2032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80" b="1">
                <a:solidFill>
                  <a:srgbClr val="17243A"/>
                </a:solidFill>
                <a:latin typeface="Aptos" panose="020B0004020202020204" pitchFamily="34" charset="0"/>
              </a:rPr>
              <a:t>Accessibility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D04C098-DF9F-1A37-9075-3CC39316CC3A}"/>
              </a:ext>
            </a:extLst>
          </p:cNvPr>
          <p:cNvSpPr/>
          <p:nvPr/>
        </p:nvSpPr>
        <p:spPr>
          <a:xfrm>
            <a:off x="8534400" y="2311400"/>
            <a:ext cx="2349500" cy="152400"/>
          </a:xfrm>
          <a:prstGeom prst="roundRect">
            <a:avLst/>
          </a:prstGeom>
          <a:solidFill>
            <a:srgbClr val="E9EEF5"/>
          </a:solidFill>
          <a:ln w="10160">
            <a:solidFill>
              <a:srgbClr val="E9EE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8BB4596-42BC-4D36-B78C-A1EA297C9D7E}"/>
              </a:ext>
            </a:extLst>
          </p:cNvPr>
          <p:cNvSpPr/>
          <p:nvPr/>
        </p:nvSpPr>
        <p:spPr>
          <a:xfrm>
            <a:off x="8534400" y="2311400"/>
            <a:ext cx="2349500" cy="1524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91692C-847B-B836-85BC-7C620EA0B563}"/>
              </a:ext>
            </a:extLst>
          </p:cNvPr>
          <p:cNvSpPr txBox="1"/>
          <p:nvPr/>
        </p:nvSpPr>
        <p:spPr>
          <a:xfrm>
            <a:off x="10947400" y="2273300"/>
            <a:ext cx="635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80" b="1">
                <a:solidFill>
                  <a:srgbClr val="157A55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CD6249-AE43-91DF-B0F4-63D1D9C6F200}"/>
              </a:ext>
            </a:extLst>
          </p:cNvPr>
          <p:cNvSpPr txBox="1"/>
          <p:nvPr/>
        </p:nvSpPr>
        <p:spPr>
          <a:xfrm>
            <a:off x="6438900" y="2730500"/>
            <a:ext cx="2032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80" b="1">
                <a:solidFill>
                  <a:srgbClr val="17243A"/>
                </a:solidFill>
                <a:latin typeface="Aptos" panose="020B0004020202020204" pitchFamily="34" charset="0"/>
              </a:rPr>
              <a:t>Multilingual + RTL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753EAE3-64E9-C1A9-8461-88BA15550277}"/>
              </a:ext>
            </a:extLst>
          </p:cNvPr>
          <p:cNvSpPr/>
          <p:nvPr/>
        </p:nvSpPr>
        <p:spPr>
          <a:xfrm>
            <a:off x="8534400" y="2755900"/>
            <a:ext cx="2349500" cy="152400"/>
          </a:xfrm>
          <a:prstGeom prst="roundRect">
            <a:avLst/>
          </a:prstGeom>
          <a:solidFill>
            <a:srgbClr val="E9EEF5"/>
          </a:solidFill>
          <a:ln w="10160">
            <a:solidFill>
              <a:srgbClr val="E9EE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283F10B-02B2-BAE8-BF0C-529CECC0292A}"/>
              </a:ext>
            </a:extLst>
          </p:cNvPr>
          <p:cNvSpPr/>
          <p:nvPr/>
        </p:nvSpPr>
        <p:spPr>
          <a:xfrm>
            <a:off x="8534400" y="2755900"/>
            <a:ext cx="2349500" cy="1524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BFEF26-CDA2-B638-FE26-33C94E207C56}"/>
              </a:ext>
            </a:extLst>
          </p:cNvPr>
          <p:cNvSpPr txBox="1"/>
          <p:nvPr/>
        </p:nvSpPr>
        <p:spPr>
          <a:xfrm>
            <a:off x="10947400" y="2717800"/>
            <a:ext cx="635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80" b="1">
                <a:solidFill>
                  <a:srgbClr val="157A55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0EEDE5-F7BE-9BD5-AA3E-F5434B24E475}"/>
              </a:ext>
            </a:extLst>
          </p:cNvPr>
          <p:cNvSpPr txBox="1"/>
          <p:nvPr/>
        </p:nvSpPr>
        <p:spPr>
          <a:xfrm>
            <a:off x="6438900" y="3175000"/>
            <a:ext cx="2032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80" b="1">
                <a:solidFill>
                  <a:srgbClr val="17243A"/>
                </a:solidFill>
                <a:latin typeface="Aptos" panose="020B0004020202020204" pitchFamily="34" charset="0"/>
              </a:rPr>
              <a:t>Browser + device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0C50604-FA04-FD58-70D6-2AB4FF4F087A}"/>
              </a:ext>
            </a:extLst>
          </p:cNvPr>
          <p:cNvSpPr/>
          <p:nvPr/>
        </p:nvSpPr>
        <p:spPr>
          <a:xfrm>
            <a:off x="8534400" y="3200400"/>
            <a:ext cx="2349500" cy="152400"/>
          </a:xfrm>
          <a:prstGeom prst="roundRect">
            <a:avLst/>
          </a:prstGeom>
          <a:solidFill>
            <a:srgbClr val="E9EEF5"/>
          </a:solidFill>
          <a:ln w="10160">
            <a:solidFill>
              <a:srgbClr val="E9EE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C32FCA4-3009-6CCB-66B4-0684B1680997}"/>
              </a:ext>
            </a:extLst>
          </p:cNvPr>
          <p:cNvSpPr/>
          <p:nvPr/>
        </p:nvSpPr>
        <p:spPr>
          <a:xfrm>
            <a:off x="8534400" y="3200400"/>
            <a:ext cx="2349500" cy="1524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A1108E-01EB-6931-381A-2AF98D8D95D1}"/>
              </a:ext>
            </a:extLst>
          </p:cNvPr>
          <p:cNvSpPr txBox="1"/>
          <p:nvPr/>
        </p:nvSpPr>
        <p:spPr>
          <a:xfrm>
            <a:off x="10947400" y="3162300"/>
            <a:ext cx="635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80" b="1">
                <a:solidFill>
                  <a:srgbClr val="157A55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6DF53B8-459C-1E7A-E4CC-4583FABAF12E}"/>
              </a:ext>
            </a:extLst>
          </p:cNvPr>
          <p:cNvSpPr txBox="1"/>
          <p:nvPr/>
        </p:nvSpPr>
        <p:spPr>
          <a:xfrm>
            <a:off x="6438900" y="3619500"/>
            <a:ext cx="2032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80" b="1">
                <a:solidFill>
                  <a:srgbClr val="17243A"/>
                </a:solidFill>
                <a:latin typeface="Aptos" panose="020B0004020202020204" pitchFamily="34" charset="0"/>
              </a:rPr>
              <a:t>Performance + reliability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059B500-4152-1A9B-4AE4-1C1936A14466}"/>
              </a:ext>
            </a:extLst>
          </p:cNvPr>
          <p:cNvSpPr/>
          <p:nvPr/>
        </p:nvSpPr>
        <p:spPr>
          <a:xfrm>
            <a:off x="8534400" y="3644900"/>
            <a:ext cx="2349500" cy="152400"/>
          </a:xfrm>
          <a:prstGeom prst="roundRect">
            <a:avLst/>
          </a:prstGeom>
          <a:solidFill>
            <a:srgbClr val="E9EEF5"/>
          </a:solidFill>
          <a:ln w="10160">
            <a:solidFill>
              <a:srgbClr val="E9EE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3D99853-FD86-3165-2921-97AD245A359A}"/>
              </a:ext>
            </a:extLst>
          </p:cNvPr>
          <p:cNvSpPr/>
          <p:nvPr/>
        </p:nvSpPr>
        <p:spPr>
          <a:xfrm>
            <a:off x="8534400" y="3644900"/>
            <a:ext cx="1219391" cy="152400"/>
          </a:xfrm>
          <a:prstGeom prst="round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2AFAE5-6000-C6DC-8861-781A49F651F5}"/>
              </a:ext>
            </a:extLst>
          </p:cNvPr>
          <p:cNvSpPr txBox="1"/>
          <p:nvPr/>
        </p:nvSpPr>
        <p:spPr>
          <a:xfrm>
            <a:off x="10947400" y="3606800"/>
            <a:ext cx="6350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80" b="1">
                <a:solidFill>
                  <a:srgbClr val="563A4B"/>
                </a:solidFill>
                <a:latin typeface="Aptos" panose="020B0004020202020204" pitchFamily="34" charset="0"/>
              </a:rPr>
              <a:t>51.9%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0023FC9-B4DC-9F6A-44A4-54F04303F215}"/>
              </a:ext>
            </a:extLst>
          </p:cNvPr>
          <p:cNvSpPr/>
          <p:nvPr/>
        </p:nvSpPr>
        <p:spPr>
          <a:xfrm>
            <a:off x="1079500" y="4508500"/>
            <a:ext cx="10033000" cy="12700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BEBB54C-FA7D-B2C3-CBEB-5681B6F37C95}"/>
              </a:ext>
            </a:extLst>
          </p:cNvPr>
          <p:cNvSpPr txBox="1"/>
          <p:nvPr/>
        </p:nvSpPr>
        <p:spPr>
          <a:xfrm>
            <a:off x="1397000" y="4749800"/>
            <a:ext cx="381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 Display" panose="020B0004020202020204" pitchFamily="34" charset="0"/>
              </a:rPr>
              <a:t>Read the pattern, not only the average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8F92C83-185E-B1AF-A090-15D903222C89}"/>
              </a:ext>
            </a:extLst>
          </p:cNvPr>
          <p:cNvSpPr txBox="1"/>
          <p:nvPr/>
        </p:nvSpPr>
        <p:spPr>
          <a:xfrm>
            <a:off x="1397000" y="5181600"/>
            <a:ext cx="9271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DDE7F5"/>
                </a:solidFill>
                <a:latin typeface="Aptos" panose="020B0004020202020204" pitchFamily="34" charset="0"/>
              </a:rPr>
              <a:t>Strong functional correctness and language coverage. Improvement work is concentrated in AI preference extraction, one upload behavior, and staging latency under load.</a:t>
            </a:r>
          </a:p>
        </p:txBody>
      </p:sp>
    </p:spTree>
    <p:extLst>
      <p:ext uri="{BB962C8B-B14F-4D97-AF65-F5344CB8AC3E}">
        <p14:creationId xmlns:p14="http://schemas.microsoft.com/office/powerpoint/2010/main" val="21833551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0D20F6-D713-E44D-E819-914E19BCCD3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240F1D-7A23-F235-1CB1-EDAA59F65429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MISE AU POINT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7EB0A7-F0CD-FC29-E407-72FF59D555AE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Testing produced actionable defects, not only pass counts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7BB0D8-6C21-F1B9-0863-1EA9C1EB6B1F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A final-year engineering project should explain what failed, why it matters and what should change next.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7FFCE40A-823D-1E5F-348E-0E1A102AA6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3DFA17E-CED3-0924-208A-6A7A6BE6247F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1A5C80E-A69C-9A79-A189-7AB79422E352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57820F-3C44-3E30-C8D4-9405D1769C73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26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4381D3-96F9-F860-9505-FCF4C3EF7807}"/>
              </a:ext>
            </a:extLst>
          </p:cNvPr>
          <p:cNvSpPr/>
          <p:nvPr/>
        </p:nvSpPr>
        <p:spPr>
          <a:xfrm>
            <a:off x="609600" y="1841500"/>
            <a:ext cx="3429000" cy="1549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56D5E7-B614-576E-AD57-4FCF33752618}"/>
              </a:ext>
            </a:extLst>
          </p:cNvPr>
          <p:cNvSpPr/>
          <p:nvPr/>
        </p:nvSpPr>
        <p:spPr>
          <a:xfrm>
            <a:off x="609600" y="1841500"/>
            <a:ext cx="88900" cy="15494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4A05D9-460F-9CBF-B161-8FA5BC4B913B}"/>
              </a:ext>
            </a:extLst>
          </p:cNvPr>
          <p:cNvSpPr txBox="1"/>
          <p:nvPr/>
        </p:nvSpPr>
        <p:spPr>
          <a:xfrm>
            <a:off x="876300" y="20447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AI preference extraction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979B12-9C97-DA46-872B-51C6E559EB3E}"/>
              </a:ext>
            </a:extLst>
          </p:cNvPr>
          <p:cNvSpPr txBox="1"/>
          <p:nvPr/>
        </p:nvSpPr>
        <p:spPr>
          <a:xfrm>
            <a:off x="876300" y="2540000"/>
            <a:ext cx="29464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Explicit Both work-and-training wording was intermittently omitted.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F01EF15-3BFD-6F99-9DEC-CB765C5AA093}"/>
              </a:ext>
            </a:extLst>
          </p:cNvPr>
          <p:cNvSpPr/>
          <p:nvPr/>
        </p:nvSpPr>
        <p:spPr>
          <a:xfrm>
            <a:off x="4292600" y="1841500"/>
            <a:ext cx="3429000" cy="1549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85328D-F378-27B6-7A0C-85BE7ED0AE92}"/>
              </a:ext>
            </a:extLst>
          </p:cNvPr>
          <p:cNvSpPr/>
          <p:nvPr/>
        </p:nvSpPr>
        <p:spPr>
          <a:xfrm>
            <a:off x="4292600" y="1841500"/>
            <a:ext cx="88900" cy="15494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035526-F40F-5654-D61D-9DFA152BE6B2}"/>
              </a:ext>
            </a:extLst>
          </p:cNvPr>
          <p:cNvSpPr txBox="1"/>
          <p:nvPr/>
        </p:nvSpPr>
        <p:spPr>
          <a:xfrm>
            <a:off x="4559300" y="20447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Contrast and zoom reflow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AF5BA5-FEF0-C043-0302-DE9365B49F79}"/>
              </a:ext>
            </a:extLst>
          </p:cNvPr>
          <p:cNvSpPr txBox="1"/>
          <p:nvPr/>
        </p:nvSpPr>
        <p:spPr>
          <a:xfrm>
            <a:off x="4559300" y="2540000"/>
            <a:ext cx="29464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Helper text contrast and high-zoom candidate header overflow need remediation.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07D4AFA-C207-6526-B23A-FA9C1D758971}"/>
              </a:ext>
            </a:extLst>
          </p:cNvPr>
          <p:cNvSpPr/>
          <p:nvPr/>
        </p:nvSpPr>
        <p:spPr>
          <a:xfrm>
            <a:off x="7975600" y="1841500"/>
            <a:ext cx="3429000" cy="1549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E99764-5D66-3C75-FC3B-D105F0E4597F}"/>
              </a:ext>
            </a:extLst>
          </p:cNvPr>
          <p:cNvSpPr/>
          <p:nvPr/>
        </p:nvSpPr>
        <p:spPr>
          <a:xfrm>
            <a:off x="7975600" y="1841500"/>
            <a:ext cx="88900" cy="15494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23BE25-6C74-A6C1-4937-B8700F96CBB8}"/>
              </a:ext>
            </a:extLst>
          </p:cNvPr>
          <p:cNvSpPr txBox="1"/>
          <p:nvPr/>
        </p:nvSpPr>
        <p:spPr>
          <a:xfrm>
            <a:off x="8242300" y="20447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563A4B"/>
                </a:solidFill>
                <a:latin typeface="Aptos Display" panose="020B0004020202020204" pitchFamily="34" charset="0"/>
              </a:rPr>
              <a:t>Oversized upload behavior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E388D0-CFBC-48B6-8B03-0533609CE84A}"/>
              </a:ext>
            </a:extLst>
          </p:cNvPr>
          <p:cNvSpPr txBox="1"/>
          <p:nvPr/>
        </p:nvSpPr>
        <p:spPr>
          <a:xfrm>
            <a:off x="8242300" y="2540000"/>
            <a:ext cx="29464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PHP could drop the file while an application record was still created.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94978D7-7512-D7E0-B9BB-2B1CE9BDA7F6}"/>
              </a:ext>
            </a:extLst>
          </p:cNvPr>
          <p:cNvSpPr/>
          <p:nvPr/>
        </p:nvSpPr>
        <p:spPr>
          <a:xfrm>
            <a:off x="609600" y="3708400"/>
            <a:ext cx="3429000" cy="1549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9EAF582-DD2E-0D12-F094-89B054253820}"/>
              </a:ext>
            </a:extLst>
          </p:cNvPr>
          <p:cNvSpPr/>
          <p:nvPr/>
        </p:nvSpPr>
        <p:spPr>
          <a:xfrm>
            <a:off x="609600" y="3708400"/>
            <a:ext cx="88900" cy="15494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6AB5D5-3B93-D0D8-A5AE-C7EBB3F72CA3}"/>
              </a:ext>
            </a:extLst>
          </p:cNvPr>
          <p:cNvSpPr txBox="1"/>
          <p:nvPr/>
        </p:nvSpPr>
        <p:spPr>
          <a:xfrm>
            <a:off x="876300" y="39116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C27A19"/>
                </a:solidFill>
                <a:latin typeface="Aptos Display" panose="020B0004020202020204" pitchFamily="34" charset="0"/>
              </a:rPr>
              <a:t>Write-operation latency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4CD527-A09B-937E-3C93-7488AC8644E9}"/>
              </a:ext>
            </a:extLst>
          </p:cNvPr>
          <p:cNvSpPr txBox="1"/>
          <p:nvPr/>
        </p:nvSpPr>
        <p:spPr>
          <a:xfrm>
            <a:off x="876300" y="4406900"/>
            <a:ext cx="29464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Publishing and application p95 exceeded the one-second target in four cases.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8104547-E13A-2BB1-4B4A-DEE3A2946448}"/>
              </a:ext>
            </a:extLst>
          </p:cNvPr>
          <p:cNvSpPr/>
          <p:nvPr/>
        </p:nvSpPr>
        <p:spPr>
          <a:xfrm>
            <a:off x="4292600" y="3708400"/>
            <a:ext cx="3429000" cy="1549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25B3E92-9D48-D7E1-44F8-3FDA9A478ADA}"/>
              </a:ext>
            </a:extLst>
          </p:cNvPr>
          <p:cNvSpPr/>
          <p:nvPr/>
        </p:nvSpPr>
        <p:spPr>
          <a:xfrm>
            <a:off x="4292600" y="3708400"/>
            <a:ext cx="88900" cy="15494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DEFBDA-EEB3-EE6C-7DA0-A1C1D90847C9}"/>
              </a:ext>
            </a:extLst>
          </p:cNvPr>
          <p:cNvSpPr txBox="1"/>
          <p:nvPr/>
        </p:nvSpPr>
        <p:spPr>
          <a:xfrm>
            <a:off x="4559300" y="39116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Free-tier cold starts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42C23E-58F3-6DAC-2BDF-0BBB99DD52AC}"/>
              </a:ext>
            </a:extLst>
          </p:cNvPr>
          <p:cNvSpPr txBox="1"/>
          <p:nvPr/>
        </p:nvSpPr>
        <p:spPr>
          <a:xfrm>
            <a:off x="4559300" y="4406900"/>
            <a:ext cx="29464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Healthy services may require warm-up; temporary 503s were observed.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7A26FE7-C1B9-AFE3-C1EA-FE8B30A1C1AF}"/>
              </a:ext>
            </a:extLst>
          </p:cNvPr>
          <p:cNvSpPr/>
          <p:nvPr/>
        </p:nvSpPr>
        <p:spPr>
          <a:xfrm>
            <a:off x="7975600" y="3708400"/>
            <a:ext cx="3429000" cy="1549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0BF338A-3975-D796-FA43-152B29C18520}"/>
              </a:ext>
            </a:extLst>
          </p:cNvPr>
          <p:cNvSpPr/>
          <p:nvPr/>
        </p:nvSpPr>
        <p:spPr>
          <a:xfrm>
            <a:off x="7975600" y="3708400"/>
            <a:ext cx="88900" cy="15494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A093D0-5A4C-0814-1413-9F53ACC09CB6}"/>
              </a:ext>
            </a:extLst>
          </p:cNvPr>
          <p:cNvSpPr txBox="1"/>
          <p:nvPr/>
        </p:nvSpPr>
        <p:spPr>
          <a:xfrm>
            <a:off x="8242300" y="39116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Acoustic robustness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574DA7-DE1E-AA22-1EB8-D15633634459}"/>
              </a:ext>
            </a:extLst>
          </p:cNvPr>
          <p:cNvSpPr txBox="1"/>
          <p:nvPr/>
        </p:nvSpPr>
        <p:spPr>
          <a:xfrm>
            <a:off x="8242300" y="4406900"/>
            <a:ext cx="29464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Noise and dictated email characters can require repetition or editing.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9A1F39-C7B4-A927-33FF-0E711D1E9CC4}"/>
              </a:ext>
            </a:extLst>
          </p:cNvPr>
          <p:cNvSpPr txBox="1"/>
          <p:nvPr/>
        </p:nvSpPr>
        <p:spPr>
          <a:xfrm>
            <a:off x="1778000" y="5740400"/>
            <a:ext cx="863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Engineering response: preserve failures, prioritize by risk, correct, retest and retain traceable evidence.</a:t>
            </a:r>
          </a:p>
        </p:txBody>
      </p:sp>
    </p:spTree>
    <p:extLst>
      <p:ext uri="{BB962C8B-B14F-4D97-AF65-F5344CB8AC3E}">
        <p14:creationId xmlns:p14="http://schemas.microsoft.com/office/powerpoint/2010/main" val="41072179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C7268D-223F-0211-ED74-075CD680FA0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82158B-0932-2F36-6B08-3BCE1D93925D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VALIDATION UTILISATEUR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B11036-CEAC-4212-F3F1-F7E95B3DFB68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The platform was evaluated with its intended users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177417-629E-BFEF-D9F4-7A90A6EC0024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Human evidence complements automated checks; photographs document sessions but do not prove universal accessibility.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5DC7C865-A067-4D4D-9765-219358669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F69B26-7735-CF91-BE55-A101283F5E76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D858A23-F63B-9CCD-360A-E3A5E8A7EF16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567CF-D40F-8B83-F31E-6D1CC397EE9D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27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A3DB8A6-0B3A-9304-8C53-ABCF8D22BA6A}"/>
              </a:ext>
            </a:extLst>
          </p:cNvPr>
          <p:cNvSpPr/>
          <p:nvPr/>
        </p:nvSpPr>
        <p:spPr>
          <a:xfrm>
            <a:off x="609600" y="1841500"/>
            <a:ext cx="3365500" cy="3111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Noelle Marie Gabrielle testing with JAWS on her adapted device">
            <a:extLst>
              <a:ext uri="{FF2B5EF4-FFF2-40B4-BE49-F238E27FC236}">
                <a16:creationId xmlns:a16="http://schemas.microsoft.com/office/drawing/2014/main" id="{2A1891AF-E7A6-69AB-085E-A422E3FA5E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90" y="1879600"/>
            <a:ext cx="1841319" cy="30353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1107E21-91E1-39F3-1294-9CC16FAAEA57}"/>
              </a:ext>
            </a:extLst>
          </p:cNvPr>
          <p:cNvSpPr/>
          <p:nvPr/>
        </p:nvSpPr>
        <p:spPr>
          <a:xfrm>
            <a:off x="4406900" y="1841500"/>
            <a:ext cx="3365500" cy="3111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rc en Ciel group accessibility and usability session">
            <a:extLst>
              <a:ext uri="{FF2B5EF4-FFF2-40B4-BE49-F238E27FC236}">
                <a16:creationId xmlns:a16="http://schemas.microsoft.com/office/drawing/2014/main" id="{BF922B36-4660-9576-4DAF-2F17464341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0" y="2163763"/>
            <a:ext cx="3289300" cy="2466975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BA24885-4DEF-6CEB-7B10-C126993C41FE}"/>
              </a:ext>
            </a:extLst>
          </p:cNvPr>
          <p:cNvSpPr/>
          <p:nvPr/>
        </p:nvSpPr>
        <p:spPr>
          <a:xfrm>
            <a:off x="8204200" y="1841500"/>
            <a:ext cx="3365500" cy="3111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Participant P01 interacting with the Arabic profile workflow">
            <a:extLst>
              <a:ext uri="{FF2B5EF4-FFF2-40B4-BE49-F238E27FC236}">
                <a16:creationId xmlns:a16="http://schemas.microsoft.com/office/drawing/2014/main" id="{8A1A4D44-DB38-5164-A7D9-E74033E229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713" y="1879600"/>
            <a:ext cx="2276475" cy="30353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B9BD307-42B3-5CEF-E32F-04A3B387BC86}"/>
              </a:ext>
            </a:extLst>
          </p:cNvPr>
          <p:cNvSpPr txBox="1"/>
          <p:nvPr/>
        </p:nvSpPr>
        <p:spPr>
          <a:xfrm>
            <a:off x="609600" y="5092700"/>
            <a:ext cx="3365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0B1F49"/>
                </a:solidFill>
                <a:latin typeface="Aptos Display" panose="020B0004020202020204" pitchFamily="34" charset="0"/>
              </a:rPr>
              <a:t>JAWS evaluation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8296A4-85B9-5DF9-F1C7-5F74FF8BDD22}"/>
              </a:ext>
            </a:extLst>
          </p:cNvPr>
          <p:cNvSpPr txBox="1"/>
          <p:nvPr/>
        </p:nvSpPr>
        <p:spPr>
          <a:xfrm>
            <a:off x="736600" y="5422900"/>
            <a:ext cx="3111500" cy="2677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70">
                <a:solidFill>
                  <a:srgbClr val="17243A"/>
                </a:solidFill>
                <a:latin typeface="Aptos" panose="020B0004020202020204" pitchFamily="34" charset="0"/>
              </a:rPr>
              <a:t>Noelle completed navigation, registration and job-application interaction on her adapted device.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6A470F-3AE8-43BB-56FE-DC48474A8BD0}"/>
              </a:ext>
            </a:extLst>
          </p:cNvPr>
          <p:cNvSpPr txBox="1"/>
          <p:nvPr/>
        </p:nvSpPr>
        <p:spPr>
          <a:xfrm>
            <a:off x="4406900" y="5092700"/>
            <a:ext cx="3365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0B1F49"/>
                </a:solidFill>
                <a:latin typeface="Aptos Display" panose="020B0004020202020204" pitchFamily="34" charset="0"/>
              </a:rPr>
              <a:t>Arc en Ciel: 20 participants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4372B2-1950-F531-118A-B71AA1C92FE1}"/>
              </a:ext>
            </a:extLst>
          </p:cNvPr>
          <p:cNvSpPr txBox="1"/>
          <p:nvPr/>
        </p:nvSpPr>
        <p:spPr>
          <a:xfrm>
            <a:off x="4533900" y="5422900"/>
            <a:ext cx="3111500" cy="2677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70">
                <a:solidFill>
                  <a:srgbClr val="17243A"/>
                </a:solidFill>
                <a:latin typeface="Aptos" panose="020B0004020202020204" pitchFamily="34" charset="0"/>
              </a:rPr>
              <a:t>Users with different needs interacted with the main platform workflows in a real setting.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33FC76-6A07-C97F-A45F-61AC828DDBC5}"/>
              </a:ext>
            </a:extLst>
          </p:cNvPr>
          <p:cNvSpPr txBox="1"/>
          <p:nvPr/>
        </p:nvSpPr>
        <p:spPr>
          <a:xfrm>
            <a:off x="8204200" y="5092700"/>
            <a:ext cx="3365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0B1F49"/>
                </a:solidFill>
                <a:latin typeface="Aptos Display" panose="020B0004020202020204" pitchFamily="34" charset="0"/>
              </a:rPr>
              <a:t>Accessibility in context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85766C-EBB4-667E-24F2-F2A50889DCA5}"/>
              </a:ext>
            </a:extLst>
          </p:cNvPr>
          <p:cNvSpPr txBox="1"/>
          <p:nvPr/>
        </p:nvSpPr>
        <p:spPr>
          <a:xfrm>
            <a:off x="8331200" y="5422900"/>
            <a:ext cx="3111500" cy="2677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70">
                <a:solidFill>
                  <a:srgbClr val="17243A"/>
                </a:solidFill>
                <a:latin typeface="Aptos" panose="020B0004020202020204" pitchFamily="34" charset="0"/>
              </a:rPr>
              <a:t>Simple steps, Arabic support and voice assistance helped broaden participation.</a:t>
            </a:r>
          </a:p>
        </p:txBody>
      </p:sp>
    </p:spTree>
    <p:extLst>
      <p:ext uri="{BB962C8B-B14F-4D97-AF65-F5344CB8AC3E}">
        <p14:creationId xmlns:p14="http://schemas.microsoft.com/office/powerpoint/2010/main" val="17004400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70E823-26D2-03FD-8506-1A0CA9DE3C5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BA4D85-9AE8-CDAF-66F1-3432ED52EE56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MESURES ET METRIQUES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DF431B-2BD1-4DA6-6F9C-BF873C89CC71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Functionality held; free-tier latency did not always meet the target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4A4492-54D8-BE6D-B081-50BA1AF417B6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Availability and response-time quality were evaluated separately.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EAF611DB-A811-C130-24DB-87B4474E8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4EA7622-3E36-E00B-442D-5E40D2C3DCCB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B9A9BC6-674C-D6B0-32C8-DE15EEF296B2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8CDEEB-03E2-1C8D-EFD7-E70E7DC81C2C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28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B2452FC-C6D4-D69D-87C8-95C082A1EF0A}"/>
              </a:ext>
            </a:extLst>
          </p:cNvPr>
          <p:cNvSpPr/>
          <p:nvPr/>
        </p:nvSpPr>
        <p:spPr>
          <a:xfrm>
            <a:off x="609600" y="1905000"/>
            <a:ext cx="5080000" cy="3175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8B5B62-F807-56F4-8956-5C8CEB3EBBAC}"/>
              </a:ext>
            </a:extLst>
          </p:cNvPr>
          <p:cNvSpPr txBox="1"/>
          <p:nvPr/>
        </p:nvSpPr>
        <p:spPr>
          <a:xfrm>
            <a:off x="914400" y="2235200"/>
            <a:ext cx="4191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157A55"/>
                </a:solidFill>
                <a:latin typeface="Aptos Display" panose="020B0004020202020204" pitchFamily="34" charset="0"/>
              </a:rPr>
              <a:t>Functional reliability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4EA39A5-3D58-68B3-CF08-FC59139B50E2}"/>
              </a:ext>
            </a:extLst>
          </p:cNvPr>
          <p:cNvSpPr/>
          <p:nvPr/>
        </p:nvSpPr>
        <p:spPr>
          <a:xfrm>
            <a:off x="914400" y="2819400"/>
            <a:ext cx="20320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32471F-E61B-E676-349B-72D44390CD91}"/>
              </a:ext>
            </a:extLst>
          </p:cNvPr>
          <p:cNvSpPr/>
          <p:nvPr/>
        </p:nvSpPr>
        <p:spPr>
          <a:xfrm>
            <a:off x="914400" y="2819400"/>
            <a:ext cx="63500" cy="9144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838372-240F-569C-9CA7-227190B4C40B}"/>
              </a:ext>
            </a:extLst>
          </p:cNvPr>
          <p:cNvSpPr txBox="1"/>
          <p:nvPr/>
        </p:nvSpPr>
        <p:spPr>
          <a:xfrm>
            <a:off x="1117600" y="2959100"/>
            <a:ext cx="1727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144 / 144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4236F0-F6DC-39C8-3407-7372B1EE161F}"/>
              </a:ext>
            </a:extLst>
          </p:cNvPr>
          <p:cNvSpPr txBox="1"/>
          <p:nvPr/>
        </p:nvSpPr>
        <p:spPr>
          <a:xfrm>
            <a:off x="1117600" y="33655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shared-load responses succeeded with zero 5xx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B14EB94-592E-B8A5-1056-25AF47D70A7A}"/>
              </a:ext>
            </a:extLst>
          </p:cNvPr>
          <p:cNvSpPr/>
          <p:nvPr/>
        </p:nvSpPr>
        <p:spPr>
          <a:xfrm>
            <a:off x="3200400" y="2819400"/>
            <a:ext cx="20320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97AD4C-747E-2D0D-677D-9B3016DD0321}"/>
              </a:ext>
            </a:extLst>
          </p:cNvPr>
          <p:cNvSpPr/>
          <p:nvPr/>
        </p:nvSpPr>
        <p:spPr>
          <a:xfrm>
            <a:off x="3200400" y="2819400"/>
            <a:ext cx="63500" cy="9144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E3D27D-7520-2166-D102-8CC2BA88273A}"/>
              </a:ext>
            </a:extLst>
          </p:cNvPr>
          <p:cNvSpPr txBox="1"/>
          <p:nvPr/>
        </p:nvSpPr>
        <p:spPr>
          <a:xfrm>
            <a:off x="3403600" y="2959100"/>
            <a:ext cx="1727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96 / 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3514BC-2B5E-2B87-A4EE-FC3237AE568C}"/>
              </a:ext>
            </a:extLst>
          </p:cNvPr>
          <p:cNvSpPr txBox="1"/>
          <p:nvPr/>
        </p:nvSpPr>
        <p:spPr>
          <a:xfrm>
            <a:off x="3403600" y="33655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publish/application mutations returned HTTP 201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5E912B-E136-F7A0-6E11-E75DF55D94D9}"/>
              </a:ext>
            </a:extLst>
          </p:cNvPr>
          <p:cNvSpPr txBox="1"/>
          <p:nvPr/>
        </p:nvSpPr>
        <p:spPr>
          <a:xfrm>
            <a:off x="914400" y="4127500"/>
            <a:ext cx="4191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17243A"/>
                </a:solidFill>
                <a:latin typeface="Aptos" panose="020B0004020202020204" pitchFamily="34" charset="0"/>
              </a:rPr>
              <a:t>The deployed services produced the expected functional output after health warm-up.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51F6F2F-B3FE-44CF-BE05-21025317A306}"/>
              </a:ext>
            </a:extLst>
          </p:cNvPr>
          <p:cNvSpPr/>
          <p:nvPr/>
        </p:nvSpPr>
        <p:spPr>
          <a:xfrm>
            <a:off x="6502400" y="1905000"/>
            <a:ext cx="5080000" cy="3175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828815-D451-3FCC-3BA9-F473FEED30D1}"/>
              </a:ext>
            </a:extLst>
          </p:cNvPr>
          <p:cNvSpPr txBox="1"/>
          <p:nvPr/>
        </p:nvSpPr>
        <p:spPr>
          <a:xfrm>
            <a:off x="6807200" y="2235200"/>
            <a:ext cx="4191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563A4B"/>
                </a:solidFill>
                <a:latin typeface="Aptos Display" panose="020B0004020202020204" pitchFamily="34" charset="0"/>
              </a:rPr>
              <a:t>Latency and dependency limits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D6FDFBE-8A9C-E705-20D3-2FAC3BDB90F0}"/>
              </a:ext>
            </a:extLst>
          </p:cNvPr>
          <p:cNvSpPr/>
          <p:nvPr/>
        </p:nvSpPr>
        <p:spPr>
          <a:xfrm>
            <a:off x="6807200" y="2819400"/>
            <a:ext cx="20320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1F766E-7F34-51C9-65D4-6E5F13D749E4}"/>
              </a:ext>
            </a:extLst>
          </p:cNvPr>
          <p:cNvSpPr/>
          <p:nvPr/>
        </p:nvSpPr>
        <p:spPr>
          <a:xfrm>
            <a:off x="6807200" y="2819400"/>
            <a:ext cx="63500" cy="9144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89185B-39C4-A9F1-7901-A87E59DA2411}"/>
              </a:ext>
            </a:extLst>
          </p:cNvPr>
          <p:cNvSpPr txBox="1"/>
          <p:nvPr/>
        </p:nvSpPr>
        <p:spPr>
          <a:xfrm>
            <a:off x="7010400" y="2959100"/>
            <a:ext cx="1727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3 / 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E1908E-D0BE-617B-4801-7788557747AC}"/>
              </a:ext>
            </a:extLst>
          </p:cNvPr>
          <p:cNvSpPr txBox="1"/>
          <p:nvPr/>
        </p:nvSpPr>
        <p:spPr>
          <a:xfrm>
            <a:off x="7010400" y="33655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shared-load latency cases met threshold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52784C6-84B3-2AEF-7A9E-B67AAC36AB09}"/>
              </a:ext>
            </a:extLst>
          </p:cNvPr>
          <p:cNvSpPr/>
          <p:nvPr/>
        </p:nvSpPr>
        <p:spPr>
          <a:xfrm>
            <a:off x="9093200" y="2819400"/>
            <a:ext cx="20320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F23A5D4-E90A-2406-5134-97A36628F6A8}"/>
              </a:ext>
            </a:extLst>
          </p:cNvPr>
          <p:cNvSpPr/>
          <p:nvPr/>
        </p:nvSpPr>
        <p:spPr>
          <a:xfrm>
            <a:off x="9093200" y="2819400"/>
            <a:ext cx="63500" cy="9144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2AAEE3-7895-86A0-0D10-E7896AFCC70B}"/>
              </a:ext>
            </a:extLst>
          </p:cNvPr>
          <p:cNvSpPr txBox="1"/>
          <p:nvPr/>
        </p:nvSpPr>
        <p:spPr>
          <a:xfrm>
            <a:off x="9296400" y="2959100"/>
            <a:ext cx="1727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B1F49"/>
                </a:solidFill>
                <a:latin typeface="Aptos Display" panose="020B0004020202020204" pitchFamily="34" charset="0"/>
              </a:rPr>
              <a:t>4 / 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08ECEB-EE80-23AF-62FA-A67949263FBF}"/>
              </a:ext>
            </a:extLst>
          </p:cNvPr>
          <p:cNvSpPr txBox="1"/>
          <p:nvPr/>
        </p:nvSpPr>
        <p:spPr>
          <a:xfrm>
            <a:off x="9296400" y="33655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write p95 checks exceeded one second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1C50AD-6060-E056-4892-EC27F6EC9D98}"/>
              </a:ext>
            </a:extLst>
          </p:cNvPr>
          <p:cNvSpPr txBox="1"/>
          <p:nvPr/>
        </p:nvSpPr>
        <p:spPr>
          <a:xfrm>
            <a:off x="6807200" y="4127500"/>
            <a:ext cx="4191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17243A"/>
                </a:solidFill>
                <a:latin typeface="Aptos" panose="020B0004020202020204" pitchFamily="34" charset="0"/>
              </a:rPr>
              <a:t>Free-service cold starts and external AI availability remain staging constraints. Local bundle budgets passed after removing a blocking external font request.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6CEDC3-2FCB-881C-110C-E8D0E47295AD}"/>
              </a:ext>
            </a:extLst>
          </p:cNvPr>
          <p:cNvSpPr txBox="1"/>
          <p:nvPr/>
        </p:nvSpPr>
        <p:spPr>
          <a:xfrm>
            <a:off x="1778000" y="5524500"/>
            <a:ext cx="863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Conclusion: functionally usable staging evidence, but no production availability or capacity claim.</a:t>
            </a:r>
          </a:p>
        </p:txBody>
      </p:sp>
    </p:spTree>
    <p:extLst>
      <p:ext uri="{BB962C8B-B14F-4D97-AF65-F5344CB8AC3E}">
        <p14:creationId xmlns:p14="http://schemas.microsoft.com/office/powerpoint/2010/main" val="40280006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AC4A7E-0BC8-1586-727B-CEE2AAB24AEF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C0E903-5F60-BB6B-FCB4-871EC9772144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900" b="1">
                <a:solidFill>
                  <a:srgbClr val="A64B2A"/>
                </a:solidFill>
                <a:latin typeface="Aptos" panose="020B0004020202020204" pitchFamily="34" charset="0"/>
              </a:rPr>
              <a:t>ESTIMATION DU COUT ET MAINTENANCE</a:t>
            </a:r>
            <a:endParaRPr lang="en-US" sz="900" b="1">
              <a:solidFill>
                <a:srgbClr val="A64B2A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18EB2-2482-E716-DE8D-40344C94CD51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Cost is effort plus infrastructure, external services and change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B1A4-46A9-6953-F917-2DC051C305AB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The prototype used free staging resources; production planning must estimate both fixed engineering effort and variable operational demand.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8521A477-BBE4-D22B-3D67-405D0D69C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1CACCAD-9988-A3E9-EE8E-98F352D3218A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36EA510-D47B-EFD6-1C1E-02D7775F136A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9D16DA-1A4E-62C6-0341-24CCD1EF98FB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29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AEB1517-C4DE-292A-7206-F26FFFC068EC}"/>
              </a:ext>
            </a:extLst>
          </p:cNvPr>
          <p:cNvSpPr/>
          <p:nvPr/>
        </p:nvSpPr>
        <p:spPr>
          <a:xfrm>
            <a:off x="609600" y="1905000"/>
            <a:ext cx="3429000" cy="3022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1D1B3-417B-E417-B0B9-AD52D200E73C}"/>
              </a:ext>
            </a:extLst>
          </p:cNvPr>
          <p:cNvSpPr/>
          <p:nvPr/>
        </p:nvSpPr>
        <p:spPr>
          <a:xfrm>
            <a:off x="609600" y="1905000"/>
            <a:ext cx="88900" cy="3022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4D9736-B22E-8904-B2CD-9DEDD8893A9B}"/>
              </a:ext>
            </a:extLst>
          </p:cNvPr>
          <p:cNvSpPr txBox="1"/>
          <p:nvPr/>
        </p:nvSpPr>
        <p:spPr>
          <a:xfrm>
            <a:off x="876300" y="21082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Estimation approach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449020-985A-1488-6E9B-B53A42CBDFC5}"/>
              </a:ext>
            </a:extLst>
          </p:cNvPr>
          <p:cNvSpPr txBox="1"/>
          <p:nvPr/>
        </p:nvSpPr>
        <p:spPr>
          <a:xfrm>
            <a:off x="876300" y="2603500"/>
            <a:ext cx="29464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Bottom-up by subsystem and lifecycle activity
Cross-check with analogous deployments
Use scenarios for active users and AI calls
No unsupported COCOMO claim without calibrated effort history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816BC5A-6A82-3D01-D087-FD6FFDCB55BF}"/>
              </a:ext>
            </a:extLst>
          </p:cNvPr>
          <p:cNvSpPr/>
          <p:nvPr/>
        </p:nvSpPr>
        <p:spPr>
          <a:xfrm>
            <a:off x="4381500" y="1905000"/>
            <a:ext cx="3429000" cy="3022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6AD157-284D-172C-49E0-D3131C4144DC}"/>
              </a:ext>
            </a:extLst>
          </p:cNvPr>
          <p:cNvSpPr/>
          <p:nvPr/>
        </p:nvSpPr>
        <p:spPr>
          <a:xfrm>
            <a:off x="4381500" y="1905000"/>
            <a:ext cx="88900" cy="30226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434E9F-A423-79FB-839D-BB20CF684265}"/>
              </a:ext>
            </a:extLst>
          </p:cNvPr>
          <p:cNvSpPr txBox="1"/>
          <p:nvPr/>
        </p:nvSpPr>
        <p:spPr>
          <a:xfrm>
            <a:off x="4648200" y="21082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Main cost drivers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222AFA-579C-B45B-4F78-63635D888AA5}"/>
              </a:ext>
            </a:extLst>
          </p:cNvPr>
          <p:cNvSpPr txBox="1"/>
          <p:nvPr/>
        </p:nvSpPr>
        <p:spPr>
          <a:xfrm>
            <a:off x="4648200" y="2603500"/>
            <a:ext cx="29464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Human engineering and verification effort
Non-sleeping compute and managed database
Storage, email and monitoring
OpenAI transcription and structured suggestions
Accessibility and security maintenance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92ABB27-A5DF-1EFD-39D7-45AD7CFC3928}"/>
              </a:ext>
            </a:extLst>
          </p:cNvPr>
          <p:cNvSpPr/>
          <p:nvPr/>
        </p:nvSpPr>
        <p:spPr>
          <a:xfrm>
            <a:off x="8153400" y="1905000"/>
            <a:ext cx="3429000" cy="3022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4A362C-848A-AEF1-57C3-AB0ECF56EFAF}"/>
              </a:ext>
            </a:extLst>
          </p:cNvPr>
          <p:cNvSpPr/>
          <p:nvPr/>
        </p:nvSpPr>
        <p:spPr>
          <a:xfrm>
            <a:off x="8153400" y="1905000"/>
            <a:ext cx="88900" cy="30226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502406-AAE1-389F-887A-B1946421F6F5}"/>
              </a:ext>
            </a:extLst>
          </p:cNvPr>
          <p:cNvSpPr txBox="1"/>
          <p:nvPr/>
        </p:nvSpPr>
        <p:spPr>
          <a:xfrm>
            <a:off x="8420100" y="21082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Controls and trade-offs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4E8E0C-35A7-825F-7A5F-5888A2DDFEC7}"/>
              </a:ext>
            </a:extLst>
          </p:cNvPr>
          <p:cNvSpPr txBox="1"/>
          <p:nvPr/>
        </p:nvSpPr>
        <p:spPr>
          <a:xfrm>
            <a:off x="8420100" y="2603500"/>
            <a:ext cx="29464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Per-user daily AI and voice quotas
Rate limits, cooldowns and budget alerts
Lower-cost model routing and manual fallback
Measure queries before caching
Cache only repeated non-sensitive reads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7EFD3AF-3BDC-2CB7-2F97-32E555DD525B}"/>
              </a:ext>
            </a:extLst>
          </p:cNvPr>
          <p:cNvSpPr/>
          <p:nvPr/>
        </p:nvSpPr>
        <p:spPr>
          <a:xfrm>
            <a:off x="1193800" y="5384800"/>
            <a:ext cx="9804400" cy="7366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08F123-1ADF-E98A-D31A-377AA03D81DA}"/>
              </a:ext>
            </a:extLst>
          </p:cNvPr>
          <p:cNvSpPr txBox="1"/>
          <p:nvPr/>
        </p:nvSpPr>
        <p:spPr>
          <a:xfrm>
            <a:off x="1524000" y="5613400"/>
            <a:ext cx="9144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Maintenance categories: corrective defects | adaptive provider/platform change | perfective features | preventive refactoring and monitoring</a:t>
            </a:r>
          </a:p>
        </p:txBody>
      </p:sp>
    </p:spTree>
    <p:extLst>
      <p:ext uri="{BB962C8B-B14F-4D97-AF65-F5344CB8AC3E}">
        <p14:creationId xmlns:p14="http://schemas.microsoft.com/office/powerpoint/2010/main" val="14919807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26DB32-D9B9-7C14-E780-A26D3E42796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BA6F9C-3240-C731-BC21-9C5319D9DEB0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DOCUMENTATION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1378FC-B01F-C557-D15E-191736358CE5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Every lifecycle stage produced a reviewable artefact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79F43D-203D-97E8-43C2-68DEDB66D15D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Documentation supports communication, verification, change control, deployment and future maintenance.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7B960454-EEC5-9877-D96A-39711A9DCA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88B342-A96D-8D9D-A68A-BFF7004333D7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D71132-8264-400F-72DB-986E13640BCB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209156-2F6F-430E-B5CF-823811590EB4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30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FA1DAA6-629B-F420-95AF-C730F10E83FE}"/>
              </a:ext>
            </a:extLst>
          </p:cNvPr>
          <p:cNvSpPr/>
          <p:nvPr/>
        </p:nvSpPr>
        <p:spPr>
          <a:xfrm>
            <a:off x="609600" y="2222500"/>
            <a:ext cx="1905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B34D08-128A-F976-CBAB-F2A60DC0E785}"/>
              </a:ext>
            </a:extLst>
          </p:cNvPr>
          <p:cNvSpPr/>
          <p:nvPr/>
        </p:nvSpPr>
        <p:spPr>
          <a:xfrm>
            <a:off x="609600" y="2222500"/>
            <a:ext cx="1905000" cy="889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AE2FC0-A50B-B758-4901-E8D286708BD8}"/>
              </a:ext>
            </a:extLst>
          </p:cNvPr>
          <p:cNvSpPr txBox="1"/>
          <p:nvPr/>
        </p:nvSpPr>
        <p:spPr>
          <a:xfrm>
            <a:off x="736600" y="25146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Needs + SRS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5AD0D1-67F6-507C-4AA6-DFE287E895DF}"/>
              </a:ext>
            </a:extLst>
          </p:cNvPr>
          <p:cNvSpPr txBox="1"/>
          <p:nvPr/>
        </p:nvSpPr>
        <p:spPr>
          <a:xfrm>
            <a:off x="749300" y="3136900"/>
            <a:ext cx="1625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Report requirements
FR/NFR + WCAG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33CC04-05C3-179D-3D4B-D6376B360DF5}"/>
              </a:ext>
            </a:extLst>
          </p:cNvPr>
          <p:cNvCxnSpPr/>
          <p:nvPr/>
        </p:nvCxnSpPr>
        <p:spPr>
          <a:xfrm>
            <a:off x="2565400" y="34290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9675706-26A8-0E68-0777-0F86AC062F50}"/>
              </a:ext>
            </a:extLst>
          </p:cNvPr>
          <p:cNvSpPr/>
          <p:nvPr/>
        </p:nvSpPr>
        <p:spPr>
          <a:xfrm>
            <a:off x="2857500" y="2222500"/>
            <a:ext cx="1905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F9F109-E49A-1895-91BF-5BFB79F095C7}"/>
              </a:ext>
            </a:extLst>
          </p:cNvPr>
          <p:cNvSpPr/>
          <p:nvPr/>
        </p:nvSpPr>
        <p:spPr>
          <a:xfrm>
            <a:off x="2857500" y="2222500"/>
            <a:ext cx="19050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83BCB6-D9F4-3635-A30B-96C7733FD233}"/>
              </a:ext>
            </a:extLst>
          </p:cNvPr>
          <p:cNvSpPr txBox="1"/>
          <p:nvPr/>
        </p:nvSpPr>
        <p:spPr>
          <a:xfrm>
            <a:off x="2984500" y="25146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Design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B9977C-6590-FB9E-C5F9-CA068AB16806}"/>
              </a:ext>
            </a:extLst>
          </p:cNvPr>
          <p:cNvSpPr txBox="1"/>
          <p:nvPr/>
        </p:nvSpPr>
        <p:spPr>
          <a:xfrm>
            <a:off x="2997200" y="3136900"/>
            <a:ext cx="1625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Architecture
Data + flows + patterns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473648-3BFB-4810-5D64-A7938D8AC596}"/>
              </a:ext>
            </a:extLst>
          </p:cNvPr>
          <p:cNvCxnSpPr/>
          <p:nvPr/>
        </p:nvCxnSpPr>
        <p:spPr>
          <a:xfrm>
            <a:off x="4813300" y="34290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5648BB2-4837-69B6-4161-603E09114716}"/>
              </a:ext>
            </a:extLst>
          </p:cNvPr>
          <p:cNvSpPr/>
          <p:nvPr/>
        </p:nvSpPr>
        <p:spPr>
          <a:xfrm>
            <a:off x="5105400" y="2222500"/>
            <a:ext cx="1905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29DB73-D599-6002-78D8-A590FEF9762B}"/>
              </a:ext>
            </a:extLst>
          </p:cNvPr>
          <p:cNvSpPr/>
          <p:nvPr/>
        </p:nvSpPr>
        <p:spPr>
          <a:xfrm>
            <a:off x="5105400" y="2222500"/>
            <a:ext cx="1905000" cy="889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BC7A5E-44F0-3259-782C-D61425711D0F}"/>
              </a:ext>
            </a:extLst>
          </p:cNvPr>
          <p:cNvSpPr txBox="1"/>
          <p:nvPr/>
        </p:nvSpPr>
        <p:spPr>
          <a:xfrm>
            <a:off x="5232400" y="25146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Implementation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0BC70B-6B9A-0381-E681-EE74BE440F4A}"/>
              </a:ext>
            </a:extLst>
          </p:cNvPr>
          <p:cNvSpPr txBox="1"/>
          <p:nvPr/>
        </p:nvSpPr>
        <p:spPr>
          <a:xfrm>
            <a:off x="5245100" y="3136900"/>
            <a:ext cx="1625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920">
                <a:solidFill>
                  <a:srgbClr val="17243A"/>
                </a:solidFill>
                <a:latin typeface="Aptos" panose="020B0004020202020204" pitchFamily="34" charset="0"/>
              </a:rPr>
              <a:t>Source + migrations
render.yaml + Docker</a:t>
            </a:r>
            <a:endParaRPr lang="en-US" sz="920">
              <a:solidFill>
                <a:srgbClr val="17243A"/>
              </a:solidFill>
              <a:latin typeface="Aptos" panose="020B000402020202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A3A2F23-52AD-A95D-36A2-100927C4213E}"/>
              </a:ext>
            </a:extLst>
          </p:cNvPr>
          <p:cNvCxnSpPr/>
          <p:nvPr/>
        </p:nvCxnSpPr>
        <p:spPr>
          <a:xfrm>
            <a:off x="7061200" y="34290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8F02F3B-5E23-301C-915E-4C0B54320708}"/>
              </a:ext>
            </a:extLst>
          </p:cNvPr>
          <p:cNvSpPr/>
          <p:nvPr/>
        </p:nvSpPr>
        <p:spPr>
          <a:xfrm>
            <a:off x="7353300" y="2222500"/>
            <a:ext cx="1905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25DD274-B4D7-5F0C-A197-2FAAF82A28A7}"/>
              </a:ext>
            </a:extLst>
          </p:cNvPr>
          <p:cNvSpPr/>
          <p:nvPr/>
        </p:nvSpPr>
        <p:spPr>
          <a:xfrm>
            <a:off x="7353300" y="2222500"/>
            <a:ext cx="1905000" cy="88900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A423BB-26BF-398B-2A6A-81BD70E753E8}"/>
              </a:ext>
            </a:extLst>
          </p:cNvPr>
          <p:cNvSpPr txBox="1"/>
          <p:nvPr/>
        </p:nvSpPr>
        <p:spPr>
          <a:xfrm>
            <a:off x="7480300" y="25146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V&amp;V evidence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50D3D9-3C9E-2044-3BAA-EB3A4BA10040}"/>
              </a:ext>
            </a:extLst>
          </p:cNvPr>
          <p:cNvSpPr txBox="1"/>
          <p:nvPr/>
        </p:nvSpPr>
        <p:spPr>
          <a:xfrm>
            <a:off x="7493000" y="3136900"/>
            <a:ext cx="1625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Test register
JSON + screenshots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1FF4E74-0155-77D0-9A5D-C048F1FA74F9}"/>
              </a:ext>
            </a:extLst>
          </p:cNvPr>
          <p:cNvCxnSpPr/>
          <p:nvPr/>
        </p:nvCxnSpPr>
        <p:spPr>
          <a:xfrm>
            <a:off x="9309100" y="3429000"/>
            <a:ext cx="2667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0DF3680-441F-4643-D72E-1B1393BCABAF}"/>
              </a:ext>
            </a:extLst>
          </p:cNvPr>
          <p:cNvSpPr/>
          <p:nvPr/>
        </p:nvSpPr>
        <p:spPr>
          <a:xfrm>
            <a:off x="9601200" y="2222500"/>
            <a:ext cx="1905000" cy="241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AC69837-A534-90F0-F35C-D37A4F3F274C}"/>
              </a:ext>
            </a:extLst>
          </p:cNvPr>
          <p:cNvSpPr/>
          <p:nvPr/>
        </p:nvSpPr>
        <p:spPr>
          <a:xfrm>
            <a:off x="9601200" y="2222500"/>
            <a:ext cx="1905000" cy="889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E08476-1228-2DEC-D691-1F7D35E9D405}"/>
              </a:ext>
            </a:extLst>
          </p:cNvPr>
          <p:cNvSpPr txBox="1"/>
          <p:nvPr/>
        </p:nvSpPr>
        <p:spPr>
          <a:xfrm>
            <a:off x="9728200" y="25146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Operations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4BFC99-EC64-1108-C40D-506DB36400BB}"/>
              </a:ext>
            </a:extLst>
          </p:cNvPr>
          <p:cNvSpPr txBox="1"/>
          <p:nvPr/>
        </p:nvSpPr>
        <p:spPr>
          <a:xfrm>
            <a:off x="9740900" y="3136900"/>
            <a:ext cx="1625600" cy="283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20">
                <a:solidFill>
                  <a:srgbClr val="17243A"/>
                </a:solidFill>
                <a:latin typeface="Aptos" panose="020B0004020202020204" pitchFamily="34" charset="0"/>
              </a:rPr>
              <a:t>Deployment guide
Limits + recovery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299A471-E574-A75F-E801-2B8175CB19C8}"/>
              </a:ext>
            </a:extLst>
          </p:cNvPr>
          <p:cNvSpPr/>
          <p:nvPr/>
        </p:nvSpPr>
        <p:spPr>
          <a:xfrm>
            <a:off x="1460500" y="5143500"/>
            <a:ext cx="9271000" cy="838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2D288E-6F5C-180E-2D13-1411BA04E160}"/>
              </a:ext>
            </a:extLst>
          </p:cNvPr>
          <p:cNvSpPr txBox="1"/>
          <p:nvPr/>
        </p:nvSpPr>
        <p:spPr>
          <a:xfrm>
            <a:off x="1778000" y="5372100"/>
            <a:ext cx="228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0B1F49"/>
                </a:solidFill>
                <a:latin typeface="Aptos Display" panose="020B0004020202020204" pitchFamily="34" charset="0"/>
              </a:rPr>
              <a:t>Repository evidence audit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24E0F1-9775-60C8-DBC6-13F94B78E18A}"/>
              </a:ext>
            </a:extLst>
          </p:cNvPr>
          <p:cNvSpPr txBox="1"/>
          <p:nvPr/>
        </p:nvSpPr>
        <p:spPr>
          <a:xfrm>
            <a:off x="4064000" y="5346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17243A"/>
                </a:solidFill>
                <a:latin typeface="Aptos" panose="020B0004020202020204" pitchFamily="34" charset="0"/>
              </a:rPr>
              <a:t>26 engineering Markdown documents | 40 JSON evidence files | 181 PNG evidence images | final report + 310-case workbook</a:t>
            </a:r>
          </a:p>
        </p:txBody>
      </p:sp>
    </p:spTree>
    <p:extLst>
      <p:ext uri="{BB962C8B-B14F-4D97-AF65-F5344CB8AC3E}">
        <p14:creationId xmlns:p14="http://schemas.microsoft.com/office/powerpoint/2010/main" val="7137067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B50112-2300-6133-1A88-ABFD7FC1DF1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F4461F-A893-0AB8-6931-157F3D9A4DC5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F776B9-62F0-4C10-6A6F-A690748489E2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A validated bridge from ability to opportunity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4F0D35-858F-3D09-2C72-208540CAF179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The project demonstrates technical feasibility and practical relevance while keeping its limitations explicit.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990D1D85-C331-1B4B-B284-ACA10AD817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400329-075B-EC5F-9794-D9031DA1E014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4763F1D-5118-5038-7320-78352FC91C10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497108-68B9-4AB5-E2D0-74EEC5A2B407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31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C80D9B5-B1A4-2CBF-97BA-1AEA9A3321D8}"/>
              </a:ext>
            </a:extLst>
          </p:cNvPr>
          <p:cNvSpPr/>
          <p:nvPr/>
        </p:nvSpPr>
        <p:spPr>
          <a:xfrm>
            <a:off x="609600" y="1841500"/>
            <a:ext cx="6477000" cy="38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BCD36B-3BEE-3B76-A5C3-C02E8A433C64}"/>
              </a:ext>
            </a:extLst>
          </p:cNvPr>
          <p:cNvSpPr txBox="1"/>
          <p:nvPr/>
        </p:nvSpPr>
        <p:spPr>
          <a:xfrm>
            <a:off x="914400" y="2146300"/>
            <a:ext cx="203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157A55"/>
                </a:solidFill>
                <a:latin typeface="Aptos Display" panose="020B0004020202020204" pitchFamily="34" charset="0"/>
              </a:rPr>
              <a:t>Delivered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B75CF7-71FA-8D4C-35E1-E4351AECC647}"/>
              </a:ext>
            </a:extLst>
          </p:cNvPr>
          <p:cNvSpPr txBox="1"/>
          <p:nvPr/>
        </p:nvSpPr>
        <p:spPr>
          <a:xfrm>
            <a:off x="914400" y="2730500"/>
            <a:ext cx="5461000" cy="11849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17243A"/>
                </a:solidFill>
                <a:latin typeface="Aptos" panose="020B0004020202020204" pitchFamily="34" charset="0"/>
              </a:rPr>
              <a:t>+ Four protected role workflows
+ Multilingual and RTL interface
+ Candidate-controlled AI and voice assistance
+ Deterministic task-level matching
+ Jobs and hospitality training programs
+ Render/Supabase cloud staging
+ 310-case register plus human validation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2EE7AFB-E8D3-63F6-BC10-464EE490B2FD}"/>
              </a:ext>
            </a:extLst>
          </p:cNvPr>
          <p:cNvSpPr/>
          <p:nvPr/>
        </p:nvSpPr>
        <p:spPr>
          <a:xfrm>
            <a:off x="7493000" y="1841500"/>
            <a:ext cx="4089400" cy="38100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A31B6D-5E1F-D839-47DB-4841C5FFC586}"/>
              </a:ext>
            </a:extLst>
          </p:cNvPr>
          <p:cNvSpPr txBox="1"/>
          <p:nvPr/>
        </p:nvSpPr>
        <p:spPr>
          <a:xfrm>
            <a:off x="7823200" y="2146300"/>
            <a:ext cx="330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 Display" panose="020B0004020202020204" pitchFamily="34" charset="0"/>
              </a:rPr>
              <a:t>5-minute demonstration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6B4440-CF17-8A41-5584-88736F0A3BFA}"/>
              </a:ext>
            </a:extLst>
          </p:cNvPr>
          <p:cNvSpPr txBox="1"/>
          <p:nvPr/>
        </p:nvSpPr>
        <p:spPr>
          <a:xfrm>
            <a:off x="7823200" y="2794000"/>
            <a:ext cx="3302000" cy="8079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FFFFFF"/>
                </a:solidFill>
                <a:latin typeface="Aptos" panose="020B0004020202020204" pitchFamily="34" charset="0"/>
              </a:rPr>
              <a:t>00:00  Candidate profile + consent
01:00  Match score + explanation
02:00  Employer job/training workflow
03:00  Verifier/admin + deployment evidence
04:00  Language, keyboard and voice path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4CC0F1-ED39-82C1-42BD-31FB8E1FFED5}"/>
              </a:ext>
            </a:extLst>
          </p:cNvPr>
          <p:cNvSpPr txBox="1"/>
          <p:nvPr/>
        </p:nvSpPr>
        <p:spPr>
          <a:xfrm>
            <a:off x="7823200" y="4572000"/>
            <a:ext cx="330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57A55"/>
                </a:solidFill>
                <a:latin typeface="Aptos" panose="020B0004020202020204" pitchFamily="34" charset="0"/>
              </a:rPr>
              <a:t>If the paid AI dependency is unavailable, use the retained multilingual screenshots and continue the deterministic live workflows.</a:t>
            </a:r>
          </a:p>
        </p:txBody>
      </p:sp>
    </p:spTree>
    <p:extLst>
      <p:ext uri="{BB962C8B-B14F-4D97-AF65-F5344CB8AC3E}">
        <p14:creationId xmlns:p14="http://schemas.microsoft.com/office/powerpoint/2010/main" val="32645463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2793BB-A478-3C61-59B0-2196889764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Universite Saint-Joseph and ESIB logo">
            <a:extLst>
              <a:ext uri="{FF2B5EF4-FFF2-40B4-BE49-F238E27FC236}">
                <a16:creationId xmlns:a16="http://schemas.microsoft.com/office/drawing/2014/main" id="{F500649E-1E65-A278-0112-DBADC2CC3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401" y="482600"/>
            <a:ext cx="2547399" cy="838200"/>
          </a:xfrm>
          <a:prstGeom prst="rect">
            <a:avLst/>
          </a:prstGeom>
        </p:spPr>
      </p:pic>
      <p:pic>
        <p:nvPicPr>
          <p:cNvPr id="6" name="Picture 5" descr="JoIn Hospitality logo">
            <a:extLst>
              <a:ext uri="{FF2B5EF4-FFF2-40B4-BE49-F238E27FC236}">
                <a16:creationId xmlns:a16="http://schemas.microsoft.com/office/drawing/2014/main" id="{48291E8B-3FE3-BD9B-42BC-9F43090DFE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6097" y="419100"/>
            <a:ext cx="1437807" cy="1193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9DDE61-1D29-9B16-E110-326EAAB95627}"/>
              </a:ext>
            </a:extLst>
          </p:cNvPr>
          <p:cNvSpPr txBox="1"/>
          <p:nvPr/>
        </p:nvSpPr>
        <p:spPr>
          <a:xfrm>
            <a:off x="1905000" y="2336800"/>
            <a:ext cx="838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4200" b="1">
                <a:solidFill>
                  <a:srgbClr val="FFFFFF"/>
                </a:solidFill>
                <a:latin typeface="Aptos Display" panose="020B0004020202020204" pitchFamily="34" charset="0"/>
              </a:rPr>
              <a:t>Thank you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7EF29B-35D2-534C-A033-AE07B2279049}"/>
              </a:ext>
            </a:extLst>
          </p:cNvPr>
          <p:cNvSpPr txBox="1"/>
          <p:nvPr/>
        </p:nvSpPr>
        <p:spPr>
          <a:xfrm>
            <a:off x="3175000" y="3302000"/>
            <a:ext cx="5842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600" b="1">
                <a:solidFill>
                  <a:srgbClr val="157A55"/>
                </a:solidFill>
                <a:latin typeface="Aptos Display" panose="020B0004020202020204" pitchFamily="34" charset="0"/>
              </a:rPr>
              <a:t>Questions?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FED6D0-DB6A-55B5-4D4A-1A1FBC39DD7E}"/>
              </a:ext>
            </a:extLst>
          </p:cNvPr>
          <p:cNvSpPr txBox="1"/>
          <p:nvPr/>
        </p:nvSpPr>
        <p:spPr>
          <a:xfrm>
            <a:off x="2857500" y="4495800"/>
            <a:ext cx="647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>
                <a:solidFill>
                  <a:srgbClr val="DDE7F5"/>
                </a:solidFill>
                <a:latin typeface="Aptos" panose="020B0004020202020204" pitchFamily="34" charset="0"/>
              </a:rPr>
              <a:t>https://join-hospitality-zm-staging.onrender.com/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B208FF-7BFA-B24E-1E68-A1AC38FD1757}"/>
              </a:ext>
            </a:extLst>
          </p:cNvPr>
          <p:cNvSpPr txBox="1"/>
          <p:nvPr/>
        </p:nvSpPr>
        <p:spPr>
          <a:xfrm>
            <a:off x="2667000" y="5334000"/>
            <a:ext cx="685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Accessible recruitment | Explainable matching | Human control</a:t>
            </a:r>
          </a:p>
        </p:txBody>
      </p:sp>
    </p:spTree>
    <p:extLst>
      <p:ext uri="{BB962C8B-B14F-4D97-AF65-F5344CB8AC3E}">
        <p14:creationId xmlns:p14="http://schemas.microsoft.com/office/powerpoint/2010/main" val="15508890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07949F-E3B7-25A9-EA43-15ACAF76CFC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CCDFD5-D24A-EA43-135D-B228F1CCE20A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APPENDIX 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A56757-07E9-7262-9FD1-CE381A1190B2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Detailed 310-case verification register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2FD962-6AF6-57E7-FFCF-FD0ED2778396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Backup evidence for jury questions; excluded from the timed presentation.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6B1F6EC0-4504-2432-F095-67BD3CB24B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E35467-9151-6726-55B8-C68C7DB3D5DE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52F4E7A-0296-71A8-B6DB-53DA34C75AAA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D1EBCF-D499-1D34-7F7B-950585C3D972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33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531A37-E73A-323E-6E99-38B55D35146E}"/>
              </a:ext>
            </a:extLst>
          </p:cNvPr>
          <p:cNvSpPr/>
          <p:nvPr/>
        </p:nvSpPr>
        <p:spPr>
          <a:xfrm>
            <a:off x="609600" y="1752600"/>
            <a:ext cx="5168900" cy="3556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1A9A23-B3F8-FF4C-EC2C-7BF5241E3409}"/>
              </a:ext>
            </a:extLst>
          </p:cNvPr>
          <p:cNvSpPr txBox="1"/>
          <p:nvPr/>
        </p:nvSpPr>
        <p:spPr>
          <a:xfrm>
            <a:off x="711200" y="1854200"/>
            <a:ext cx="49657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TEST AREA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5E59FC-0165-ECE5-7E7F-C61755FF89EA}"/>
              </a:ext>
            </a:extLst>
          </p:cNvPr>
          <p:cNvSpPr/>
          <p:nvPr/>
        </p:nvSpPr>
        <p:spPr>
          <a:xfrm>
            <a:off x="5778500" y="1752600"/>
            <a:ext cx="1397000" cy="3556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DF03B0-D0A8-8B76-8B23-5B6B64AD00AC}"/>
              </a:ext>
            </a:extLst>
          </p:cNvPr>
          <p:cNvSpPr txBox="1"/>
          <p:nvPr/>
        </p:nvSpPr>
        <p:spPr>
          <a:xfrm>
            <a:off x="5880100" y="1854200"/>
            <a:ext cx="1193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EXECUTED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CF5EE9-4C45-8B3A-6A8B-5FB4A1AB5F63}"/>
              </a:ext>
            </a:extLst>
          </p:cNvPr>
          <p:cNvSpPr/>
          <p:nvPr/>
        </p:nvSpPr>
        <p:spPr>
          <a:xfrm>
            <a:off x="7175500" y="1752600"/>
            <a:ext cx="1397000" cy="3556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18A917-CEA5-0365-57F0-0D1C722B0329}"/>
              </a:ext>
            </a:extLst>
          </p:cNvPr>
          <p:cNvSpPr txBox="1"/>
          <p:nvPr/>
        </p:nvSpPr>
        <p:spPr>
          <a:xfrm>
            <a:off x="7277100" y="1854200"/>
            <a:ext cx="1193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FINAL PASS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1C62CA-43F8-46B8-50AC-4BB28B15FFF4}"/>
              </a:ext>
            </a:extLst>
          </p:cNvPr>
          <p:cNvSpPr/>
          <p:nvPr/>
        </p:nvSpPr>
        <p:spPr>
          <a:xfrm>
            <a:off x="8572500" y="1752600"/>
            <a:ext cx="1143000" cy="3556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150BD1-BE5B-5157-FD7D-F8E908F8780A}"/>
              </a:ext>
            </a:extLst>
          </p:cNvPr>
          <p:cNvSpPr txBox="1"/>
          <p:nvPr/>
        </p:nvSpPr>
        <p:spPr>
          <a:xfrm>
            <a:off x="8674100" y="1854200"/>
            <a:ext cx="939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FAIL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69A726-9529-008B-8E47-7979FA19C9A8}"/>
              </a:ext>
            </a:extLst>
          </p:cNvPr>
          <p:cNvSpPr/>
          <p:nvPr/>
        </p:nvSpPr>
        <p:spPr>
          <a:xfrm>
            <a:off x="9715500" y="1752600"/>
            <a:ext cx="1866900" cy="3556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83F66E-85D1-03E2-AA81-88C7D54D4B9B}"/>
              </a:ext>
            </a:extLst>
          </p:cNvPr>
          <p:cNvSpPr txBox="1"/>
          <p:nvPr/>
        </p:nvSpPr>
        <p:spPr>
          <a:xfrm>
            <a:off x="9817100" y="1854200"/>
            <a:ext cx="16637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FINAL RATE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AAAC10-214D-FAEA-33B8-420899149AC4}"/>
              </a:ext>
            </a:extLst>
          </p:cNvPr>
          <p:cNvSpPr/>
          <p:nvPr/>
        </p:nvSpPr>
        <p:spPr>
          <a:xfrm>
            <a:off x="609600" y="2108200"/>
            <a:ext cx="51689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6434CB-38F3-5CB8-04C6-2CA06044A7E8}"/>
              </a:ext>
            </a:extLst>
          </p:cNvPr>
          <p:cNvSpPr txBox="1"/>
          <p:nvPr/>
        </p:nvSpPr>
        <p:spPr>
          <a:xfrm>
            <a:off x="711200" y="2197100"/>
            <a:ext cx="4965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AI Profile Suggestions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D61032-B8D4-73E3-05A8-92D8F66E0170}"/>
              </a:ext>
            </a:extLst>
          </p:cNvPr>
          <p:cNvSpPr/>
          <p:nvPr/>
        </p:nvSpPr>
        <p:spPr>
          <a:xfrm>
            <a:off x="5778500" y="2108200"/>
            <a:ext cx="1397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FFAAA0-9B6D-44E7-01E9-57F06E55647A}"/>
              </a:ext>
            </a:extLst>
          </p:cNvPr>
          <p:cNvSpPr txBox="1"/>
          <p:nvPr/>
        </p:nvSpPr>
        <p:spPr>
          <a:xfrm>
            <a:off x="5880100" y="21971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60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2FF3D24-528C-D176-E435-D9364A188BA0}"/>
              </a:ext>
            </a:extLst>
          </p:cNvPr>
          <p:cNvSpPr/>
          <p:nvPr/>
        </p:nvSpPr>
        <p:spPr>
          <a:xfrm>
            <a:off x="7175500" y="2108200"/>
            <a:ext cx="1397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03C141-1029-0747-B8BE-5759BB466618}"/>
              </a:ext>
            </a:extLst>
          </p:cNvPr>
          <p:cNvSpPr txBox="1"/>
          <p:nvPr/>
        </p:nvSpPr>
        <p:spPr>
          <a:xfrm>
            <a:off x="7277100" y="21971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53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9BF5ADB-BE1A-D662-0E7E-4EFA4F3C2F95}"/>
              </a:ext>
            </a:extLst>
          </p:cNvPr>
          <p:cNvSpPr/>
          <p:nvPr/>
        </p:nvSpPr>
        <p:spPr>
          <a:xfrm>
            <a:off x="8572500" y="2108200"/>
            <a:ext cx="1143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B6BB67-C824-8BB5-92E5-F52DBAD7A514}"/>
              </a:ext>
            </a:extLst>
          </p:cNvPr>
          <p:cNvSpPr txBox="1"/>
          <p:nvPr/>
        </p:nvSpPr>
        <p:spPr>
          <a:xfrm>
            <a:off x="8674100" y="2197100"/>
            <a:ext cx="939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33F4EF6-4AA3-96A9-5EC8-1B049AE4BE98}"/>
              </a:ext>
            </a:extLst>
          </p:cNvPr>
          <p:cNvSpPr/>
          <p:nvPr/>
        </p:nvSpPr>
        <p:spPr>
          <a:xfrm>
            <a:off x="9715500" y="2108200"/>
            <a:ext cx="18669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BF8CC2-14D5-D635-E8B6-39E3E427CC7F}"/>
              </a:ext>
            </a:extLst>
          </p:cNvPr>
          <p:cNvSpPr txBox="1"/>
          <p:nvPr/>
        </p:nvSpPr>
        <p:spPr>
          <a:xfrm>
            <a:off x="9817100" y="2197100"/>
            <a:ext cx="1663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88.3%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88AEE9-9B32-08D0-A041-4CC8D162BD19}"/>
              </a:ext>
            </a:extLst>
          </p:cNvPr>
          <p:cNvSpPr/>
          <p:nvPr/>
        </p:nvSpPr>
        <p:spPr>
          <a:xfrm>
            <a:off x="609600" y="2463800"/>
            <a:ext cx="51689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39A61E-9D7E-A867-79E5-54144E2AFA01}"/>
              </a:ext>
            </a:extLst>
          </p:cNvPr>
          <p:cNvSpPr txBox="1"/>
          <p:nvPr/>
        </p:nvSpPr>
        <p:spPr>
          <a:xfrm>
            <a:off x="711200" y="2552700"/>
            <a:ext cx="4965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Voice Transcription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E988DAF-5532-B97A-0116-8B3F9C3B35B3}"/>
              </a:ext>
            </a:extLst>
          </p:cNvPr>
          <p:cNvSpPr/>
          <p:nvPr/>
        </p:nvSpPr>
        <p:spPr>
          <a:xfrm>
            <a:off x="5778500" y="2463800"/>
            <a:ext cx="1397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FB9653-7D8F-80FB-4E38-820D81BF1D37}"/>
              </a:ext>
            </a:extLst>
          </p:cNvPr>
          <p:cNvSpPr txBox="1"/>
          <p:nvPr/>
        </p:nvSpPr>
        <p:spPr>
          <a:xfrm>
            <a:off x="5880100" y="25527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30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67318F7-FE7F-D6C6-1C6F-8E455778EA04}"/>
              </a:ext>
            </a:extLst>
          </p:cNvPr>
          <p:cNvSpPr/>
          <p:nvPr/>
        </p:nvSpPr>
        <p:spPr>
          <a:xfrm>
            <a:off x="7175500" y="2463800"/>
            <a:ext cx="1397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5111E9-216D-DD94-D841-BF1B7FDCCF19}"/>
              </a:ext>
            </a:extLst>
          </p:cNvPr>
          <p:cNvSpPr txBox="1"/>
          <p:nvPr/>
        </p:nvSpPr>
        <p:spPr>
          <a:xfrm>
            <a:off x="7277100" y="25527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30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011FDD-A8FF-75F4-FC44-1A483882A75C}"/>
              </a:ext>
            </a:extLst>
          </p:cNvPr>
          <p:cNvSpPr/>
          <p:nvPr/>
        </p:nvSpPr>
        <p:spPr>
          <a:xfrm>
            <a:off x="8572500" y="2463800"/>
            <a:ext cx="1143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536F839-BE3C-F759-EDD7-CAB1BCF063D8}"/>
              </a:ext>
            </a:extLst>
          </p:cNvPr>
          <p:cNvSpPr txBox="1"/>
          <p:nvPr/>
        </p:nvSpPr>
        <p:spPr>
          <a:xfrm>
            <a:off x="8674100" y="2552700"/>
            <a:ext cx="939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9F9A094-14E9-CEC1-97F8-F4064F236874}"/>
              </a:ext>
            </a:extLst>
          </p:cNvPr>
          <p:cNvSpPr/>
          <p:nvPr/>
        </p:nvSpPr>
        <p:spPr>
          <a:xfrm>
            <a:off x="9715500" y="2463800"/>
            <a:ext cx="18669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7BEF27-B4EE-75B7-F4CF-D4112674037D}"/>
              </a:ext>
            </a:extLst>
          </p:cNvPr>
          <p:cNvSpPr txBox="1"/>
          <p:nvPr/>
        </p:nvSpPr>
        <p:spPr>
          <a:xfrm>
            <a:off x="9817100" y="2552700"/>
            <a:ext cx="1663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263D58A-BA14-527F-904C-23CD6E7A14BF}"/>
              </a:ext>
            </a:extLst>
          </p:cNvPr>
          <p:cNvSpPr/>
          <p:nvPr/>
        </p:nvSpPr>
        <p:spPr>
          <a:xfrm>
            <a:off x="609600" y="2819400"/>
            <a:ext cx="51689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CD2285-E206-48EC-44B9-ABD68C4297BF}"/>
              </a:ext>
            </a:extLst>
          </p:cNvPr>
          <p:cNvSpPr txBox="1"/>
          <p:nvPr/>
        </p:nvSpPr>
        <p:spPr>
          <a:xfrm>
            <a:off x="711200" y="2908300"/>
            <a:ext cx="4965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Voice Navigation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7EFC2BF-BB60-C0AE-3064-C32019CE0F55}"/>
              </a:ext>
            </a:extLst>
          </p:cNvPr>
          <p:cNvSpPr/>
          <p:nvPr/>
        </p:nvSpPr>
        <p:spPr>
          <a:xfrm>
            <a:off x="5778500" y="2819400"/>
            <a:ext cx="1397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9CEA04-EFF8-5028-DB27-9488632685C8}"/>
              </a:ext>
            </a:extLst>
          </p:cNvPr>
          <p:cNvSpPr txBox="1"/>
          <p:nvPr/>
        </p:nvSpPr>
        <p:spPr>
          <a:xfrm>
            <a:off x="5880100" y="29083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60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298B2B5-D8CB-243E-5CF2-BB161369F888}"/>
              </a:ext>
            </a:extLst>
          </p:cNvPr>
          <p:cNvSpPr/>
          <p:nvPr/>
        </p:nvSpPr>
        <p:spPr>
          <a:xfrm>
            <a:off x="7175500" y="2819400"/>
            <a:ext cx="1397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FF7A3E6-4DCC-CF46-7BC3-2C167F9EE690}"/>
              </a:ext>
            </a:extLst>
          </p:cNvPr>
          <p:cNvSpPr txBox="1"/>
          <p:nvPr/>
        </p:nvSpPr>
        <p:spPr>
          <a:xfrm>
            <a:off x="7277100" y="29083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60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D2CEB44-8647-AAA5-61C4-3FAEA0F82B3F}"/>
              </a:ext>
            </a:extLst>
          </p:cNvPr>
          <p:cNvSpPr/>
          <p:nvPr/>
        </p:nvSpPr>
        <p:spPr>
          <a:xfrm>
            <a:off x="8572500" y="2819400"/>
            <a:ext cx="1143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374DADB-F243-8EF8-9756-BEE5A1E1205D}"/>
              </a:ext>
            </a:extLst>
          </p:cNvPr>
          <p:cNvSpPr txBox="1"/>
          <p:nvPr/>
        </p:nvSpPr>
        <p:spPr>
          <a:xfrm>
            <a:off x="8674100" y="2908300"/>
            <a:ext cx="939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A762A33-B7F8-DEEB-75EE-3751D5F7D5E2}"/>
              </a:ext>
            </a:extLst>
          </p:cNvPr>
          <p:cNvSpPr/>
          <p:nvPr/>
        </p:nvSpPr>
        <p:spPr>
          <a:xfrm>
            <a:off x="9715500" y="2819400"/>
            <a:ext cx="18669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07E05C9-0045-6955-4FC6-0C819A80C5C9}"/>
              </a:ext>
            </a:extLst>
          </p:cNvPr>
          <p:cNvSpPr txBox="1"/>
          <p:nvPr/>
        </p:nvSpPr>
        <p:spPr>
          <a:xfrm>
            <a:off x="9817100" y="2908300"/>
            <a:ext cx="1663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4ED8984-FB2E-BC09-6181-21D55506F4CB}"/>
              </a:ext>
            </a:extLst>
          </p:cNvPr>
          <p:cNvSpPr/>
          <p:nvPr/>
        </p:nvSpPr>
        <p:spPr>
          <a:xfrm>
            <a:off x="609600" y="3175000"/>
            <a:ext cx="51689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8751DE-844B-F740-80A7-81D7333F0900}"/>
              </a:ext>
            </a:extLst>
          </p:cNvPr>
          <p:cNvSpPr txBox="1"/>
          <p:nvPr/>
        </p:nvSpPr>
        <p:spPr>
          <a:xfrm>
            <a:off x="711200" y="3263900"/>
            <a:ext cx="4965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Matching Engine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D9ECA9-C769-3D48-8051-88525B2099E9}"/>
              </a:ext>
            </a:extLst>
          </p:cNvPr>
          <p:cNvSpPr/>
          <p:nvPr/>
        </p:nvSpPr>
        <p:spPr>
          <a:xfrm>
            <a:off x="5778500" y="3175000"/>
            <a:ext cx="1397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E1F2CD0-AEF8-6D51-7729-D1E06A8C4696}"/>
              </a:ext>
            </a:extLst>
          </p:cNvPr>
          <p:cNvSpPr txBox="1"/>
          <p:nvPr/>
        </p:nvSpPr>
        <p:spPr>
          <a:xfrm>
            <a:off x="5880100" y="32639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45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AAE72F8-AE47-61DB-6C66-B761FDB82A76}"/>
              </a:ext>
            </a:extLst>
          </p:cNvPr>
          <p:cNvSpPr/>
          <p:nvPr/>
        </p:nvSpPr>
        <p:spPr>
          <a:xfrm>
            <a:off x="7175500" y="3175000"/>
            <a:ext cx="1397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E4F8CB8-5298-EAB4-2B83-1A6CFBA7946B}"/>
              </a:ext>
            </a:extLst>
          </p:cNvPr>
          <p:cNvSpPr txBox="1"/>
          <p:nvPr/>
        </p:nvSpPr>
        <p:spPr>
          <a:xfrm>
            <a:off x="7277100" y="32639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45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25FA5EA-6C3C-3BF0-E1C4-9C0D82D15897}"/>
              </a:ext>
            </a:extLst>
          </p:cNvPr>
          <p:cNvSpPr/>
          <p:nvPr/>
        </p:nvSpPr>
        <p:spPr>
          <a:xfrm>
            <a:off x="8572500" y="3175000"/>
            <a:ext cx="1143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220504E-CB6A-502F-5C90-841371ED2F45}"/>
              </a:ext>
            </a:extLst>
          </p:cNvPr>
          <p:cNvSpPr txBox="1"/>
          <p:nvPr/>
        </p:nvSpPr>
        <p:spPr>
          <a:xfrm>
            <a:off x="8674100" y="3263900"/>
            <a:ext cx="939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DDEAF1C-AC06-F16F-C7D8-3F8E90690C8D}"/>
              </a:ext>
            </a:extLst>
          </p:cNvPr>
          <p:cNvSpPr/>
          <p:nvPr/>
        </p:nvSpPr>
        <p:spPr>
          <a:xfrm>
            <a:off x="9715500" y="3175000"/>
            <a:ext cx="18669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25A1DB4-2AA2-A66A-F2CD-763550C44379}"/>
              </a:ext>
            </a:extLst>
          </p:cNvPr>
          <p:cNvSpPr txBox="1"/>
          <p:nvPr/>
        </p:nvSpPr>
        <p:spPr>
          <a:xfrm>
            <a:off x="9817100" y="3263900"/>
            <a:ext cx="1663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D6383B2-8B29-D528-9015-E217C9C3BE98}"/>
              </a:ext>
            </a:extLst>
          </p:cNvPr>
          <p:cNvSpPr/>
          <p:nvPr/>
        </p:nvSpPr>
        <p:spPr>
          <a:xfrm>
            <a:off x="609600" y="3530600"/>
            <a:ext cx="51689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3C87A37-BF5D-FE11-AB3C-F065D6A042B5}"/>
              </a:ext>
            </a:extLst>
          </p:cNvPr>
          <p:cNvSpPr txBox="1"/>
          <p:nvPr/>
        </p:nvSpPr>
        <p:spPr>
          <a:xfrm>
            <a:off x="711200" y="3619500"/>
            <a:ext cx="4965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Complete Workflows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25FE278-2531-D7B7-E0DA-7CCCDE27D5AE}"/>
              </a:ext>
            </a:extLst>
          </p:cNvPr>
          <p:cNvSpPr/>
          <p:nvPr/>
        </p:nvSpPr>
        <p:spPr>
          <a:xfrm>
            <a:off x="5778500" y="3530600"/>
            <a:ext cx="1397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67D843-4F51-6E27-F0C8-2D5FBE4F15AE}"/>
              </a:ext>
            </a:extLst>
          </p:cNvPr>
          <p:cNvSpPr txBox="1"/>
          <p:nvPr/>
        </p:nvSpPr>
        <p:spPr>
          <a:xfrm>
            <a:off x="5880100" y="36195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069364B-64BC-DDE0-41CD-4DECD36F83FC}"/>
              </a:ext>
            </a:extLst>
          </p:cNvPr>
          <p:cNvSpPr/>
          <p:nvPr/>
        </p:nvSpPr>
        <p:spPr>
          <a:xfrm>
            <a:off x="7175500" y="3530600"/>
            <a:ext cx="1397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7A15974-2DB1-3A24-F1C0-B240D4BE9354}"/>
              </a:ext>
            </a:extLst>
          </p:cNvPr>
          <p:cNvSpPr txBox="1"/>
          <p:nvPr/>
        </p:nvSpPr>
        <p:spPr>
          <a:xfrm>
            <a:off x="7277100" y="36195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1A13BBD-46EC-71FD-D4AB-03BE46C1FBA0}"/>
              </a:ext>
            </a:extLst>
          </p:cNvPr>
          <p:cNvSpPr/>
          <p:nvPr/>
        </p:nvSpPr>
        <p:spPr>
          <a:xfrm>
            <a:off x="8572500" y="3530600"/>
            <a:ext cx="1143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FAFC34F-9BDF-D069-6955-024FD908C097}"/>
              </a:ext>
            </a:extLst>
          </p:cNvPr>
          <p:cNvSpPr txBox="1"/>
          <p:nvPr/>
        </p:nvSpPr>
        <p:spPr>
          <a:xfrm>
            <a:off x="8674100" y="3619500"/>
            <a:ext cx="939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0D94139-3098-3855-92C5-C1FFD5374D45}"/>
              </a:ext>
            </a:extLst>
          </p:cNvPr>
          <p:cNvSpPr/>
          <p:nvPr/>
        </p:nvSpPr>
        <p:spPr>
          <a:xfrm>
            <a:off x="9715500" y="3530600"/>
            <a:ext cx="18669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7E73665-C2C8-4AD6-EADF-F5034CD6FA28}"/>
              </a:ext>
            </a:extLst>
          </p:cNvPr>
          <p:cNvSpPr txBox="1"/>
          <p:nvPr/>
        </p:nvSpPr>
        <p:spPr>
          <a:xfrm>
            <a:off x="9817100" y="3619500"/>
            <a:ext cx="1663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B7CCC58-57D1-6CC5-8437-B633326E3E35}"/>
              </a:ext>
            </a:extLst>
          </p:cNvPr>
          <p:cNvSpPr/>
          <p:nvPr/>
        </p:nvSpPr>
        <p:spPr>
          <a:xfrm>
            <a:off x="609600" y="3886200"/>
            <a:ext cx="51689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57B3029-9EDE-2361-6F3E-BC29E4EA761C}"/>
              </a:ext>
            </a:extLst>
          </p:cNvPr>
          <p:cNvSpPr txBox="1"/>
          <p:nvPr/>
        </p:nvSpPr>
        <p:spPr>
          <a:xfrm>
            <a:off x="711200" y="3975100"/>
            <a:ext cx="4965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Security and Privacy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AF23B55-8D1E-5A2D-594A-05593646B1E7}"/>
              </a:ext>
            </a:extLst>
          </p:cNvPr>
          <p:cNvSpPr/>
          <p:nvPr/>
        </p:nvSpPr>
        <p:spPr>
          <a:xfrm>
            <a:off x="5778500" y="3886200"/>
            <a:ext cx="1397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2BBC639-95B4-4FFA-51A2-8067149C135B}"/>
              </a:ext>
            </a:extLst>
          </p:cNvPr>
          <p:cNvSpPr txBox="1"/>
          <p:nvPr/>
        </p:nvSpPr>
        <p:spPr>
          <a:xfrm>
            <a:off x="5880100" y="39751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3072B53-211E-C7F5-99B0-9E287E4EC270}"/>
              </a:ext>
            </a:extLst>
          </p:cNvPr>
          <p:cNvSpPr/>
          <p:nvPr/>
        </p:nvSpPr>
        <p:spPr>
          <a:xfrm>
            <a:off x="7175500" y="3886200"/>
            <a:ext cx="1397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D4BDC89-C687-22CA-61D7-1D0A28322C65}"/>
              </a:ext>
            </a:extLst>
          </p:cNvPr>
          <p:cNvSpPr txBox="1"/>
          <p:nvPr/>
        </p:nvSpPr>
        <p:spPr>
          <a:xfrm>
            <a:off x="7277100" y="39751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19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CA1B384-2B0A-367F-14A2-D5DB2E82A62D}"/>
              </a:ext>
            </a:extLst>
          </p:cNvPr>
          <p:cNvSpPr/>
          <p:nvPr/>
        </p:nvSpPr>
        <p:spPr>
          <a:xfrm>
            <a:off x="8572500" y="3886200"/>
            <a:ext cx="1143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76220D1-DA6D-9BA9-EF7E-3D1652A59808}"/>
              </a:ext>
            </a:extLst>
          </p:cNvPr>
          <p:cNvSpPr txBox="1"/>
          <p:nvPr/>
        </p:nvSpPr>
        <p:spPr>
          <a:xfrm>
            <a:off x="8674100" y="3975100"/>
            <a:ext cx="939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2E761AF-38F4-1F09-E08B-585724E3A056}"/>
              </a:ext>
            </a:extLst>
          </p:cNvPr>
          <p:cNvSpPr/>
          <p:nvPr/>
        </p:nvSpPr>
        <p:spPr>
          <a:xfrm>
            <a:off x="9715500" y="3886200"/>
            <a:ext cx="18669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716CB52-7CE1-6A70-B4D6-7C97FE6DE7C1}"/>
              </a:ext>
            </a:extLst>
          </p:cNvPr>
          <p:cNvSpPr txBox="1"/>
          <p:nvPr/>
        </p:nvSpPr>
        <p:spPr>
          <a:xfrm>
            <a:off x="9817100" y="3975100"/>
            <a:ext cx="1663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95.0%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FE3BEA9-F201-AC96-29ED-F8C7A201A566}"/>
              </a:ext>
            </a:extLst>
          </p:cNvPr>
          <p:cNvSpPr/>
          <p:nvPr/>
        </p:nvSpPr>
        <p:spPr>
          <a:xfrm>
            <a:off x="609600" y="4241800"/>
            <a:ext cx="51689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5085AC9-508C-D857-90E3-774D1AF4525D}"/>
              </a:ext>
            </a:extLst>
          </p:cNvPr>
          <p:cNvSpPr txBox="1"/>
          <p:nvPr/>
        </p:nvSpPr>
        <p:spPr>
          <a:xfrm>
            <a:off x="711200" y="4330700"/>
            <a:ext cx="4965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Accessibility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13526F0-336B-EF4E-F591-5765FCA378DF}"/>
              </a:ext>
            </a:extLst>
          </p:cNvPr>
          <p:cNvSpPr/>
          <p:nvPr/>
        </p:nvSpPr>
        <p:spPr>
          <a:xfrm>
            <a:off x="5778500" y="4241800"/>
            <a:ext cx="1397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65A7E39-AEF0-AACE-C78E-74D163FE918E}"/>
              </a:ext>
            </a:extLst>
          </p:cNvPr>
          <p:cNvSpPr txBox="1"/>
          <p:nvPr/>
        </p:nvSpPr>
        <p:spPr>
          <a:xfrm>
            <a:off x="5880100" y="43307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18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94D6DAF-EF71-1272-12B9-814428225850}"/>
              </a:ext>
            </a:extLst>
          </p:cNvPr>
          <p:cNvSpPr/>
          <p:nvPr/>
        </p:nvSpPr>
        <p:spPr>
          <a:xfrm>
            <a:off x="7175500" y="4241800"/>
            <a:ext cx="1397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C44C633-279C-9310-5018-A2BCDB02951D}"/>
              </a:ext>
            </a:extLst>
          </p:cNvPr>
          <p:cNvSpPr txBox="1"/>
          <p:nvPr/>
        </p:nvSpPr>
        <p:spPr>
          <a:xfrm>
            <a:off x="7277100" y="43307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18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93F2FAA-ADD4-7193-A0F1-AD6399F55A93}"/>
              </a:ext>
            </a:extLst>
          </p:cNvPr>
          <p:cNvSpPr/>
          <p:nvPr/>
        </p:nvSpPr>
        <p:spPr>
          <a:xfrm>
            <a:off x="8572500" y="4241800"/>
            <a:ext cx="1143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7EDC9BD-CDE2-3395-815B-938ACE6FDD38}"/>
              </a:ext>
            </a:extLst>
          </p:cNvPr>
          <p:cNvSpPr txBox="1"/>
          <p:nvPr/>
        </p:nvSpPr>
        <p:spPr>
          <a:xfrm>
            <a:off x="8674100" y="4330700"/>
            <a:ext cx="939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E153AFE-0ECD-DEA6-8CB6-7EB0B7C0DF0A}"/>
              </a:ext>
            </a:extLst>
          </p:cNvPr>
          <p:cNvSpPr/>
          <p:nvPr/>
        </p:nvSpPr>
        <p:spPr>
          <a:xfrm>
            <a:off x="9715500" y="4241800"/>
            <a:ext cx="18669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087C294-F89A-75A6-121B-F88512EA7D3D}"/>
              </a:ext>
            </a:extLst>
          </p:cNvPr>
          <p:cNvSpPr txBox="1"/>
          <p:nvPr/>
        </p:nvSpPr>
        <p:spPr>
          <a:xfrm>
            <a:off x="9817100" y="4330700"/>
            <a:ext cx="1663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FE96B41-A602-E331-E40F-F8B755182E97}"/>
              </a:ext>
            </a:extLst>
          </p:cNvPr>
          <p:cNvSpPr/>
          <p:nvPr/>
        </p:nvSpPr>
        <p:spPr>
          <a:xfrm>
            <a:off x="609600" y="4597400"/>
            <a:ext cx="51689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F460896-A570-828B-40B6-D6BEEF7D71EC}"/>
              </a:ext>
            </a:extLst>
          </p:cNvPr>
          <p:cNvSpPr txBox="1"/>
          <p:nvPr/>
        </p:nvSpPr>
        <p:spPr>
          <a:xfrm>
            <a:off x="711200" y="4686300"/>
            <a:ext cx="4965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Multilingual and RTL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FA21993-24E7-07E7-91DB-36B45CDDC456}"/>
              </a:ext>
            </a:extLst>
          </p:cNvPr>
          <p:cNvSpPr/>
          <p:nvPr/>
        </p:nvSpPr>
        <p:spPr>
          <a:xfrm>
            <a:off x="5778500" y="4597400"/>
            <a:ext cx="1397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E18574D-126F-77EB-79DB-EEB8F42BAF90}"/>
              </a:ext>
            </a:extLst>
          </p:cNvPr>
          <p:cNvSpPr txBox="1"/>
          <p:nvPr/>
        </p:nvSpPr>
        <p:spPr>
          <a:xfrm>
            <a:off x="5880100" y="46863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18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CF584B7-5046-488B-01A6-CB9DD7CE6BF6}"/>
              </a:ext>
            </a:extLst>
          </p:cNvPr>
          <p:cNvSpPr/>
          <p:nvPr/>
        </p:nvSpPr>
        <p:spPr>
          <a:xfrm>
            <a:off x="7175500" y="4597400"/>
            <a:ext cx="1397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8EC2F52-74E2-036F-C3A5-F77E78BD588A}"/>
              </a:ext>
            </a:extLst>
          </p:cNvPr>
          <p:cNvSpPr txBox="1"/>
          <p:nvPr/>
        </p:nvSpPr>
        <p:spPr>
          <a:xfrm>
            <a:off x="7277100" y="46863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18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926B5F2-6114-803D-C685-0E554E822425}"/>
              </a:ext>
            </a:extLst>
          </p:cNvPr>
          <p:cNvSpPr/>
          <p:nvPr/>
        </p:nvSpPr>
        <p:spPr>
          <a:xfrm>
            <a:off x="8572500" y="4597400"/>
            <a:ext cx="1143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B431FEC-B6CF-F73E-50B6-B54503DE8F5B}"/>
              </a:ext>
            </a:extLst>
          </p:cNvPr>
          <p:cNvSpPr txBox="1"/>
          <p:nvPr/>
        </p:nvSpPr>
        <p:spPr>
          <a:xfrm>
            <a:off x="8674100" y="4686300"/>
            <a:ext cx="939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761ED58-D713-2C1A-8AA1-34482694EBBE}"/>
              </a:ext>
            </a:extLst>
          </p:cNvPr>
          <p:cNvSpPr/>
          <p:nvPr/>
        </p:nvSpPr>
        <p:spPr>
          <a:xfrm>
            <a:off x="9715500" y="4597400"/>
            <a:ext cx="18669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8BA2B59-FD4D-EFEF-C228-D45F80A2238D}"/>
              </a:ext>
            </a:extLst>
          </p:cNvPr>
          <p:cNvSpPr txBox="1"/>
          <p:nvPr/>
        </p:nvSpPr>
        <p:spPr>
          <a:xfrm>
            <a:off x="9817100" y="4686300"/>
            <a:ext cx="1663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6D0CBEB-A407-C987-29A0-6A737BE8A210}"/>
              </a:ext>
            </a:extLst>
          </p:cNvPr>
          <p:cNvSpPr/>
          <p:nvPr/>
        </p:nvSpPr>
        <p:spPr>
          <a:xfrm>
            <a:off x="609600" y="4953000"/>
            <a:ext cx="51689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551A5DA-6A4F-97F8-BFD9-512D8E05E594}"/>
              </a:ext>
            </a:extLst>
          </p:cNvPr>
          <p:cNvSpPr txBox="1"/>
          <p:nvPr/>
        </p:nvSpPr>
        <p:spPr>
          <a:xfrm>
            <a:off x="711200" y="5041900"/>
            <a:ext cx="4965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Browser and Device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B56E1C7-E99B-8B6D-208D-927B2A53A266}"/>
              </a:ext>
            </a:extLst>
          </p:cNvPr>
          <p:cNvSpPr/>
          <p:nvPr/>
        </p:nvSpPr>
        <p:spPr>
          <a:xfrm>
            <a:off x="5778500" y="4953000"/>
            <a:ext cx="1397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70BEFCD-DE38-EB64-A387-4EC25D8BA68C}"/>
              </a:ext>
            </a:extLst>
          </p:cNvPr>
          <p:cNvSpPr txBox="1"/>
          <p:nvPr/>
        </p:nvSpPr>
        <p:spPr>
          <a:xfrm>
            <a:off x="5880100" y="50419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EAACB3CB-0B7D-30DF-AE8C-DF16B3205DED}"/>
              </a:ext>
            </a:extLst>
          </p:cNvPr>
          <p:cNvSpPr/>
          <p:nvPr/>
        </p:nvSpPr>
        <p:spPr>
          <a:xfrm>
            <a:off x="7175500" y="4953000"/>
            <a:ext cx="1397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AD20725-0ACF-0A2B-FEE7-EB0839FFA0B5}"/>
              </a:ext>
            </a:extLst>
          </p:cNvPr>
          <p:cNvSpPr txBox="1"/>
          <p:nvPr/>
        </p:nvSpPr>
        <p:spPr>
          <a:xfrm>
            <a:off x="7277100" y="50419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9709A04-D738-20EC-8B3C-2545F18A3323}"/>
              </a:ext>
            </a:extLst>
          </p:cNvPr>
          <p:cNvSpPr/>
          <p:nvPr/>
        </p:nvSpPr>
        <p:spPr>
          <a:xfrm>
            <a:off x="8572500" y="4953000"/>
            <a:ext cx="11430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743F5BA-A5DC-762C-8F3D-CF4156CE081F}"/>
              </a:ext>
            </a:extLst>
          </p:cNvPr>
          <p:cNvSpPr txBox="1"/>
          <p:nvPr/>
        </p:nvSpPr>
        <p:spPr>
          <a:xfrm>
            <a:off x="8674100" y="5041900"/>
            <a:ext cx="939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857461B-561C-7EE3-A7B6-C6E4EEC26967}"/>
              </a:ext>
            </a:extLst>
          </p:cNvPr>
          <p:cNvSpPr/>
          <p:nvPr/>
        </p:nvSpPr>
        <p:spPr>
          <a:xfrm>
            <a:off x="9715500" y="4953000"/>
            <a:ext cx="1866900" cy="35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4E08A37-781F-DB1F-50B9-8BF2A7AC9462}"/>
              </a:ext>
            </a:extLst>
          </p:cNvPr>
          <p:cNvSpPr txBox="1"/>
          <p:nvPr/>
        </p:nvSpPr>
        <p:spPr>
          <a:xfrm>
            <a:off x="9817100" y="5041900"/>
            <a:ext cx="1663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100.0%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679C5C2-0931-E7C7-777C-C7F1C15B0196}"/>
              </a:ext>
            </a:extLst>
          </p:cNvPr>
          <p:cNvSpPr/>
          <p:nvPr/>
        </p:nvSpPr>
        <p:spPr>
          <a:xfrm>
            <a:off x="609600" y="5308600"/>
            <a:ext cx="51689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719E2CB-E8F9-AB29-0BFF-3E0C76E65A40}"/>
              </a:ext>
            </a:extLst>
          </p:cNvPr>
          <p:cNvSpPr txBox="1"/>
          <p:nvPr/>
        </p:nvSpPr>
        <p:spPr>
          <a:xfrm>
            <a:off x="711200" y="5397500"/>
            <a:ext cx="4965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Performance and Reliability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B3B3A8C-8A58-48B8-969E-B87851ABEFE2}"/>
              </a:ext>
            </a:extLst>
          </p:cNvPr>
          <p:cNvSpPr/>
          <p:nvPr/>
        </p:nvSpPr>
        <p:spPr>
          <a:xfrm>
            <a:off x="5778500" y="5308600"/>
            <a:ext cx="1397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3645642-C3CF-34C1-0EA1-0DFEF0B65EB6}"/>
              </a:ext>
            </a:extLst>
          </p:cNvPr>
          <p:cNvSpPr txBox="1"/>
          <p:nvPr/>
        </p:nvSpPr>
        <p:spPr>
          <a:xfrm>
            <a:off x="5880100" y="53975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27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771FDABF-55D7-1FB2-4E00-1C98747C95B7}"/>
              </a:ext>
            </a:extLst>
          </p:cNvPr>
          <p:cNvSpPr/>
          <p:nvPr/>
        </p:nvSpPr>
        <p:spPr>
          <a:xfrm>
            <a:off x="7175500" y="5308600"/>
            <a:ext cx="1397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C7AA1FF-ED4D-8579-CFDA-55AE365F5DF1}"/>
              </a:ext>
            </a:extLst>
          </p:cNvPr>
          <p:cNvSpPr txBox="1"/>
          <p:nvPr/>
        </p:nvSpPr>
        <p:spPr>
          <a:xfrm>
            <a:off x="7277100" y="53975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B8CA808-FF87-B770-C85F-E551D46A6BA5}"/>
              </a:ext>
            </a:extLst>
          </p:cNvPr>
          <p:cNvSpPr/>
          <p:nvPr/>
        </p:nvSpPr>
        <p:spPr>
          <a:xfrm>
            <a:off x="8572500" y="5308600"/>
            <a:ext cx="11430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3026D90-0859-3B32-0C10-1E49D6B172A9}"/>
              </a:ext>
            </a:extLst>
          </p:cNvPr>
          <p:cNvSpPr txBox="1"/>
          <p:nvPr/>
        </p:nvSpPr>
        <p:spPr>
          <a:xfrm>
            <a:off x="8674100" y="5397500"/>
            <a:ext cx="939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42FBA433-38DB-EE35-078A-FC1EF4240EBD}"/>
              </a:ext>
            </a:extLst>
          </p:cNvPr>
          <p:cNvSpPr/>
          <p:nvPr/>
        </p:nvSpPr>
        <p:spPr>
          <a:xfrm>
            <a:off x="9715500" y="5308600"/>
            <a:ext cx="1866900" cy="3556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EF7A29F-11F4-F2BB-53D8-8F724C72247B}"/>
              </a:ext>
            </a:extLst>
          </p:cNvPr>
          <p:cNvSpPr txBox="1"/>
          <p:nvPr/>
        </p:nvSpPr>
        <p:spPr>
          <a:xfrm>
            <a:off x="9817100" y="5397500"/>
            <a:ext cx="1663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>
                <a:solidFill>
                  <a:srgbClr val="17243A"/>
                </a:solidFill>
                <a:latin typeface="Aptos" panose="020B0004020202020204" pitchFamily="34" charset="0"/>
              </a:rPr>
              <a:t>51.9%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BB3BD71-BA68-181F-6D78-7CCEEA55C472}"/>
              </a:ext>
            </a:extLst>
          </p:cNvPr>
          <p:cNvSpPr/>
          <p:nvPr/>
        </p:nvSpPr>
        <p:spPr>
          <a:xfrm>
            <a:off x="609600" y="5664200"/>
            <a:ext cx="5168900" cy="355600"/>
          </a:xfrm>
          <a:prstGeom prst="rect">
            <a:avLst/>
          </a:prstGeom>
          <a:solidFill>
            <a:srgbClr val="E3EAF4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BD5A4EA-A1B2-BF94-43D0-20155DA7CE86}"/>
              </a:ext>
            </a:extLst>
          </p:cNvPr>
          <p:cNvSpPr txBox="1"/>
          <p:nvPr/>
        </p:nvSpPr>
        <p:spPr>
          <a:xfrm>
            <a:off x="711200" y="5753100"/>
            <a:ext cx="4965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60" b="1">
                <a:solidFill>
                  <a:srgbClr val="17243A"/>
                </a:solidFill>
                <a:latin typeface="Aptos" panose="020B0004020202020204" pitchFamily="34" charset="0"/>
              </a:rPr>
              <a:t>TOTAL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1BDE577-D56B-D5B5-58CF-B5CAA1AC8C40}"/>
              </a:ext>
            </a:extLst>
          </p:cNvPr>
          <p:cNvSpPr/>
          <p:nvPr/>
        </p:nvSpPr>
        <p:spPr>
          <a:xfrm>
            <a:off x="5778500" y="5664200"/>
            <a:ext cx="1397000" cy="355600"/>
          </a:xfrm>
          <a:prstGeom prst="rect">
            <a:avLst/>
          </a:prstGeom>
          <a:solidFill>
            <a:srgbClr val="E3EAF4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E7B9A8D-73ED-CF13-FCEC-353AF544C4BD}"/>
              </a:ext>
            </a:extLst>
          </p:cNvPr>
          <p:cNvSpPr txBox="1"/>
          <p:nvPr/>
        </p:nvSpPr>
        <p:spPr>
          <a:xfrm>
            <a:off x="5880100" y="57531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 b="1">
                <a:solidFill>
                  <a:srgbClr val="17243A"/>
                </a:solidFill>
                <a:latin typeface="Aptos" panose="020B0004020202020204" pitchFamily="34" charset="0"/>
              </a:rPr>
              <a:t>310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C0B2030C-EF4E-A9A4-34F3-62407A58C02F}"/>
              </a:ext>
            </a:extLst>
          </p:cNvPr>
          <p:cNvSpPr/>
          <p:nvPr/>
        </p:nvSpPr>
        <p:spPr>
          <a:xfrm>
            <a:off x="7175500" y="5664200"/>
            <a:ext cx="1397000" cy="355600"/>
          </a:xfrm>
          <a:prstGeom prst="rect">
            <a:avLst/>
          </a:prstGeom>
          <a:solidFill>
            <a:srgbClr val="E3EAF4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E9E479A-5F48-FC32-1DC2-716A6DB76D10}"/>
              </a:ext>
            </a:extLst>
          </p:cNvPr>
          <p:cNvSpPr txBox="1"/>
          <p:nvPr/>
        </p:nvSpPr>
        <p:spPr>
          <a:xfrm>
            <a:off x="7277100" y="5753100"/>
            <a:ext cx="1193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 b="1">
                <a:solidFill>
                  <a:srgbClr val="17243A"/>
                </a:solidFill>
                <a:latin typeface="Aptos" panose="020B0004020202020204" pitchFamily="34" charset="0"/>
              </a:rPr>
              <a:t>289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440249A-41A7-1ABE-EEC8-AD45B7384196}"/>
              </a:ext>
            </a:extLst>
          </p:cNvPr>
          <p:cNvSpPr/>
          <p:nvPr/>
        </p:nvSpPr>
        <p:spPr>
          <a:xfrm>
            <a:off x="8572500" y="5664200"/>
            <a:ext cx="1143000" cy="355600"/>
          </a:xfrm>
          <a:prstGeom prst="rect">
            <a:avLst/>
          </a:prstGeom>
          <a:solidFill>
            <a:srgbClr val="E3EAF4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7A81D92-9346-9A59-19F3-0CD67DFB450C}"/>
              </a:ext>
            </a:extLst>
          </p:cNvPr>
          <p:cNvSpPr txBox="1"/>
          <p:nvPr/>
        </p:nvSpPr>
        <p:spPr>
          <a:xfrm>
            <a:off x="8674100" y="5753100"/>
            <a:ext cx="9398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 b="1">
                <a:solidFill>
                  <a:srgbClr val="17243A"/>
                </a:solidFill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B119121-E151-AE78-073F-0D5B0E37D973}"/>
              </a:ext>
            </a:extLst>
          </p:cNvPr>
          <p:cNvSpPr/>
          <p:nvPr/>
        </p:nvSpPr>
        <p:spPr>
          <a:xfrm>
            <a:off x="9715500" y="5664200"/>
            <a:ext cx="1866900" cy="355600"/>
          </a:xfrm>
          <a:prstGeom prst="rect">
            <a:avLst/>
          </a:prstGeom>
          <a:solidFill>
            <a:srgbClr val="E3EAF4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CF11943-9C74-50CB-8142-A04ADACA6513}"/>
              </a:ext>
            </a:extLst>
          </p:cNvPr>
          <p:cNvSpPr txBox="1"/>
          <p:nvPr/>
        </p:nvSpPr>
        <p:spPr>
          <a:xfrm>
            <a:off x="9817100" y="5753100"/>
            <a:ext cx="1663700" cy="1323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60" b="1">
                <a:solidFill>
                  <a:srgbClr val="17243A"/>
                </a:solidFill>
                <a:latin typeface="Aptos" panose="020B0004020202020204" pitchFamily="34" charset="0"/>
              </a:rPr>
              <a:t>93.2%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5282D3C-A907-4121-EE77-868F8E7C9ED8}"/>
              </a:ext>
            </a:extLst>
          </p:cNvPr>
          <p:cNvSpPr txBox="1"/>
          <p:nvPr/>
        </p:nvSpPr>
        <p:spPr>
          <a:xfrm>
            <a:off x="1016000" y="6096000"/>
            <a:ext cx="10160000" cy="1277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30">
                <a:solidFill>
                  <a:srgbClr val="5D6B80"/>
                </a:solidFill>
                <a:latin typeface="Aptos" panose="020B0004020202020204" pitchFamily="34" charset="0"/>
              </a:rPr>
              <a:t>First run: 274 pass, 15 partial noisy-transcription cases and 21 fail. The 15 partials passed after repetition or manual correction.</a:t>
            </a:r>
          </a:p>
        </p:txBody>
      </p:sp>
    </p:spTree>
    <p:extLst>
      <p:ext uri="{BB962C8B-B14F-4D97-AF65-F5344CB8AC3E}">
        <p14:creationId xmlns:p14="http://schemas.microsoft.com/office/powerpoint/2010/main" val="36987033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DE9B9C-6903-E7A9-EC4A-079D9EE37EB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0D4EBE-9C1A-CBD6-79CC-56692689F343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APPENDIX 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FA65D8-F0EC-AAFB-2588-8B04959DD4B1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Selected WCAG 2.1 AA evidence mapping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A57E50-F2E9-4488-4361-4FA4F431AA8D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Representative criteria; the complete matrix remains in the report and WCAG audit evidence.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090D7204-FD72-0969-85F2-961287F041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F6BE13-F1AE-C5CE-8055-E53F770825E6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5C4B69E-A833-3E7A-6BC7-9AAFCBDBE1BA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F20F1B-7347-E5A9-8A87-03E79AB4DF7C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34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1EF2AF-9EE1-CBA7-F6C4-7120FDD8BE39}"/>
              </a:ext>
            </a:extLst>
          </p:cNvPr>
          <p:cNvSpPr/>
          <p:nvPr/>
        </p:nvSpPr>
        <p:spPr>
          <a:xfrm>
            <a:off x="609600" y="1841500"/>
            <a:ext cx="1676400" cy="406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1F4202-2BC2-F687-3A81-5E5A7F855558}"/>
              </a:ext>
            </a:extLst>
          </p:cNvPr>
          <p:cNvSpPr/>
          <p:nvPr/>
        </p:nvSpPr>
        <p:spPr>
          <a:xfrm>
            <a:off x="2286000" y="1841500"/>
            <a:ext cx="3048000" cy="406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60E7B0-1C51-6BAB-7D85-2FC09DCCE25E}"/>
              </a:ext>
            </a:extLst>
          </p:cNvPr>
          <p:cNvSpPr/>
          <p:nvPr/>
        </p:nvSpPr>
        <p:spPr>
          <a:xfrm>
            <a:off x="5334000" y="1841500"/>
            <a:ext cx="6248400" cy="406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2067C3-3DF4-EF2E-7249-33D19808E6F4}"/>
              </a:ext>
            </a:extLst>
          </p:cNvPr>
          <p:cNvSpPr txBox="1"/>
          <p:nvPr/>
        </p:nvSpPr>
        <p:spPr>
          <a:xfrm>
            <a:off x="711200" y="1955800"/>
            <a:ext cx="1473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CRITERION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30E7FF-8528-3FE4-EA32-A36C2952F612}"/>
              </a:ext>
            </a:extLst>
          </p:cNvPr>
          <p:cNvSpPr txBox="1"/>
          <p:nvPr/>
        </p:nvSpPr>
        <p:spPr>
          <a:xfrm>
            <a:off x="2387600" y="1955800"/>
            <a:ext cx="284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REQUIREMENT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3720ED-8371-1281-8384-548FEF3AF160}"/>
              </a:ext>
            </a:extLst>
          </p:cNvPr>
          <p:cNvSpPr txBox="1"/>
          <p:nvPr/>
        </p:nvSpPr>
        <p:spPr>
          <a:xfrm>
            <a:off x="5435600" y="1955800"/>
            <a:ext cx="6045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PLATFORM EVIDENCE / BOUNDARY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79778A-9059-A903-C86D-C1382F3FBC06}"/>
              </a:ext>
            </a:extLst>
          </p:cNvPr>
          <p:cNvSpPr/>
          <p:nvPr/>
        </p:nvSpPr>
        <p:spPr>
          <a:xfrm>
            <a:off x="609600" y="2247900"/>
            <a:ext cx="1676400" cy="4699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1D5FDA-FDAD-0451-0598-27BB5AA07548}"/>
              </a:ext>
            </a:extLst>
          </p:cNvPr>
          <p:cNvSpPr txBox="1"/>
          <p:nvPr/>
        </p:nvSpPr>
        <p:spPr>
          <a:xfrm>
            <a:off x="711200" y="2336800"/>
            <a:ext cx="1473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 b="1">
                <a:solidFill>
                  <a:srgbClr val="17243A"/>
                </a:solidFill>
                <a:latin typeface="Aptos" panose="020B0004020202020204" pitchFamily="34" charset="0"/>
              </a:rPr>
              <a:t>1.1.1 / 1.3.1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68E6E1-6DDF-7D91-09AF-574F743C6AB5}"/>
              </a:ext>
            </a:extLst>
          </p:cNvPr>
          <p:cNvSpPr/>
          <p:nvPr/>
        </p:nvSpPr>
        <p:spPr>
          <a:xfrm>
            <a:off x="2286000" y="2247900"/>
            <a:ext cx="3048000" cy="4699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BD10DA-308F-435A-53D9-82F559085FA8}"/>
              </a:ext>
            </a:extLst>
          </p:cNvPr>
          <p:cNvSpPr txBox="1"/>
          <p:nvPr/>
        </p:nvSpPr>
        <p:spPr>
          <a:xfrm>
            <a:off x="2387600" y="2336800"/>
            <a:ext cx="28448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Text alternatives; information and relationships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25334D-1991-7C00-AD6D-970599EE55DD}"/>
              </a:ext>
            </a:extLst>
          </p:cNvPr>
          <p:cNvSpPr/>
          <p:nvPr/>
        </p:nvSpPr>
        <p:spPr>
          <a:xfrm>
            <a:off x="5334000" y="2247900"/>
            <a:ext cx="6248400" cy="4699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CF6F0E-936A-8B09-55D0-B915A53CAD00}"/>
              </a:ext>
            </a:extLst>
          </p:cNvPr>
          <p:cNvSpPr txBox="1"/>
          <p:nvPr/>
        </p:nvSpPr>
        <p:spPr>
          <a:xfrm>
            <a:off x="5435600" y="2336800"/>
            <a:ext cx="6045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Semantic headings, labels, descriptions and image alternatives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114470-A185-AC91-CAE9-A88608F73919}"/>
              </a:ext>
            </a:extLst>
          </p:cNvPr>
          <p:cNvSpPr/>
          <p:nvPr/>
        </p:nvSpPr>
        <p:spPr>
          <a:xfrm>
            <a:off x="609600" y="2717800"/>
            <a:ext cx="1676400" cy="4699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143F1F-6BBD-1700-2DC3-B337C71BCFB6}"/>
              </a:ext>
            </a:extLst>
          </p:cNvPr>
          <p:cNvSpPr txBox="1"/>
          <p:nvPr/>
        </p:nvSpPr>
        <p:spPr>
          <a:xfrm>
            <a:off x="711200" y="2806700"/>
            <a:ext cx="1473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 b="1">
                <a:solidFill>
                  <a:srgbClr val="17243A"/>
                </a:solidFill>
                <a:latin typeface="Aptos" panose="020B0004020202020204" pitchFamily="34" charset="0"/>
              </a:rPr>
              <a:t>1.4.3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F1A1AE-0509-02F6-B21F-AAF1970B3553}"/>
              </a:ext>
            </a:extLst>
          </p:cNvPr>
          <p:cNvSpPr/>
          <p:nvPr/>
        </p:nvSpPr>
        <p:spPr>
          <a:xfrm>
            <a:off x="2286000" y="2717800"/>
            <a:ext cx="3048000" cy="4699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950F1B-F7E2-2660-2633-8DE027DEFAD4}"/>
              </a:ext>
            </a:extLst>
          </p:cNvPr>
          <p:cNvSpPr txBox="1"/>
          <p:nvPr/>
        </p:nvSpPr>
        <p:spPr>
          <a:xfrm>
            <a:off x="2387600" y="2806700"/>
            <a:ext cx="28448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Contrast (minimum)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9A0F4F-445B-B2C9-0A6A-B2B50D150B9E}"/>
              </a:ext>
            </a:extLst>
          </p:cNvPr>
          <p:cNvSpPr/>
          <p:nvPr/>
        </p:nvSpPr>
        <p:spPr>
          <a:xfrm>
            <a:off x="5334000" y="2717800"/>
            <a:ext cx="6248400" cy="4699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4A9DD6-3FEB-6C35-FDA1-8A64EFB843A2}"/>
              </a:ext>
            </a:extLst>
          </p:cNvPr>
          <p:cNvSpPr txBox="1"/>
          <p:nvPr/>
        </p:nvSpPr>
        <p:spPr>
          <a:xfrm>
            <a:off x="5435600" y="2806700"/>
            <a:ext cx="6045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Implemented generally; helper-text contrast finding remains open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2CE6C1-3B8E-59C2-61D0-56E63CF2602A}"/>
              </a:ext>
            </a:extLst>
          </p:cNvPr>
          <p:cNvSpPr/>
          <p:nvPr/>
        </p:nvSpPr>
        <p:spPr>
          <a:xfrm>
            <a:off x="609600" y="3187700"/>
            <a:ext cx="1676400" cy="4699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2CCC53-1DC7-E5C3-916D-AFA60B200405}"/>
              </a:ext>
            </a:extLst>
          </p:cNvPr>
          <p:cNvSpPr txBox="1"/>
          <p:nvPr/>
        </p:nvSpPr>
        <p:spPr>
          <a:xfrm>
            <a:off x="711200" y="3276600"/>
            <a:ext cx="1473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 b="1">
                <a:solidFill>
                  <a:srgbClr val="17243A"/>
                </a:solidFill>
                <a:latin typeface="Aptos" panose="020B0004020202020204" pitchFamily="34" charset="0"/>
              </a:rPr>
              <a:t>1.4.10 / 1.4.12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E9C3412-57D2-8A75-8191-726C9389A477}"/>
              </a:ext>
            </a:extLst>
          </p:cNvPr>
          <p:cNvSpPr/>
          <p:nvPr/>
        </p:nvSpPr>
        <p:spPr>
          <a:xfrm>
            <a:off x="2286000" y="3187700"/>
            <a:ext cx="3048000" cy="4699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DF442B-B98C-71B9-E755-5A179D07644C}"/>
              </a:ext>
            </a:extLst>
          </p:cNvPr>
          <p:cNvSpPr txBox="1"/>
          <p:nvPr/>
        </p:nvSpPr>
        <p:spPr>
          <a:xfrm>
            <a:off x="2387600" y="3276600"/>
            <a:ext cx="28448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Reflow and text spacing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7CC684F-00EE-01B8-ED58-7C7A04C326CF}"/>
              </a:ext>
            </a:extLst>
          </p:cNvPr>
          <p:cNvSpPr/>
          <p:nvPr/>
        </p:nvSpPr>
        <p:spPr>
          <a:xfrm>
            <a:off x="5334000" y="3187700"/>
            <a:ext cx="6248400" cy="4699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184923-F50B-9F48-AC67-3DA5C654CCDD}"/>
              </a:ext>
            </a:extLst>
          </p:cNvPr>
          <p:cNvSpPr txBox="1"/>
          <p:nvPr/>
        </p:nvSpPr>
        <p:spPr>
          <a:xfrm>
            <a:off x="5435600" y="3276600"/>
            <a:ext cx="6045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320-1440 px and spacing tests; two high-zoom overflow cases retained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285336A-9888-21B0-A71F-05CC998CFF68}"/>
              </a:ext>
            </a:extLst>
          </p:cNvPr>
          <p:cNvSpPr/>
          <p:nvPr/>
        </p:nvSpPr>
        <p:spPr>
          <a:xfrm>
            <a:off x="609600" y="3657600"/>
            <a:ext cx="1676400" cy="4699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85E01E-68AF-4024-A538-28703C4E73EA}"/>
              </a:ext>
            </a:extLst>
          </p:cNvPr>
          <p:cNvSpPr txBox="1"/>
          <p:nvPr/>
        </p:nvSpPr>
        <p:spPr>
          <a:xfrm>
            <a:off x="711200" y="3746500"/>
            <a:ext cx="1473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 b="1">
                <a:solidFill>
                  <a:srgbClr val="17243A"/>
                </a:solidFill>
                <a:latin typeface="Aptos" panose="020B0004020202020204" pitchFamily="34" charset="0"/>
              </a:rPr>
              <a:t>2.1.1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216714C-B8D7-B422-74A8-3C64512BED16}"/>
              </a:ext>
            </a:extLst>
          </p:cNvPr>
          <p:cNvSpPr/>
          <p:nvPr/>
        </p:nvSpPr>
        <p:spPr>
          <a:xfrm>
            <a:off x="2286000" y="3657600"/>
            <a:ext cx="3048000" cy="4699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981F4D-E112-566D-642E-5EF9C0E6B3A6}"/>
              </a:ext>
            </a:extLst>
          </p:cNvPr>
          <p:cNvSpPr txBox="1"/>
          <p:nvPr/>
        </p:nvSpPr>
        <p:spPr>
          <a:xfrm>
            <a:off x="2387600" y="3746500"/>
            <a:ext cx="28448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Keyboard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512E5F4-8267-5CDC-885E-085227B08300}"/>
              </a:ext>
            </a:extLst>
          </p:cNvPr>
          <p:cNvSpPr/>
          <p:nvPr/>
        </p:nvSpPr>
        <p:spPr>
          <a:xfrm>
            <a:off x="5334000" y="3657600"/>
            <a:ext cx="6248400" cy="4699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D195A22-7741-15E6-E00A-BAF2B934116C}"/>
              </a:ext>
            </a:extLst>
          </p:cNvPr>
          <p:cNvSpPr txBox="1"/>
          <p:nvPr/>
        </p:nvSpPr>
        <p:spPr>
          <a:xfrm>
            <a:off x="5435600" y="3746500"/>
            <a:ext cx="6045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Critical candidate, employer, verifier and admin workflows completed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0BD970-3113-CD59-18E7-833BD395E12C}"/>
              </a:ext>
            </a:extLst>
          </p:cNvPr>
          <p:cNvSpPr/>
          <p:nvPr/>
        </p:nvSpPr>
        <p:spPr>
          <a:xfrm>
            <a:off x="609600" y="4127500"/>
            <a:ext cx="1676400" cy="4699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4D1E5C5-A9CD-A63B-6284-3EE79B7D3325}"/>
              </a:ext>
            </a:extLst>
          </p:cNvPr>
          <p:cNvSpPr txBox="1"/>
          <p:nvPr/>
        </p:nvSpPr>
        <p:spPr>
          <a:xfrm>
            <a:off x="711200" y="4216400"/>
            <a:ext cx="1473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 b="1">
                <a:solidFill>
                  <a:srgbClr val="17243A"/>
                </a:solidFill>
                <a:latin typeface="Aptos" panose="020B0004020202020204" pitchFamily="34" charset="0"/>
              </a:rPr>
              <a:t>2.4.3 / 2.4.7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85C6562-C59C-8F41-D875-86EEA5701D8B}"/>
              </a:ext>
            </a:extLst>
          </p:cNvPr>
          <p:cNvSpPr/>
          <p:nvPr/>
        </p:nvSpPr>
        <p:spPr>
          <a:xfrm>
            <a:off x="2286000" y="4127500"/>
            <a:ext cx="3048000" cy="4699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26425B-188C-77FD-568A-591793FC5735}"/>
              </a:ext>
            </a:extLst>
          </p:cNvPr>
          <p:cNvSpPr txBox="1"/>
          <p:nvPr/>
        </p:nvSpPr>
        <p:spPr>
          <a:xfrm>
            <a:off x="2387600" y="4216400"/>
            <a:ext cx="28448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Focus order and visible focus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028339C-41C2-DF17-52BF-8E92BC5ADF7C}"/>
              </a:ext>
            </a:extLst>
          </p:cNvPr>
          <p:cNvSpPr/>
          <p:nvPr/>
        </p:nvSpPr>
        <p:spPr>
          <a:xfrm>
            <a:off x="5334000" y="4127500"/>
            <a:ext cx="6248400" cy="4699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9F5CB2F-D414-7D45-3895-5A8871CC50F3}"/>
              </a:ext>
            </a:extLst>
          </p:cNvPr>
          <p:cNvSpPr txBox="1"/>
          <p:nvPr/>
        </p:nvSpPr>
        <p:spPr>
          <a:xfrm>
            <a:off x="5435600" y="4216400"/>
            <a:ext cx="6045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Logical tab order, focused recovery and visible focus treatment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1BCB9FB-5922-516D-9B7D-E9F67FA774A1}"/>
              </a:ext>
            </a:extLst>
          </p:cNvPr>
          <p:cNvSpPr/>
          <p:nvPr/>
        </p:nvSpPr>
        <p:spPr>
          <a:xfrm>
            <a:off x="609600" y="4597400"/>
            <a:ext cx="1676400" cy="4699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1B3A7F-2956-6347-E549-B3F2AB6BBCD6}"/>
              </a:ext>
            </a:extLst>
          </p:cNvPr>
          <p:cNvSpPr txBox="1"/>
          <p:nvPr/>
        </p:nvSpPr>
        <p:spPr>
          <a:xfrm>
            <a:off x="711200" y="4686300"/>
            <a:ext cx="1473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 b="1">
                <a:solidFill>
                  <a:srgbClr val="17243A"/>
                </a:solidFill>
                <a:latin typeface="Aptos" panose="020B0004020202020204" pitchFamily="34" charset="0"/>
              </a:rPr>
              <a:t>3.2 / 3.3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47974C-B5FB-7A6A-B0EC-7B9E48DB7EAB}"/>
              </a:ext>
            </a:extLst>
          </p:cNvPr>
          <p:cNvSpPr/>
          <p:nvPr/>
        </p:nvSpPr>
        <p:spPr>
          <a:xfrm>
            <a:off x="2286000" y="4597400"/>
            <a:ext cx="3048000" cy="4699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4F43969-E945-A133-2C3E-5D8456561366}"/>
              </a:ext>
            </a:extLst>
          </p:cNvPr>
          <p:cNvSpPr txBox="1"/>
          <p:nvPr/>
        </p:nvSpPr>
        <p:spPr>
          <a:xfrm>
            <a:off x="2387600" y="4686300"/>
            <a:ext cx="28448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Predictability and input assistance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CA50EFC-C993-4AF3-0B5A-478C5C64FE0E}"/>
              </a:ext>
            </a:extLst>
          </p:cNvPr>
          <p:cNvSpPr/>
          <p:nvPr/>
        </p:nvSpPr>
        <p:spPr>
          <a:xfrm>
            <a:off x="5334000" y="4597400"/>
            <a:ext cx="6248400" cy="4699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131F32-C7C2-F829-5E92-C126E5267139}"/>
              </a:ext>
            </a:extLst>
          </p:cNvPr>
          <p:cNvSpPr txBox="1"/>
          <p:nvPr/>
        </p:nvSpPr>
        <p:spPr>
          <a:xfrm>
            <a:off x="5435600" y="4686300"/>
            <a:ext cx="6045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Consistent navigation, instructions, validation and confirmation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786E4DC-355B-3F96-6EB9-1B1439288D0B}"/>
              </a:ext>
            </a:extLst>
          </p:cNvPr>
          <p:cNvSpPr/>
          <p:nvPr/>
        </p:nvSpPr>
        <p:spPr>
          <a:xfrm>
            <a:off x="609600" y="5067300"/>
            <a:ext cx="1676400" cy="4699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BE6CFEB-65D7-F885-B029-E53715AB6A9F}"/>
              </a:ext>
            </a:extLst>
          </p:cNvPr>
          <p:cNvSpPr txBox="1"/>
          <p:nvPr/>
        </p:nvSpPr>
        <p:spPr>
          <a:xfrm>
            <a:off x="711200" y="5156200"/>
            <a:ext cx="1473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 b="1">
                <a:solidFill>
                  <a:srgbClr val="17243A"/>
                </a:solidFill>
                <a:latin typeface="Aptos" panose="020B0004020202020204" pitchFamily="34" charset="0"/>
              </a:rPr>
              <a:t>4.1.2 / 4.1.3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43FEED4-5B1F-F044-9A84-C867558057E7}"/>
              </a:ext>
            </a:extLst>
          </p:cNvPr>
          <p:cNvSpPr/>
          <p:nvPr/>
        </p:nvSpPr>
        <p:spPr>
          <a:xfrm>
            <a:off x="2286000" y="5067300"/>
            <a:ext cx="3048000" cy="4699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11FD191-DADB-BC3A-90F0-C78E7CB30CD3}"/>
              </a:ext>
            </a:extLst>
          </p:cNvPr>
          <p:cNvSpPr txBox="1"/>
          <p:nvPr/>
        </p:nvSpPr>
        <p:spPr>
          <a:xfrm>
            <a:off x="2387600" y="5156200"/>
            <a:ext cx="28448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Name, role, value and status messages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3096ACC-C306-B53E-8F1C-FE07DBA62443}"/>
              </a:ext>
            </a:extLst>
          </p:cNvPr>
          <p:cNvSpPr/>
          <p:nvPr/>
        </p:nvSpPr>
        <p:spPr>
          <a:xfrm>
            <a:off x="5334000" y="5067300"/>
            <a:ext cx="6248400" cy="4699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2C35842-0F0A-A448-2F4C-039A061FA042}"/>
              </a:ext>
            </a:extLst>
          </p:cNvPr>
          <p:cNvSpPr txBox="1"/>
          <p:nvPr/>
        </p:nvSpPr>
        <p:spPr>
          <a:xfrm>
            <a:off x="5435600" y="5156200"/>
            <a:ext cx="6045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Native controls plus accessible status / alert announcements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C7F22E8-6062-BEB3-FE91-45B4F38A898B}"/>
              </a:ext>
            </a:extLst>
          </p:cNvPr>
          <p:cNvSpPr/>
          <p:nvPr/>
        </p:nvSpPr>
        <p:spPr>
          <a:xfrm>
            <a:off x="609600" y="5537200"/>
            <a:ext cx="1676400" cy="4699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26C1AEC-BAA7-7CB3-CA34-4CF12262B107}"/>
              </a:ext>
            </a:extLst>
          </p:cNvPr>
          <p:cNvSpPr txBox="1"/>
          <p:nvPr/>
        </p:nvSpPr>
        <p:spPr>
          <a:xfrm>
            <a:off x="711200" y="5626100"/>
            <a:ext cx="1473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 b="1">
                <a:solidFill>
                  <a:srgbClr val="17243A"/>
                </a:solidFill>
                <a:latin typeface="Aptos" panose="020B0004020202020204" pitchFamily="34" charset="0"/>
              </a:rPr>
              <a:t>Manual AT evidence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49E920D-7081-B3E0-CB07-954D9B0CD3A0}"/>
              </a:ext>
            </a:extLst>
          </p:cNvPr>
          <p:cNvSpPr/>
          <p:nvPr/>
        </p:nvSpPr>
        <p:spPr>
          <a:xfrm>
            <a:off x="2286000" y="5537200"/>
            <a:ext cx="3048000" cy="4699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F48B59-B31C-BA27-D8BA-17FE55DDF09E}"/>
              </a:ext>
            </a:extLst>
          </p:cNvPr>
          <p:cNvSpPr txBox="1"/>
          <p:nvPr/>
        </p:nvSpPr>
        <p:spPr>
          <a:xfrm>
            <a:off x="2387600" y="5626100"/>
            <a:ext cx="28448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JAWS workflow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82E7241-9C69-228D-B5C6-61C732E44AFD}"/>
              </a:ext>
            </a:extLst>
          </p:cNvPr>
          <p:cNvSpPr/>
          <p:nvPr/>
        </p:nvSpPr>
        <p:spPr>
          <a:xfrm>
            <a:off x="5334000" y="5537200"/>
            <a:ext cx="6248400" cy="469900"/>
          </a:xfrm>
          <a:prstGeom prst="rect">
            <a:avLst/>
          </a:prstGeom>
          <a:solidFill>
            <a:srgbClr val="F4F6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BD805D4-169E-BF3B-8606-2C14899E200F}"/>
              </a:ext>
            </a:extLst>
          </p:cNvPr>
          <p:cNvSpPr txBox="1"/>
          <p:nvPr/>
        </p:nvSpPr>
        <p:spPr>
          <a:xfrm>
            <a:off x="5435600" y="5626100"/>
            <a:ext cx="6045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7243A"/>
                </a:solidFill>
                <a:latin typeface="Aptos" panose="020B0004020202020204" pitchFamily="34" charset="0"/>
              </a:rPr>
              <a:t>Navigation, registration and application completed on adapted device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12E861A7-9CE2-889F-A753-FA402CBBE68C}"/>
              </a:ext>
            </a:extLst>
          </p:cNvPr>
          <p:cNvSpPr/>
          <p:nvPr/>
        </p:nvSpPr>
        <p:spPr>
          <a:xfrm>
            <a:off x="1206500" y="6121400"/>
            <a:ext cx="9779000" cy="2540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8BB2681-352A-7CC1-ADF8-1620D8D154CD}"/>
              </a:ext>
            </a:extLst>
          </p:cNvPr>
          <p:cNvSpPr txBox="1"/>
          <p:nvPr/>
        </p:nvSpPr>
        <p:spPr>
          <a:xfrm>
            <a:off x="1397000" y="6184900"/>
            <a:ext cx="93980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60" b="1">
                <a:solidFill>
                  <a:srgbClr val="FFFFFF"/>
                </a:solidFill>
                <a:latin typeface="Aptos" panose="020B0004020202020204" pitchFamily="34" charset="0"/>
              </a:rPr>
              <a:t>Conformance statement: target and evidence only; an independent audit and closure of open findings are required before claiming full WCAG 2.1 AA conformance.</a:t>
            </a:r>
          </a:p>
        </p:txBody>
      </p:sp>
    </p:spTree>
    <p:extLst>
      <p:ext uri="{BB962C8B-B14F-4D97-AF65-F5344CB8AC3E}">
        <p14:creationId xmlns:p14="http://schemas.microsoft.com/office/powerpoint/2010/main" val="8736851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AC557F-4C8E-2AE8-E216-71A3008977E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2F6AB-14A3-82F9-B8B9-9CDB9E1A8677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APPENDIX 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4A3EC4-EFA2-55AD-1DE3-C4BE7D01CB83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Verified voice trace and rejected-command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17D7F0-A89E-DA63-0F52-E3A542EDD928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Illustrative redacted console structure using the implemented labels and registered actions.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CAF89F32-65E2-2BEF-BE2E-C1F7B4DE27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CA573E-FB35-DE33-2014-F098513875DC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F7B67D4-E69B-FE03-82E6-36A18571D0CD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B77572-7EA6-B786-398E-344F9CAB768D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35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22F8F04-C7D7-D43D-9E56-3EA8A3445C5A}"/>
              </a:ext>
            </a:extLst>
          </p:cNvPr>
          <p:cNvSpPr/>
          <p:nvPr/>
        </p:nvSpPr>
        <p:spPr>
          <a:xfrm>
            <a:off x="609600" y="1841500"/>
            <a:ext cx="10972800" cy="3505200"/>
          </a:xfrm>
          <a:prstGeom prst="roundRect">
            <a:avLst/>
          </a:prstGeom>
          <a:solidFill>
            <a:srgbClr val="101725"/>
          </a:solidFill>
          <a:ln w="10160">
            <a:solidFill>
              <a:srgbClr val="1017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589F55-2F56-0A35-62A6-1F6C7B9F7CA1}"/>
              </a:ext>
            </a:extLst>
          </p:cNvPr>
          <p:cNvSpPr txBox="1"/>
          <p:nvPr/>
        </p:nvSpPr>
        <p:spPr>
          <a:xfrm>
            <a:off x="863600" y="2108200"/>
            <a:ext cx="10464800" cy="12311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D9F2E6"/>
                </a:solidFill>
                <a:latin typeface="Consolas" panose="020B0609020204030204" pitchFamily="49" charset="0"/>
              </a:rPr>
              <a:t>[VOICE AUDIO] Exact uploaded recording: { type: audio/webm;codecs=opus, bytes: 18432, durationMs: 2300 }
[VOICE STT] Transcript: Open my profile
[VOICE CLASSIFIER] Category: { category: navigation, language: en, confidence: 0.99 }
[VOICE INTENT] Proposal: { command: NAVIGATE, target: candidate_profile, language: en }
[VOICE ROUTER] Decision: { status: authorized, action: { type: route_and_tab, value: /candidate, tab: PROFILE } }
[VOICE FEEDBACK] Text: Opening your profile.
Rejected example: Open the secret admin page -&gt; target absent from candidate registry -&gt; no action executed.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A05BEA1-AD86-4DD4-9F2C-D776EFAFAD17}"/>
              </a:ext>
            </a:extLst>
          </p:cNvPr>
          <p:cNvSpPr/>
          <p:nvPr/>
        </p:nvSpPr>
        <p:spPr>
          <a:xfrm>
            <a:off x="1270000" y="5638800"/>
            <a:ext cx="9652000" cy="53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981B44-4694-63C0-331D-2DE018BAE19A}"/>
              </a:ext>
            </a:extLst>
          </p:cNvPr>
          <p:cNvSpPr txBox="1"/>
          <p:nvPr/>
        </p:nvSpPr>
        <p:spPr>
          <a:xfrm>
            <a:off x="1587500" y="5803900"/>
            <a:ext cx="901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0B1F49"/>
                </a:solidFill>
                <a:latin typeface="Aptos" panose="020B0004020202020204" pitchFamily="34" charset="0"/>
              </a:rPr>
              <a:t>Raw audio bytes and API keys are not logged. Sensitive values are redacted. Request IDs correlate the bounded pipeline stages.</a:t>
            </a:r>
          </a:p>
        </p:txBody>
      </p:sp>
    </p:spTree>
    <p:extLst>
      <p:ext uri="{BB962C8B-B14F-4D97-AF65-F5344CB8AC3E}">
        <p14:creationId xmlns:p14="http://schemas.microsoft.com/office/powerpoint/2010/main" val="23510681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6158A0-BD7B-F91F-281E-7F867F050CE2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C67787-7617-98EF-D381-25A6F12A988F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APPENDIX 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BAAF22-1533-FC63-C681-BAB7C9D0CF1E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Deployed relational model and storage separation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E28277-1464-A699-513D-7D2E3269012B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The screenshots provide deployment evidence without exposing credentials or secret values.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67F17886-F83C-2161-2EAA-AC79863CE6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9FCA2C-0F4A-FDF0-688E-058F0F29DA7E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AE83830-30E6-78A5-9593-8EE5B6ABEFC6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402631-2F2E-C42C-F2DA-E2985D9F6411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36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D2095A6-6FB8-21A2-9041-4B443B1BE792}"/>
              </a:ext>
            </a:extLst>
          </p:cNvPr>
          <p:cNvSpPr/>
          <p:nvPr/>
        </p:nvSpPr>
        <p:spPr>
          <a:xfrm>
            <a:off x="609600" y="1841500"/>
            <a:ext cx="7112000" cy="38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Supabase schema visualizer for deployed relational data">
            <a:extLst>
              <a:ext uri="{FF2B5EF4-FFF2-40B4-BE49-F238E27FC236}">
                <a16:creationId xmlns:a16="http://schemas.microsoft.com/office/drawing/2014/main" id="{DFF0397C-18BF-18DF-F576-0A9622FCC8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18" y="1879600"/>
            <a:ext cx="6205563" cy="37338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1884CAD-3033-DA26-F8D9-A41D462A6E4E}"/>
              </a:ext>
            </a:extLst>
          </p:cNvPr>
          <p:cNvSpPr/>
          <p:nvPr/>
        </p:nvSpPr>
        <p:spPr>
          <a:xfrm>
            <a:off x="8026400" y="1841500"/>
            <a:ext cx="355600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Supabase purpose-specific storage buckets">
            <a:extLst>
              <a:ext uri="{FF2B5EF4-FFF2-40B4-BE49-F238E27FC236}">
                <a16:creationId xmlns:a16="http://schemas.microsoft.com/office/drawing/2014/main" id="{32B43DC4-0C66-CCDD-93E9-3458AD4A30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500" y="2092756"/>
            <a:ext cx="3479800" cy="1783489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AA00F9A-B5B7-D54C-6283-B321C484F8CD}"/>
              </a:ext>
            </a:extLst>
          </p:cNvPr>
          <p:cNvSpPr/>
          <p:nvPr/>
        </p:nvSpPr>
        <p:spPr>
          <a:xfrm>
            <a:off x="8026400" y="4343400"/>
            <a:ext cx="3556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C813E1-24F9-DD5A-AB21-2A5024BDB782}"/>
              </a:ext>
            </a:extLst>
          </p:cNvPr>
          <p:cNvSpPr/>
          <p:nvPr/>
        </p:nvSpPr>
        <p:spPr>
          <a:xfrm>
            <a:off x="8026400" y="4343400"/>
            <a:ext cx="88900" cy="16002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807938-C02C-BC54-8326-E9069385B301}"/>
              </a:ext>
            </a:extLst>
          </p:cNvPr>
          <p:cNvSpPr txBox="1"/>
          <p:nvPr/>
        </p:nvSpPr>
        <p:spPr>
          <a:xfrm>
            <a:off x="8293100" y="4546600"/>
            <a:ext cx="3073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Recorded staging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6C4406-B3A1-F808-EA33-09C65827C2EB}"/>
              </a:ext>
            </a:extLst>
          </p:cNvPr>
          <p:cNvSpPr txBox="1"/>
          <p:nvPr/>
        </p:nvSpPr>
        <p:spPr>
          <a:xfrm>
            <a:off x="8293100" y="5041900"/>
            <a:ext cx="30734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9 accounts across four roles
15 job definitions
923 controlled tasks
14,453 disability-task assessments
74 published opportunities</a:t>
            </a:r>
          </a:p>
        </p:txBody>
      </p:sp>
    </p:spTree>
    <p:extLst>
      <p:ext uri="{BB962C8B-B14F-4D97-AF65-F5344CB8AC3E}">
        <p14:creationId xmlns:p14="http://schemas.microsoft.com/office/powerpoint/2010/main" val="1263075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584A57-50F3-CAB7-EA5C-B898523393C8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5D12B3-39B7-9C6C-22EF-DA463E3EBAF8}"/>
              </a:ext>
            </a:extLst>
          </p:cNvPr>
          <p:cNvSpPr txBox="1"/>
          <p:nvPr/>
        </p:nvSpPr>
        <p:spPr>
          <a:xfrm>
            <a:off x="609600" y="342900"/>
            <a:ext cx="609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APPENDIX 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E2CA55-20B6-F665-63A1-84DB95972B03}"/>
              </a:ext>
            </a:extLst>
          </p:cNvPr>
          <p:cNvSpPr txBox="1"/>
          <p:nvPr/>
        </p:nvSpPr>
        <p:spPr>
          <a:xfrm>
            <a:off x="609600" y="6350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Principal references and evidence locations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EC7BBA-796D-DCF2-A1C4-E4D41BBB1D58}"/>
              </a:ext>
            </a:extLst>
          </p:cNvPr>
          <p:cNvSpPr txBox="1"/>
          <p:nvPr/>
        </p:nvSpPr>
        <p:spPr>
          <a:xfrm>
            <a:off x="609600" y="1219200"/>
            <a:ext cx="1054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5D6B80"/>
                </a:solidFill>
                <a:latin typeface="Aptos" panose="020B0004020202020204" pitchFamily="34" charset="0"/>
              </a:rPr>
              <a:t>Full citations and traceability appear in the submitted final report.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5B3D1458-6FBB-1013-95DF-99BE285A9F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29501"/>
            <a:ext cx="660400" cy="2172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CB02F0-CBBB-424E-7C1D-2BA53127F97C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2967B41-06CB-CDB3-04D9-092AD229C14D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65E1AE-04BA-48B4-B8C3-376D77608D26}"/>
              </a:ext>
            </a:extLst>
          </p:cNvPr>
          <p:cNvSpPr txBox="1"/>
          <p:nvPr/>
        </p:nvSpPr>
        <p:spPr>
          <a:xfrm>
            <a:off x="11099800" y="65278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37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AE0CA31-BE84-2231-2777-D5EE562B0F9A}"/>
              </a:ext>
            </a:extLst>
          </p:cNvPr>
          <p:cNvSpPr/>
          <p:nvPr/>
        </p:nvSpPr>
        <p:spPr>
          <a:xfrm>
            <a:off x="609600" y="1841500"/>
            <a:ext cx="5207000" cy="330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2E3A01-3167-A0F3-29C2-E3055367E876}"/>
              </a:ext>
            </a:extLst>
          </p:cNvPr>
          <p:cNvSpPr/>
          <p:nvPr/>
        </p:nvSpPr>
        <p:spPr>
          <a:xfrm>
            <a:off x="609600" y="1841500"/>
            <a:ext cx="88900" cy="33020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7D6586-348B-F4C4-EAE9-797E649826FB}"/>
              </a:ext>
            </a:extLst>
          </p:cNvPr>
          <p:cNvSpPr txBox="1"/>
          <p:nvPr/>
        </p:nvSpPr>
        <p:spPr>
          <a:xfrm>
            <a:off x="876300" y="2044700"/>
            <a:ext cx="4724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Research and standards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9D25F5-C7E0-16D3-A0E4-12BB8D7913CD}"/>
              </a:ext>
            </a:extLst>
          </p:cNvPr>
          <p:cNvSpPr txBox="1"/>
          <p:nvPr/>
        </p:nvSpPr>
        <p:spPr>
          <a:xfrm>
            <a:off x="876300" y="2540000"/>
            <a:ext cx="47244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WHO - Disability and Health (1.3 billion / 16%)
ILO - Advancing disability inclusion in the global labour market (2025)
ILOSTAT - Labour market indicators for persons with disabilities
W3C - Web Content Accessibility Guidelines 2.1
Business Disability Forum / Evenbreak candidate survey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B9A4759-D900-424D-A113-917FCB07D1DF}"/>
              </a:ext>
            </a:extLst>
          </p:cNvPr>
          <p:cNvSpPr/>
          <p:nvPr/>
        </p:nvSpPr>
        <p:spPr>
          <a:xfrm>
            <a:off x="6375400" y="1841500"/>
            <a:ext cx="5207000" cy="330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63087A-79D2-CB24-5995-B49A206FD22A}"/>
              </a:ext>
            </a:extLst>
          </p:cNvPr>
          <p:cNvSpPr/>
          <p:nvPr/>
        </p:nvSpPr>
        <p:spPr>
          <a:xfrm>
            <a:off x="6375400" y="1841500"/>
            <a:ext cx="88900" cy="33020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AA64D9-FD83-FC78-CB1A-C2896486A0C4}"/>
              </a:ext>
            </a:extLst>
          </p:cNvPr>
          <p:cNvSpPr txBox="1"/>
          <p:nvPr/>
        </p:nvSpPr>
        <p:spPr>
          <a:xfrm>
            <a:off x="6642100" y="2044700"/>
            <a:ext cx="4724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Project evidence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8C9863-3558-695B-72AA-2C973F36BBE5}"/>
              </a:ext>
            </a:extLst>
          </p:cNvPr>
          <p:cNvSpPr txBox="1"/>
          <p:nvPr/>
        </p:nvSpPr>
        <p:spPr>
          <a:xfrm>
            <a:off x="6642100" y="2540000"/>
            <a:ext cx="4724400" cy="9417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Final engineering report - September 2026
JoIn Final Test Register - 310 cases
docs/testing/staging-2026-09-10/
docs/wcag-audit/
render.yaml and staging-deployment branch
https://join-hospitality-zm-staging.onrender.com/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B9641D-FAB7-464B-49AC-C65E17511D27}"/>
              </a:ext>
            </a:extLst>
          </p:cNvPr>
          <p:cNvSpPr txBox="1"/>
          <p:nvPr/>
        </p:nvSpPr>
        <p:spPr>
          <a:xfrm>
            <a:off x="1524000" y="5613400"/>
            <a:ext cx="914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0B1F49"/>
                </a:solidFill>
                <a:latin typeface="Aptos Display" panose="020B0004020202020204" pitchFamily="34" charset="0"/>
              </a:rPr>
              <a:t>Evidence policy: automated logs, screenshots, human observations and team-confirmed manual cases remain explicitly distinguished.</a:t>
            </a:r>
          </a:p>
        </p:txBody>
      </p:sp>
    </p:spTree>
    <p:extLst>
      <p:ext uri="{BB962C8B-B14F-4D97-AF65-F5344CB8AC3E}">
        <p14:creationId xmlns:p14="http://schemas.microsoft.com/office/powerpoint/2010/main" val="139672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5348</Words>
  <Application>Microsoft Office PowerPoint</Application>
  <PresentationFormat>Widescreen</PresentationFormat>
  <Paragraphs>703</Paragraphs>
  <Slides>37</Slides>
  <Notes>36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</vt:lpstr>
      <vt:lpstr>Aptos Display</vt:lpstr>
      <vt:lpstr>Arial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Zaidan Mansour</dc:creator>
  <cp:lastModifiedBy>Zaidan Mansour</cp:lastModifiedBy>
  <cp:revision>5</cp:revision>
  <dcterms:created xsi:type="dcterms:W3CDTF">2026-09-12T12:50:37Z</dcterms:created>
  <dcterms:modified xsi:type="dcterms:W3CDTF">2026-09-12T14:04:17Z</dcterms:modified>
</cp:coreProperties>
</file>