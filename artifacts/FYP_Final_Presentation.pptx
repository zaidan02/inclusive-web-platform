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9" r:id="rId2"/>
    <p:sldMasterId id="2147483888" r:id="rId3"/>
  </p:sldMasterIdLst>
  <p:notesMasterIdLst>
    <p:notesMasterId r:id="rId25"/>
  </p:notesMasterIdLst>
  <p:handoutMasterIdLst>
    <p:handoutMasterId r:id="rId26"/>
  </p:handoutMasterIdLst>
  <p:sldIdLst>
    <p:sldId id="276" r:id="rId4"/>
    <p:sldId id="259" r:id="rId5"/>
    <p:sldId id="257" r:id="rId6"/>
    <p:sldId id="258" r:id="rId7"/>
    <p:sldId id="278" r:id="rId8"/>
    <p:sldId id="260" r:id="rId9"/>
    <p:sldId id="261" r:id="rId10"/>
    <p:sldId id="262" r:id="rId11"/>
    <p:sldId id="279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0" r:id="rId24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72"/>
  </p:normalViewPr>
  <p:slideViewPr>
    <p:cSldViewPr snapToGrid="0" snapToObjects="1">
      <p:cViewPr varScale="1">
        <p:scale>
          <a:sx n="95" d="100"/>
          <a:sy n="95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00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13/09/2026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13/09/2026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2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73610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Give the three numbers, then frame the issue carefully. JoIn reduces recruitment barriers; it does not claim to create jobs or solve unemployment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37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50 seconds. Compare solution categories, not brands. The research gap is integration: accessible interaction, task evidence, explainability and human control in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91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Name the course lifecycle. Explain that JoIn used evolutionary prototyping and iterative increments, with V-model-style requirement-to-test traceability in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91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Explain the sources and elicitation techniques, then use the four figures as delivery evidence. They describe the staging prototype, not production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53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Walk across the four roles. Mention job and training opportunities, and stress that authorization is enforced by the backend rather than trusted to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NFRs as measurable qualities. State WCAG as a target, not a certificate, and introduce the main trade-off between security/external dependencies and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5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Users interact through React. Standard application requests go to Symfony, which owns authentication, authorization, validation, workflow and persistence. Symfony calls the deterministic scoring service and the protected profile-extraction endpoint. For live transcription and navigation, React calls the voice service directly. Only the voice/profile service calls OpenAI. Neither Python service accesses persistence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C0E44-6376-4E44-9AE2-F42C8312E1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41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Connect each design choice to its risk. Finish with the security evidence and keep the open upload defect visible; a successful campaign should still expose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15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Point to the four Render resources and the purpose-specific storage buckets. render.yaml and Docker boundaries make the integration reproducible. This is staging evidence, not a production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530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editable transcript, explicit consent, review and backend validation. Then show deployed English, French and Arabic output. The principal retained weakness was preference extraction, not unsafe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47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Separate acoustic quality from action safety. The deterministic registry authorizes commands; manual observations still show noise and character-by-character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6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numerator, denominator and feasibility factors. The policy is appropriate because it is versionable, testable and individually explainable. Forty-five staging oracle cases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22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Trace the four steps. Employers define actual requirements and assistance. The candidate chooses. The engine explains. Employers remain responsible for selection, with an auditable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13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70 seconds. Explain the overlap: requirements informed design while prototypes refined needs; build and integration overlapped; verification intensified before delivery. Project control used focused commits, a staging branch, infrastructure as code, traceability and explicit risk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8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verification versus validation, then show the layered evidence. Testing was not an end-of-project activity; it was traced from specifications and repeated after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0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arithmetic: 274 first passes, 15 partial noisy-transcription cases corrected, and 21 retained failures produce 289 final passes out of 310. Highlight the three defect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64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Distinguish the 20-person Arc en Ciel session from the focused JAWS workflow. These validate relevance and identify issues; they do not establish universal WCAG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04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Separate functional correctness from latency. Cost includes effort, infrastructure, external services and maintenance. The next cycle begins with known defects and production governance, not an unsupported cache or scaling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57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25 seconds. Conclude that the project is more than a user interface: it combines accessible interaction, protected workflows, explainable matching, controlled AI, deployment and measured verification. The evidence supports technical feasibility and practical relevance without claiming universal accessibility or production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F479E-B121-46D7-8FEC-67E9D57C21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8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 dirty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 dirty="0"/>
              <a:t>MDP23-xx</a:t>
            </a:r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4ED76-686C-0E99-04CD-E173B7DC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29F7E-99D9-43A9-A09C-81CD2F07283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A09EF-5B4F-F788-C647-E0F5228A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30EF7-2754-B89A-66B8-514572F6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BB693-315D-438F-97C8-C84FD8CD1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1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90" r:id="rId2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solidFill>
                  <a:srgbClr val="091F49"/>
                </a:solidFill>
                <a:latin typeface="Arial" panose="020B0604020202020204" pitchFamily="34" charset="0"/>
              </a:rPr>
              <a:t>Inclusive Employment Platform</a:t>
            </a:r>
            <a:endParaRPr lang="en-US" sz="3000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/>
          <a:lstStyle/>
          <a:p>
            <a:r>
              <a:rPr lang="en-US" sz="1300" b="1">
                <a:solidFill>
                  <a:srgbClr val="091F49"/>
                </a:solidFill>
                <a:latin typeface="Arial" panose="020B0604020202020204" pitchFamily="34" charset="0"/>
              </a:rPr>
              <a:t>Final Engineering Presentation</a:t>
            </a:r>
          </a:p>
          <a:p>
            <a:r>
              <a:rPr lang="en-US" sz="1300" b="1">
                <a:solidFill>
                  <a:srgbClr val="091F49"/>
                </a:solidFill>
                <a:latin typeface="Arial" panose="020B0604020202020204" pitchFamily="34" charset="0"/>
              </a:rPr>
              <a:t>14 September 2026</a:t>
            </a:r>
            <a:endParaRPr lang="en-US" sz="1300" b="1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/>
          <a:lstStyle/>
          <a:p>
            <a:r>
              <a:rPr lang="en-US" sz="1600">
                <a:solidFill>
                  <a:srgbClr val="091F49"/>
                </a:solidFill>
                <a:latin typeface="Arial" panose="020B0604020202020204" pitchFamily="34" charset="0"/>
              </a:rPr>
              <a:t>Accessible, AI-Assisted Recruitment</a:t>
            </a:r>
          </a:p>
          <a:p>
            <a:r>
              <a:rPr lang="en-US" sz="1600">
                <a:solidFill>
                  <a:srgbClr val="091F49"/>
                </a:solidFill>
                <a:latin typeface="Arial" panose="020B0604020202020204" pitchFamily="34" charset="0"/>
              </a:rPr>
              <a:t>for Persons with Physical Disabilities</a:t>
            </a:r>
          </a:p>
          <a:p>
            <a:endParaRPr lang="en-US" sz="1600">
              <a:solidFill>
                <a:srgbClr val="091F49"/>
              </a:solidFill>
              <a:latin typeface="Arial" panose="020B0604020202020204" pitchFamily="34" charset="0"/>
            </a:endParaRPr>
          </a:p>
          <a:p>
            <a:r>
              <a:rPr lang="en-US" sz="1600">
                <a:solidFill>
                  <a:srgbClr val="091F49"/>
                </a:solidFill>
                <a:latin typeface="Arial" panose="020B0604020202020204" pitchFamily="34" charset="0"/>
              </a:rPr>
              <a:t>Zaidan Mansour | Charbel Rizk</a:t>
            </a:r>
            <a:endParaRPr lang="en-US" sz="1600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/>
          <a:lstStyle/>
          <a:p>
            <a:r>
              <a:rPr lang="en-US" sz="1200">
                <a:solidFill>
                  <a:srgbClr val="091F49"/>
                </a:solidFill>
                <a:latin typeface="Arial" panose="020B0604020202020204" pitchFamily="34" charset="0"/>
              </a:rPr>
              <a:t>Supervised by:</a:t>
            </a:r>
          </a:p>
          <a:p>
            <a:r>
              <a:rPr lang="en-US" sz="1200">
                <a:solidFill>
                  <a:srgbClr val="091F49"/>
                </a:solidFill>
                <a:latin typeface="Arial" panose="020B0604020202020204" pitchFamily="34" charset="0"/>
              </a:rPr>
              <a:t>Dr. Jean Yves Youssef</a:t>
            </a:r>
          </a:p>
          <a:p>
            <a:r>
              <a:rPr lang="en-US" sz="1200">
                <a:solidFill>
                  <a:srgbClr val="091F49"/>
                </a:solidFill>
                <a:latin typeface="Arial" panose="020B0604020202020204" pitchFamily="34" charset="0"/>
              </a:rPr>
              <a:t>Dr. Roger Obeid | Dr. Rima Kilany</a:t>
            </a:r>
            <a:endParaRPr lang="en-US" sz="1200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>
                <a:solidFill>
                  <a:srgbClr val="091F49"/>
                </a:solidFill>
                <a:latin typeface="Arial" panose="020B0604020202020204" pitchFamily="34" charset="0"/>
              </a:rPr>
              <a:t>Presentation Overview</a:t>
            </a:r>
            <a:endParaRPr lang="fr-FR" sz="2600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90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  <a:endParaRPr lang="fr-FR" sz="9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5327949" y="5465190"/>
            <a:ext cx="1071152" cy="365125"/>
          </a:xfrm>
        </p:spPr>
        <p:txBody>
          <a:bodyPr/>
          <a:lstStyle/>
          <a:p>
            <a:r>
              <a:rPr lang="fr-FR" altLang="en-US" sz="90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2E7680-74CB-508E-5EB0-0640F97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sz="90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  <a:endParaRPr lang="fr-FR" altLang="en-US" sz="9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" name="Overview left">
            <a:extLst>
              <a:ext uri="{FF2B5EF4-FFF2-40B4-BE49-F238E27FC236}">
                <a16:creationId xmlns:a16="http://schemas.microsoft.com/office/drawing/2014/main" id="{45D25CDA-35AC-73CC-F14C-EAC0A92B593D}"/>
              </a:ext>
            </a:extLst>
          </p:cNvPr>
          <p:cNvSpPr txBox="1"/>
          <p:nvPr/>
        </p:nvSpPr>
        <p:spPr>
          <a:xfrm>
            <a:off x="558800" y="1422400"/>
            <a:ext cx="3886200" cy="299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1. Problem Context and Background Research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2. Software Life Cycle and Development Methodology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3. Requirements Elicitation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4. Software Requirements Specification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   Functional, non-functional and WCAG requirements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5. Software Design and Architecture</a:t>
            </a:r>
            <a:endParaRPr lang="en-US" sz="1700" b="1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8" name="Overview right">
            <a:extLst>
              <a:ext uri="{FF2B5EF4-FFF2-40B4-BE49-F238E27FC236}">
                <a16:creationId xmlns:a16="http://schemas.microsoft.com/office/drawing/2014/main" id="{789E9FE5-8D6B-296A-8E64-1DC03DEB2AEC}"/>
              </a:ext>
            </a:extLst>
          </p:cNvPr>
          <p:cNvSpPr txBox="1"/>
          <p:nvPr/>
        </p:nvSpPr>
        <p:spPr>
          <a:xfrm>
            <a:off x="4762500" y="1422400"/>
            <a:ext cx="3810000" cy="299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6. Implementation and Cloud Deployment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7. Project Management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8. Testing, Debugging and Performance Evaluation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9. Cost Estimation, Maintenance and Documentation</a:t>
            </a:r>
          </a:p>
          <a:p>
            <a:r>
              <a:rPr lang="en-US" sz="1700" b="1">
                <a:solidFill>
                  <a:srgbClr val="091F49"/>
                </a:solidFill>
                <a:latin typeface="Arial" panose="020B0604020202020204" pitchFamily="34" charset="0"/>
              </a:rPr>
              <a:t>10. Conclusion and Live Demonstration</a:t>
            </a:r>
            <a:endParaRPr lang="en-US" sz="1700" b="1" dirty="0">
              <a:solidFill>
                <a:srgbClr val="091F49"/>
              </a:solidFill>
              <a:latin typeface="Arial" panose="020B0604020202020204" pitchFamily="34" charset="0"/>
            </a:endParaRPr>
          </a:p>
        </p:txBody>
      </p:sp>
      <p:sp>
        <p:nvSpPr>
          <p:cNvPr id="11" name="Engineering lifecycle flow">
            <a:extLst>
              <a:ext uri="{FF2B5EF4-FFF2-40B4-BE49-F238E27FC236}">
                <a16:creationId xmlns:a16="http://schemas.microsoft.com/office/drawing/2014/main" id="{3D24F7C3-57D1-79C2-C3A8-D5599A4D90C9}"/>
              </a:ext>
            </a:extLst>
          </p:cNvPr>
          <p:cNvSpPr/>
          <p:nvPr/>
        </p:nvSpPr>
        <p:spPr>
          <a:xfrm>
            <a:off x="558800" y="4635500"/>
            <a:ext cx="8013700" cy="1320800"/>
          </a:xfrm>
          <a:prstGeom prst="roundRect">
            <a:avLst/>
          </a:prstGeom>
          <a:solidFill>
            <a:srgbClr val="091F49"/>
          </a:solidFill>
          <a:ln>
            <a:solidFill>
              <a:srgbClr val="091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ngineering flow heading">
            <a:extLst>
              <a:ext uri="{FF2B5EF4-FFF2-40B4-BE49-F238E27FC236}">
                <a16:creationId xmlns:a16="http://schemas.microsoft.com/office/drawing/2014/main" id="{16D11E87-C47D-0710-AE29-42DCBCA08590}"/>
              </a:ext>
            </a:extLst>
          </p:cNvPr>
          <p:cNvSpPr txBox="1"/>
          <p:nvPr/>
        </p:nvSpPr>
        <p:spPr>
          <a:xfrm>
            <a:off x="1041400" y="4813300"/>
            <a:ext cx="70612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</a:rPr>
              <a:t>ENGINEERING FLOW</a:t>
            </a:r>
          </a:p>
        </p:txBody>
      </p:sp>
      <p:sp>
        <p:nvSpPr>
          <p:cNvPr id="13" name="Engineering flow sequence">
            <a:extLst>
              <a:ext uri="{FF2B5EF4-FFF2-40B4-BE49-F238E27FC236}">
                <a16:creationId xmlns:a16="http://schemas.microsoft.com/office/drawing/2014/main" id="{9B35E1C3-9D46-4DBC-6A68-07DD7F705E31}"/>
              </a:ext>
            </a:extLst>
          </p:cNvPr>
          <p:cNvSpPr txBox="1"/>
          <p:nvPr/>
        </p:nvSpPr>
        <p:spPr>
          <a:xfrm>
            <a:off x="787400" y="5143500"/>
            <a:ext cx="75692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Software Life Cycle  →  Requirements Elicitation  →  Software Specification</a:t>
            </a:r>
          </a:p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System Design  →  Implementation  →  Project Management  →  Testing and Debugging</a:t>
            </a:r>
          </a:p>
          <a:p>
            <a:pPr algn="ctr"/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Documentation  →  Conclusion</a:t>
            </a:r>
            <a:endParaRPr lang="en-US" sz="13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44C928-BF9D-1478-9CF4-A166547168A4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PROBLEM CONTEXT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27DB9-5F99-90C5-C550-69CBA3FD9263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Capability and opportunity remain disconnected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EC336-7F17-25D0-5A8E-0EE167994D0D}"/>
              </a:ext>
            </a:extLst>
          </p:cNvPr>
          <p:cNvSpPr txBox="1"/>
          <p:nvPr/>
        </p:nvSpPr>
        <p:spPr>
          <a:xfrm>
            <a:off x="457200" y="1409699"/>
            <a:ext cx="822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D6B80"/>
                </a:solidFill>
                <a:latin typeface="Arial" panose="020B0604020202020204" pitchFamily="34" charset="0"/>
              </a:rPr>
              <a:t>Inaccessible processes hide ability and reduce trust in task-level decisions.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DC6EF7-ABBC-0252-4FD0-5E261E1918F2}"/>
              </a:ext>
            </a:extLst>
          </p:cNvPr>
          <p:cNvSpPr/>
          <p:nvPr/>
        </p:nvSpPr>
        <p:spPr>
          <a:xfrm>
            <a:off x="400050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5FCDE-D40F-7FEF-D77E-5EB954BF54A8}"/>
              </a:ext>
            </a:extLst>
          </p:cNvPr>
          <p:cNvSpPr/>
          <p:nvPr/>
        </p:nvSpPr>
        <p:spPr>
          <a:xfrm>
            <a:off x="400050" y="2362200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69DB4-7FEC-4801-3D26-FF289E581760}"/>
              </a:ext>
            </a:extLst>
          </p:cNvPr>
          <p:cNvSpPr txBox="1"/>
          <p:nvPr/>
        </p:nvSpPr>
        <p:spPr>
          <a:xfrm>
            <a:off x="571500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BF570-DBC8-4CB3-8439-620F6A560F9C}"/>
              </a:ext>
            </a:extLst>
          </p:cNvPr>
          <p:cNvSpPr txBox="1"/>
          <p:nvPr/>
        </p:nvSpPr>
        <p:spPr>
          <a:xfrm>
            <a:off x="571500" y="2827422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5D6B80"/>
                </a:solidFill>
                <a:latin typeface="Aptos" panose="020B0004020202020204" pitchFamily="34" charset="0"/>
              </a:rPr>
              <a:t>people with significant disability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4CA7A7-8683-A3C3-9CC7-83B84F6B1D90}"/>
              </a:ext>
            </a:extLst>
          </p:cNvPr>
          <p:cNvSpPr/>
          <p:nvPr/>
        </p:nvSpPr>
        <p:spPr>
          <a:xfrm>
            <a:off x="3400425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79AD2-0E60-4E0A-2393-BA9674DACEF1}"/>
              </a:ext>
            </a:extLst>
          </p:cNvPr>
          <p:cNvSpPr/>
          <p:nvPr/>
        </p:nvSpPr>
        <p:spPr>
          <a:xfrm>
            <a:off x="3400425" y="2362200"/>
            <a:ext cx="66675" cy="9525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CED6B-811C-4CA4-195F-5CBDADDD233A}"/>
              </a:ext>
            </a:extLst>
          </p:cNvPr>
          <p:cNvSpPr txBox="1"/>
          <p:nvPr/>
        </p:nvSpPr>
        <p:spPr>
          <a:xfrm>
            <a:off x="3571875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A073C-0E5E-08F3-8DF3-68ABE5BE758D}"/>
              </a:ext>
            </a:extLst>
          </p:cNvPr>
          <p:cNvSpPr txBox="1"/>
          <p:nvPr/>
        </p:nvSpPr>
        <p:spPr>
          <a:xfrm>
            <a:off x="3571875" y="2819401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 err="1">
                <a:solidFill>
                  <a:srgbClr val="5D6B80"/>
                </a:solidFill>
                <a:latin typeface="Aptos" panose="020B0004020202020204" pitchFamily="34" charset="0"/>
              </a:rPr>
              <a:t>labour</a:t>
            </a:r>
            <a:r>
              <a:rPr lang="en-US" sz="1600" dirty="0">
                <a:solidFill>
                  <a:srgbClr val="5D6B80"/>
                </a:solidFill>
                <a:latin typeface="Aptos" panose="020B0004020202020204" pitchFamily="34" charset="0"/>
              </a:rPr>
              <a:t>-market participation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77A0B5-3D47-A614-31DA-D18398E3309C}"/>
              </a:ext>
            </a:extLst>
          </p:cNvPr>
          <p:cNvSpPr/>
          <p:nvPr/>
        </p:nvSpPr>
        <p:spPr>
          <a:xfrm>
            <a:off x="6400800" y="2362200"/>
            <a:ext cx="2333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A4725-5DDA-60F0-348D-64C1D3C3688A}"/>
              </a:ext>
            </a:extLst>
          </p:cNvPr>
          <p:cNvSpPr/>
          <p:nvPr/>
        </p:nvSpPr>
        <p:spPr>
          <a:xfrm>
            <a:off x="6400800" y="2362200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9B984-DEBF-5647-66D0-78DB8EF30D8C}"/>
              </a:ext>
            </a:extLst>
          </p:cNvPr>
          <p:cNvSpPr txBox="1"/>
          <p:nvPr/>
        </p:nvSpPr>
        <p:spPr>
          <a:xfrm>
            <a:off x="6572250" y="2457451"/>
            <a:ext cx="2047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B030-B527-08B2-477D-DC85206334F2}"/>
              </a:ext>
            </a:extLst>
          </p:cNvPr>
          <p:cNvSpPr txBox="1"/>
          <p:nvPr/>
        </p:nvSpPr>
        <p:spPr>
          <a:xfrm>
            <a:off x="6572250" y="2819401"/>
            <a:ext cx="2028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5D6B80"/>
                </a:solidFill>
                <a:latin typeface="Aptos" panose="020B0004020202020204" pitchFamily="34" charset="0"/>
              </a:rPr>
              <a:t>inclusive-employer barrier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FD0F51-6E13-B112-89DE-9BE98765CD92}"/>
              </a:ext>
            </a:extLst>
          </p:cNvPr>
          <p:cNvSpPr/>
          <p:nvPr/>
        </p:nvSpPr>
        <p:spPr>
          <a:xfrm>
            <a:off x="952500" y="3543300"/>
            <a:ext cx="7239000" cy="142875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4B8D7-DE5D-E004-139D-78BB23148043}"/>
              </a:ext>
            </a:extLst>
          </p:cNvPr>
          <p:cNvSpPr txBox="1"/>
          <p:nvPr/>
        </p:nvSpPr>
        <p:spPr>
          <a:xfrm>
            <a:off x="1285875" y="3810001"/>
            <a:ext cx="6572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75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AA61F5-0D00-5F70-B83C-DA06297329EE}"/>
              </a:ext>
            </a:extLst>
          </p:cNvPr>
          <p:cNvSpPr txBox="1"/>
          <p:nvPr/>
        </p:nvSpPr>
        <p:spPr>
          <a:xfrm>
            <a:off x="1381125" y="4305301"/>
            <a:ext cx="6381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accessible recruitment, verified candidate profiles, real job tasks, workplace support and employers prepared to evaluate ability.</a:t>
            </a:r>
          </a:p>
        </p:txBody>
      </p:sp>
      <p:sp>
        <p:nvSpPr>
          <p:cNvPr id="37" name="Native footer code">
            <a:extLst>
              <a:ext uri="{FF2B5EF4-FFF2-40B4-BE49-F238E27FC236}">
                <a16:creationId xmlns:a16="http://schemas.microsoft.com/office/drawing/2014/main" id="{BF6D43B9-828A-F0AD-75A9-966E325769E9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8" name="Native footer title">
            <a:extLst>
              <a:ext uri="{FF2B5EF4-FFF2-40B4-BE49-F238E27FC236}">
                <a16:creationId xmlns:a16="http://schemas.microsoft.com/office/drawing/2014/main" id="{1197425B-743B-BF7E-1381-2E3EE8994C35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9" name="Native slide number">
            <a:extLst>
              <a:ext uri="{FF2B5EF4-FFF2-40B4-BE49-F238E27FC236}">
                <a16:creationId xmlns:a16="http://schemas.microsoft.com/office/drawing/2014/main" id="{35464E58-84DA-62EF-0A1B-4AA8EEF3FAD7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21712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BB535B1-47B6-D047-A865-66F93D3542EC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BACKGROUND 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2895F-81A3-30B2-C0FB-EE33131DC14E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Related approaches and the remaining gap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3591B-DFA0-1919-C404-96EB7E382FC0}"/>
              </a:ext>
            </a:extLst>
          </p:cNvPr>
          <p:cNvSpPr/>
          <p:nvPr/>
        </p:nvSpPr>
        <p:spPr>
          <a:xfrm>
            <a:off x="414087" y="1666876"/>
            <a:ext cx="1952625" cy="24765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5650A-1B19-A9EB-78BF-A53AE68DB14D}"/>
              </a:ext>
            </a:extLst>
          </p:cNvPr>
          <p:cNvSpPr txBox="1"/>
          <p:nvPr/>
        </p:nvSpPr>
        <p:spPr>
          <a:xfrm>
            <a:off x="623637" y="1819277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General portals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64365-E72B-11DD-3940-D8BCBFE6BE33}"/>
              </a:ext>
            </a:extLst>
          </p:cNvPr>
          <p:cNvSpPr txBox="1"/>
          <p:nvPr/>
        </p:nvSpPr>
        <p:spPr>
          <a:xfrm>
            <a:off x="623637" y="2190752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Large reach
Familiar workflow
Generic candidate profiles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DC8C2A-6464-9F94-2BAB-636A6307841E}"/>
              </a:ext>
            </a:extLst>
          </p:cNvPr>
          <p:cNvSpPr/>
          <p:nvPr/>
        </p:nvSpPr>
        <p:spPr>
          <a:xfrm>
            <a:off x="2547687" y="1666876"/>
            <a:ext cx="1952625" cy="2476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C5147F-ECE0-FF12-87D9-D408AB85C512}"/>
              </a:ext>
            </a:extLst>
          </p:cNvPr>
          <p:cNvSpPr txBox="1"/>
          <p:nvPr/>
        </p:nvSpPr>
        <p:spPr>
          <a:xfrm>
            <a:off x="2757237" y="1819277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Inclusive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7391B-4036-A779-A8B1-27004FF486FD}"/>
              </a:ext>
            </a:extLst>
          </p:cNvPr>
          <p:cNvSpPr txBox="1"/>
          <p:nvPr/>
        </p:nvSpPr>
        <p:spPr>
          <a:xfrm>
            <a:off x="2757237" y="2190752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Targeted visibility
Employer awareness
Limited task-level evidence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49EF59-59AA-F5EE-18EC-632BB49922E3}"/>
              </a:ext>
            </a:extLst>
          </p:cNvPr>
          <p:cNvSpPr/>
          <p:nvPr/>
        </p:nvSpPr>
        <p:spPr>
          <a:xfrm>
            <a:off x="4681287" y="1666876"/>
            <a:ext cx="1952625" cy="24765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A336AE-9139-3E90-1531-6C42A56F8E0C}"/>
              </a:ext>
            </a:extLst>
          </p:cNvPr>
          <p:cNvSpPr txBox="1"/>
          <p:nvPr/>
        </p:nvSpPr>
        <p:spPr>
          <a:xfrm>
            <a:off x="4890837" y="1819277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C27A19"/>
                </a:solidFill>
                <a:latin typeface="Aptos Display" panose="020B0004020202020204" pitchFamily="34" charset="0"/>
              </a:rPr>
              <a:t>AI screening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204D6-6C33-A1F5-70F2-B35747565D8B}"/>
              </a:ext>
            </a:extLst>
          </p:cNvPr>
          <p:cNvSpPr txBox="1"/>
          <p:nvPr/>
        </p:nvSpPr>
        <p:spPr>
          <a:xfrm>
            <a:off x="4890837" y="2190752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Speed and scale
Bias and privacy risks
Often opaque decisions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9662F-C872-0272-EFB2-8B031C535666}"/>
              </a:ext>
            </a:extLst>
          </p:cNvPr>
          <p:cNvSpPr/>
          <p:nvPr/>
        </p:nvSpPr>
        <p:spPr>
          <a:xfrm>
            <a:off x="6814887" y="1666876"/>
            <a:ext cx="1952625" cy="24765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E6DD6-6D09-B367-5C20-6FC9EB7C477C}"/>
              </a:ext>
            </a:extLst>
          </p:cNvPr>
          <p:cNvSpPr txBox="1"/>
          <p:nvPr/>
        </p:nvSpPr>
        <p:spPr>
          <a:xfrm>
            <a:off x="7024437" y="1819277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0CD88-D366-2F6E-0AFD-9E3AACC9A170}"/>
              </a:ext>
            </a:extLst>
          </p:cNvPr>
          <p:cNvSpPr txBox="1"/>
          <p:nvPr/>
        </p:nvSpPr>
        <p:spPr>
          <a:xfrm>
            <a:off x="7024437" y="2190752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Contextual judgement
Adaptation expertise
Difficult to scale digitally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7CD45-8C35-0466-1E7D-F0766F6CAA49}"/>
              </a:ext>
            </a:extLst>
          </p:cNvPr>
          <p:cNvSpPr txBox="1"/>
          <p:nvPr/>
        </p:nvSpPr>
        <p:spPr>
          <a:xfrm>
            <a:off x="809625" y="5086351"/>
            <a:ext cx="7524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 b="1">
                <a:solidFill>
                  <a:srgbClr val="0B1F49"/>
                </a:solidFill>
                <a:latin typeface="Aptos" panose="020B0004020202020204" pitchFamily="34" charset="0"/>
              </a:rPr>
              <a:t>JoIn gap: one accessible workflow joining controlled hospitality tasks, candidate abilities, workplace assistance, explainable matching and human review.</a:t>
            </a:r>
          </a:p>
        </p:txBody>
      </p:sp>
      <p:sp>
        <p:nvSpPr>
          <p:cNvPr id="38" name="Native footer code">
            <a:extLst>
              <a:ext uri="{FF2B5EF4-FFF2-40B4-BE49-F238E27FC236}">
                <a16:creationId xmlns:a16="http://schemas.microsoft.com/office/drawing/2014/main" id="{30895DAE-D446-5F49-8980-4915EB06FDFA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9" name="Native footer title">
            <a:extLst>
              <a:ext uri="{FF2B5EF4-FFF2-40B4-BE49-F238E27FC236}">
                <a16:creationId xmlns:a16="http://schemas.microsoft.com/office/drawing/2014/main" id="{D209F033-6179-8432-E858-CAE3A1BDFDD5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0" name="Native slide number">
            <a:extLst>
              <a:ext uri="{FF2B5EF4-FFF2-40B4-BE49-F238E27FC236}">
                <a16:creationId xmlns:a16="http://schemas.microsoft.com/office/drawing/2014/main" id="{807E7A73-5636-2363-095C-6EDE50A2D952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828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2561860-758C-772B-E58A-D225BC8C65A1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LIFE CYCLE AND DEVELOPMENT METHODOLOGY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B85C0-63E1-02E3-3A63-501BFC348D92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An iterative lifecycle with V-model traceability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E98B3E-8601-AE53-84F1-0B80F72F52CC}"/>
              </a:ext>
            </a:extLst>
          </p:cNvPr>
          <p:cNvSpPr/>
          <p:nvPr/>
        </p:nvSpPr>
        <p:spPr>
          <a:xfrm>
            <a:off x="4000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85673-E303-62CA-87E3-8B327BD586E2}"/>
              </a:ext>
            </a:extLst>
          </p:cNvPr>
          <p:cNvSpPr txBox="1"/>
          <p:nvPr/>
        </p:nvSpPr>
        <p:spPr>
          <a:xfrm>
            <a:off x="5715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DB6BC-86CE-254D-9390-E9267B17FA84}"/>
              </a:ext>
            </a:extLst>
          </p:cNvPr>
          <p:cNvSpPr txBox="1"/>
          <p:nvPr/>
        </p:nvSpPr>
        <p:spPr>
          <a:xfrm>
            <a:off x="10477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Discover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9BF0D-5C3B-8A7E-9B25-444A96522C0A}"/>
              </a:ext>
            </a:extLst>
          </p:cNvPr>
          <p:cNvSpPr txBox="1"/>
          <p:nvPr/>
        </p:nvSpPr>
        <p:spPr>
          <a:xfrm>
            <a:off x="6286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Needs
Research
Stakeholders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9A61A6-18B0-D3CA-91BD-4C10A3A27698}"/>
              </a:ext>
            </a:extLst>
          </p:cNvPr>
          <p:cNvCxnSpPr/>
          <p:nvPr/>
        </p:nvCxnSpPr>
        <p:spPr>
          <a:xfrm>
            <a:off x="22479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7550AF-33AB-54F7-C33F-731C3901B708}"/>
              </a:ext>
            </a:extLst>
          </p:cNvPr>
          <p:cNvSpPr/>
          <p:nvPr/>
        </p:nvSpPr>
        <p:spPr>
          <a:xfrm>
            <a:off x="25717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FD3F9-E15F-B0F6-7CE1-540D5E737E64}"/>
              </a:ext>
            </a:extLst>
          </p:cNvPr>
          <p:cNvSpPr txBox="1"/>
          <p:nvPr/>
        </p:nvSpPr>
        <p:spPr>
          <a:xfrm>
            <a:off x="27432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64D4C-A56A-FFE3-4871-42E33386C3E9}"/>
              </a:ext>
            </a:extLst>
          </p:cNvPr>
          <p:cNvSpPr txBox="1"/>
          <p:nvPr/>
        </p:nvSpPr>
        <p:spPr>
          <a:xfrm>
            <a:off x="32194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Specify + design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8468-16E3-70CA-C202-0CE05CFA4C46}"/>
              </a:ext>
            </a:extLst>
          </p:cNvPr>
          <p:cNvSpPr txBox="1"/>
          <p:nvPr/>
        </p:nvSpPr>
        <p:spPr>
          <a:xfrm>
            <a:off x="28003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FR / NFR
Architecture
Risk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BE8B42-1DC7-BF20-A509-AE9A2272BF70}"/>
              </a:ext>
            </a:extLst>
          </p:cNvPr>
          <p:cNvCxnSpPr/>
          <p:nvPr/>
        </p:nvCxnSpPr>
        <p:spPr>
          <a:xfrm>
            <a:off x="44196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1FB4FC-861E-E0FD-3870-22143E3C465C}"/>
              </a:ext>
            </a:extLst>
          </p:cNvPr>
          <p:cNvSpPr/>
          <p:nvPr/>
        </p:nvSpPr>
        <p:spPr>
          <a:xfrm>
            <a:off x="47434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1E205-DDC8-31F5-2257-B85CDAF7B9A2}"/>
              </a:ext>
            </a:extLst>
          </p:cNvPr>
          <p:cNvSpPr txBox="1"/>
          <p:nvPr/>
        </p:nvSpPr>
        <p:spPr>
          <a:xfrm>
            <a:off x="49149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A828D5-4801-742A-85AC-CA6B05E5F5A3}"/>
              </a:ext>
            </a:extLst>
          </p:cNvPr>
          <p:cNvSpPr txBox="1"/>
          <p:nvPr/>
        </p:nvSpPr>
        <p:spPr>
          <a:xfrm>
            <a:off x="53911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2D696-50F7-3325-6817-FB1C6FE21A72}"/>
              </a:ext>
            </a:extLst>
          </p:cNvPr>
          <p:cNvSpPr txBox="1"/>
          <p:nvPr/>
        </p:nvSpPr>
        <p:spPr>
          <a:xfrm>
            <a:off x="49720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React / Symfony
Python services
Cloud staging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8A1121-2851-5938-201E-FE17DE234397}"/>
              </a:ext>
            </a:extLst>
          </p:cNvPr>
          <p:cNvCxnSpPr/>
          <p:nvPr/>
        </p:nvCxnSpPr>
        <p:spPr>
          <a:xfrm>
            <a:off x="6591300" y="3562350"/>
            <a:ext cx="28575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1AD6C4-70B4-C8D1-0170-82834D51EC50}"/>
              </a:ext>
            </a:extLst>
          </p:cNvPr>
          <p:cNvSpPr/>
          <p:nvPr/>
        </p:nvSpPr>
        <p:spPr>
          <a:xfrm>
            <a:off x="6915150" y="2428875"/>
            <a:ext cx="1809750" cy="2266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30374E-F456-9EAF-67E0-DFFEE8F2F8AA}"/>
              </a:ext>
            </a:extLst>
          </p:cNvPr>
          <p:cNvSpPr txBox="1"/>
          <p:nvPr/>
        </p:nvSpPr>
        <p:spPr>
          <a:xfrm>
            <a:off x="7086600" y="2609851"/>
            <a:ext cx="419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1CEE3-82E7-58FD-D9A7-7E26126402C4}"/>
              </a:ext>
            </a:extLst>
          </p:cNvPr>
          <p:cNvSpPr txBox="1"/>
          <p:nvPr/>
        </p:nvSpPr>
        <p:spPr>
          <a:xfrm>
            <a:off x="7562850" y="2638426"/>
            <a:ext cx="9906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Verify + evolve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3BDEEA-7A22-620F-A0D9-3DBE448A86A3}"/>
              </a:ext>
            </a:extLst>
          </p:cNvPr>
          <p:cNvSpPr txBox="1"/>
          <p:nvPr/>
        </p:nvSpPr>
        <p:spPr>
          <a:xfrm>
            <a:off x="7143750" y="3181351"/>
            <a:ext cx="13525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Tests
Human validation
Maintenance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EEC611-608F-8A73-A57A-ECAFBB48A639}"/>
              </a:ext>
            </a:extLst>
          </p:cNvPr>
          <p:cNvSpPr/>
          <p:nvPr/>
        </p:nvSpPr>
        <p:spPr>
          <a:xfrm>
            <a:off x="1162050" y="4933950"/>
            <a:ext cx="6819900" cy="889328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3016D4-55E6-D6F3-D1A4-1E4A237E04B5}"/>
              </a:ext>
            </a:extLst>
          </p:cNvPr>
          <p:cNvSpPr txBox="1"/>
          <p:nvPr/>
        </p:nvSpPr>
        <p:spPr>
          <a:xfrm>
            <a:off x="1428750" y="5086351"/>
            <a:ext cx="6286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</a:rPr>
              <a:t>Traceability: stakeholder need -&gt; requirement -&gt; design -&gt; code -&gt; test oracle -&gt; retained evidence</a:t>
            </a:r>
          </a:p>
        </p:txBody>
      </p:sp>
      <p:sp>
        <p:nvSpPr>
          <p:cNvPr id="42" name="Native footer code">
            <a:extLst>
              <a:ext uri="{FF2B5EF4-FFF2-40B4-BE49-F238E27FC236}">
                <a16:creationId xmlns:a16="http://schemas.microsoft.com/office/drawing/2014/main" id="{BA929C0C-25B4-05AE-4A40-F80DCEA8D8C0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43" name="Native footer title">
            <a:extLst>
              <a:ext uri="{FF2B5EF4-FFF2-40B4-BE49-F238E27FC236}">
                <a16:creationId xmlns:a16="http://schemas.microsoft.com/office/drawing/2014/main" id="{0B3621FD-600A-CE77-2310-AAD3577BAC18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4" name="Native slide number">
            <a:extLst>
              <a:ext uri="{FF2B5EF4-FFF2-40B4-BE49-F238E27FC236}">
                <a16:creationId xmlns:a16="http://schemas.microsoft.com/office/drawing/2014/main" id="{344B4CD4-7E77-ABE4-5E11-51C7A70BC1EC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300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05D2A0-86FB-D150-E44E-E223CF665060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REQUIREMENTS ELICITATION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26238-ACDE-1BDC-A110-97BDFFABF4AC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Needs came from people, evidence and prototypes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D01E79-FC20-5405-66D6-184C3C04D348}"/>
              </a:ext>
            </a:extLst>
          </p:cNvPr>
          <p:cNvSpPr/>
          <p:nvPr/>
        </p:nvSpPr>
        <p:spPr>
          <a:xfrm>
            <a:off x="400050" y="2362200"/>
            <a:ext cx="2533650" cy="18859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BFF396-3614-F509-10CF-F45C42033651}"/>
              </a:ext>
            </a:extLst>
          </p:cNvPr>
          <p:cNvSpPr txBox="1"/>
          <p:nvPr/>
        </p:nvSpPr>
        <p:spPr>
          <a:xfrm>
            <a:off x="609600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84319-CD7F-BB86-B592-407E9A51B0A9}"/>
              </a:ext>
            </a:extLst>
          </p:cNvPr>
          <p:cNvSpPr txBox="1"/>
          <p:nvPr/>
        </p:nvSpPr>
        <p:spPr>
          <a:xfrm>
            <a:off x="609600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CEAC9-7A76-3488-BCA7-7E5E466F6FC1}"/>
              </a:ext>
            </a:extLst>
          </p:cNvPr>
          <p:cNvSpPr/>
          <p:nvPr/>
        </p:nvSpPr>
        <p:spPr>
          <a:xfrm>
            <a:off x="3305175" y="2362200"/>
            <a:ext cx="2533650" cy="18859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68489-F963-EDA7-13F8-E28F29291757}"/>
              </a:ext>
            </a:extLst>
          </p:cNvPr>
          <p:cNvSpPr txBox="1"/>
          <p:nvPr/>
        </p:nvSpPr>
        <p:spPr>
          <a:xfrm>
            <a:off x="3514725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C88B-69FA-E34D-8F73-DF965102E029}"/>
              </a:ext>
            </a:extLst>
          </p:cNvPr>
          <p:cNvSpPr txBox="1"/>
          <p:nvPr/>
        </p:nvSpPr>
        <p:spPr>
          <a:xfrm>
            <a:off x="3514725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17243A"/>
                </a:solidFill>
                <a:latin typeface="Aptos" panose="020B0004020202020204" pitchFamily="34" charset="0"/>
              </a:rPr>
              <a:t>Phase I artefacts
WCAG and domain research
Arc-</a:t>
            </a:r>
            <a:r>
              <a:rPr lang="en-US" sz="1400" dirty="0" err="1">
                <a:solidFill>
                  <a:srgbClr val="17243A"/>
                </a:solidFill>
                <a:latin typeface="Aptos" panose="020B0004020202020204" pitchFamily="34" charset="0"/>
              </a:rPr>
              <a:t>en</a:t>
            </a:r>
            <a:r>
              <a:rPr lang="en-US" sz="1400" dirty="0">
                <a:solidFill>
                  <a:srgbClr val="17243A"/>
                </a:solidFill>
                <a:latin typeface="Aptos" panose="020B0004020202020204" pitchFamily="34" charset="0"/>
              </a:rPr>
              <a:t>-Ciel and JAWS sessions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F3D864-ABC7-6EE3-D3B6-5E5ACF7211EE}"/>
              </a:ext>
            </a:extLst>
          </p:cNvPr>
          <p:cNvSpPr/>
          <p:nvPr/>
        </p:nvSpPr>
        <p:spPr>
          <a:xfrm>
            <a:off x="6210300" y="2362200"/>
            <a:ext cx="2533650" cy="18859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B7835-2549-3DBE-5597-67D1D7D99010}"/>
              </a:ext>
            </a:extLst>
          </p:cNvPr>
          <p:cNvSpPr txBox="1"/>
          <p:nvPr/>
        </p:nvSpPr>
        <p:spPr>
          <a:xfrm>
            <a:off x="6419850" y="2514601"/>
            <a:ext cx="2171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Techniques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85E410-CF8F-3721-C41B-297A3C7D8566}"/>
              </a:ext>
            </a:extLst>
          </p:cNvPr>
          <p:cNvSpPr txBox="1"/>
          <p:nvPr/>
        </p:nvSpPr>
        <p:spPr>
          <a:xfrm>
            <a:off x="6419850" y="2886076"/>
            <a:ext cx="21526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17243A"/>
                </a:solidFill>
                <a:latin typeface="Aptos" panose="020B0004020202020204" pitchFamily="34" charset="0"/>
              </a:rPr>
              <a:t>Background study
Scenario observation
Iterative prototype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FBA37-8363-74B5-FB29-8800F84ACE6B}"/>
              </a:ext>
            </a:extLst>
          </p:cNvPr>
          <p:cNvSpPr/>
          <p:nvPr/>
        </p:nvSpPr>
        <p:spPr>
          <a:xfrm>
            <a:off x="400050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E9FF1-3E2C-AC8A-5190-EBEFFC315CA9}"/>
              </a:ext>
            </a:extLst>
          </p:cNvPr>
          <p:cNvSpPr txBox="1"/>
          <p:nvPr/>
        </p:nvSpPr>
        <p:spPr>
          <a:xfrm>
            <a:off x="571500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4 roles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AA661C-5BAB-8283-58FE-5C69B8F0B36E}"/>
              </a:ext>
            </a:extLst>
          </p:cNvPr>
          <p:cNvSpPr txBox="1"/>
          <p:nvPr/>
        </p:nvSpPr>
        <p:spPr>
          <a:xfrm>
            <a:off x="571500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5D6B80"/>
                </a:solidFill>
                <a:latin typeface="Aptos" panose="020B0004020202020204" pitchFamily="34" charset="0"/>
              </a:rPr>
              <a:t>authorized workspaces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DAA967-21ED-C583-27D8-6D4D857E6CC7}"/>
              </a:ext>
            </a:extLst>
          </p:cNvPr>
          <p:cNvSpPr/>
          <p:nvPr/>
        </p:nvSpPr>
        <p:spPr>
          <a:xfrm>
            <a:off x="2543175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33A9D3-003E-C351-B988-E05DEB785F39}"/>
              </a:ext>
            </a:extLst>
          </p:cNvPr>
          <p:cNvSpPr txBox="1"/>
          <p:nvPr/>
        </p:nvSpPr>
        <p:spPr>
          <a:xfrm>
            <a:off x="2714625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15 roles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469E33-1468-7F79-C2CD-7F1C311011FB}"/>
              </a:ext>
            </a:extLst>
          </p:cNvPr>
          <p:cNvSpPr txBox="1"/>
          <p:nvPr/>
        </p:nvSpPr>
        <p:spPr>
          <a:xfrm>
            <a:off x="2714625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CD535D-AF8E-1F41-92FD-75207640B1FF}"/>
              </a:ext>
            </a:extLst>
          </p:cNvPr>
          <p:cNvSpPr/>
          <p:nvPr/>
        </p:nvSpPr>
        <p:spPr>
          <a:xfrm>
            <a:off x="4686300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843FA-9E09-97F5-24D7-0D71FA72ABB2}"/>
              </a:ext>
            </a:extLst>
          </p:cNvPr>
          <p:cNvSpPr txBox="1"/>
          <p:nvPr/>
        </p:nvSpPr>
        <p:spPr>
          <a:xfrm>
            <a:off x="4857750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CF688C-3667-2367-C73A-FFCD19C2D5F6}"/>
              </a:ext>
            </a:extLst>
          </p:cNvPr>
          <p:cNvSpPr txBox="1"/>
          <p:nvPr/>
        </p:nvSpPr>
        <p:spPr>
          <a:xfrm>
            <a:off x="4857750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65D655-8111-9747-CE6F-B816839CEA8B}"/>
              </a:ext>
            </a:extLst>
          </p:cNvPr>
          <p:cNvSpPr/>
          <p:nvPr/>
        </p:nvSpPr>
        <p:spPr>
          <a:xfrm>
            <a:off x="6829425" y="4505325"/>
            <a:ext cx="190500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F9AA7-B45D-161B-88C9-D618DAB9C029}"/>
              </a:ext>
            </a:extLst>
          </p:cNvPr>
          <p:cNvSpPr txBox="1"/>
          <p:nvPr/>
        </p:nvSpPr>
        <p:spPr>
          <a:xfrm>
            <a:off x="7000875" y="4600576"/>
            <a:ext cx="1619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6D749-D0E2-A004-50A3-C90A544D5C1F}"/>
              </a:ext>
            </a:extLst>
          </p:cNvPr>
          <p:cNvSpPr txBox="1"/>
          <p:nvPr/>
        </p:nvSpPr>
        <p:spPr>
          <a:xfrm>
            <a:off x="7000875" y="4962526"/>
            <a:ext cx="16002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  <p:sp>
        <p:nvSpPr>
          <p:cNvPr id="49" name="Native footer code">
            <a:extLst>
              <a:ext uri="{FF2B5EF4-FFF2-40B4-BE49-F238E27FC236}">
                <a16:creationId xmlns:a16="http://schemas.microsoft.com/office/drawing/2014/main" id="{441F6804-E27F-0727-FC5F-A8AB01A320C2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50" name="Native footer title">
            <a:extLst>
              <a:ext uri="{FF2B5EF4-FFF2-40B4-BE49-F238E27FC236}">
                <a16:creationId xmlns:a16="http://schemas.microsoft.com/office/drawing/2014/main" id="{6FA304DD-18D8-18D4-30D1-F684B81DC351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51" name="Native slide number">
            <a:extLst>
              <a:ext uri="{FF2B5EF4-FFF2-40B4-BE49-F238E27FC236}">
                <a16:creationId xmlns:a16="http://schemas.microsoft.com/office/drawing/2014/main" id="{0E527596-5F54-FF58-7B8B-86A8A8FABDC4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5555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F3EF02E-8C59-9A3F-C3D1-ECBD161B4714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REQUIREMENTS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F93AE-4CF6-788C-8BF4-D44B8BE1E5EF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 dirty="0">
                <a:solidFill>
                  <a:srgbClr val="0B1F49"/>
                </a:solidFill>
                <a:latin typeface="Arial" panose="020B0604020202020204" pitchFamily="34" charset="0"/>
              </a:rPr>
              <a:t>Functional requirements implemented by role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54BCD5-947F-563B-C0C7-F59300499FB5}"/>
              </a:ext>
            </a:extLst>
          </p:cNvPr>
          <p:cNvSpPr/>
          <p:nvPr/>
        </p:nvSpPr>
        <p:spPr>
          <a:xfrm>
            <a:off x="457200" y="1803734"/>
            <a:ext cx="1952625" cy="296077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A4D26-7FA4-B35E-72FA-786734AD79E5}"/>
              </a:ext>
            </a:extLst>
          </p:cNvPr>
          <p:cNvSpPr txBox="1"/>
          <p:nvPr/>
        </p:nvSpPr>
        <p:spPr>
          <a:xfrm>
            <a:off x="666750" y="1956135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AD292-49DE-BE40-0BE0-59274853216D}"/>
              </a:ext>
            </a:extLst>
          </p:cNvPr>
          <p:cNvSpPr txBox="1"/>
          <p:nvPr/>
        </p:nvSpPr>
        <p:spPr>
          <a:xfrm>
            <a:off x="666750" y="2327610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43A"/>
                </a:solidFill>
                <a:latin typeface="Aptos" panose="020B0004020202020204" pitchFamily="34" charset="0"/>
              </a:rPr>
              <a:t>Verify identity
Build accessible profile
Match, explore and apply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5FBB42-CA29-B840-B612-7F1BF208764A}"/>
              </a:ext>
            </a:extLst>
          </p:cNvPr>
          <p:cNvSpPr/>
          <p:nvPr/>
        </p:nvSpPr>
        <p:spPr>
          <a:xfrm>
            <a:off x="2590800" y="1803734"/>
            <a:ext cx="1952625" cy="296077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E0D983-08E2-A00A-D032-F4949EB997C2}"/>
              </a:ext>
            </a:extLst>
          </p:cNvPr>
          <p:cNvSpPr txBox="1"/>
          <p:nvPr/>
        </p:nvSpPr>
        <p:spPr>
          <a:xfrm>
            <a:off x="2800350" y="1956135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BACE3-58F7-B106-D285-2D326DFA01F2}"/>
              </a:ext>
            </a:extLst>
          </p:cNvPr>
          <p:cNvSpPr txBox="1"/>
          <p:nvPr/>
        </p:nvSpPr>
        <p:spPr>
          <a:xfrm>
            <a:off x="2800350" y="2327610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43A"/>
                </a:solidFill>
                <a:latin typeface="Aptos" panose="020B0004020202020204" pitchFamily="34" charset="0"/>
              </a:rPr>
              <a:t>Publish job or training
Set tasks and support
Review applications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11408F-0561-50DD-B638-6D434B635BF6}"/>
              </a:ext>
            </a:extLst>
          </p:cNvPr>
          <p:cNvSpPr/>
          <p:nvPr/>
        </p:nvSpPr>
        <p:spPr>
          <a:xfrm>
            <a:off x="4724400" y="1803734"/>
            <a:ext cx="1952625" cy="296077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27BF1E-9D0D-6E52-DE08-D50050427126}"/>
              </a:ext>
            </a:extLst>
          </p:cNvPr>
          <p:cNvSpPr txBox="1"/>
          <p:nvPr/>
        </p:nvSpPr>
        <p:spPr>
          <a:xfrm>
            <a:off x="4933950" y="1956135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4F7F0C-1529-A0C0-B306-D08FAFF0B55C}"/>
              </a:ext>
            </a:extLst>
          </p:cNvPr>
          <p:cNvSpPr txBox="1"/>
          <p:nvPr/>
        </p:nvSpPr>
        <p:spPr>
          <a:xfrm>
            <a:off x="4933950" y="2327610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43A"/>
                </a:solidFill>
                <a:latin typeface="Aptos" panose="020B0004020202020204" pitchFamily="34" charset="0"/>
              </a:rPr>
              <a:t>Review private evidence
Approve or reject
Record an auditable decision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1C47AC-F4F6-D97E-5ACC-525D26BC0F94}"/>
              </a:ext>
            </a:extLst>
          </p:cNvPr>
          <p:cNvSpPr/>
          <p:nvPr/>
        </p:nvSpPr>
        <p:spPr>
          <a:xfrm>
            <a:off x="6858000" y="1803733"/>
            <a:ext cx="1952625" cy="2960771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EEC5-A93E-8100-50B8-E3B4562641C4}"/>
              </a:ext>
            </a:extLst>
          </p:cNvPr>
          <p:cNvSpPr txBox="1"/>
          <p:nvPr/>
        </p:nvSpPr>
        <p:spPr>
          <a:xfrm>
            <a:off x="7067550" y="1956135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341A5-D37A-DBDF-F4B0-64627DA58518}"/>
              </a:ext>
            </a:extLst>
          </p:cNvPr>
          <p:cNvSpPr txBox="1"/>
          <p:nvPr/>
        </p:nvSpPr>
        <p:spPr>
          <a:xfrm>
            <a:off x="7067550" y="2327610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datasets
Maintain controlled definitions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6578A-57AE-6815-2C64-F658EF17B60D}"/>
              </a:ext>
            </a:extLst>
          </p:cNvPr>
          <p:cNvSpPr txBox="1"/>
          <p:nvPr/>
        </p:nvSpPr>
        <p:spPr>
          <a:xfrm>
            <a:off x="1619250" y="5522225"/>
            <a:ext cx="5905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25" b="1" dirty="0">
                <a:solidFill>
                  <a:srgbClr val="0B1F49"/>
                </a:solidFill>
                <a:latin typeface="Aptos" panose="020B0004020202020204" pitchFamily="34" charset="0"/>
              </a:rPr>
              <a:t>Nominal, rejected-role and recovery flows were specified and tested.</a:t>
            </a:r>
          </a:p>
        </p:txBody>
      </p:sp>
      <p:sp>
        <p:nvSpPr>
          <p:cNvPr id="38" name="Native footer code">
            <a:extLst>
              <a:ext uri="{FF2B5EF4-FFF2-40B4-BE49-F238E27FC236}">
                <a16:creationId xmlns:a16="http://schemas.microsoft.com/office/drawing/2014/main" id="{C3E9F129-24CF-E0A4-DEB2-B630CD61F5C6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9" name="Native footer title">
            <a:extLst>
              <a:ext uri="{FF2B5EF4-FFF2-40B4-BE49-F238E27FC236}">
                <a16:creationId xmlns:a16="http://schemas.microsoft.com/office/drawing/2014/main" id="{C184CA61-4A4F-CADD-8BBC-F20926815F49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0" name="Native slide number">
            <a:extLst>
              <a:ext uri="{FF2B5EF4-FFF2-40B4-BE49-F238E27FC236}">
                <a16:creationId xmlns:a16="http://schemas.microsoft.com/office/drawing/2014/main" id="{F570251C-0EBA-3C53-BE94-92253FA661FF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5592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421BB4-3CF3-30BE-FF98-90C901B278A4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REQUIREMENTS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E86A9-FB01-B9EA-9C35-72A34988F041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dirty="0">
                <a:solidFill>
                  <a:srgbClr val="0B1F49"/>
                </a:solidFill>
                <a:latin typeface="Aptos Display" panose="020B0004020202020204" pitchFamily="34" charset="0"/>
              </a:rPr>
              <a:t>Non-functional requirements and measurable qualities</a:t>
            </a:r>
          </a:p>
          <a:p>
            <a:endParaRPr lang="en-US" sz="2300" b="1" dirty="0">
              <a:solidFill>
                <a:srgbClr val="0B1F49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35E4BE-2AA7-89D4-B9DE-B2575EBB37B8}"/>
              </a:ext>
            </a:extLst>
          </p:cNvPr>
          <p:cNvSpPr/>
          <p:nvPr/>
        </p:nvSpPr>
        <p:spPr>
          <a:xfrm>
            <a:off x="400050" y="2171699"/>
            <a:ext cx="1952625" cy="2438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7C035-0228-A37A-FD4F-A5F21B8AC045}"/>
              </a:ext>
            </a:extLst>
          </p:cNvPr>
          <p:cNvSpPr txBox="1"/>
          <p:nvPr/>
        </p:nvSpPr>
        <p:spPr>
          <a:xfrm>
            <a:off x="609600" y="2324100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8726A-5DE5-DFB0-14F6-FDF18DF4A263}"/>
              </a:ext>
            </a:extLst>
          </p:cNvPr>
          <p:cNvSpPr txBox="1"/>
          <p:nvPr/>
        </p:nvSpPr>
        <p:spPr>
          <a:xfrm>
            <a:off x="609600" y="2695575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+ screen reader
Responsive reflow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F794DA-FDFB-A25A-C430-218ED75F3129}"/>
              </a:ext>
            </a:extLst>
          </p:cNvPr>
          <p:cNvSpPr/>
          <p:nvPr/>
        </p:nvSpPr>
        <p:spPr>
          <a:xfrm>
            <a:off x="2533650" y="2171699"/>
            <a:ext cx="1952625" cy="2438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6E7C1-01E0-732A-F24F-5CF466C43105}"/>
              </a:ext>
            </a:extLst>
          </p:cNvPr>
          <p:cNvSpPr txBox="1"/>
          <p:nvPr/>
        </p:nvSpPr>
        <p:spPr>
          <a:xfrm>
            <a:off x="2743200" y="2324100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82F8B-5D8E-6DA7-A405-75B9453A8B76}"/>
              </a:ext>
            </a:extLst>
          </p:cNvPr>
          <p:cNvSpPr txBox="1"/>
          <p:nvPr/>
        </p:nvSpPr>
        <p:spPr>
          <a:xfrm>
            <a:off x="2743200" y="2695575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JWT and server RBAC
Private evidence
Consent and erasure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083D38-3B8C-DC84-625C-2C38DC7BAAB5}"/>
              </a:ext>
            </a:extLst>
          </p:cNvPr>
          <p:cNvSpPr/>
          <p:nvPr/>
        </p:nvSpPr>
        <p:spPr>
          <a:xfrm>
            <a:off x="4667250" y="2171699"/>
            <a:ext cx="1952625" cy="2438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89AEB-EEA9-BD89-E813-287B90D80CB0}"/>
              </a:ext>
            </a:extLst>
          </p:cNvPr>
          <p:cNvSpPr txBox="1"/>
          <p:nvPr/>
        </p:nvSpPr>
        <p:spPr>
          <a:xfrm>
            <a:off x="4876800" y="2324100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Reliability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FCC00-1568-9BAA-3F3A-642DAEAE55B2}"/>
              </a:ext>
            </a:extLst>
          </p:cNvPr>
          <p:cNvSpPr txBox="1"/>
          <p:nvPr/>
        </p:nvSpPr>
        <p:spPr>
          <a:xfrm>
            <a:off x="4876800" y="2695575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Health endpoints
Repeatable p50 / p95
Transparent limitations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BF3E13-AFCE-D3EF-0A0D-F5E0CFE85B7A}"/>
              </a:ext>
            </a:extLst>
          </p:cNvPr>
          <p:cNvSpPr/>
          <p:nvPr/>
        </p:nvSpPr>
        <p:spPr>
          <a:xfrm>
            <a:off x="6800850" y="2171699"/>
            <a:ext cx="1952625" cy="24384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5B193-451B-81BD-3564-9D5CD47DDA15}"/>
              </a:ext>
            </a:extLst>
          </p:cNvPr>
          <p:cNvSpPr txBox="1"/>
          <p:nvPr/>
        </p:nvSpPr>
        <p:spPr>
          <a:xfrm>
            <a:off x="7010400" y="2324100"/>
            <a:ext cx="15906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A0DCD-2658-2F1E-9B5F-E736E5DAA4A5}"/>
              </a:ext>
            </a:extLst>
          </p:cNvPr>
          <p:cNvSpPr txBox="1"/>
          <p:nvPr/>
        </p:nvSpPr>
        <p:spPr>
          <a:xfrm>
            <a:off x="7010400" y="2695575"/>
            <a:ext cx="1571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Component boundaries
Versioned policy
Three stable locales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C835D7-E90E-B12A-600C-44E28F47E09D}"/>
              </a:ext>
            </a:extLst>
          </p:cNvPr>
          <p:cNvSpPr/>
          <p:nvPr/>
        </p:nvSpPr>
        <p:spPr>
          <a:xfrm>
            <a:off x="809625" y="4991099"/>
            <a:ext cx="7524750" cy="1154325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D7B5F-441D-3F84-1064-6896C3C80D8A}"/>
              </a:ext>
            </a:extLst>
          </p:cNvPr>
          <p:cNvSpPr txBox="1"/>
          <p:nvPr/>
        </p:nvSpPr>
        <p:spPr>
          <a:xfrm>
            <a:off x="1000125" y="5240552"/>
            <a:ext cx="7143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</a:rPr>
              <a:t>Constraint trade-off: stronger controls and external services can affect latency; correctness and performance are reported separately.</a:t>
            </a:r>
          </a:p>
        </p:txBody>
      </p:sp>
      <p:sp>
        <p:nvSpPr>
          <p:cNvPr id="39" name="Native footer code">
            <a:extLst>
              <a:ext uri="{FF2B5EF4-FFF2-40B4-BE49-F238E27FC236}">
                <a16:creationId xmlns:a16="http://schemas.microsoft.com/office/drawing/2014/main" id="{BAED304F-CBC8-BA1C-7EF8-0FB9F7DB7657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40" name="Native footer title">
            <a:extLst>
              <a:ext uri="{FF2B5EF4-FFF2-40B4-BE49-F238E27FC236}">
                <a16:creationId xmlns:a16="http://schemas.microsoft.com/office/drawing/2014/main" id="{C9D11DE0-B80B-8553-2C09-46C8907D5B8C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1" name="Native slide number">
            <a:extLst>
              <a:ext uri="{FF2B5EF4-FFF2-40B4-BE49-F238E27FC236}">
                <a16:creationId xmlns:a16="http://schemas.microsoft.com/office/drawing/2014/main" id="{45C7734D-B66C-E79E-4CB9-7B72F9782288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6650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47ACEE-8502-762C-B02B-69A49DE4D3F9}"/>
              </a:ext>
            </a:extLst>
          </p:cNvPr>
          <p:cNvSpPr txBox="1"/>
          <p:nvPr/>
        </p:nvSpPr>
        <p:spPr>
          <a:xfrm>
            <a:off x="457200" y="609599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DESIGN AND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2E4FE4-CABE-A47B-D303-7EBC36E38978}"/>
              </a:ext>
            </a:extLst>
          </p:cNvPr>
          <p:cNvSpPr txBox="1"/>
          <p:nvPr/>
        </p:nvSpPr>
        <p:spPr>
          <a:xfrm>
            <a:off x="457200" y="889000"/>
            <a:ext cx="8229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Implemented logical architecture and trust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2BECA-8BAA-94B0-2503-0E5587D839FA}"/>
              </a:ext>
            </a:extLst>
          </p:cNvPr>
          <p:cNvSpPr txBox="1"/>
          <p:nvPr/>
        </p:nvSpPr>
        <p:spPr>
          <a:xfrm>
            <a:off x="109788" y="3390900"/>
            <a:ext cx="55245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 dirty="0">
                <a:solidFill>
                  <a:srgbClr val="0B1F49"/>
                </a:solidFill>
                <a:latin typeface="Aptos Display" panose="020B0004020202020204" pitchFamily="34" charset="0"/>
              </a:rPr>
              <a:t>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5DB9BD-01FC-F47A-513A-AF9A8B8D967F}"/>
              </a:ext>
            </a:extLst>
          </p:cNvPr>
          <p:cNvSpPr/>
          <p:nvPr/>
        </p:nvSpPr>
        <p:spPr>
          <a:xfrm>
            <a:off x="904875" y="2524125"/>
            <a:ext cx="1571625" cy="19526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A925E-CF37-D8F8-5DE0-20521CB5D8D6}"/>
              </a:ext>
            </a:extLst>
          </p:cNvPr>
          <p:cNvSpPr txBox="1"/>
          <p:nvPr/>
        </p:nvSpPr>
        <p:spPr>
          <a:xfrm>
            <a:off x="1076325" y="2676525"/>
            <a:ext cx="124777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React / Vite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19671-773A-741E-8CC1-E86F6451258C}"/>
              </a:ext>
            </a:extLst>
          </p:cNvPr>
          <p:cNvSpPr txBox="1"/>
          <p:nvPr/>
        </p:nvSpPr>
        <p:spPr>
          <a:xfrm>
            <a:off x="1076325" y="3076575"/>
            <a:ext cx="1247775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Accessible interface
Role workspaces
JWT client
Executes approved voice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013B7-0091-29C1-8F80-8A902843268D}"/>
              </a:ext>
            </a:extLst>
          </p:cNvPr>
          <p:cNvSpPr/>
          <p:nvPr/>
        </p:nvSpPr>
        <p:spPr>
          <a:xfrm>
            <a:off x="3224212" y="1997720"/>
            <a:ext cx="1952625" cy="20002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92043E-DB2A-4985-33BE-2F23FB03C49A}"/>
              </a:ext>
            </a:extLst>
          </p:cNvPr>
          <p:cNvSpPr txBox="1"/>
          <p:nvPr/>
        </p:nvSpPr>
        <p:spPr>
          <a:xfrm>
            <a:off x="3395662" y="2150120"/>
            <a:ext cx="162877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Symfony 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8C453-9590-749D-421F-33E6C4C9D747}"/>
              </a:ext>
            </a:extLst>
          </p:cNvPr>
          <p:cNvSpPr txBox="1"/>
          <p:nvPr/>
        </p:nvSpPr>
        <p:spPr>
          <a:xfrm>
            <a:off x="3395662" y="2550170"/>
            <a:ext cx="1628775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JWT + RBAC
Validation
Workflow orchestration
Only persistence gateway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F087A-C6FE-331E-F281-D91ABD02E287}"/>
              </a:ext>
            </a:extLst>
          </p:cNvPr>
          <p:cNvSpPr/>
          <p:nvPr/>
        </p:nvSpPr>
        <p:spPr>
          <a:xfrm>
            <a:off x="6172200" y="1902312"/>
            <a:ext cx="2476500" cy="10001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9661F-BEEA-EFDD-0E6A-154999B8A0A6}"/>
              </a:ext>
            </a:extLst>
          </p:cNvPr>
          <p:cNvSpPr txBox="1"/>
          <p:nvPr/>
        </p:nvSpPr>
        <p:spPr>
          <a:xfrm>
            <a:off x="6362700" y="2035662"/>
            <a:ext cx="2095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B1F49"/>
                </a:solidFill>
                <a:latin typeface="Aptos Display" panose="020B0004020202020204" pitchFamily="34" charset="0"/>
              </a:rPr>
              <a:t>Persistence Layer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2BA4AC-ECEB-9D83-97F0-94F8B3A9595B}"/>
              </a:ext>
            </a:extLst>
          </p:cNvPr>
          <p:cNvCxnSpPr/>
          <p:nvPr/>
        </p:nvCxnSpPr>
        <p:spPr>
          <a:xfrm>
            <a:off x="7410450" y="2321412"/>
            <a:ext cx="0" cy="447675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F3272D-332B-1CBD-BC8E-2E0AE76A87B2}"/>
              </a:ext>
            </a:extLst>
          </p:cNvPr>
          <p:cNvSpPr txBox="1"/>
          <p:nvPr/>
        </p:nvSpPr>
        <p:spPr>
          <a:xfrm>
            <a:off x="6300787" y="2281883"/>
            <a:ext cx="1076326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 dirty="0">
                <a:solidFill>
                  <a:srgbClr val="17243A"/>
                </a:solidFill>
                <a:latin typeface="Aptos" panose="020B0004020202020204" pitchFamily="34" charset="0"/>
              </a:rPr>
              <a:t>PostgreSQL
</a:t>
            </a:r>
            <a:r>
              <a:rPr lang="fr-FR" sz="900" dirty="0" err="1">
                <a:solidFill>
                  <a:srgbClr val="17243A"/>
                </a:solidFill>
                <a:latin typeface="Aptos" panose="020B0004020202020204" pitchFamily="34" charset="0"/>
              </a:rPr>
              <a:t>Users</a:t>
            </a:r>
            <a:r>
              <a:rPr lang="fr-FR" sz="900" dirty="0">
                <a:solidFill>
                  <a:srgbClr val="17243A"/>
                </a:solidFill>
                <a:latin typeface="Aptos" panose="020B0004020202020204" pitchFamily="34" charset="0"/>
              </a:rPr>
              <a:t>, profiles, jobs,
applications, catalogue</a:t>
            </a:r>
            <a:endParaRPr lang="en-US" sz="900" dirty="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B12D56-C309-5048-BC24-1BADD4441094}"/>
              </a:ext>
            </a:extLst>
          </p:cNvPr>
          <p:cNvSpPr txBox="1"/>
          <p:nvPr/>
        </p:nvSpPr>
        <p:spPr>
          <a:xfrm>
            <a:off x="7505700" y="2288619"/>
            <a:ext cx="9906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 dirty="0">
                <a:solidFill>
                  <a:srgbClr val="17243A"/>
                </a:solidFill>
                <a:latin typeface="Aptos" panose="020B0004020202020204" pitchFamily="34" charset="0"/>
              </a:rPr>
              <a:t>Object </a:t>
            </a:r>
            <a:r>
              <a:rPr lang="fr-FR" sz="900" dirty="0" err="1">
                <a:solidFill>
                  <a:srgbClr val="17243A"/>
                </a:solidFill>
                <a:latin typeface="Aptos" panose="020B0004020202020204" pitchFamily="34" charset="0"/>
              </a:rPr>
              <a:t>storage</a:t>
            </a:r>
            <a:r>
              <a:rPr lang="fr-FR" sz="900" dirty="0">
                <a:solidFill>
                  <a:srgbClr val="17243A"/>
                </a:solidFill>
                <a:latin typeface="Aptos" panose="020B0004020202020204" pitchFamily="34" charset="0"/>
              </a:rPr>
              <a:t>
Private documents
Public employer logos</a:t>
            </a:r>
            <a:endParaRPr lang="en-US" sz="900" dirty="0">
              <a:solidFill>
                <a:srgbClr val="1724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99AEE1-4081-0FAA-9198-26C6C66728BD}"/>
              </a:ext>
            </a:extLst>
          </p:cNvPr>
          <p:cNvSpPr/>
          <p:nvPr/>
        </p:nvSpPr>
        <p:spPr>
          <a:xfrm>
            <a:off x="6191250" y="3286125"/>
            <a:ext cx="2476500" cy="10477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BCD93-B5AE-AB82-CDED-59F07E95FDE6}"/>
              </a:ext>
            </a:extLst>
          </p:cNvPr>
          <p:cNvSpPr txBox="1"/>
          <p:nvPr/>
        </p:nvSpPr>
        <p:spPr>
          <a:xfrm>
            <a:off x="6362700" y="3438525"/>
            <a:ext cx="21526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Scoring Service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5C2842-2D2F-DB8C-5C73-72C069CCCD0D}"/>
              </a:ext>
            </a:extLst>
          </p:cNvPr>
          <p:cNvSpPr txBox="1"/>
          <p:nvPr/>
        </p:nvSpPr>
        <p:spPr>
          <a:xfrm>
            <a:off x="6362700" y="3838576"/>
            <a:ext cx="215265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Deterministic, versioned rules
Explainable JSON; no OpenAI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64BE06-D07A-39EA-FB6E-07E27BCF8CED}"/>
              </a:ext>
            </a:extLst>
          </p:cNvPr>
          <p:cNvSpPr/>
          <p:nvPr/>
        </p:nvSpPr>
        <p:spPr>
          <a:xfrm>
            <a:off x="3238500" y="4524374"/>
            <a:ext cx="1952625" cy="1655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DF9DDE-EBFA-50F2-A47C-2C70DA2D16B1}"/>
              </a:ext>
            </a:extLst>
          </p:cNvPr>
          <p:cNvSpPr txBox="1"/>
          <p:nvPr/>
        </p:nvSpPr>
        <p:spPr>
          <a:xfrm>
            <a:off x="3409950" y="4676775"/>
            <a:ext cx="1628775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Voice / Profile Service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C4230-EE80-5406-E406-145C2B7261E4}"/>
              </a:ext>
            </a:extLst>
          </p:cNvPr>
          <p:cNvSpPr txBox="1"/>
          <p:nvPr/>
        </p:nvSpPr>
        <p:spPr>
          <a:xfrm>
            <a:off x="3409950" y="5230773"/>
            <a:ext cx="1628775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dirty="0">
                <a:solidFill>
                  <a:srgbClr val="17243A"/>
                </a:solidFill>
                <a:latin typeface="Aptos" panose="020B0004020202020204" pitchFamily="34" charset="0"/>
              </a:rPr>
              <a:t>Transcription and NLP
Schema-constrained suggestions
Bounded command proposals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FEB278-90D0-6CF7-F7D0-D408A62C41ED}"/>
              </a:ext>
            </a:extLst>
          </p:cNvPr>
          <p:cNvSpPr/>
          <p:nvPr/>
        </p:nvSpPr>
        <p:spPr>
          <a:xfrm>
            <a:off x="6191250" y="4524374"/>
            <a:ext cx="2476500" cy="113645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B14B1-F68C-2A70-24BB-DB6B0EB31E6B}"/>
              </a:ext>
            </a:extLst>
          </p:cNvPr>
          <p:cNvSpPr txBox="1"/>
          <p:nvPr/>
        </p:nvSpPr>
        <p:spPr>
          <a:xfrm>
            <a:off x="6362700" y="4676775"/>
            <a:ext cx="21526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OpenAI API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633FF-7096-7D31-9FBA-FE40C8EC5C27}"/>
              </a:ext>
            </a:extLst>
          </p:cNvPr>
          <p:cNvSpPr txBox="1"/>
          <p:nvPr/>
        </p:nvSpPr>
        <p:spPr>
          <a:xfrm>
            <a:off x="6362700" y="5076826"/>
            <a:ext cx="215265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17243A"/>
                </a:solidFill>
                <a:latin typeface="Aptos" panose="020B0004020202020204" pitchFamily="34" charset="0"/>
              </a:rPr>
              <a:t>External provider
No database authority
Replaceable adapter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C8F09A-A897-090D-6095-9EC4A9D21FC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62238" y="3467844"/>
            <a:ext cx="242637" cy="18306"/>
          </a:xfrm>
          <a:prstGeom prst="line">
            <a:avLst/>
          </a:prstGeom>
          <a:ln w="29210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50D8C2-D405-4E4C-234E-C214331589F2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476500" y="2997845"/>
            <a:ext cx="747712" cy="240655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6BA0BB-4994-95D2-7BE9-A5A335A87A75}"/>
              </a:ext>
            </a:extLst>
          </p:cNvPr>
          <p:cNvSpPr txBox="1"/>
          <p:nvPr/>
        </p:nvSpPr>
        <p:spPr>
          <a:xfrm>
            <a:off x="2628900" y="3254722"/>
            <a:ext cx="457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1565D8"/>
                </a:solidFill>
                <a:latin typeface="Aptos" panose="020B0004020202020204" pitchFamily="34" charset="0"/>
              </a:rPr>
              <a:t>JWT API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EEA38B4-90AA-895F-3FBB-F734CCA169C3}"/>
              </a:ext>
            </a:extLst>
          </p:cNvPr>
          <p:cNvCxnSpPr/>
          <p:nvPr/>
        </p:nvCxnSpPr>
        <p:spPr>
          <a:xfrm flipV="1">
            <a:off x="5191125" y="2590800"/>
            <a:ext cx="1000125" cy="28575"/>
          </a:xfrm>
          <a:prstGeom prst="line">
            <a:avLst/>
          </a:prstGeom>
          <a:ln w="29210">
            <a:solidFill>
              <a:srgbClr val="157A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D07B0EE-6C79-3F88-D579-2F6BFF6933BD}"/>
              </a:ext>
            </a:extLst>
          </p:cNvPr>
          <p:cNvSpPr txBox="1"/>
          <p:nvPr/>
        </p:nvSpPr>
        <p:spPr>
          <a:xfrm>
            <a:off x="5238750" y="2263541"/>
            <a:ext cx="933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157A55"/>
                </a:solidFill>
                <a:latin typeface="Aptos" panose="020B0004020202020204" pitchFamily="34" charset="0"/>
              </a:rPr>
              <a:t>Doctrine + storage adapter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318305-E49B-345F-66C1-A991281C7B25}"/>
              </a:ext>
            </a:extLst>
          </p:cNvPr>
          <p:cNvCxnSpPr/>
          <p:nvPr/>
        </p:nvCxnSpPr>
        <p:spPr>
          <a:xfrm>
            <a:off x="5191125" y="3714750"/>
            <a:ext cx="1000125" cy="47625"/>
          </a:xfrm>
          <a:prstGeom prst="line">
            <a:avLst/>
          </a:prstGeom>
          <a:ln w="29210">
            <a:solidFill>
              <a:srgbClr val="C27A1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9019115-0147-8DFC-A323-0294ECBF951B}"/>
              </a:ext>
            </a:extLst>
          </p:cNvPr>
          <p:cNvSpPr txBox="1"/>
          <p:nvPr/>
        </p:nvSpPr>
        <p:spPr>
          <a:xfrm>
            <a:off x="5391150" y="3446502"/>
            <a:ext cx="63817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C27A19"/>
                </a:solidFill>
                <a:latin typeface="Aptos" panose="020B0004020202020204" pitchFamily="34" charset="0"/>
              </a:rPr>
              <a:t>Service token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20C0BE-1EEC-4BD4-A96B-516FFE9B8E7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191000" y="3997970"/>
            <a:ext cx="9525" cy="526405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31D5560-E034-EE92-35F6-9A75479DC7F6}"/>
              </a:ext>
            </a:extLst>
          </p:cNvPr>
          <p:cNvSpPr txBox="1"/>
          <p:nvPr/>
        </p:nvSpPr>
        <p:spPr>
          <a:xfrm>
            <a:off x="4305300" y="4132817"/>
            <a:ext cx="117157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rgbClr val="563A4B"/>
                </a:solidFill>
                <a:latin typeface="Aptos" panose="020B0004020202020204" pitchFamily="34" charset="0"/>
              </a:rPr>
              <a:t>Protected profile suggestions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F3AB07F-26A0-9CB8-4D6E-487DBC14637C}"/>
              </a:ext>
            </a:extLst>
          </p:cNvPr>
          <p:cNvCxnSpPr/>
          <p:nvPr/>
        </p:nvCxnSpPr>
        <p:spPr>
          <a:xfrm>
            <a:off x="2476500" y="4191000"/>
            <a:ext cx="762000" cy="828675"/>
          </a:xfrm>
          <a:prstGeom prst="line">
            <a:avLst/>
          </a:prstGeom>
          <a:ln w="29210">
            <a:solidFill>
              <a:srgbClr val="563A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52E6E8-D274-AE6D-78F6-3E41FD810140}"/>
              </a:ext>
            </a:extLst>
          </p:cNvPr>
          <p:cNvSpPr txBox="1"/>
          <p:nvPr/>
        </p:nvSpPr>
        <p:spPr>
          <a:xfrm>
            <a:off x="2190750" y="4683442"/>
            <a:ext cx="876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563A4B"/>
                </a:solidFill>
                <a:latin typeface="Aptos" panose="020B0004020202020204" pitchFamily="34" charset="0"/>
              </a:rPr>
              <a:t>Audio + navigation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1C1CBE-7368-AEBF-9D0F-C13AF30D09A7}"/>
              </a:ext>
            </a:extLst>
          </p:cNvPr>
          <p:cNvCxnSpPr/>
          <p:nvPr/>
        </p:nvCxnSpPr>
        <p:spPr>
          <a:xfrm flipV="1">
            <a:off x="5191125" y="5019675"/>
            <a:ext cx="1000125" cy="28575"/>
          </a:xfrm>
          <a:prstGeom prst="line">
            <a:avLst/>
          </a:prstGeom>
          <a:ln w="29210">
            <a:solidFill>
              <a:srgbClr val="1565D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7A6AB61-4580-CD28-3702-6781FCE4AE5F}"/>
              </a:ext>
            </a:extLst>
          </p:cNvPr>
          <p:cNvSpPr txBox="1"/>
          <p:nvPr/>
        </p:nvSpPr>
        <p:spPr>
          <a:xfrm>
            <a:off x="5414962" y="4738300"/>
            <a:ext cx="5524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1565D8"/>
                </a:solidFill>
                <a:latin typeface="Aptos" panose="020B0004020202020204" pitchFamily="34" charset="0"/>
              </a:rPr>
              <a:t>Provider API</a:t>
            </a:r>
          </a:p>
        </p:txBody>
      </p:sp>
      <p:sp>
        <p:nvSpPr>
          <p:cNvPr id="52" name="Native footer code">
            <a:extLst>
              <a:ext uri="{FF2B5EF4-FFF2-40B4-BE49-F238E27FC236}">
                <a16:creationId xmlns:a16="http://schemas.microsoft.com/office/drawing/2014/main" id="{3CDBA158-8478-8132-7940-F6FB40C9656B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53" name="Native footer title">
            <a:extLst>
              <a:ext uri="{FF2B5EF4-FFF2-40B4-BE49-F238E27FC236}">
                <a16:creationId xmlns:a16="http://schemas.microsoft.com/office/drawing/2014/main" id="{495780DE-5EB2-6AC0-8177-B952FFF433BF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54" name="Native slide number">
            <a:extLst>
              <a:ext uri="{FF2B5EF4-FFF2-40B4-BE49-F238E27FC236}">
                <a16:creationId xmlns:a16="http://schemas.microsoft.com/office/drawing/2014/main" id="{251B3654-2AA7-9B55-ABBD-438186B4A2EB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2803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473798-B3D6-C7EE-D2D4-D1E558D86CE0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DESIGN AND ARCHITECTURE | DETAILED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089D8-90AF-9DD4-4066-815D6888DDE7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Design decisions control complexity and sensitive data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A71516-7FBB-08D2-3441-B99F665A8790}"/>
              </a:ext>
            </a:extLst>
          </p:cNvPr>
          <p:cNvSpPr/>
          <p:nvPr/>
        </p:nvSpPr>
        <p:spPr>
          <a:xfrm>
            <a:off x="400050" y="1800225"/>
            <a:ext cx="3905250" cy="11620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CBB7BD-94C3-076A-E5A2-2A7ED3103A05}"/>
              </a:ext>
            </a:extLst>
          </p:cNvPr>
          <p:cNvSpPr txBox="1"/>
          <p:nvPr/>
        </p:nvSpPr>
        <p:spPr>
          <a:xfrm>
            <a:off x="609600" y="1952626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Layered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D9864-D3D6-EDBB-A265-00F68F75521C}"/>
              </a:ext>
            </a:extLst>
          </p:cNvPr>
          <p:cNvSpPr txBox="1"/>
          <p:nvPr/>
        </p:nvSpPr>
        <p:spPr>
          <a:xfrm>
            <a:off x="609600" y="2324101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Controller - service - repository
Low coupling and cohesive change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F82C43-A4DB-A3BA-EDD3-29E0FDCCD788}"/>
              </a:ext>
            </a:extLst>
          </p:cNvPr>
          <p:cNvSpPr/>
          <p:nvPr/>
        </p:nvSpPr>
        <p:spPr>
          <a:xfrm>
            <a:off x="4838700" y="1800225"/>
            <a:ext cx="3905250" cy="116205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0BCE1-DD7F-F4AF-A999-346B07CA6D54}"/>
              </a:ext>
            </a:extLst>
          </p:cNvPr>
          <p:cNvSpPr txBox="1"/>
          <p:nvPr/>
        </p:nvSpPr>
        <p:spPr>
          <a:xfrm>
            <a:off x="5048250" y="1952626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Adapters + policy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87C80-CE2B-8A28-DB3A-79C3A39E8F14}"/>
              </a:ext>
            </a:extLst>
          </p:cNvPr>
          <p:cNvSpPr txBox="1"/>
          <p:nvPr/>
        </p:nvSpPr>
        <p:spPr>
          <a:xfrm>
            <a:off x="5048250" y="2324101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Replaceable OpenAI boundary
Versioned deterministic scoring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3D75F1-5E7E-115A-827B-375E8778F64C}"/>
              </a:ext>
            </a:extLst>
          </p:cNvPr>
          <p:cNvSpPr/>
          <p:nvPr/>
        </p:nvSpPr>
        <p:spPr>
          <a:xfrm>
            <a:off x="400050" y="3228975"/>
            <a:ext cx="3905250" cy="11620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123B7-F397-4163-6CBB-129E4C8727A1}"/>
              </a:ext>
            </a:extLst>
          </p:cNvPr>
          <p:cNvSpPr txBox="1"/>
          <p:nvPr/>
        </p:nvSpPr>
        <p:spPr>
          <a:xfrm>
            <a:off x="609600" y="3381376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Command registry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02E6F2-9959-9677-7684-9BF13334905E}"/>
              </a:ext>
            </a:extLst>
          </p:cNvPr>
          <p:cNvSpPr txBox="1"/>
          <p:nvPr/>
        </p:nvSpPr>
        <p:spPr>
          <a:xfrm>
            <a:off x="609600" y="3752851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Allowlisted voice actions
Role and page authorization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DCD2A1-41DB-0336-B8ED-F8F8A26612DA}"/>
              </a:ext>
            </a:extLst>
          </p:cNvPr>
          <p:cNvSpPr/>
          <p:nvPr/>
        </p:nvSpPr>
        <p:spPr>
          <a:xfrm>
            <a:off x="4838700" y="3228975"/>
            <a:ext cx="3905250" cy="11620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A3AA45-160A-FC5F-2433-5E9B2882208D}"/>
              </a:ext>
            </a:extLst>
          </p:cNvPr>
          <p:cNvSpPr txBox="1"/>
          <p:nvPr/>
        </p:nvSpPr>
        <p:spPr>
          <a:xfrm>
            <a:off x="5048250" y="3381376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Privacy + audit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D010B-3EEF-6DB5-A962-9EE699264214}"/>
              </a:ext>
            </a:extLst>
          </p:cNvPr>
          <p:cNvSpPr txBox="1"/>
          <p:nvPr/>
        </p:nvSpPr>
        <p:spPr>
          <a:xfrm>
            <a:off x="5048250" y="3752851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Private document storage
Consent, retention and snapshots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D14433-F462-6053-A765-00C220BBE215}"/>
              </a:ext>
            </a:extLst>
          </p:cNvPr>
          <p:cNvSpPr txBox="1"/>
          <p:nvPr/>
        </p:nvSpPr>
        <p:spPr>
          <a:xfrm>
            <a:off x="952500" y="5191126"/>
            <a:ext cx="7239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Evidence: 51/51 route probes passed; one oversized-upload defect remains recorded.</a:t>
            </a:r>
          </a:p>
        </p:txBody>
      </p:sp>
      <p:sp>
        <p:nvSpPr>
          <p:cNvPr id="38" name="Native footer code">
            <a:extLst>
              <a:ext uri="{FF2B5EF4-FFF2-40B4-BE49-F238E27FC236}">
                <a16:creationId xmlns:a16="http://schemas.microsoft.com/office/drawing/2014/main" id="{4527760E-FF1A-D33A-42C6-F2BFDB617673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9" name="Native footer title">
            <a:extLst>
              <a:ext uri="{FF2B5EF4-FFF2-40B4-BE49-F238E27FC236}">
                <a16:creationId xmlns:a16="http://schemas.microsoft.com/office/drawing/2014/main" id="{A5C41569-4E7D-B571-35FF-62BBFC985A51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0" name="Native slide number">
            <a:extLst>
              <a:ext uri="{FF2B5EF4-FFF2-40B4-BE49-F238E27FC236}">
                <a16:creationId xmlns:a16="http://schemas.microsoft.com/office/drawing/2014/main" id="{71C6D350-EC67-7189-D45D-980C5833C91E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708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1A2BE93-9FB1-16F5-9E03-946DCE30847A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IMPLEMENTATION AND CLOUD DEPLOYMENT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8D67A-B56C-E72C-2C19-8884E6186021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Implemented services running on shared cloud staging</a:t>
            </a:r>
          </a:p>
        </p:txBody>
      </p:sp>
      <p:pic>
        <p:nvPicPr>
          <p:cNvPr id="22" name="Picture 21" descr="Render Blueprint showing deployed frontend, API, scoring, and voice profile services">
            <a:extLst>
              <a:ext uri="{FF2B5EF4-FFF2-40B4-BE49-F238E27FC236}">
                <a16:creationId xmlns:a16="http://schemas.microsoft.com/office/drawing/2014/main" id="{A454D539-BA66-5A23-5142-DDA28CF73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26" y="1308872"/>
            <a:ext cx="5323520" cy="2163808"/>
          </a:xfrm>
          <a:prstGeom prst="rect">
            <a:avLst/>
          </a:prstGeom>
        </p:spPr>
      </p:pic>
      <p:pic>
        <p:nvPicPr>
          <p:cNvPr id="25" name="Picture 24" descr="Supabase storage showing purpose-specific buckets and upload controls">
            <a:extLst>
              <a:ext uri="{FF2B5EF4-FFF2-40B4-BE49-F238E27FC236}">
                <a16:creationId xmlns:a16="http://schemas.microsoft.com/office/drawing/2014/main" id="{FD808FF2-855B-FE61-000E-5070A33DA0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3632547"/>
            <a:ext cx="5338846" cy="273629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1C517-48F4-9546-9BFD-9E0C55C7330F}"/>
              </a:ext>
            </a:extLst>
          </p:cNvPr>
          <p:cNvSpPr txBox="1"/>
          <p:nvPr/>
        </p:nvSpPr>
        <p:spPr>
          <a:xfrm>
            <a:off x="5457825" y="1751097"/>
            <a:ext cx="390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8A29B-6A57-96A5-8124-258226B4A2E1}"/>
              </a:ext>
            </a:extLst>
          </p:cNvPr>
          <p:cNvSpPr txBox="1"/>
          <p:nvPr/>
        </p:nvSpPr>
        <p:spPr>
          <a:xfrm>
            <a:off x="5638800" y="2036847"/>
            <a:ext cx="3467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dirty="0">
                <a:solidFill>
                  <a:srgbClr val="17243A"/>
                </a:solidFill>
                <a:latin typeface="Aptos" panose="020B0004020202020204" pitchFamily="34" charset="0"/>
              </a:rPr>
              <a:t>React static site | Symfony API | scoring | voice/profile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1F731-C185-07AA-2BFB-FCCBF7CAEDF6}"/>
              </a:ext>
            </a:extLst>
          </p:cNvPr>
          <p:cNvSpPr txBox="1"/>
          <p:nvPr/>
        </p:nvSpPr>
        <p:spPr>
          <a:xfrm>
            <a:off x="5503946" y="3997907"/>
            <a:ext cx="390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b="1" dirty="0" err="1">
                <a:solidFill>
                  <a:srgbClr val="0B1F49"/>
                </a:solidFill>
                <a:latin typeface="Aptos Display" panose="020B0004020202020204" pitchFamily="34" charset="0"/>
              </a:rPr>
              <a:t>Supabase</a:t>
            </a:r>
            <a:r>
              <a:rPr lang="en-US" sz="1500" b="1" dirty="0">
                <a:solidFill>
                  <a:srgbClr val="0B1F49"/>
                </a:solidFill>
                <a:latin typeface="Aptos Display" panose="020B0004020202020204" pitchFamily="34" charset="0"/>
              </a:rPr>
              <a:t> data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C651A-DFF1-A2FD-7D21-3F2DAC31E227}"/>
              </a:ext>
            </a:extLst>
          </p:cNvPr>
          <p:cNvSpPr txBox="1"/>
          <p:nvPr/>
        </p:nvSpPr>
        <p:spPr>
          <a:xfrm>
            <a:off x="5723021" y="4363267"/>
            <a:ext cx="3467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dirty="0">
                <a:solidFill>
                  <a:srgbClr val="17243A"/>
                </a:solidFill>
                <a:latin typeface="Aptos" panose="020B0004020202020204" pitchFamily="34" charset="0"/>
              </a:rPr>
              <a:t>PostgreSQL | private evidence | public employer logos</a:t>
            </a:r>
          </a:p>
        </p:txBody>
      </p:sp>
      <p:sp>
        <p:nvSpPr>
          <p:cNvPr id="24" name="Native footer code">
            <a:extLst>
              <a:ext uri="{FF2B5EF4-FFF2-40B4-BE49-F238E27FC236}">
                <a16:creationId xmlns:a16="http://schemas.microsoft.com/office/drawing/2014/main" id="{247EF275-6AA4-6444-6693-2867709C26F0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0" name="Native footer title">
            <a:extLst>
              <a:ext uri="{FF2B5EF4-FFF2-40B4-BE49-F238E27FC236}">
                <a16:creationId xmlns:a16="http://schemas.microsoft.com/office/drawing/2014/main" id="{5C558831-83B2-0CEF-350C-E0047FBFFBB2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1" name="Native slide number">
            <a:extLst>
              <a:ext uri="{FF2B5EF4-FFF2-40B4-BE49-F238E27FC236}">
                <a16:creationId xmlns:a16="http://schemas.microsoft.com/office/drawing/2014/main" id="{63220214-639C-139D-1D97-5348A2B0383A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5504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D7A9CA-E6E5-156B-8732-7EFB718DF80E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22763-0BF6-EAB3-3957-C350B566D294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AI-assisted profile: multilingual, advisory and reversible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CC4999-C5E9-554C-986C-3E520456F77E}"/>
              </a:ext>
            </a:extLst>
          </p:cNvPr>
          <p:cNvSpPr/>
          <p:nvPr/>
        </p:nvSpPr>
        <p:spPr>
          <a:xfrm>
            <a:off x="400050" y="1819274"/>
            <a:ext cx="1381125" cy="1142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019C9-CF7C-64E7-B9E0-C6043827823B}"/>
              </a:ext>
            </a:extLst>
          </p:cNvPr>
          <p:cNvSpPr txBox="1"/>
          <p:nvPr/>
        </p:nvSpPr>
        <p:spPr>
          <a:xfrm>
            <a:off x="495300" y="20002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A08D8-EA40-013D-DD5D-A18F30AF5D6B}"/>
              </a:ext>
            </a:extLst>
          </p:cNvPr>
          <p:cNvSpPr txBox="1"/>
          <p:nvPr/>
        </p:nvSpPr>
        <p:spPr>
          <a:xfrm>
            <a:off x="495300" y="23431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Type or speak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D16AA4-2FD2-D5A3-1A2A-69E3E2B8D4E6}"/>
              </a:ext>
            </a:extLst>
          </p:cNvPr>
          <p:cNvCxnSpPr/>
          <p:nvPr/>
        </p:nvCxnSpPr>
        <p:spPr>
          <a:xfrm>
            <a:off x="1819275" y="232410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2B7199-528A-0FB5-FB72-9524C33ABDCB}"/>
              </a:ext>
            </a:extLst>
          </p:cNvPr>
          <p:cNvSpPr/>
          <p:nvPr/>
        </p:nvSpPr>
        <p:spPr>
          <a:xfrm>
            <a:off x="2076450" y="1819275"/>
            <a:ext cx="1381125" cy="114299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FBE9A-658A-07E2-617D-7884A0A06B91}"/>
              </a:ext>
            </a:extLst>
          </p:cNvPr>
          <p:cNvSpPr txBox="1"/>
          <p:nvPr/>
        </p:nvSpPr>
        <p:spPr>
          <a:xfrm>
            <a:off x="2171700" y="20002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ED45FC-F08B-D33F-E763-90C7864A6A98}"/>
              </a:ext>
            </a:extLst>
          </p:cNvPr>
          <p:cNvSpPr txBox="1"/>
          <p:nvPr/>
        </p:nvSpPr>
        <p:spPr>
          <a:xfrm>
            <a:off x="2171700" y="23431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dirty="0">
                <a:solidFill>
                  <a:srgbClr val="17243A"/>
                </a:solidFill>
                <a:latin typeface="Aptos" panose="020B0004020202020204" pitchFamily="34" charset="0"/>
              </a:rPr>
              <a:t>Correct transcript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B0AA9-8A43-622C-D0C8-29F67A8FC9C5}"/>
              </a:ext>
            </a:extLst>
          </p:cNvPr>
          <p:cNvCxnSpPr/>
          <p:nvPr/>
        </p:nvCxnSpPr>
        <p:spPr>
          <a:xfrm>
            <a:off x="3495675" y="232410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2FE579-FEC5-D31D-5852-0447BD4555A8}"/>
              </a:ext>
            </a:extLst>
          </p:cNvPr>
          <p:cNvSpPr/>
          <p:nvPr/>
        </p:nvSpPr>
        <p:spPr>
          <a:xfrm>
            <a:off x="3752850" y="1819274"/>
            <a:ext cx="1381125" cy="114299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8DA0C3-4176-DC49-003F-8349389AB7D0}"/>
              </a:ext>
            </a:extLst>
          </p:cNvPr>
          <p:cNvSpPr txBox="1"/>
          <p:nvPr/>
        </p:nvSpPr>
        <p:spPr>
          <a:xfrm>
            <a:off x="3848100" y="20002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C90432-6204-63F7-908B-DB16230B2BC7}"/>
              </a:ext>
            </a:extLst>
          </p:cNvPr>
          <p:cNvSpPr txBox="1"/>
          <p:nvPr/>
        </p:nvSpPr>
        <p:spPr>
          <a:xfrm>
            <a:off x="3848100" y="23431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dirty="0">
                <a:solidFill>
                  <a:srgbClr val="17243A"/>
                </a:solidFill>
                <a:latin typeface="Aptos" panose="020B0004020202020204" pitchFamily="34" charset="0"/>
              </a:rPr>
              <a:t>Approve AI use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6D2A79-C015-65CF-A324-0D6B328218E5}"/>
              </a:ext>
            </a:extLst>
          </p:cNvPr>
          <p:cNvCxnSpPr/>
          <p:nvPr/>
        </p:nvCxnSpPr>
        <p:spPr>
          <a:xfrm>
            <a:off x="5172075" y="232410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84B90-670C-41E0-ED1C-CC477D3C65C2}"/>
              </a:ext>
            </a:extLst>
          </p:cNvPr>
          <p:cNvSpPr/>
          <p:nvPr/>
        </p:nvSpPr>
        <p:spPr>
          <a:xfrm>
            <a:off x="5429250" y="1819274"/>
            <a:ext cx="1381125" cy="114299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D3998-E50E-2CCC-E74A-AB5151DA9049}"/>
              </a:ext>
            </a:extLst>
          </p:cNvPr>
          <p:cNvSpPr txBox="1"/>
          <p:nvPr/>
        </p:nvSpPr>
        <p:spPr>
          <a:xfrm>
            <a:off x="5524500" y="20002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B88A1-590A-E694-CECD-7D866570B738}"/>
              </a:ext>
            </a:extLst>
          </p:cNvPr>
          <p:cNvSpPr txBox="1"/>
          <p:nvPr/>
        </p:nvSpPr>
        <p:spPr>
          <a:xfrm>
            <a:off x="5524500" y="23431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Select or reject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9007CE-709C-5983-73AD-3F449CBC987F}"/>
              </a:ext>
            </a:extLst>
          </p:cNvPr>
          <p:cNvCxnSpPr/>
          <p:nvPr/>
        </p:nvCxnSpPr>
        <p:spPr>
          <a:xfrm>
            <a:off x="6848475" y="2324100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4511E9-8491-38A3-184C-278422CF07DF}"/>
              </a:ext>
            </a:extLst>
          </p:cNvPr>
          <p:cNvSpPr/>
          <p:nvPr/>
        </p:nvSpPr>
        <p:spPr>
          <a:xfrm>
            <a:off x="7105650" y="1819275"/>
            <a:ext cx="1381125" cy="114299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60B54C-D7EF-94F4-1B85-107A560AF5D5}"/>
              </a:ext>
            </a:extLst>
          </p:cNvPr>
          <p:cNvSpPr txBox="1"/>
          <p:nvPr/>
        </p:nvSpPr>
        <p:spPr>
          <a:xfrm>
            <a:off x="7200900" y="20002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1A085B-942C-AF49-ECB6-8134D73D287F}"/>
              </a:ext>
            </a:extLst>
          </p:cNvPr>
          <p:cNvSpPr txBox="1"/>
          <p:nvPr/>
        </p:nvSpPr>
        <p:spPr>
          <a:xfrm>
            <a:off x="7200900" y="2343151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Backend saves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282393B-8DEA-61F5-E018-94B253B40A98}"/>
              </a:ext>
            </a:extLst>
          </p:cNvPr>
          <p:cNvSpPr/>
          <p:nvPr/>
        </p:nvSpPr>
        <p:spPr>
          <a:xfrm>
            <a:off x="2381250" y="5038724"/>
            <a:ext cx="4381500" cy="720391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E913C8-9797-839E-754B-2CDDF0FB63C7}"/>
              </a:ext>
            </a:extLst>
          </p:cNvPr>
          <p:cNvSpPr txBox="1"/>
          <p:nvPr/>
        </p:nvSpPr>
        <p:spPr>
          <a:xfrm>
            <a:off x="2571750" y="5095876"/>
            <a:ext cx="4000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 panose="020B0004020202020204" pitchFamily="34" charset="0"/>
              </a:rPr>
              <a:t>53/60 passed | 7 extraction defects retained | no automatic persistence</a:t>
            </a:r>
          </a:p>
        </p:txBody>
      </p:sp>
      <p:sp>
        <p:nvSpPr>
          <p:cNvPr id="48" name="Native footer code">
            <a:extLst>
              <a:ext uri="{FF2B5EF4-FFF2-40B4-BE49-F238E27FC236}">
                <a16:creationId xmlns:a16="http://schemas.microsoft.com/office/drawing/2014/main" id="{14D4B063-4FEB-DB4A-076C-694081547F83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51" name="Native footer title">
            <a:extLst>
              <a:ext uri="{FF2B5EF4-FFF2-40B4-BE49-F238E27FC236}">
                <a16:creationId xmlns:a16="http://schemas.microsoft.com/office/drawing/2014/main" id="{D597235C-C5CE-9B3A-264B-31B768D959B8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55" name="Native slide number">
            <a:extLst>
              <a:ext uri="{FF2B5EF4-FFF2-40B4-BE49-F238E27FC236}">
                <a16:creationId xmlns:a16="http://schemas.microsoft.com/office/drawing/2014/main" id="{1A870B73-4AA4-8A2F-3522-B6D0030719CB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6516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FCA3ADA-07FA-2882-70D9-38D08E51DF71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IMPLEMENTATION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A5E1F-7508-4E1B-E601-BDC9E35FFE77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100" b="1">
                <a:solidFill>
                  <a:srgbClr val="0B1F49"/>
                </a:solidFill>
                <a:latin typeface="Arial" panose="020B0604020202020204" pitchFamily="34" charset="0"/>
              </a:rPr>
              <a:t>Voice navigation: flexible understanding, restricted execution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0F52E8-92A5-5E4C-D1D3-7F1472849002}"/>
              </a:ext>
            </a:extLst>
          </p:cNvPr>
          <p:cNvSpPr/>
          <p:nvPr/>
        </p:nvSpPr>
        <p:spPr>
          <a:xfrm>
            <a:off x="457200" y="1610977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B91A6-5592-539B-70F6-20168B967DC1}"/>
              </a:ext>
            </a:extLst>
          </p:cNvPr>
          <p:cNvSpPr txBox="1"/>
          <p:nvPr/>
        </p:nvSpPr>
        <p:spPr>
          <a:xfrm>
            <a:off x="552450" y="17919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3063A-F466-3D8F-AC23-E8766E5C8F26}"/>
              </a:ext>
            </a:extLst>
          </p:cNvPr>
          <p:cNvSpPr txBox="1"/>
          <p:nvPr/>
        </p:nvSpPr>
        <p:spPr>
          <a:xfrm>
            <a:off x="552450" y="21348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Bounded audio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447EC-DBC1-654A-AF8E-769E3E15AD9C}"/>
              </a:ext>
            </a:extLst>
          </p:cNvPr>
          <p:cNvCxnSpPr/>
          <p:nvPr/>
        </p:nvCxnSpPr>
        <p:spPr>
          <a:xfrm>
            <a:off x="1876425" y="2144377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AAD66D-1ECB-5A61-B45B-35F5C1980C0C}"/>
              </a:ext>
            </a:extLst>
          </p:cNvPr>
          <p:cNvSpPr/>
          <p:nvPr/>
        </p:nvSpPr>
        <p:spPr>
          <a:xfrm>
            <a:off x="2133600" y="1610977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CAB01-CF1D-424B-6A2B-FB222F610F6C}"/>
              </a:ext>
            </a:extLst>
          </p:cNvPr>
          <p:cNvSpPr txBox="1"/>
          <p:nvPr/>
        </p:nvSpPr>
        <p:spPr>
          <a:xfrm>
            <a:off x="2228850" y="17919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184A0-398A-8147-B43A-67618B0F663A}"/>
              </a:ext>
            </a:extLst>
          </p:cNvPr>
          <p:cNvSpPr txBox="1"/>
          <p:nvPr/>
        </p:nvSpPr>
        <p:spPr>
          <a:xfrm>
            <a:off x="2228850" y="21348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Editable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FC5904-9AAD-E030-54E9-3B2B38802C3D}"/>
              </a:ext>
            </a:extLst>
          </p:cNvPr>
          <p:cNvCxnSpPr/>
          <p:nvPr/>
        </p:nvCxnSpPr>
        <p:spPr>
          <a:xfrm>
            <a:off x="3552825" y="2144377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5A240B-FFE7-203D-463C-CEAA97E76C21}"/>
              </a:ext>
            </a:extLst>
          </p:cNvPr>
          <p:cNvSpPr/>
          <p:nvPr/>
        </p:nvSpPr>
        <p:spPr>
          <a:xfrm>
            <a:off x="3810000" y="1610977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2CB172-E32D-C318-0A92-C3F92452B37C}"/>
              </a:ext>
            </a:extLst>
          </p:cNvPr>
          <p:cNvSpPr txBox="1"/>
          <p:nvPr/>
        </p:nvSpPr>
        <p:spPr>
          <a:xfrm>
            <a:off x="3905250" y="17919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C2555-47EE-3111-7E6B-9E8345109C98}"/>
              </a:ext>
            </a:extLst>
          </p:cNvPr>
          <p:cNvSpPr txBox="1"/>
          <p:nvPr/>
        </p:nvSpPr>
        <p:spPr>
          <a:xfrm>
            <a:off x="3905250" y="21348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Schema output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06578F-9B19-B29A-4A47-4D7722890053}"/>
              </a:ext>
            </a:extLst>
          </p:cNvPr>
          <p:cNvCxnSpPr/>
          <p:nvPr/>
        </p:nvCxnSpPr>
        <p:spPr>
          <a:xfrm>
            <a:off x="5229225" y="2144377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4954CA-B568-E5E8-6EEF-CAC5C9D7264C}"/>
              </a:ext>
            </a:extLst>
          </p:cNvPr>
          <p:cNvSpPr/>
          <p:nvPr/>
        </p:nvSpPr>
        <p:spPr>
          <a:xfrm>
            <a:off x="5486400" y="1610977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80146-A528-1BED-2B3D-81C419F17EFD}"/>
              </a:ext>
            </a:extLst>
          </p:cNvPr>
          <p:cNvSpPr txBox="1"/>
          <p:nvPr/>
        </p:nvSpPr>
        <p:spPr>
          <a:xfrm>
            <a:off x="5581650" y="17919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6F383-3A2F-C15F-37A4-EDCEB1820884}"/>
              </a:ext>
            </a:extLst>
          </p:cNvPr>
          <p:cNvSpPr txBox="1"/>
          <p:nvPr/>
        </p:nvSpPr>
        <p:spPr>
          <a:xfrm>
            <a:off x="5581650" y="21348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Role + page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9C0975-F746-03E6-9B45-36C4507B97E8}"/>
              </a:ext>
            </a:extLst>
          </p:cNvPr>
          <p:cNvCxnSpPr/>
          <p:nvPr/>
        </p:nvCxnSpPr>
        <p:spPr>
          <a:xfrm>
            <a:off x="6905625" y="2144377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20B8EAD-8D62-B18F-FF99-AB258233FEA2}"/>
              </a:ext>
            </a:extLst>
          </p:cNvPr>
          <p:cNvSpPr/>
          <p:nvPr/>
        </p:nvSpPr>
        <p:spPr>
          <a:xfrm>
            <a:off x="7162800" y="1610977"/>
            <a:ext cx="1381125" cy="1066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8ACB9-2FC7-CFB3-788C-116585C54DD9}"/>
              </a:ext>
            </a:extLst>
          </p:cNvPr>
          <p:cNvSpPr txBox="1"/>
          <p:nvPr/>
        </p:nvSpPr>
        <p:spPr>
          <a:xfrm>
            <a:off x="7258050" y="17919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E1898F-3B8E-EAA1-53FB-4283A94379F2}"/>
              </a:ext>
            </a:extLst>
          </p:cNvPr>
          <p:cNvSpPr txBox="1"/>
          <p:nvPr/>
        </p:nvSpPr>
        <p:spPr>
          <a:xfrm>
            <a:off x="7258050" y="2134853"/>
            <a:ext cx="1190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Fixed React action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F5E944-3A3C-47D9-CD42-4098FFC257B0}"/>
              </a:ext>
            </a:extLst>
          </p:cNvPr>
          <p:cNvSpPr/>
          <p:nvPr/>
        </p:nvSpPr>
        <p:spPr>
          <a:xfrm>
            <a:off x="457200" y="3144169"/>
            <a:ext cx="3905250" cy="1734764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053FE7-CEA6-D552-5AA1-5DC80924C961}"/>
              </a:ext>
            </a:extLst>
          </p:cNvPr>
          <p:cNvSpPr txBox="1"/>
          <p:nvPr/>
        </p:nvSpPr>
        <p:spPr>
          <a:xfrm>
            <a:off x="666750" y="3296570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4ACFD5-D453-C18C-2C2B-E85D3862A50C}"/>
              </a:ext>
            </a:extLst>
          </p:cNvPr>
          <p:cNvSpPr txBox="1"/>
          <p:nvPr/>
        </p:nvSpPr>
        <p:spPr>
          <a:xfrm>
            <a:off x="666750" y="3668045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Unknown routes and cross-role actions are rejected. Submission and reset require confirmation.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1BBF08-3A42-0AC5-9AF0-91B1D2EDEB73}"/>
              </a:ext>
            </a:extLst>
          </p:cNvPr>
          <p:cNvSpPr/>
          <p:nvPr/>
        </p:nvSpPr>
        <p:spPr>
          <a:xfrm>
            <a:off x="4895850" y="3144169"/>
            <a:ext cx="3905250" cy="1715714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1ABB77-9061-995B-0FF9-4AA3273130C0}"/>
              </a:ext>
            </a:extLst>
          </p:cNvPr>
          <p:cNvSpPr txBox="1"/>
          <p:nvPr/>
        </p:nvSpPr>
        <p:spPr>
          <a:xfrm>
            <a:off x="5105400" y="3296570"/>
            <a:ext cx="3543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Evidence and limits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96F8A1-B5DB-A07A-8E82-D9C67AC6A108}"/>
              </a:ext>
            </a:extLst>
          </p:cNvPr>
          <p:cNvSpPr txBox="1"/>
          <p:nvPr/>
        </p:nvSpPr>
        <p:spPr>
          <a:xfrm>
            <a:off x="5105400" y="3668045"/>
            <a:ext cx="3524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dirty="0">
                <a:solidFill>
                  <a:srgbClr val="17243A"/>
                </a:solidFill>
                <a:latin typeface="Aptos" panose="020B0004020202020204" pitchFamily="34" charset="0"/>
              </a:rPr>
              <a:t>57/57 registry checks passed. Noise and dictated email characters can still require correction.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2AC923-B248-B019-BE7F-B94CF4D176CA}"/>
              </a:ext>
            </a:extLst>
          </p:cNvPr>
          <p:cNvSpPr txBox="1"/>
          <p:nvPr/>
        </p:nvSpPr>
        <p:spPr>
          <a:xfrm>
            <a:off x="2000250" y="5705476"/>
            <a:ext cx="5143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 dirty="0">
                <a:solidFill>
                  <a:srgbClr val="0B1F49"/>
                </a:solidFill>
                <a:latin typeface="Aptos" panose="020B0004020202020204" pitchFamily="34" charset="0"/>
              </a:rPr>
              <a:t>Every voice operation keeps a keyboard and mouse equivalent.</a:t>
            </a:r>
          </a:p>
        </p:txBody>
      </p:sp>
      <p:sp>
        <p:nvSpPr>
          <p:cNvPr id="54" name="Native footer code">
            <a:extLst>
              <a:ext uri="{FF2B5EF4-FFF2-40B4-BE49-F238E27FC236}">
                <a16:creationId xmlns:a16="http://schemas.microsoft.com/office/drawing/2014/main" id="{8341D44C-4372-250C-9E1B-61BD08A89F47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55" name="Native footer title">
            <a:extLst>
              <a:ext uri="{FF2B5EF4-FFF2-40B4-BE49-F238E27FC236}">
                <a16:creationId xmlns:a16="http://schemas.microsoft.com/office/drawing/2014/main" id="{FB12F4CE-6B20-09DB-9DE7-8B8424932005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56" name="Native slide number">
            <a:extLst>
              <a:ext uri="{FF2B5EF4-FFF2-40B4-BE49-F238E27FC236}">
                <a16:creationId xmlns:a16="http://schemas.microsoft.com/office/drawing/2014/main" id="{0AB0EE6E-E763-ED8C-C5BF-59E8A757E1D8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551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CA85A17-7A98-C37E-6C2D-793EECD18756}"/>
              </a:ext>
            </a:extLst>
          </p:cNvPr>
          <p:cNvSpPr txBox="1"/>
          <p:nvPr/>
        </p:nvSpPr>
        <p:spPr>
          <a:xfrm>
            <a:off x="457200" y="609599"/>
            <a:ext cx="6972300" cy="12223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SOFTWARE DESIGN AND ARCHITECTURE | DECISION 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82643-8D44-8119-073C-20286F53B7AA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Deterministic compatibility is explainable by construction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C33F68-E9DA-4DBE-1DEE-C3DC2AD4C5BF}"/>
              </a:ext>
            </a:extLst>
          </p:cNvPr>
          <p:cNvSpPr/>
          <p:nvPr/>
        </p:nvSpPr>
        <p:spPr>
          <a:xfrm>
            <a:off x="400050" y="2045368"/>
            <a:ext cx="4429125" cy="2907632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5E548-355C-E0D4-E0E8-A633FB088B8B}"/>
              </a:ext>
            </a:extLst>
          </p:cNvPr>
          <p:cNvSpPr txBox="1"/>
          <p:nvPr/>
        </p:nvSpPr>
        <p:spPr>
          <a:xfrm>
            <a:off x="685800" y="2266261"/>
            <a:ext cx="38576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FFFFFF"/>
                </a:solidFill>
                <a:latin typeface="Aptos Display" panose="020B0004020202020204" pitchFamily="34" charset="0"/>
              </a:rPr>
              <a:t>Compatibility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4820D-3D0A-16E2-35D4-7B7C9C26A410}"/>
              </a:ext>
            </a:extLst>
          </p:cNvPr>
          <p:cNvSpPr txBox="1"/>
          <p:nvPr/>
        </p:nvSpPr>
        <p:spPr>
          <a:xfrm>
            <a:off x="685800" y="2752036"/>
            <a:ext cx="3762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295BD-C7C6-A0B7-4C35-94AE662252D0}"/>
              </a:ext>
            </a:extLst>
          </p:cNvPr>
          <p:cNvCxnSpPr/>
          <p:nvPr/>
        </p:nvCxnSpPr>
        <p:spPr>
          <a:xfrm>
            <a:off x="876300" y="3085410"/>
            <a:ext cx="3476625" cy="0"/>
          </a:xfrm>
          <a:prstGeom prst="line">
            <a:avLst/>
          </a:prstGeom>
          <a:ln w="1905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8F8CD4-F9A6-A3B1-72BE-1D9CFD9F3F16}"/>
              </a:ext>
            </a:extLst>
          </p:cNvPr>
          <p:cNvSpPr txBox="1"/>
          <p:nvPr/>
        </p:nvSpPr>
        <p:spPr>
          <a:xfrm>
            <a:off x="685800" y="3176752"/>
            <a:ext cx="3762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Sum(adjusted weight) x 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77DB8-A273-5762-6D8C-AF064ABD6EC3}"/>
              </a:ext>
            </a:extLst>
          </p:cNvPr>
          <p:cNvSpPr txBox="1"/>
          <p:nvPr/>
        </p:nvSpPr>
        <p:spPr>
          <a:xfrm>
            <a:off x="742950" y="3656911"/>
            <a:ext cx="3714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DDE7F5"/>
                </a:solidFill>
                <a:latin typeface="Aptos" panose="020B0004020202020204" pitchFamily="34" charset="0"/>
              </a:rPr>
              <a:t>1.00 feasible
0.75 feasible with offered assistance
0.00 avoid; unsafe mandatory tasks remain gates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5EFFA9-4E03-52FA-85B0-51039A15A23E}"/>
              </a:ext>
            </a:extLst>
          </p:cNvPr>
          <p:cNvSpPr/>
          <p:nvPr/>
        </p:nvSpPr>
        <p:spPr>
          <a:xfrm>
            <a:off x="3076575" y="5317958"/>
            <a:ext cx="2762250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D1D7A-53C1-A43B-388A-157D94588F6F}"/>
              </a:ext>
            </a:extLst>
          </p:cNvPr>
          <p:cNvSpPr txBox="1"/>
          <p:nvPr/>
        </p:nvSpPr>
        <p:spPr>
          <a:xfrm>
            <a:off x="3248025" y="5413209"/>
            <a:ext cx="2476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19EB6-C639-0227-E5D1-61F76D6DF814}"/>
              </a:ext>
            </a:extLst>
          </p:cNvPr>
          <p:cNvSpPr txBox="1"/>
          <p:nvPr/>
        </p:nvSpPr>
        <p:spPr>
          <a:xfrm>
            <a:off x="3248025" y="5775159"/>
            <a:ext cx="24574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scoring cases passed</a:t>
            </a:r>
          </a:p>
        </p:txBody>
      </p:sp>
      <p:sp>
        <p:nvSpPr>
          <p:cNvPr id="33" name="Native footer code">
            <a:extLst>
              <a:ext uri="{FF2B5EF4-FFF2-40B4-BE49-F238E27FC236}">
                <a16:creationId xmlns:a16="http://schemas.microsoft.com/office/drawing/2014/main" id="{28A315C1-9D56-9A78-38C8-8FB532DFB722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4" name="Native footer title">
            <a:extLst>
              <a:ext uri="{FF2B5EF4-FFF2-40B4-BE49-F238E27FC236}">
                <a16:creationId xmlns:a16="http://schemas.microsoft.com/office/drawing/2014/main" id="{F3BDA07E-CE9C-7FC9-FA93-E66CA64A42F5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5" name="Native slide number">
            <a:extLst>
              <a:ext uri="{FF2B5EF4-FFF2-40B4-BE49-F238E27FC236}">
                <a16:creationId xmlns:a16="http://schemas.microsoft.com/office/drawing/2014/main" id="{5BE8B448-E7B9-D27E-4FDC-5F37B8C12450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457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EC5254-3D4B-B9B5-FA7F-D5BB484E4105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A64B2A"/>
                </a:solidFill>
                <a:latin typeface="Arial" panose="020B0604020202020204" pitchFamily="34" charset="0"/>
              </a:rPr>
              <a:t>IMPLEMENTATION | INTEGRATED 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261EA-72AA-9389-95A9-1BCA48674A10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From controlled opportunity to auditable outcome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C344A3-2374-9238-91A2-686A520FB390}"/>
              </a:ext>
            </a:extLst>
          </p:cNvPr>
          <p:cNvSpPr/>
          <p:nvPr/>
        </p:nvSpPr>
        <p:spPr>
          <a:xfrm>
            <a:off x="40005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1CF496-C2D4-53C0-7EFF-F9DA2199E96D}"/>
              </a:ext>
            </a:extLst>
          </p:cNvPr>
          <p:cNvSpPr/>
          <p:nvPr/>
        </p:nvSpPr>
        <p:spPr>
          <a:xfrm>
            <a:off x="400050" y="2524125"/>
            <a:ext cx="1666875" cy="66675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7738A-C9FE-D205-03B3-B8B7D371FC5F}"/>
              </a:ext>
            </a:extLst>
          </p:cNvPr>
          <p:cNvSpPr txBox="1"/>
          <p:nvPr/>
        </p:nvSpPr>
        <p:spPr>
          <a:xfrm>
            <a:off x="49530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Employer defines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3505B-AEB0-3095-051C-5A47588B98D3}"/>
              </a:ext>
            </a:extLst>
          </p:cNvPr>
          <p:cNvSpPr txBox="1"/>
          <p:nvPr/>
        </p:nvSpPr>
        <p:spPr>
          <a:xfrm>
            <a:off x="49530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Role, tasks, support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9E1CDB-5AF0-9ED0-6B74-207A14C56AA0}"/>
              </a:ext>
            </a:extLst>
          </p:cNvPr>
          <p:cNvCxnSpPr/>
          <p:nvPr/>
        </p:nvCxnSpPr>
        <p:spPr>
          <a:xfrm>
            <a:off x="210502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C63020-61E2-7EB5-13B6-4380E6A08E57}"/>
              </a:ext>
            </a:extLst>
          </p:cNvPr>
          <p:cNvSpPr/>
          <p:nvPr/>
        </p:nvSpPr>
        <p:spPr>
          <a:xfrm>
            <a:off x="247650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6F405E-AC7C-6D77-3DB1-BC2561AD7EF5}"/>
              </a:ext>
            </a:extLst>
          </p:cNvPr>
          <p:cNvSpPr/>
          <p:nvPr/>
        </p:nvSpPr>
        <p:spPr>
          <a:xfrm>
            <a:off x="2476500" y="2524125"/>
            <a:ext cx="1666875" cy="66675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AAFE-8188-222F-712E-EBB4A2F10A24}"/>
              </a:ext>
            </a:extLst>
          </p:cNvPr>
          <p:cNvSpPr txBox="1"/>
          <p:nvPr/>
        </p:nvSpPr>
        <p:spPr>
          <a:xfrm>
            <a:off x="257175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Candidate explores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C8400-0B11-BF9B-93B0-ED45B9A7EA87}"/>
              </a:ext>
            </a:extLst>
          </p:cNvPr>
          <p:cNvSpPr txBox="1"/>
          <p:nvPr/>
        </p:nvSpPr>
        <p:spPr>
          <a:xfrm>
            <a:off x="257175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Jobs, training or both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1C3C16-9467-4AC3-5A3A-F9DD401FA22E}"/>
              </a:ext>
            </a:extLst>
          </p:cNvPr>
          <p:cNvCxnSpPr/>
          <p:nvPr/>
        </p:nvCxnSpPr>
        <p:spPr>
          <a:xfrm>
            <a:off x="418147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BF83FFF-07F9-C8B8-F90B-966B962B44AF}"/>
              </a:ext>
            </a:extLst>
          </p:cNvPr>
          <p:cNvSpPr/>
          <p:nvPr/>
        </p:nvSpPr>
        <p:spPr>
          <a:xfrm>
            <a:off x="455295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121132-4130-B9EA-17AC-84D507F3466D}"/>
              </a:ext>
            </a:extLst>
          </p:cNvPr>
          <p:cNvSpPr/>
          <p:nvPr/>
        </p:nvSpPr>
        <p:spPr>
          <a:xfrm>
            <a:off x="4552950" y="2524125"/>
            <a:ext cx="1666875" cy="66675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4ACD4-5A42-2000-6E58-027736EA1F1A}"/>
              </a:ext>
            </a:extLst>
          </p:cNvPr>
          <p:cNvSpPr txBox="1"/>
          <p:nvPr/>
        </p:nvSpPr>
        <p:spPr>
          <a:xfrm>
            <a:off x="464820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System explains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3CFC31-E8CF-42BB-F302-1490205C5B29}"/>
              </a:ext>
            </a:extLst>
          </p:cNvPr>
          <p:cNvSpPr txBox="1"/>
          <p:nvPr/>
        </p:nvSpPr>
        <p:spPr>
          <a:xfrm>
            <a:off x="464820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Compatibility + gates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A7B99A7-C01C-9137-3459-6ED7FD46D618}"/>
              </a:ext>
            </a:extLst>
          </p:cNvPr>
          <p:cNvCxnSpPr/>
          <p:nvPr/>
        </p:nvCxnSpPr>
        <p:spPr>
          <a:xfrm>
            <a:off x="6257925" y="3152775"/>
            <a:ext cx="1905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EF9D98-A6EF-4A41-754E-9484EB40B1D4}"/>
              </a:ext>
            </a:extLst>
          </p:cNvPr>
          <p:cNvSpPr/>
          <p:nvPr/>
        </p:nvSpPr>
        <p:spPr>
          <a:xfrm>
            <a:off x="6629400" y="2524125"/>
            <a:ext cx="1666875" cy="12573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3B5587-D11E-B20F-11E7-645B30120AE4}"/>
              </a:ext>
            </a:extLst>
          </p:cNvPr>
          <p:cNvSpPr/>
          <p:nvPr/>
        </p:nvSpPr>
        <p:spPr>
          <a:xfrm>
            <a:off x="6629400" y="2524125"/>
            <a:ext cx="1666875" cy="66675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BA9EA-8DF1-3022-0AAE-D5A326A536C4}"/>
              </a:ext>
            </a:extLst>
          </p:cNvPr>
          <p:cNvSpPr txBox="1"/>
          <p:nvPr/>
        </p:nvSpPr>
        <p:spPr>
          <a:xfrm>
            <a:off x="6724650" y="27051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 Display" panose="020B0004020202020204" pitchFamily="34" charset="0"/>
              </a:rPr>
              <a:t>Humans decide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7D56A-3A38-10CD-DE6B-911F967EF903}"/>
              </a:ext>
            </a:extLst>
          </p:cNvPr>
          <p:cNvSpPr txBox="1"/>
          <p:nvPr/>
        </p:nvSpPr>
        <p:spPr>
          <a:xfrm>
            <a:off x="6724650" y="3048001"/>
            <a:ext cx="1476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Application + outcome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23933B2-8F6B-3C92-8C13-39C59B5DEA15}"/>
              </a:ext>
            </a:extLst>
          </p:cNvPr>
          <p:cNvSpPr/>
          <p:nvPr/>
        </p:nvSpPr>
        <p:spPr>
          <a:xfrm>
            <a:off x="2476500" y="4076700"/>
            <a:ext cx="4191000" cy="11239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41" name="Picture 40" descr="Employer job or training requirements and workplace assistance screen">
            <a:extLst>
              <a:ext uri="{FF2B5EF4-FFF2-40B4-BE49-F238E27FC236}">
                <a16:creationId xmlns:a16="http://schemas.microsoft.com/office/drawing/2014/main" id="{0FBBB287-20EB-D6B9-92E9-DC84999CC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114800"/>
            <a:ext cx="1676400" cy="104775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3DC8DB5-7759-B20C-9FC3-43D8B4529093}"/>
              </a:ext>
            </a:extLst>
          </p:cNvPr>
          <p:cNvSpPr txBox="1"/>
          <p:nvPr/>
        </p:nvSpPr>
        <p:spPr>
          <a:xfrm>
            <a:off x="1666875" y="5267326"/>
            <a:ext cx="581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Audit snapshot preserves score context and status history.</a:t>
            </a:r>
          </a:p>
        </p:txBody>
      </p:sp>
      <p:sp>
        <p:nvSpPr>
          <p:cNvPr id="43" name="Native footer code">
            <a:extLst>
              <a:ext uri="{FF2B5EF4-FFF2-40B4-BE49-F238E27FC236}">
                <a16:creationId xmlns:a16="http://schemas.microsoft.com/office/drawing/2014/main" id="{7B22B8CD-8ECD-C53F-8401-9081BA3D17D1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44" name="Native footer title">
            <a:extLst>
              <a:ext uri="{FF2B5EF4-FFF2-40B4-BE49-F238E27FC236}">
                <a16:creationId xmlns:a16="http://schemas.microsoft.com/office/drawing/2014/main" id="{7F866F0F-EFDA-3ADD-0F6A-3AD420723A7E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5" name="Native slide number">
            <a:extLst>
              <a:ext uri="{FF2B5EF4-FFF2-40B4-BE49-F238E27FC236}">
                <a16:creationId xmlns:a16="http://schemas.microsoft.com/office/drawing/2014/main" id="{87400E16-BCBB-29BF-0DAB-84FD1187FE06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0128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516BDB-D4A4-43EC-B0AE-EFAA67517E4C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A64B2A"/>
                </a:solidFill>
                <a:latin typeface="Arial" panose="020B0604020202020204" pitchFamily="34" charset="0"/>
              </a:rPr>
              <a:t>PROJECT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5A2A3-4E82-DF6E-DDB1-820CE3FD7BD5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Iterative delivery from definition to 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F409-FC8B-1D64-9E5F-4DBB3B78EF66}"/>
              </a:ext>
            </a:extLst>
          </p:cNvPr>
          <p:cNvSpPr txBox="1"/>
          <p:nvPr/>
        </p:nvSpPr>
        <p:spPr>
          <a:xfrm>
            <a:off x="333374" y="2551800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 dirty="0">
                <a:solidFill>
                  <a:srgbClr val="5D6B80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0502DC-2979-9428-8E2D-0E2C49196EB4}"/>
              </a:ext>
            </a:extLst>
          </p:cNvPr>
          <p:cNvSpPr/>
          <p:nvPr/>
        </p:nvSpPr>
        <p:spPr>
          <a:xfrm>
            <a:off x="1285875" y="2381250"/>
            <a:ext cx="2714625" cy="5524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286CDD-8B12-4635-8EB9-CA103B7BDE35}"/>
              </a:ext>
            </a:extLst>
          </p:cNvPr>
          <p:cNvSpPr txBox="1"/>
          <p:nvPr/>
        </p:nvSpPr>
        <p:spPr>
          <a:xfrm>
            <a:off x="1419225" y="2447926"/>
            <a:ext cx="24479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Discover + define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7A6D5-0FEE-68AC-81C4-0C9D58104B58}"/>
              </a:ext>
            </a:extLst>
          </p:cNvPr>
          <p:cNvSpPr txBox="1"/>
          <p:nvPr/>
        </p:nvSpPr>
        <p:spPr>
          <a:xfrm>
            <a:off x="1419225" y="2676526"/>
            <a:ext cx="24479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Needs, stakeholders, FR / NFR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06272-9FD1-EDF0-4C7D-BE3EA78C3DCF}"/>
              </a:ext>
            </a:extLst>
          </p:cNvPr>
          <p:cNvSpPr txBox="1"/>
          <p:nvPr/>
        </p:nvSpPr>
        <p:spPr>
          <a:xfrm>
            <a:off x="333374" y="3219449"/>
            <a:ext cx="762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 dirty="0">
                <a:solidFill>
                  <a:srgbClr val="5D6B80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669CC5-4474-0913-6599-D5113801ED04}"/>
              </a:ext>
            </a:extLst>
          </p:cNvPr>
          <p:cNvSpPr/>
          <p:nvPr/>
        </p:nvSpPr>
        <p:spPr>
          <a:xfrm>
            <a:off x="2381250" y="3028950"/>
            <a:ext cx="2857500" cy="5524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F963D-8FAA-1A6C-D9EC-3DA3DD6096F5}"/>
              </a:ext>
            </a:extLst>
          </p:cNvPr>
          <p:cNvSpPr txBox="1"/>
          <p:nvPr/>
        </p:nvSpPr>
        <p:spPr>
          <a:xfrm>
            <a:off x="2514600" y="3095626"/>
            <a:ext cx="2590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D2CC3-E31C-C2B1-EA7A-939E68A1AD98}"/>
              </a:ext>
            </a:extLst>
          </p:cNvPr>
          <p:cNvSpPr txBox="1"/>
          <p:nvPr/>
        </p:nvSpPr>
        <p:spPr>
          <a:xfrm>
            <a:off x="2514600" y="3324226"/>
            <a:ext cx="2590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Alternatives, UML / C4, prototype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37659-73FF-751D-1C72-AD19348A87A9}"/>
              </a:ext>
            </a:extLst>
          </p:cNvPr>
          <p:cNvSpPr txBox="1"/>
          <p:nvPr/>
        </p:nvSpPr>
        <p:spPr>
          <a:xfrm>
            <a:off x="333374" y="3834066"/>
            <a:ext cx="1019175" cy="19822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 dirty="0">
                <a:solidFill>
                  <a:srgbClr val="5D6B80"/>
                </a:solidFill>
                <a:latin typeface="Aptos" panose="020B0004020202020204" pitchFamily="34" charset="0"/>
              </a:rPr>
              <a:t>JUL-AUG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166D82-E931-3444-68B6-2B1EA1DA1E76}"/>
              </a:ext>
            </a:extLst>
          </p:cNvPr>
          <p:cNvSpPr/>
          <p:nvPr/>
        </p:nvSpPr>
        <p:spPr>
          <a:xfrm>
            <a:off x="3714750" y="3676650"/>
            <a:ext cx="3619500" cy="55245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7D421-E782-FDAB-074A-B035305A4248}"/>
              </a:ext>
            </a:extLst>
          </p:cNvPr>
          <p:cNvSpPr txBox="1"/>
          <p:nvPr/>
        </p:nvSpPr>
        <p:spPr>
          <a:xfrm>
            <a:off x="3848100" y="3743326"/>
            <a:ext cx="335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05FBE-3024-1C0D-8345-B39C07A2443E}"/>
              </a:ext>
            </a:extLst>
          </p:cNvPr>
          <p:cNvSpPr txBox="1"/>
          <p:nvPr/>
        </p:nvSpPr>
        <p:spPr>
          <a:xfrm>
            <a:off x="3848100" y="3971926"/>
            <a:ext cx="3352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800">
                <a:solidFill>
                  <a:srgbClr val="FFFFFF"/>
                </a:solidFill>
                <a:latin typeface="Aptos" panose="020B0004020202020204" pitchFamily="34" charset="0"/>
              </a:rPr>
              <a:t>Catalogue, backend, AI, voice, scoring</a:t>
            </a:r>
            <a:endParaRPr lang="en-US" sz="18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69CD5-E875-4AD1-EFF3-D7E63E074B15}"/>
              </a:ext>
            </a:extLst>
          </p:cNvPr>
          <p:cNvSpPr txBox="1"/>
          <p:nvPr/>
        </p:nvSpPr>
        <p:spPr>
          <a:xfrm>
            <a:off x="333374" y="4529138"/>
            <a:ext cx="1085850" cy="19822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 dirty="0">
                <a:solidFill>
                  <a:srgbClr val="5D6B80"/>
                </a:solidFill>
                <a:latin typeface="Aptos" panose="020B0004020202020204" pitchFamily="34" charset="0"/>
              </a:rPr>
              <a:t>AUG-SEP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7F8638-8B23-F134-4516-C1656AF891FC}"/>
              </a:ext>
            </a:extLst>
          </p:cNvPr>
          <p:cNvSpPr/>
          <p:nvPr/>
        </p:nvSpPr>
        <p:spPr>
          <a:xfrm>
            <a:off x="5476875" y="4324350"/>
            <a:ext cx="3267075" cy="5524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31A4A-EAB0-F906-43B0-4DF8DC7932F3}"/>
              </a:ext>
            </a:extLst>
          </p:cNvPr>
          <p:cNvSpPr txBox="1"/>
          <p:nvPr/>
        </p:nvSpPr>
        <p:spPr>
          <a:xfrm>
            <a:off x="5610225" y="4391026"/>
            <a:ext cx="3000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FFFFFF"/>
                </a:solidFill>
                <a:latin typeface="Aptos Display" panose="020B0004020202020204" pitchFamily="34" charset="0"/>
              </a:rPr>
              <a:t>Verify + deliver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CA9AD6-E98E-C30D-A363-2068A6DEF430}"/>
              </a:ext>
            </a:extLst>
          </p:cNvPr>
          <p:cNvSpPr txBox="1"/>
          <p:nvPr/>
        </p:nvSpPr>
        <p:spPr>
          <a:xfrm>
            <a:off x="5610225" y="4619626"/>
            <a:ext cx="3000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 panose="020B0004020202020204" pitchFamily="34" charset="0"/>
              </a:rPr>
              <a:t>Tests, users, staging, report, defence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8D0C7D-1D71-66CC-D489-8855F2BB953E}"/>
              </a:ext>
            </a:extLst>
          </p:cNvPr>
          <p:cNvCxnSpPr/>
          <p:nvPr/>
        </p:nvCxnSpPr>
        <p:spPr>
          <a:xfrm>
            <a:off x="400050" y="5010150"/>
            <a:ext cx="83439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4C824-E2C9-2032-D598-7883DBF5B505}"/>
              </a:ext>
            </a:extLst>
          </p:cNvPr>
          <p:cNvSpPr txBox="1"/>
          <p:nvPr/>
        </p:nvSpPr>
        <p:spPr>
          <a:xfrm>
            <a:off x="400049" y="5133976"/>
            <a:ext cx="1019175" cy="1696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 dirty="0">
                <a:solidFill>
                  <a:srgbClr val="A64B2A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3BEB9-79CE-B19D-FC91-2BF649FDC2EF}"/>
              </a:ext>
            </a:extLst>
          </p:cNvPr>
          <p:cNvSpPr txBox="1"/>
          <p:nvPr/>
        </p:nvSpPr>
        <p:spPr>
          <a:xfrm>
            <a:off x="1485900" y="5095876"/>
            <a:ext cx="75057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0B1F49"/>
                </a:solidFill>
                <a:latin typeface="Aptos" panose="020B0004020202020204" pitchFamily="34" charset="0"/>
              </a:rPr>
              <a:t>Focused Git commits | staging-deployment | </a:t>
            </a:r>
            <a:r>
              <a:rPr lang="en-US" sz="1600" b="1" dirty="0" err="1">
                <a:solidFill>
                  <a:srgbClr val="0B1F49"/>
                </a:solidFill>
                <a:latin typeface="Aptos" panose="020B0004020202020204" pitchFamily="34" charset="0"/>
              </a:rPr>
              <a:t>render.yaml</a:t>
            </a:r>
            <a:r>
              <a:rPr lang="en-US" sz="1600" b="1" dirty="0">
                <a:solidFill>
                  <a:srgbClr val="0B1F49"/>
                </a:solidFill>
                <a:latin typeface="Aptos" panose="020B0004020202020204" pitchFamily="34" charset="0"/>
              </a:rPr>
              <a:t> | requirement-to-test evidence | retained risks</a:t>
            </a:r>
          </a:p>
        </p:txBody>
      </p:sp>
      <p:sp>
        <p:nvSpPr>
          <p:cNvPr id="40" name="Native footer code">
            <a:extLst>
              <a:ext uri="{FF2B5EF4-FFF2-40B4-BE49-F238E27FC236}">
                <a16:creationId xmlns:a16="http://schemas.microsoft.com/office/drawing/2014/main" id="{766D16DB-88BB-862B-75AE-1789B912EA69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41" name="Native footer title">
            <a:extLst>
              <a:ext uri="{FF2B5EF4-FFF2-40B4-BE49-F238E27FC236}">
                <a16:creationId xmlns:a16="http://schemas.microsoft.com/office/drawing/2014/main" id="{E44A9A7F-12E8-5211-66B6-57CF0926FC24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42" name="Native slide number">
            <a:extLst>
              <a:ext uri="{FF2B5EF4-FFF2-40B4-BE49-F238E27FC236}">
                <a16:creationId xmlns:a16="http://schemas.microsoft.com/office/drawing/2014/main" id="{93968393-30EE-92AC-B713-954FCFE342D4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6207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2EBAA10-16B2-5928-8680-B79F79F49116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A64B2A"/>
                </a:solidFill>
                <a:latin typeface="Arial" panose="020B0604020202020204" pitchFamily="34" charset="0"/>
              </a:rPr>
              <a:t>TESTING, DEBUGGING AND PERFORMANCE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83349-AD2C-6221-C4E4-F674C8EB61DB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 dirty="0">
                <a:solidFill>
                  <a:srgbClr val="0B1F49"/>
                </a:solidFill>
                <a:latin typeface="Arial" panose="020B0604020202020204" pitchFamily="34" charset="0"/>
              </a:rPr>
              <a:t>Verification and validation across the lifecycle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376014-D72A-EE85-AA76-F38191C52DEB}"/>
              </a:ext>
            </a:extLst>
          </p:cNvPr>
          <p:cNvSpPr/>
          <p:nvPr/>
        </p:nvSpPr>
        <p:spPr>
          <a:xfrm>
            <a:off x="400050" y="4238625"/>
            <a:ext cx="83439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AE7D6-61D9-28FC-4C9E-A043A4C19EA0}"/>
              </a:ext>
            </a:extLst>
          </p:cNvPr>
          <p:cNvSpPr txBox="1"/>
          <p:nvPr/>
        </p:nvSpPr>
        <p:spPr>
          <a:xfrm>
            <a:off x="571500" y="4352926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Human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C91DC-F754-053C-9C78-AEB9AB8ECF2D}"/>
              </a:ext>
            </a:extLst>
          </p:cNvPr>
          <p:cNvSpPr txBox="1"/>
          <p:nvPr/>
        </p:nvSpPr>
        <p:spPr>
          <a:xfrm>
            <a:off x="2638425" y="4305301"/>
            <a:ext cx="59340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Arc en Ciel session | JAWS workflow | stakeholder observation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28AC51-4044-1216-D950-1D568E6C95F5}"/>
              </a:ext>
            </a:extLst>
          </p:cNvPr>
          <p:cNvSpPr/>
          <p:nvPr/>
        </p:nvSpPr>
        <p:spPr>
          <a:xfrm>
            <a:off x="952500" y="3638550"/>
            <a:ext cx="7239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EDDC77-4C63-31A7-3EC3-A937119A6B43}"/>
              </a:ext>
            </a:extLst>
          </p:cNvPr>
          <p:cNvSpPr txBox="1"/>
          <p:nvPr/>
        </p:nvSpPr>
        <p:spPr>
          <a:xfrm>
            <a:off x="1123950" y="3752851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A64B2A"/>
                </a:solidFill>
                <a:latin typeface="Aptos Display" panose="020B0004020202020204" pitchFamily="34" charset="0"/>
              </a:rPr>
              <a:t>System + staging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17BF9-E156-6203-1E4B-45C76AFEA8ED}"/>
              </a:ext>
            </a:extLst>
          </p:cNvPr>
          <p:cNvSpPr txBox="1"/>
          <p:nvPr/>
        </p:nvSpPr>
        <p:spPr>
          <a:xfrm>
            <a:off x="3190875" y="3705226"/>
            <a:ext cx="48291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Browser E2E | security routes | performance | deployed origins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7956C3-9994-FA0C-DB69-48580E2B2865}"/>
              </a:ext>
            </a:extLst>
          </p:cNvPr>
          <p:cNvSpPr/>
          <p:nvPr/>
        </p:nvSpPr>
        <p:spPr>
          <a:xfrm>
            <a:off x="1504950" y="3038475"/>
            <a:ext cx="61341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3CB82-DD00-1E92-F92C-C938F55CBE5C}"/>
              </a:ext>
            </a:extLst>
          </p:cNvPr>
          <p:cNvSpPr txBox="1"/>
          <p:nvPr/>
        </p:nvSpPr>
        <p:spPr>
          <a:xfrm>
            <a:off x="1676400" y="3152776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Service + 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B73CE-DA00-3596-25FC-28129504273D}"/>
              </a:ext>
            </a:extLst>
          </p:cNvPr>
          <p:cNvSpPr txBox="1"/>
          <p:nvPr/>
        </p:nvSpPr>
        <p:spPr>
          <a:xfrm>
            <a:off x="3743325" y="3105151"/>
            <a:ext cx="37242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API workflows | scoring oracles | voice registry | AI matrix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60C78-3493-3837-273E-B7784DC82436}"/>
              </a:ext>
            </a:extLst>
          </p:cNvPr>
          <p:cNvSpPr/>
          <p:nvPr/>
        </p:nvSpPr>
        <p:spPr>
          <a:xfrm>
            <a:off x="2057400" y="2438400"/>
            <a:ext cx="50292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0C11-EEBB-F108-939F-9F030CE6777A}"/>
              </a:ext>
            </a:extLst>
          </p:cNvPr>
          <p:cNvSpPr txBox="1"/>
          <p:nvPr/>
        </p:nvSpPr>
        <p:spPr>
          <a:xfrm>
            <a:off x="2228850" y="2552701"/>
            <a:ext cx="2000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Static + component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345E6-C212-231C-9874-CC63462C1EA7}"/>
              </a:ext>
            </a:extLst>
          </p:cNvPr>
          <p:cNvSpPr txBox="1"/>
          <p:nvPr/>
        </p:nvSpPr>
        <p:spPr>
          <a:xfrm>
            <a:off x="4295775" y="2505076"/>
            <a:ext cx="26193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17243A"/>
                </a:solidFill>
                <a:latin typeface="Aptos" panose="020B0004020202020204" pitchFamily="34" charset="0"/>
              </a:rPr>
              <a:t>Build, lint, syntax, schema and unit checks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92975-FC8C-EEDA-B288-3DDB8A2A511E}"/>
              </a:ext>
            </a:extLst>
          </p:cNvPr>
          <p:cNvSpPr txBox="1"/>
          <p:nvPr/>
        </p:nvSpPr>
        <p:spPr>
          <a:xfrm>
            <a:off x="714375" y="5057776"/>
            <a:ext cx="7715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Documentation: SRS -&gt; architecture -&gt; code/configuration -&gt; test register -&gt; evidence -&gt; operational limits</a:t>
            </a:r>
          </a:p>
        </p:txBody>
      </p:sp>
      <p:sp>
        <p:nvSpPr>
          <p:cNvPr id="34" name="Native footer code">
            <a:extLst>
              <a:ext uri="{FF2B5EF4-FFF2-40B4-BE49-F238E27FC236}">
                <a16:creationId xmlns:a16="http://schemas.microsoft.com/office/drawing/2014/main" id="{51C26352-51D3-0D71-A4A9-97B274199623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5" name="Native footer title">
            <a:extLst>
              <a:ext uri="{FF2B5EF4-FFF2-40B4-BE49-F238E27FC236}">
                <a16:creationId xmlns:a16="http://schemas.microsoft.com/office/drawing/2014/main" id="{A1E39EBD-1EA2-E5BC-EADA-6DE4098B774B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6" name="Native slide number">
            <a:extLst>
              <a:ext uri="{FF2B5EF4-FFF2-40B4-BE49-F238E27FC236}">
                <a16:creationId xmlns:a16="http://schemas.microsoft.com/office/drawing/2014/main" id="{090967B5-57DE-F596-F365-0EF81C414E70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85585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FB33C73-12B5-1629-3AAD-4C5147AD36FA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A64B2A"/>
                </a:solidFill>
                <a:latin typeface="Arial" panose="020B0604020202020204" pitchFamily="34" charset="0"/>
              </a:rPr>
              <a:t>TESTING, DEBUGGING AND PERFORMANCE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44772-1E19-F593-4A81-E5A060BB5D23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310 cases completed; findings remained visible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E5EB7-0B5E-87A0-E2F6-F529C68D439F}"/>
              </a:ext>
            </a:extLst>
          </p:cNvPr>
          <p:cNvSpPr txBox="1"/>
          <p:nvPr/>
        </p:nvSpPr>
        <p:spPr>
          <a:xfrm>
            <a:off x="457200" y="1409699"/>
            <a:ext cx="822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D6B80"/>
                </a:solidFill>
                <a:latin typeface="Arial" panose="020B0604020202020204" pitchFamily="34" charset="0"/>
              </a:rPr>
              <a:t>The campaign records corrections and retained limitations, not only passes.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010B17-55BB-F99D-93B5-69FA3E51B43C}"/>
              </a:ext>
            </a:extLst>
          </p:cNvPr>
          <p:cNvSpPr/>
          <p:nvPr/>
        </p:nvSpPr>
        <p:spPr>
          <a:xfrm>
            <a:off x="4000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20131F-409A-C9C8-BB15-CE9508AC5317}"/>
              </a:ext>
            </a:extLst>
          </p:cNvPr>
          <p:cNvSpPr/>
          <p:nvPr/>
        </p:nvSpPr>
        <p:spPr>
          <a:xfrm>
            <a:off x="400050" y="2362200"/>
            <a:ext cx="66675" cy="9525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BE384-8E52-449D-4200-A691B1072C11}"/>
              </a:ext>
            </a:extLst>
          </p:cNvPr>
          <p:cNvSpPr txBox="1"/>
          <p:nvPr/>
        </p:nvSpPr>
        <p:spPr>
          <a:xfrm>
            <a:off x="5715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8061-4104-4C5E-E45D-4D6D13506E60}"/>
              </a:ext>
            </a:extLst>
          </p:cNvPr>
          <p:cNvSpPr txBox="1"/>
          <p:nvPr/>
        </p:nvSpPr>
        <p:spPr>
          <a:xfrm>
            <a:off x="5715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BAAC31-557B-8137-76E4-EF1DEA65E576}"/>
              </a:ext>
            </a:extLst>
          </p:cNvPr>
          <p:cNvSpPr/>
          <p:nvPr/>
        </p:nvSpPr>
        <p:spPr>
          <a:xfrm>
            <a:off x="25336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162F6-5839-042E-27D0-D5BBE29FF083}"/>
              </a:ext>
            </a:extLst>
          </p:cNvPr>
          <p:cNvSpPr/>
          <p:nvPr/>
        </p:nvSpPr>
        <p:spPr>
          <a:xfrm>
            <a:off x="2533650" y="2362200"/>
            <a:ext cx="66675" cy="9525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8E4EB-8109-1CDD-A5CB-DBEE20AA7AC3}"/>
              </a:ext>
            </a:extLst>
          </p:cNvPr>
          <p:cNvSpPr txBox="1"/>
          <p:nvPr/>
        </p:nvSpPr>
        <p:spPr>
          <a:xfrm>
            <a:off x="27051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5812C-ACDE-F439-FFD7-4E50B57470D2}"/>
              </a:ext>
            </a:extLst>
          </p:cNvPr>
          <p:cNvSpPr txBox="1"/>
          <p:nvPr/>
        </p:nvSpPr>
        <p:spPr>
          <a:xfrm>
            <a:off x="27051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first-run passes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AE6DA8-B2A7-3B0F-E634-E4A2BF638765}"/>
              </a:ext>
            </a:extLst>
          </p:cNvPr>
          <p:cNvSpPr/>
          <p:nvPr/>
        </p:nvSpPr>
        <p:spPr>
          <a:xfrm>
            <a:off x="46672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E5DD3-9BB8-17EB-D2EA-EADCF0560962}"/>
              </a:ext>
            </a:extLst>
          </p:cNvPr>
          <p:cNvSpPr/>
          <p:nvPr/>
        </p:nvSpPr>
        <p:spPr>
          <a:xfrm>
            <a:off x="4667250" y="2362200"/>
            <a:ext cx="66675" cy="9525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AB47AE-C497-47FA-7957-C4A920BE294F}"/>
              </a:ext>
            </a:extLst>
          </p:cNvPr>
          <p:cNvSpPr txBox="1"/>
          <p:nvPr/>
        </p:nvSpPr>
        <p:spPr>
          <a:xfrm>
            <a:off x="48387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DC536-8AA1-D314-98DA-40B823081283}"/>
              </a:ext>
            </a:extLst>
          </p:cNvPr>
          <p:cNvSpPr txBox="1"/>
          <p:nvPr/>
        </p:nvSpPr>
        <p:spPr>
          <a:xfrm>
            <a:off x="48387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noisy partials corrected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6D71BE-2D8A-C505-5A61-10C7D4DFD172}"/>
              </a:ext>
            </a:extLst>
          </p:cNvPr>
          <p:cNvSpPr/>
          <p:nvPr/>
        </p:nvSpPr>
        <p:spPr>
          <a:xfrm>
            <a:off x="6800850" y="2362200"/>
            <a:ext cx="1952625" cy="952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0AED1-5803-444F-6CFA-E2AF1B283FD2}"/>
              </a:ext>
            </a:extLst>
          </p:cNvPr>
          <p:cNvSpPr/>
          <p:nvPr/>
        </p:nvSpPr>
        <p:spPr>
          <a:xfrm>
            <a:off x="6800850" y="2362200"/>
            <a:ext cx="66675" cy="9525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29EAE-E67F-C181-658D-2706816E584D}"/>
              </a:ext>
            </a:extLst>
          </p:cNvPr>
          <p:cNvSpPr txBox="1"/>
          <p:nvPr/>
        </p:nvSpPr>
        <p:spPr>
          <a:xfrm>
            <a:off x="6972300" y="2457451"/>
            <a:ext cx="166687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75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CBDAF-4FCC-8C6E-F0B4-4E1397FDEF64}"/>
              </a:ext>
            </a:extLst>
          </p:cNvPr>
          <p:cNvSpPr txBox="1"/>
          <p:nvPr/>
        </p:nvSpPr>
        <p:spPr>
          <a:xfrm>
            <a:off x="6972300" y="2819401"/>
            <a:ext cx="1647825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5D6B80"/>
                </a:solidFill>
                <a:latin typeface="Aptos" panose="020B0004020202020204" pitchFamily="34" charset="0"/>
              </a:rPr>
              <a:t>retained failures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F2CED7-E33D-5F4A-CE4A-A23946E2611C}"/>
              </a:ext>
            </a:extLst>
          </p:cNvPr>
          <p:cNvSpPr/>
          <p:nvPr/>
        </p:nvSpPr>
        <p:spPr>
          <a:xfrm>
            <a:off x="400050" y="3571875"/>
            <a:ext cx="2571750" cy="135255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40A2BB3-DDFC-26DA-C4C8-E514079E1E97}"/>
              </a:ext>
            </a:extLst>
          </p:cNvPr>
          <p:cNvSpPr/>
          <p:nvPr/>
        </p:nvSpPr>
        <p:spPr>
          <a:xfrm>
            <a:off x="400050" y="3571875"/>
            <a:ext cx="76200" cy="135255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AB834-0D6F-BDC3-2AEE-5E83AD4E85B5}"/>
              </a:ext>
            </a:extLst>
          </p:cNvPr>
          <p:cNvSpPr txBox="1"/>
          <p:nvPr/>
        </p:nvSpPr>
        <p:spPr>
          <a:xfrm>
            <a:off x="609600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5A9AB-969E-265A-7A33-152491DCF9ED}"/>
              </a:ext>
            </a:extLst>
          </p:cNvPr>
          <p:cNvSpPr txBox="1"/>
          <p:nvPr/>
        </p:nvSpPr>
        <p:spPr>
          <a:xfrm>
            <a:off x="609600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Profile contrast
200% zoom overflow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5C7DE3-9B14-049F-6E68-87324E13FA15}"/>
              </a:ext>
            </a:extLst>
          </p:cNvPr>
          <p:cNvSpPr/>
          <p:nvPr/>
        </p:nvSpPr>
        <p:spPr>
          <a:xfrm>
            <a:off x="3286125" y="3571875"/>
            <a:ext cx="2571750" cy="135255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CB517F-8391-C8C8-DD33-681F9F5F8005}"/>
              </a:ext>
            </a:extLst>
          </p:cNvPr>
          <p:cNvSpPr/>
          <p:nvPr/>
        </p:nvSpPr>
        <p:spPr>
          <a:xfrm>
            <a:off x="3286125" y="3571875"/>
            <a:ext cx="76200" cy="135255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52352F-24DB-4D06-7314-1A1A52B60DFB}"/>
              </a:ext>
            </a:extLst>
          </p:cNvPr>
          <p:cNvSpPr txBox="1"/>
          <p:nvPr/>
        </p:nvSpPr>
        <p:spPr>
          <a:xfrm>
            <a:off x="3495675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B2F336-06F8-35AB-9B9E-C40EC58A1763}"/>
              </a:ext>
            </a:extLst>
          </p:cNvPr>
          <p:cNvSpPr txBox="1"/>
          <p:nvPr/>
        </p:nvSpPr>
        <p:spPr>
          <a:xfrm>
            <a:off x="3495675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Oversized upload path
Both-preference omission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530F581-1A7E-83E7-9769-37C74B708E72}"/>
              </a:ext>
            </a:extLst>
          </p:cNvPr>
          <p:cNvSpPr/>
          <p:nvPr/>
        </p:nvSpPr>
        <p:spPr>
          <a:xfrm>
            <a:off x="6172200" y="3571875"/>
            <a:ext cx="2571750" cy="135255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5AD39B-8D39-EA45-5BC1-AA1BEFD993BD}"/>
              </a:ext>
            </a:extLst>
          </p:cNvPr>
          <p:cNvSpPr/>
          <p:nvPr/>
        </p:nvSpPr>
        <p:spPr>
          <a:xfrm>
            <a:off x="6172200" y="3571875"/>
            <a:ext cx="76200" cy="135255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94B82-8498-6568-300D-8CE376FA460D}"/>
              </a:ext>
            </a:extLst>
          </p:cNvPr>
          <p:cNvSpPr txBox="1"/>
          <p:nvPr/>
        </p:nvSpPr>
        <p:spPr>
          <a:xfrm>
            <a:off x="6381750" y="372427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Performance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4FAAD-4F3C-E3A6-F5D9-197A927E7240}"/>
              </a:ext>
            </a:extLst>
          </p:cNvPr>
          <p:cNvSpPr txBox="1"/>
          <p:nvPr/>
        </p:nvSpPr>
        <p:spPr>
          <a:xfrm>
            <a:off x="6381750" y="409575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Staging write p95
Free-tier latency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97FA4-FF99-6DB3-D371-D5C1E8C6EAC4}"/>
              </a:ext>
            </a:extLst>
          </p:cNvPr>
          <p:cNvSpPr txBox="1"/>
          <p:nvPr/>
        </p:nvSpPr>
        <p:spPr>
          <a:xfrm>
            <a:off x="1809750" y="5210176"/>
            <a:ext cx="55245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0B1F49"/>
                </a:solidFill>
                <a:latin typeface="Aptos" panose="020B0004020202020204" pitchFamily="34" charset="0"/>
              </a:rPr>
              <a:t>All 310 were executed; no case remained blocked or not run.</a:t>
            </a:r>
          </a:p>
        </p:txBody>
      </p:sp>
      <p:sp>
        <p:nvSpPr>
          <p:cNvPr id="50" name="Native footer code">
            <a:extLst>
              <a:ext uri="{FF2B5EF4-FFF2-40B4-BE49-F238E27FC236}">
                <a16:creationId xmlns:a16="http://schemas.microsoft.com/office/drawing/2014/main" id="{0F60B5F3-7C72-9941-E17E-01C455696B01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51" name="Native footer title">
            <a:extLst>
              <a:ext uri="{FF2B5EF4-FFF2-40B4-BE49-F238E27FC236}">
                <a16:creationId xmlns:a16="http://schemas.microsoft.com/office/drawing/2014/main" id="{CBD740FA-35FA-40C0-D52A-3CB6E59EB251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52" name="Native slide number">
            <a:extLst>
              <a:ext uri="{FF2B5EF4-FFF2-40B4-BE49-F238E27FC236}">
                <a16:creationId xmlns:a16="http://schemas.microsoft.com/office/drawing/2014/main" id="{137162B8-7C99-1F15-94BA-F46DFFE42C9C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421544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74A28A-0755-672E-81AB-02767FB92CEE}"/>
              </a:ext>
            </a:extLst>
          </p:cNvPr>
          <p:cNvSpPr txBox="1"/>
          <p:nvPr/>
        </p:nvSpPr>
        <p:spPr>
          <a:xfrm>
            <a:off x="457199" y="609599"/>
            <a:ext cx="7781925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TESTING, DEBUGGING AND PERFORMANCE EVALUATION | USER VALIDATION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015E-5A09-5265-4EC1-8E28220D91D8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The platform was evaluated with its intended users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ABBC-501A-7127-7E28-65844DD097A5}"/>
              </a:ext>
            </a:extLst>
          </p:cNvPr>
          <p:cNvSpPr txBox="1"/>
          <p:nvPr/>
        </p:nvSpPr>
        <p:spPr>
          <a:xfrm>
            <a:off x="514350" y="1886849"/>
            <a:ext cx="82296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 dirty="0">
                <a:solidFill>
                  <a:srgbClr val="5D6B80"/>
                </a:solidFill>
                <a:latin typeface="Arial" panose="020B0604020202020204" pitchFamily="34" charset="0"/>
              </a:rPr>
              <a:t>Human evidence supports tested users, not a universal accessibility claim.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4850D1-29D9-DF7D-D69C-2B6761C7EBA6}"/>
              </a:ext>
            </a:extLst>
          </p:cNvPr>
          <p:cNvSpPr/>
          <p:nvPr/>
        </p:nvSpPr>
        <p:spPr>
          <a:xfrm>
            <a:off x="400050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2" name="Picture 21" descr="Participant using the Arabic candidate profile during the Arc en Ciel session">
            <a:extLst>
              <a:ext uri="{FF2B5EF4-FFF2-40B4-BE49-F238E27FC236}">
                <a16:creationId xmlns:a16="http://schemas.microsoft.com/office/drawing/2014/main" id="{ECC37728-C287-BBAB-C077-1D2EC8D7B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8" y="2419350"/>
            <a:ext cx="1514475" cy="20193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80C92D-46C5-073C-702F-A4C59703F6AC}"/>
              </a:ext>
            </a:extLst>
          </p:cNvPr>
          <p:cNvSpPr/>
          <p:nvPr/>
        </p:nvSpPr>
        <p:spPr>
          <a:xfrm>
            <a:off x="3381375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5" name="Picture 24" descr="Arc en Ciel group session with twenty participants">
            <a:extLst>
              <a:ext uri="{FF2B5EF4-FFF2-40B4-BE49-F238E27FC236}">
                <a16:creationId xmlns:a16="http://schemas.microsoft.com/office/drawing/2014/main" id="{F641C62A-5790-16DA-6B3B-7C491BCB6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5" y="2564606"/>
            <a:ext cx="2305050" cy="1728788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3A9976-AB95-CA26-DF8F-646982E72D1F}"/>
              </a:ext>
            </a:extLst>
          </p:cNvPr>
          <p:cNvSpPr/>
          <p:nvPr/>
        </p:nvSpPr>
        <p:spPr>
          <a:xfrm>
            <a:off x="6362700" y="2381250"/>
            <a:ext cx="2381250" cy="2095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8" name="Picture 27" descr="Noelle Marie Gabrielle using JAWS on her adapted device">
            <a:extLst>
              <a:ext uri="{FF2B5EF4-FFF2-40B4-BE49-F238E27FC236}">
                <a16:creationId xmlns:a16="http://schemas.microsoft.com/office/drawing/2014/main" id="{1C6C965D-4D96-86B2-8E34-B8662B066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36" y="2419350"/>
            <a:ext cx="1224978" cy="20193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EDAB2FE-93C6-797A-0356-82B44301F952}"/>
              </a:ext>
            </a:extLst>
          </p:cNvPr>
          <p:cNvSpPr txBox="1"/>
          <p:nvPr/>
        </p:nvSpPr>
        <p:spPr>
          <a:xfrm>
            <a:off x="400050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1565D8"/>
                </a:solidFill>
                <a:latin typeface="Aptos Display" panose="020B0004020202020204" pitchFamily="34" charset="0"/>
              </a:rPr>
              <a:t>Arabic workflow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950C5F-53A9-BAE5-45C8-C56D1DF48EFE}"/>
              </a:ext>
            </a:extLst>
          </p:cNvPr>
          <p:cNvSpPr txBox="1"/>
          <p:nvPr/>
        </p:nvSpPr>
        <p:spPr>
          <a:xfrm>
            <a:off x="3381375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20-person session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6A4BE-DD18-5C56-5042-42254A8276D1}"/>
              </a:ext>
            </a:extLst>
          </p:cNvPr>
          <p:cNvSpPr txBox="1"/>
          <p:nvPr/>
        </p:nvSpPr>
        <p:spPr>
          <a:xfrm>
            <a:off x="6362700" y="4591051"/>
            <a:ext cx="2381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>
                <a:solidFill>
                  <a:srgbClr val="563A4B"/>
                </a:solidFill>
                <a:latin typeface="Aptos Display" panose="020B0004020202020204" pitchFamily="34" charset="0"/>
              </a:rPr>
              <a:t>JAWS workflow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1B2DD2-E785-5198-8FBC-567B20872E8E}"/>
              </a:ext>
            </a:extLst>
          </p:cNvPr>
          <p:cNvSpPr/>
          <p:nvPr/>
        </p:nvSpPr>
        <p:spPr>
          <a:xfrm>
            <a:off x="977064" y="5114025"/>
            <a:ext cx="7334250" cy="840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396A97-BEB0-EAB6-455B-091D2C1B649E}"/>
              </a:ext>
            </a:extLst>
          </p:cNvPr>
          <p:cNvSpPr txBox="1"/>
          <p:nvPr/>
        </p:nvSpPr>
        <p:spPr>
          <a:xfrm>
            <a:off x="1196139" y="5236348"/>
            <a:ext cx="68961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</a:rPr>
              <a:t>JAWS registration and application completed; open contrast and zoom findings remain reported.</a:t>
            </a:r>
          </a:p>
        </p:txBody>
      </p:sp>
      <p:sp>
        <p:nvSpPr>
          <p:cNvPr id="24" name="Native footer code">
            <a:extLst>
              <a:ext uri="{FF2B5EF4-FFF2-40B4-BE49-F238E27FC236}">
                <a16:creationId xmlns:a16="http://schemas.microsoft.com/office/drawing/2014/main" id="{63FAD31D-93E3-2728-401A-A506E3F9A35D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 dirty="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27" name="Native footer title">
            <a:extLst>
              <a:ext uri="{FF2B5EF4-FFF2-40B4-BE49-F238E27FC236}">
                <a16:creationId xmlns:a16="http://schemas.microsoft.com/office/drawing/2014/main" id="{4C425D48-32B0-9A93-E68D-F444AF33AC60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4" name="Native slide number">
            <a:extLst>
              <a:ext uri="{FF2B5EF4-FFF2-40B4-BE49-F238E27FC236}">
                <a16:creationId xmlns:a16="http://schemas.microsoft.com/office/drawing/2014/main" id="{5F894B52-27DA-104C-757D-7C8A05422EB4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79950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BC77610-8A1A-8848-AE48-D610BA9C34BF}"/>
              </a:ext>
            </a:extLst>
          </p:cNvPr>
          <p:cNvSpPr txBox="1"/>
          <p:nvPr/>
        </p:nvSpPr>
        <p:spPr>
          <a:xfrm>
            <a:off x="457200" y="609599"/>
            <a:ext cx="63500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A64B2A"/>
                </a:solidFill>
                <a:latin typeface="Arial" panose="020B0604020202020204" pitchFamily="34" charset="0"/>
              </a:rPr>
              <a:t>COST ESTIMATION, MAINTENANCE AND DOCUMENTATION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7A84A-6D88-3279-E2A6-EC5C98148398}"/>
              </a:ext>
            </a:extLst>
          </p:cNvPr>
          <p:cNvSpPr txBox="1"/>
          <p:nvPr/>
        </p:nvSpPr>
        <p:spPr>
          <a:xfrm>
            <a:off x="457200" y="888999"/>
            <a:ext cx="82296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0B1F49"/>
                </a:solidFill>
                <a:latin typeface="Arial" panose="020B0604020202020204" pitchFamily="34" charset="0"/>
              </a:rPr>
              <a:t>Measured constraints guide the next engineering cycle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E654A9-11DB-FDD8-1883-EBCABC654913}"/>
              </a:ext>
            </a:extLst>
          </p:cNvPr>
          <p:cNvSpPr/>
          <p:nvPr/>
        </p:nvSpPr>
        <p:spPr>
          <a:xfrm>
            <a:off x="339391" y="1649625"/>
            <a:ext cx="2571750" cy="2238375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6D534A-FAB3-5EBF-2D40-6AE600947CF9}"/>
              </a:ext>
            </a:extLst>
          </p:cNvPr>
          <p:cNvSpPr txBox="1"/>
          <p:nvPr/>
        </p:nvSpPr>
        <p:spPr>
          <a:xfrm>
            <a:off x="548941" y="180202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65D8"/>
                </a:solidFill>
                <a:latin typeface="Aptos Display" panose="020B0004020202020204" pitchFamily="34" charset="0"/>
              </a:rPr>
              <a:t>Measured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84942D-CEAD-6C7D-68E8-1FAF6C54B954}"/>
              </a:ext>
            </a:extLst>
          </p:cNvPr>
          <p:cNvSpPr txBox="1"/>
          <p:nvPr/>
        </p:nvSpPr>
        <p:spPr>
          <a:xfrm>
            <a:off x="548941" y="217350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144/144 shared-load responses
100% functional availability
Latency target not consistent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8782CF-DADD-8DBA-EB68-1B55846C36CE}"/>
              </a:ext>
            </a:extLst>
          </p:cNvPr>
          <p:cNvSpPr/>
          <p:nvPr/>
        </p:nvSpPr>
        <p:spPr>
          <a:xfrm>
            <a:off x="3225466" y="1649625"/>
            <a:ext cx="2571750" cy="2238375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BED23-EFA9-57CC-08B4-E840922D099A}"/>
              </a:ext>
            </a:extLst>
          </p:cNvPr>
          <p:cNvSpPr txBox="1"/>
          <p:nvPr/>
        </p:nvSpPr>
        <p:spPr>
          <a:xfrm>
            <a:off x="3435016" y="180202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57A55"/>
                </a:solidFill>
                <a:latin typeface="Aptos Display" panose="020B0004020202020204" pitchFamily="34" charset="0"/>
              </a:rPr>
              <a:t>Cost controls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BDDE2A-2ACA-5B56-3801-41699F0B3198}"/>
              </a:ext>
            </a:extLst>
          </p:cNvPr>
          <p:cNvSpPr txBox="1"/>
          <p:nvPr/>
        </p:nvSpPr>
        <p:spPr>
          <a:xfrm>
            <a:off x="3435016" y="217350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Bottom-up by subsystem
AI and voice quotas
Measure before caching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7B0EC6-F647-3AFC-D7DA-4C315F88663E}"/>
              </a:ext>
            </a:extLst>
          </p:cNvPr>
          <p:cNvSpPr/>
          <p:nvPr/>
        </p:nvSpPr>
        <p:spPr>
          <a:xfrm>
            <a:off x="6111541" y="1649625"/>
            <a:ext cx="2571750" cy="2238375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AB3DC-A550-07CD-7752-840510C08014}"/>
              </a:ext>
            </a:extLst>
          </p:cNvPr>
          <p:cNvSpPr txBox="1"/>
          <p:nvPr/>
        </p:nvSpPr>
        <p:spPr>
          <a:xfrm>
            <a:off x="6321091" y="1802026"/>
            <a:ext cx="2209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A64B2A"/>
                </a:solidFill>
                <a:latin typeface="Aptos Display" panose="020B0004020202020204" pitchFamily="34" charset="0"/>
              </a:rPr>
              <a:t>Next cycle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9DE4A-ED43-0041-B824-73E38DED9F08}"/>
              </a:ext>
            </a:extLst>
          </p:cNvPr>
          <p:cNvSpPr txBox="1"/>
          <p:nvPr/>
        </p:nvSpPr>
        <p:spPr>
          <a:xfrm>
            <a:off x="6321091" y="2173501"/>
            <a:ext cx="21907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17243A"/>
                </a:solidFill>
                <a:latin typeface="Aptos" panose="020B0004020202020204" pitchFamily="34" charset="0"/>
              </a:rPr>
              <a:t>Fix five material findings
Monitoring, backups and email
Repeat controlled user tests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A7784F-E236-78B6-7FA9-07B34C32E2E1}"/>
              </a:ext>
            </a:extLst>
          </p:cNvPr>
          <p:cNvSpPr/>
          <p:nvPr/>
        </p:nvSpPr>
        <p:spPr>
          <a:xfrm>
            <a:off x="876300" y="4914900"/>
            <a:ext cx="7391400" cy="714376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2BB83B-0856-AF40-7811-C95811922DBB}"/>
              </a:ext>
            </a:extLst>
          </p:cNvPr>
          <p:cNvSpPr txBox="1"/>
          <p:nvPr/>
        </p:nvSpPr>
        <p:spPr>
          <a:xfrm>
            <a:off x="1095375" y="5000626"/>
            <a:ext cx="695325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ptos" panose="020B0004020202020204" pitchFamily="34" charset="0"/>
              </a:rPr>
              <a:t>Maintenance: corrective defects | adaptive change | perfective features | preventive refactoring</a:t>
            </a:r>
          </a:p>
        </p:txBody>
      </p:sp>
      <p:sp>
        <p:nvSpPr>
          <p:cNvPr id="35" name="Native footer code">
            <a:extLst>
              <a:ext uri="{FF2B5EF4-FFF2-40B4-BE49-F238E27FC236}">
                <a16:creationId xmlns:a16="http://schemas.microsoft.com/office/drawing/2014/main" id="{55DC77A1-5EFF-E0EF-3DE5-09809107CB59}"/>
              </a:ext>
            </a:extLst>
          </p:cNvPr>
          <p:cNvSpPr txBox="1"/>
          <p:nvPr/>
        </p:nvSpPr>
        <p:spPr>
          <a:xfrm>
            <a:off x="165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MDP25-xx</a:t>
            </a:r>
          </a:p>
        </p:txBody>
      </p:sp>
      <p:sp>
        <p:nvSpPr>
          <p:cNvPr id="36" name="Native footer title">
            <a:extLst>
              <a:ext uri="{FF2B5EF4-FFF2-40B4-BE49-F238E27FC236}">
                <a16:creationId xmlns:a16="http://schemas.microsoft.com/office/drawing/2014/main" id="{AAD7346F-E9CC-3293-F554-6B8A1D467B5E}"/>
              </a:ext>
            </a:extLst>
          </p:cNvPr>
          <p:cNvSpPr txBox="1"/>
          <p:nvPr/>
        </p:nvSpPr>
        <p:spPr>
          <a:xfrm>
            <a:off x="1714500" y="65913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Inclusive Web Platform</a:t>
            </a:r>
          </a:p>
        </p:txBody>
      </p:sp>
      <p:sp>
        <p:nvSpPr>
          <p:cNvPr id="37" name="Native slide number">
            <a:extLst>
              <a:ext uri="{FF2B5EF4-FFF2-40B4-BE49-F238E27FC236}">
                <a16:creationId xmlns:a16="http://schemas.microsoft.com/office/drawing/2014/main" id="{1FD45909-3687-2402-8C27-55BDA804E23C}"/>
              </a:ext>
            </a:extLst>
          </p:cNvPr>
          <p:cNvSpPr txBox="1"/>
          <p:nvPr/>
        </p:nvSpPr>
        <p:spPr>
          <a:xfrm>
            <a:off x="7912100" y="6591300"/>
            <a:ext cx="106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50">
                <a:solidFill>
                  <a:srgbClr val="FFFFFF"/>
                </a:solidFill>
                <a:latin typeface="Arial" panose="020B0604020202020204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9469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170A41-9EF5-DCA5-6584-50EE0EA64934}"/>
              </a:ext>
            </a:extLst>
          </p:cNvPr>
          <p:cNvSpPr txBox="1"/>
          <p:nvPr/>
        </p:nvSpPr>
        <p:spPr>
          <a:xfrm>
            <a:off x="457200" y="607898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 dirty="0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81DB52-DBF4-555E-EBF8-C4D0901CE5B3}"/>
              </a:ext>
            </a:extLst>
          </p:cNvPr>
          <p:cNvSpPr txBox="1"/>
          <p:nvPr/>
        </p:nvSpPr>
        <p:spPr>
          <a:xfrm>
            <a:off x="457200" y="884897"/>
            <a:ext cx="7810500" cy="3116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25" b="1" dirty="0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0AF810-1BED-884E-D902-E005E08C1313}"/>
              </a:ext>
            </a:extLst>
          </p:cNvPr>
          <p:cNvSpPr/>
          <p:nvPr/>
        </p:nvSpPr>
        <p:spPr>
          <a:xfrm>
            <a:off x="208548" y="1625768"/>
            <a:ext cx="4762500" cy="39727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407074-C908-B50E-54D2-B40ADB13801D}"/>
              </a:ext>
            </a:extLst>
          </p:cNvPr>
          <p:cNvSpPr txBox="1"/>
          <p:nvPr/>
        </p:nvSpPr>
        <p:spPr>
          <a:xfrm>
            <a:off x="475248" y="1854369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57A55"/>
                </a:solidFill>
                <a:latin typeface="Aptos Display" panose="020B0004020202020204" pitchFamily="34" charset="0"/>
              </a:rPr>
              <a:t>Delivered engineering contribution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C746DD-A2E6-AEB2-ACE3-8483832A9709}"/>
              </a:ext>
            </a:extLst>
          </p:cNvPr>
          <p:cNvSpPr txBox="1"/>
          <p:nvPr/>
        </p:nvSpPr>
        <p:spPr>
          <a:xfrm>
            <a:off x="475248" y="2349668"/>
            <a:ext cx="4095750" cy="295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17243A"/>
                </a:solidFill>
                <a:latin typeface="Aptos" panose="020B0004020202020204" pitchFamily="34" charset="0"/>
              </a:rPr>
              <a:t>+ Accessible English, French and Arabic role workflows
+ Protected Symfony security and business boundary
+ Deterministic, explainable task-level matching
+ Candidate-controlled AI and bounded voice assistance
+ PostgreSQL data and purpose-specific object storage
+ Repeatable cloud staging and retained verification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5A8117-6B31-5849-878D-85B33CF2E88A}"/>
              </a:ext>
            </a:extLst>
          </p:cNvPr>
          <p:cNvSpPr/>
          <p:nvPr/>
        </p:nvSpPr>
        <p:spPr>
          <a:xfrm>
            <a:off x="5097879" y="1631448"/>
            <a:ext cx="3870159" cy="32293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4B79E-8375-9588-5917-DCA2F6EDD328}"/>
              </a:ext>
            </a:extLst>
          </p:cNvPr>
          <p:cNvSpPr txBox="1"/>
          <p:nvPr/>
        </p:nvSpPr>
        <p:spPr>
          <a:xfrm>
            <a:off x="5680409" y="1908017"/>
            <a:ext cx="26860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800" b="1">
                <a:latin typeface="Aptos Display" panose="020B0004020202020204" pitchFamily="34" charset="0"/>
              </a:rPr>
              <a:t>Evidence at final evaluation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256DB-87FB-6E2E-2556-164ACB5B72FA}"/>
              </a:ext>
            </a:extLst>
          </p:cNvPr>
          <p:cNvSpPr txBox="1"/>
          <p:nvPr/>
        </p:nvSpPr>
        <p:spPr>
          <a:xfrm>
            <a:off x="5728034" y="2423870"/>
            <a:ext cx="59055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2B7089-4D32-42D8-3BF0-AA7A21B34983}"/>
              </a:ext>
            </a:extLst>
          </p:cNvPr>
          <p:cNvSpPr txBox="1"/>
          <p:nvPr/>
        </p:nvSpPr>
        <p:spPr>
          <a:xfrm>
            <a:off x="6413834" y="2498566"/>
            <a:ext cx="857250" cy="138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</a:rPr>
              <a:t>protected roles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F9EE7-FEF9-6A6B-CB34-2DE34D278ABA}"/>
              </a:ext>
            </a:extLst>
          </p:cNvPr>
          <p:cNvSpPr txBox="1"/>
          <p:nvPr/>
        </p:nvSpPr>
        <p:spPr>
          <a:xfrm>
            <a:off x="5728034" y="2927191"/>
            <a:ext cx="59055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B9CBE-5F2B-8EC4-A0EC-6424772D6757}"/>
              </a:ext>
            </a:extLst>
          </p:cNvPr>
          <p:cNvSpPr txBox="1"/>
          <p:nvPr/>
        </p:nvSpPr>
        <p:spPr>
          <a:xfrm>
            <a:off x="6413834" y="2993866"/>
            <a:ext cx="1238250" cy="138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latin typeface="Aptos" panose="020B0004020202020204" pitchFamily="34" charset="0"/>
              </a:rPr>
              <a:t>interface languages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755A7A-CC00-8FAB-0AFB-B0BFD8780FFF}"/>
              </a:ext>
            </a:extLst>
          </p:cNvPr>
          <p:cNvSpPr txBox="1"/>
          <p:nvPr/>
        </p:nvSpPr>
        <p:spPr>
          <a:xfrm>
            <a:off x="5728034" y="3422491"/>
            <a:ext cx="59055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latin typeface="Aptos Display" panose="020B0004020202020204" pitchFamily="34" charset="0"/>
              </a:rPr>
              <a:t>310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55FDE7-8617-BC5C-3235-DE8D34B9E006}"/>
              </a:ext>
            </a:extLst>
          </p:cNvPr>
          <p:cNvSpPr txBox="1"/>
          <p:nvPr/>
        </p:nvSpPr>
        <p:spPr>
          <a:xfrm>
            <a:off x="6413834" y="3489166"/>
            <a:ext cx="1524000" cy="138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</a:rPr>
              <a:t>executed staging cases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9AD87-BEA4-FE01-E1C0-1A9C8FC92BBF}"/>
              </a:ext>
            </a:extLst>
          </p:cNvPr>
          <p:cNvSpPr txBox="1"/>
          <p:nvPr/>
        </p:nvSpPr>
        <p:spPr>
          <a:xfrm>
            <a:off x="5666121" y="3891749"/>
            <a:ext cx="714375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157A55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51706-5EBD-A904-ACB9-568BE57D61FA}"/>
              </a:ext>
            </a:extLst>
          </p:cNvPr>
          <p:cNvSpPr txBox="1"/>
          <p:nvPr/>
        </p:nvSpPr>
        <p:spPr>
          <a:xfrm>
            <a:off x="6413834" y="3974982"/>
            <a:ext cx="1476375" cy="138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 dirty="0">
                <a:latin typeface="Aptos" panose="020B0004020202020204" pitchFamily="34" charset="0"/>
              </a:rPr>
              <a:t>final staging pass rate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3E8A8-487F-DF3C-30A8-63D7EB316BB8}"/>
              </a:ext>
            </a:extLst>
          </p:cNvPr>
          <p:cNvSpPr txBox="1"/>
          <p:nvPr/>
        </p:nvSpPr>
        <p:spPr>
          <a:xfrm>
            <a:off x="5728034" y="4308316"/>
            <a:ext cx="257175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157A55"/>
                </a:solidFill>
                <a:latin typeface="Aptos" panose="020B0004020202020204" pitchFamily="34" charset="0"/>
              </a:rPr>
              <a:t>Human validation: 20-person Arc en Ciel session plus a separate JAWS workflow.</a:t>
            </a:r>
          </a:p>
        </p:txBody>
      </p:sp>
    </p:spTree>
    <p:extLst>
      <p:ext uri="{BB962C8B-B14F-4D97-AF65-F5344CB8AC3E}">
        <p14:creationId xmlns:p14="http://schemas.microsoft.com/office/powerpoint/2010/main" val="378576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424</TotalTime>
  <Words>2223</Words>
  <Application>Microsoft Office PowerPoint</Application>
  <PresentationFormat>On-screen Show (4:3)</PresentationFormat>
  <Paragraphs>361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Courier New</vt:lpstr>
      <vt:lpstr>Myriad Pro Light</vt:lpstr>
      <vt:lpstr>Wingdings</vt:lpstr>
      <vt:lpstr>TemplateDiaporamaIRISA-2016</vt:lpstr>
      <vt:lpstr>3.page de contenu</vt:lpstr>
      <vt:lpstr>1_3.page de contenu</vt:lpstr>
      <vt:lpstr>Inclusive Employment Platform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Zaidan Mansour</cp:lastModifiedBy>
  <cp:revision>13</cp:revision>
  <cp:lastPrinted>2016-08-01T06:28:00Z</cp:lastPrinted>
  <dcterms:created xsi:type="dcterms:W3CDTF">2019-05-04T08:15:08Z</dcterms:created>
  <dcterms:modified xsi:type="dcterms:W3CDTF">2026-09-12T22:24:56Z</dcterms:modified>
</cp:coreProperties>
</file>