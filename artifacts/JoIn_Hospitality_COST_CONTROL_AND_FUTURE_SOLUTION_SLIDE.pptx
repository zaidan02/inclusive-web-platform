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805135-43AD-4F73-8AA8-6019E401CD66}" type="datetimeFigureOut">
              <a:rPr lang="en-US" smtClean="0"/>
              <a:t>9/12/2026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CC0E44-6376-4E44-9AE2-F42C8312E158}" type="slidenum">
              <a:rPr lang="en-US" smtClean="0"/>
              <a:t>‹#›</a:t>
            </a:fld>
            <a:endParaRPr lang="en-US"/>
          </a:p>
        </p:txBody>
      </p:sp>
    </p:spTree>
    <p:extLst>
      <p:ext uri="{BB962C8B-B14F-4D97-AF65-F5344CB8AC3E}">
        <p14:creationId xmlns:p14="http://schemas.microsoft.com/office/powerpoint/2010/main" val="2811421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cost model separates fixed platform costs from variable AI usage and continuous maintenance. Predictable actions are processed locally, while paid AI is bounded by quotas, request limits and usage monitoring. Future scaling will reduce prompt size, optimize database access and evaluate self-hosted alternatives, while essential workflows remain available without paid AI. Only the voice/profile service calls OpenAI. Neither Python service accesses persistence directly.</a:t>
            </a:r>
          </a:p>
        </p:txBody>
      </p:sp>
      <p:sp>
        <p:nvSpPr>
          <p:cNvPr id="4" name="Slide Number Placeholder 3"/>
          <p:cNvSpPr>
            <a:spLocks noGrp="1"/>
          </p:cNvSpPr>
          <p:nvPr>
            <p:ph type="sldNum" sz="quarter" idx="5"/>
          </p:nvPr>
        </p:nvSpPr>
        <p:spPr/>
        <p:txBody>
          <a:bodyPr/>
          <a:lstStyle/>
          <a:p>
            <a:fld id="{7ACC0E44-6376-4E44-9AE2-F42C8312E158}" type="slidenum">
              <a:rPr lang="en-US" smtClean="0"/>
              <a:t>1</a:t>
            </a:fld>
            <a:endParaRPr lang="en-US"/>
          </a:p>
        </p:txBody>
      </p:sp>
    </p:spTree>
    <p:extLst>
      <p:ext uri="{BB962C8B-B14F-4D97-AF65-F5344CB8AC3E}">
        <p14:creationId xmlns:p14="http://schemas.microsoft.com/office/powerpoint/2010/main" val="790325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15378-6ADE-6AA8-F393-BB99A938E9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9D3BDD8-8E31-A26A-FA69-19A2478A0B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A07C2C-AA9F-8A65-F0DA-AF022999DE28}"/>
              </a:ext>
            </a:extLst>
          </p:cNvPr>
          <p:cNvSpPr>
            <a:spLocks noGrp="1"/>
          </p:cNvSpPr>
          <p:nvPr>
            <p:ph type="dt" sz="half" idx="10"/>
          </p:nvPr>
        </p:nvSpPr>
        <p:spPr/>
        <p:txBody>
          <a:bodyPr/>
          <a:lstStyle/>
          <a:p>
            <a:fld id="{C13A2451-CCAC-470A-BF87-B9098A04801C}" type="datetimeFigureOut">
              <a:rPr lang="en-US" smtClean="0"/>
              <a:t>9/12/2026</a:t>
            </a:fld>
            <a:endParaRPr lang="en-US"/>
          </a:p>
        </p:txBody>
      </p:sp>
      <p:sp>
        <p:nvSpPr>
          <p:cNvPr id="5" name="Footer Placeholder 4">
            <a:extLst>
              <a:ext uri="{FF2B5EF4-FFF2-40B4-BE49-F238E27FC236}">
                <a16:creationId xmlns:a16="http://schemas.microsoft.com/office/drawing/2014/main" id="{3E61FCE0-F198-C1B3-FAC4-57CF1E7B0F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4F8978-7A94-6D8F-C2DF-84AEEDF1A558}"/>
              </a:ext>
            </a:extLst>
          </p:cNvPr>
          <p:cNvSpPr>
            <a:spLocks noGrp="1"/>
          </p:cNvSpPr>
          <p:nvPr>
            <p:ph type="sldNum" sz="quarter" idx="12"/>
          </p:nvPr>
        </p:nvSpPr>
        <p:spPr/>
        <p:txBody>
          <a:bodyPr/>
          <a:lstStyle/>
          <a:p>
            <a:fld id="{8E3C65DA-8F06-443F-B09F-2A308E44B907}" type="slidenum">
              <a:rPr lang="en-US" smtClean="0"/>
              <a:t>‹#›</a:t>
            </a:fld>
            <a:endParaRPr lang="en-US"/>
          </a:p>
        </p:txBody>
      </p:sp>
    </p:spTree>
    <p:extLst>
      <p:ext uri="{BB962C8B-B14F-4D97-AF65-F5344CB8AC3E}">
        <p14:creationId xmlns:p14="http://schemas.microsoft.com/office/powerpoint/2010/main" val="1258881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D9D54-5E50-80A0-59BF-BEB94DF8DB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CEA0A9-8CBE-3B0A-F1DC-4C0BFAFFEF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6F5F31-090C-02CB-4BB4-02FA24344688}"/>
              </a:ext>
            </a:extLst>
          </p:cNvPr>
          <p:cNvSpPr>
            <a:spLocks noGrp="1"/>
          </p:cNvSpPr>
          <p:nvPr>
            <p:ph type="dt" sz="half" idx="10"/>
          </p:nvPr>
        </p:nvSpPr>
        <p:spPr/>
        <p:txBody>
          <a:bodyPr/>
          <a:lstStyle/>
          <a:p>
            <a:fld id="{C13A2451-CCAC-470A-BF87-B9098A04801C}" type="datetimeFigureOut">
              <a:rPr lang="en-US" smtClean="0"/>
              <a:t>9/12/2026</a:t>
            </a:fld>
            <a:endParaRPr lang="en-US"/>
          </a:p>
        </p:txBody>
      </p:sp>
      <p:sp>
        <p:nvSpPr>
          <p:cNvPr id="5" name="Footer Placeholder 4">
            <a:extLst>
              <a:ext uri="{FF2B5EF4-FFF2-40B4-BE49-F238E27FC236}">
                <a16:creationId xmlns:a16="http://schemas.microsoft.com/office/drawing/2014/main" id="{47A8F187-ACAB-8A4F-E582-C45DD860E8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634716-A24D-D8AF-4B9D-6F2776FF0A4A}"/>
              </a:ext>
            </a:extLst>
          </p:cNvPr>
          <p:cNvSpPr>
            <a:spLocks noGrp="1"/>
          </p:cNvSpPr>
          <p:nvPr>
            <p:ph type="sldNum" sz="quarter" idx="12"/>
          </p:nvPr>
        </p:nvSpPr>
        <p:spPr/>
        <p:txBody>
          <a:bodyPr/>
          <a:lstStyle/>
          <a:p>
            <a:fld id="{8E3C65DA-8F06-443F-B09F-2A308E44B907}" type="slidenum">
              <a:rPr lang="en-US" smtClean="0"/>
              <a:t>‹#›</a:t>
            </a:fld>
            <a:endParaRPr lang="en-US"/>
          </a:p>
        </p:txBody>
      </p:sp>
    </p:spTree>
    <p:extLst>
      <p:ext uri="{BB962C8B-B14F-4D97-AF65-F5344CB8AC3E}">
        <p14:creationId xmlns:p14="http://schemas.microsoft.com/office/powerpoint/2010/main" val="2158732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76B42-2787-250B-1852-C9A691B7B0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20EEA3-2A48-E301-6F18-C458CD6B3D7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17B1EB-E2C8-BDD0-F715-440D1B0B1AD8}"/>
              </a:ext>
            </a:extLst>
          </p:cNvPr>
          <p:cNvSpPr>
            <a:spLocks noGrp="1"/>
          </p:cNvSpPr>
          <p:nvPr>
            <p:ph type="dt" sz="half" idx="10"/>
          </p:nvPr>
        </p:nvSpPr>
        <p:spPr/>
        <p:txBody>
          <a:bodyPr/>
          <a:lstStyle/>
          <a:p>
            <a:fld id="{C13A2451-CCAC-470A-BF87-B9098A04801C}" type="datetimeFigureOut">
              <a:rPr lang="en-US" smtClean="0"/>
              <a:t>9/12/2026</a:t>
            </a:fld>
            <a:endParaRPr lang="en-US"/>
          </a:p>
        </p:txBody>
      </p:sp>
      <p:sp>
        <p:nvSpPr>
          <p:cNvPr id="5" name="Footer Placeholder 4">
            <a:extLst>
              <a:ext uri="{FF2B5EF4-FFF2-40B4-BE49-F238E27FC236}">
                <a16:creationId xmlns:a16="http://schemas.microsoft.com/office/drawing/2014/main" id="{D2DD52C3-147E-C4D9-F85E-8B8BBEB8FB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F0B9A3-9A99-47BD-9F06-F5D67BBD5F1B}"/>
              </a:ext>
            </a:extLst>
          </p:cNvPr>
          <p:cNvSpPr>
            <a:spLocks noGrp="1"/>
          </p:cNvSpPr>
          <p:nvPr>
            <p:ph type="sldNum" sz="quarter" idx="12"/>
          </p:nvPr>
        </p:nvSpPr>
        <p:spPr/>
        <p:txBody>
          <a:bodyPr/>
          <a:lstStyle/>
          <a:p>
            <a:fld id="{8E3C65DA-8F06-443F-B09F-2A308E44B907}" type="slidenum">
              <a:rPr lang="en-US" smtClean="0"/>
              <a:t>‹#›</a:t>
            </a:fld>
            <a:endParaRPr lang="en-US"/>
          </a:p>
        </p:txBody>
      </p:sp>
    </p:spTree>
    <p:extLst>
      <p:ext uri="{BB962C8B-B14F-4D97-AF65-F5344CB8AC3E}">
        <p14:creationId xmlns:p14="http://schemas.microsoft.com/office/powerpoint/2010/main" val="427790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AF006-50FE-A932-136A-6E74446095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46D009-EE23-BF70-D42B-E274B7495F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CF94EF5-1A09-088A-A416-65FCC17C37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BFA966-CD17-3AB4-1CCE-281309551A85}"/>
              </a:ext>
            </a:extLst>
          </p:cNvPr>
          <p:cNvSpPr>
            <a:spLocks noGrp="1"/>
          </p:cNvSpPr>
          <p:nvPr>
            <p:ph type="dt" sz="half" idx="10"/>
          </p:nvPr>
        </p:nvSpPr>
        <p:spPr/>
        <p:txBody>
          <a:bodyPr/>
          <a:lstStyle/>
          <a:p>
            <a:fld id="{C13A2451-CCAC-470A-BF87-B9098A04801C}" type="datetimeFigureOut">
              <a:rPr lang="en-US" smtClean="0"/>
              <a:t>9/12/2026</a:t>
            </a:fld>
            <a:endParaRPr lang="en-US"/>
          </a:p>
        </p:txBody>
      </p:sp>
      <p:sp>
        <p:nvSpPr>
          <p:cNvPr id="6" name="Footer Placeholder 5">
            <a:extLst>
              <a:ext uri="{FF2B5EF4-FFF2-40B4-BE49-F238E27FC236}">
                <a16:creationId xmlns:a16="http://schemas.microsoft.com/office/drawing/2014/main" id="{779F5B1F-3A76-C5FA-84C0-4BAA54DFC9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093580-70D3-460A-34AD-8F80C30040CB}"/>
              </a:ext>
            </a:extLst>
          </p:cNvPr>
          <p:cNvSpPr>
            <a:spLocks noGrp="1"/>
          </p:cNvSpPr>
          <p:nvPr>
            <p:ph type="sldNum" sz="quarter" idx="12"/>
          </p:nvPr>
        </p:nvSpPr>
        <p:spPr/>
        <p:txBody>
          <a:bodyPr/>
          <a:lstStyle/>
          <a:p>
            <a:fld id="{8E3C65DA-8F06-443F-B09F-2A308E44B907}" type="slidenum">
              <a:rPr lang="en-US" smtClean="0"/>
              <a:t>‹#›</a:t>
            </a:fld>
            <a:endParaRPr lang="en-US"/>
          </a:p>
        </p:txBody>
      </p:sp>
    </p:spTree>
    <p:extLst>
      <p:ext uri="{BB962C8B-B14F-4D97-AF65-F5344CB8AC3E}">
        <p14:creationId xmlns:p14="http://schemas.microsoft.com/office/powerpoint/2010/main" val="818410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0AA88-88A3-1EAE-087C-1DF9BF5C17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385B2E-1030-4B9D-6AB5-BA734A6075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3F0C0C-6B84-97F9-4634-CF90804248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B0F3FC2-0364-51F2-1ACC-327AE7E35B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E55F379-EF8A-97E2-2C1B-80F1A0FCD1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CDA81E-65BA-7FC7-B6CA-7316974BFD6E}"/>
              </a:ext>
            </a:extLst>
          </p:cNvPr>
          <p:cNvSpPr>
            <a:spLocks noGrp="1"/>
          </p:cNvSpPr>
          <p:nvPr>
            <p:ph type="dt" sz="half" idx="10"/>
          </p:nvPr>
        </p:nvSpPr>
        <p:spPr/>
        <p:txBody>
          <a:bodyPr/>
          <a:lstStyle/>
          <a:p>
            <a:fld id="{C13A2451-CCAC-470A-BF87-B9098A04801C}" type="datetimeFigureOut">
              <a:rPr lang="en-US" smtClean="0"/>
              <a:t>9/12/2026</a:t>
            </a:fld>
            <a:endParaRPr lang="en-US"/>
          </a:p>
        </p:txBody>
      </p:sp>
      <p:sp>
        <p:nvSpPr>
          <p:cNvPr id="8" name="Footer Placeholder 7">
            <a:extLst>
              <a:ext uri="{FF2B5EF4-FFF2-40B4-BE49-F238E27FC236}">
                <a16:creationId xmlns:a16="http://schemas.microsoft.com/office/drawing/2014/main" id="{703AE1D1-1C35-44B7-EB04-58279D1C41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4E89EC-36B6-419B-6783-1C62809853B1}"/>
              </a:ext>
            </a:extLst>
          </p:cNvPr>
          <p:cNvSpPr>
            <a:spLocks noGrp="1"/>
          </p:cNvSpPr>
          <p:nvPr>
            <p:ph type="sldNum" sz="quarter" idx="12"/>
          </p:nvPr>
        </p:nvSpPr>
        <p:spPr/>
        <p:txBody>
          <a:bodyPr/>
          <a:lstStyle/>
          <a:p>
            <a:fld id="{8E3C65DA-8F06-443F-B09F-2A308E44B907}" type="slidenum">
              <a:rPr lang="en-US" smtClean="0"/>
              <a:t>‹#›</a:t>
            </a:fld>
            <a:endParaRPr lang="en-US"/>
          </a:p>
        </p:txBody>
      </p:sp>
    </p:spTree>
    <p:extLst>
      <p:ext uri="{BB962C8B-B14F-4D97-AF65-F5344CB8AC3E}">
        <p14:creationId xmlns:p14="http://schemas.microsoft.com/office/powerpoint/2010/main" val="420316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A3804-03F6-BC0B-B34A-5D91F098DB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5D3523-45CD-E4B8-0232-3C9F47604D51}"/>
              </a:ext>
            </a:extLst>
          </p:cNvPr>
          <p:cNvSpPr>
            <a:spLocks noGrp="1"/>
          </p:cNvSpPr>
          <p:nvPr>
            <p:ph type="dt" sz="half" idx="10"/>
          </p:nvPr>
        </p:nvSpPr>
        <p:spPr/>
        <p:txBody>
          <a:bodyPr/>
          <a:lstStyle/>
          <a:p>
            <a:fld id="{C13A2451-CCAC-470A-BF87-B9098A04801C}" type="datetimeFigureOut">
              <a:rPr lang="en-US" smtClean="0"/>
              <a:t>9/12/2026</a:t>
            </a:fld>
            <a:endParaRPr lang="en-US"/>
          </a:p>
        </p:txBody>
      </p:sp>
      <p:sp>
        <p:nvSpPr>
          <p:cNvPr id="4" name="Footer Placeholder 3">
            <a:extLst>
              <a:ext uri="{FF2B5EF4-FFF2-40B4-BE49-F238E27FC236}">
                <a16:creationId xmlns:a16="http://schemas.microsoft.com/office/drawing/2014/main" id="{0F8143C0-F43D-C781-FE8E-C7873BD1D2D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E4B7340-F5B4-54C2-7555-BC68A7ADE082}"/>
              </a:ext>
            </a:extLst>
          </p:cNvPr>
          <p:cNvSpPr>
            <a:spLocks noGrp="1"/>
          </p:cNvSpPr>
          <p:nvPr>
            <p:ph type="sldNum" sz="quarter" idx="12"/>
          </p:nvPr>
        </p:nvSpPr>
        <p:spPr/>
        <p:txBody>
          <a:bodyPr/>
          <a:lstStyle/>
          <a:p>
            <a:fld id="{8E3C65DA-8F06-443F-B09F-2A308E44B907}" type="slidenum">
              <a:rPr lang="en-US" smtClean="0"/>
              <a:t>‹#›</a:t>
            </a:fld>
            <a:endParaRPr lang="en-US"/>
          </a:p>
        </p:txBody>
      </p:sp>
    </p:spTree>
    <p:extLst>
      <p:ext uri="{BB962C8B-B14F-4D97-AF65-F5344CB8AC3E}">
        <p14:creationId xmlns:p14="http://schemas.microsoft.com/office/powerpoint/2010/main" val="3533135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6BD9F0-FADB-E133-E589-D5A0FA076D24}"/>
              </a:ext>
            </a:extLst>
          </p:cNvPr>
          <p:cNvSpPr>
            <a:spLocks noGrp="1"/>
          </p:cNvSpPr>
          <p:nvPr>
            <p:ph type="dt" sz="half" idx="10"/>
          </p:nvPr>
        </p:nvSpPr>
        <p:spPr/>
        <p:txBody>
          <a:bodyPr/>
          <a:lstStyle/>
          <a:p>
            <a:fld id="{C13A2451-CCAC-470A-BF87-B9098A04801C}" type="datetimeFigureOut">
              <a:rPr lang="en-US" smtClean="0"/>
              <a:t>9/12/2026</a:t>
            </a:fld>
            <a:endParaRPr lang="en-US"/>
          </a:p>
        </p:txBody>
      </p:sp>
      <p:sp>
        <p:nvSpPr>
          <p:cNvPr id="3" name="Footer Placeholder 2">
            <a:extLst>
              <a:ext uri="{FF2B5EF4-FFF2-40B4-BE49-F238E27FC236}">
                <a16:creationId xmlns:a16="http://schemas.microsoft.com/office/drawing/2014/main" id="{DE7D73B4-5E6E-8671-2344-73D90EEFB87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95F249-7B8E-3732-C09E-29B52A67F6DD}"/>
              </a:ext>
            </a:extLst>
          </p:cNvPr>
          <p:cNvSpPr>
            <a:spLocks noGrp="1"/>
          </p:cNvSpPr>
          <p:nvPr>
            <p:ph type="sldNum" sz="quarter" idx="12"/>
          </p:nvPr>
        </p:nvSpPr>
        <p:spPr/>
        <p:txBody>
          <a:bodyPr/>
          <a:lstStyle/>
          <a:p>
            <a:fld id="{8E3C65DA-8F06-443F-B09F-2A308E44B907}" type="slidenum">
              <a:rPr lang="en-US" smtClean="0"/>
              <a:t>‹#›</a:t>
            </a:fld>
            <a:endParaRPr lang="en-US"/>
          </a:p>
        </p:txBody>
      </p:sp>
    </p:spTree>
    <p:extLst>
      <p:ext uri="{BB962C8B-B14F-4D97-AF65-F5344CB8AC3E}">
        <p14:creationId xmlns:p14="http://schemas.microsoft.com/office/powerpoint/2010/main" val="884587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27CC7-2BD2-1938-AA1E-763DE2E3FC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DDC81B-AC1F-B750-2158-A99D886DC8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CC587B-E20C-B8CA-CFB0-694647B7CA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08B956-6CE0-C271-C180-DD6C5C7FE8E3}"/>
              </a:ext>
            </a:extLst>
          </p:cNvPr>
          <p:cNvSpPr>
            <a:spLocks noGrp="1"/>
          </p:cNvSpPr>
          <p:nvPr>
            <p:ph type="dt" sz="half" idx="10"/>
          </p:nvPr>
        </p:nvSpPr>
        <p:spPr/>
        <p:txBody>
          <a:bodyPr/>
          <a:lstStyle/>
          <a:p>
            <a:fld id="{C13A2451-CCAC-470A-BF87-B9098A04801C}" type="datetimeFigureOut">
              <a:rPr lang="en-US" smtClean="0"/>
              <a:t>9/12/2026</a:t>
            </a:fld>
            <a:endParaRPr lang="en-US"/>
          </a:p>
        </p:txBody>
      </p:sp>
      <p:sp>
        <p:nvSpPr>
          <p:cNvPr id="6" name="Footer Placeholder 5">
            <a:extLst>
              <a:ext uri="{FF2B5EF4-FFF2-40B4-BE49-F238E27FC236}">
                <a16:creationId xmlns:a16="http://schemas.microsoft.com/office/drawing/2014/main" id="{F4C48F6C-8BD5-E5F6-3CC7-4626F72F48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7781E3-C039-08C9-A0D7-D3AB57DAE05E}"/>
              </a:ext>
            </a:extLst>
          </p:cNvPr>
          <p:cNvSpPr>
            <a:spLocks noGrp="1"/>
          </p:cNvSpPr>
          <p:nvPr>
            <p:ph type="sldNum" sz="quarter" idx="12"/>
          </p:nvPr>
        </p:nvSpPr>
        <p:spPr/>
        <p:txBody>
          <a:bodyPr/>
          <a:lstStyle/>
          <a:p>
            <a:fld id="{8E3C65DA-8F06-443F-B09F-2A308E44B907}" type="slidenum">
              <a:rPr lang="en-US" smtClean="0"/>
              <a:t>‹#›</a:t>
            </a:fld>
            <a:endParaRPr lang="en-US"/>
          </a:p>
        </p:txBody>
      </p:sp>
    </p:spTree>
    <p:extLst>
      <p:ext uri="{BB962C8B-B14F-4D97-AF65-F5344CB8AC3E}">
        <p14:creationId xmlns:p14="http://schemas.microsoft.com/office/powerpoint/2010/main" val="1398025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0F6AE-6F85-8EAB-44FE-58D9B4D2C7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FB6C5C-F159-AD0D-C0B0-9B67876F8E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F283BD-A636-292C-5F5E-158B835E86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47E1F0-2675-BB18-D518-047EEA86DFA3}"/>
              </a:ext>
            </a:extLst>
          </p:cNvPr>
          <p:cNvSpPr>
            <a:spLocks noGrp="1"/>
          </p:cNvSpPr>
          <p:nvPr>
            <p:ph type="dt" sz="half" idx="10"/>
          </p:nvPr>
        </p:nvSpPr>
        <p:spPr/>
        <p:txBody>
          <a:bodyPr/>
          <a:lstStyle/>
          <a:p>
            <a:fld id="{C13A2451-CCAC-470A-BF87-B9098A04801C}" type="datetimeFigureOut">
              <a:rPr lang="en-US" smtClean="0"/>
              <a:t>9/12/2026</a:t>
            </a:fld>
            <a:endParaRPr lang="en-US"/>
          </a:p>
        </p:txBody>
      </p:sp>
      <p:sp>
        <p:nvSpPr>
          <p:cNvPr id="6" name="Footer Placeholder 5">
            <a:extLst>
              <a:ext uri="{FF2B5EF4-FFF2-40B4-BE49-F238E27FC236}">
                <a16:creationId xmlns:a16="http://schemas.microsoft.com/office/drawing/2014/main" id="{7AC5F297-2963-A55E-33ED-5CE262ABD1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1A99AF-7054-0C5E-32D5-985AE7B69382}"/>
              </a:ext>
            </a:extLst>
          </p:cNvPr>
          <p:cNvSpPr>
            <a:spLocks noGrp="1"/>
          </p:cNvSpPr>
          <p:nvPr>
            <p:ph type="sldNum" sz="quarter" idx="12"/>
          </p:nvPr>
        </p:nvSpPr>
        <p:spPr/>
        <p:txBody>
          <a:bodyPr/>
          <a:lstStyle/>
          <a:p>
            <a:fld id="{8E3C65DA-8F06-443F-B09F-2A308E44B907}" type="slidenum">
              <a:rPr lang="en-US" smtClean="0"/>
              <a:t>‹#›</a:t>
            </a:fld>
            <a:endParaRPr lang="en-US"/>
          </a:p>
        </p:txBody>
      </p:sp>
    </p:spTree>
    <p:extLst>
      <p:ext uri="{BB962C8B-B14F-4D97-AF65-F5344CB8AC3E}">
        <p14:creationId xmlns:p14="http://schemas.microsoft.com/office/powerpoint/2010/main" val="3766959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7B2BB-A3A7-3B5B-B45A-B89A549F295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E522DCE-45C5-768C-947D-ECD705E901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3E2AE6-4297-C880-7FEA-89C24A990CF1}"/>
              </a:ext>
            </a:extLst>
          </p:cNvPr>
          <p:cNvSpPr>
            <a:spLocks noGrp="1"/>
          </p:cNvSpPr>
          <p:nvPr>
            <p:ph type="dt" sz="half" idx="10"/>
          </p:nvPr>
        </p:nvSpPr>
        <p:spPr/>
        <p:txBody>
          <a:bodyPr/>
          <a:lstStyle/>
          <a:p>
            <a:fld id="{C13A2451-CCAC-470A-BF87-B9098A04801C}" type="datetimeFigureOut">
              <a:rPr lang="en-US" smtClean="0"/>
              <a:t>9/12/2026</a:t>
            </a:fld>
            <a:endParaRPr lang="en-US"/>
          </a:p>
        </p:txBody>
      </p:sp>
      <p:sp>
        <p:nvSpPr>
          <p:cNvPr id="5" name="Footer Placeholder 4">
            <a:extLst>
              <a:ext uri="{FF2B5EF4-FFF2-40B4-BE49-F238E27FC236}">
                <a16:creationId xmlns:a16="http://schemas.microsoft.com/office/drawing/2014/main" id="{C1F09BEA-2AC9-5735-3275-57C57C95C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841E24-B2CC-3693-3773-AF20ABB2F210}"/>
              </a:ext>
            </a:extLst>
          </p:cNvPr>
          <p:cNvSpPr>
            <a:spLocks noGrp="1"/>
          </p:cNvSpPr>
          <p:nvPr>
            <p:ph type="sldNum" sz="quarter" idx="12"/>
          </p:nvPr>
        </p:nvSpPr>
        <p:spPr/>
        <p:txBody>
          <a:bodyPr/>
          <a:lstStyle/>
          <a:p>
            <a:fld id="{8E3C65DA-8F06-443F-B09F-2A308E44B907}" type="slidenum">
              <a:rPr lang="en-US" smtClean="0"/>
              <a:t>‹#›</a:t>
            </a:fld>
            <a:endParaRPr lang="en-US"/>
          </a:p>
        </p:txBody>
      </p:sp>
    </p:spTree>
    <p:extLst>
      <p:ext uri="{BB962C8B-B14F-4D97-AF65-F5344CB8AC3E}">
        <p14:creationId xmlns:p14="http://schemas.microsoft.com/office/powerpoint/2010/main" val="1738656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C36359-A55D-FE42-09E9-6C05DBC8D3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73D39E-204D-9CAD-4E7F-DC2FA92724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39F198-4C13-632F-7C95-7EABC9840407}"/>
              </a:ext>
            </a:extLst>
          </p:cNvPr>
          <p:cNvSpPr>
            <a:spLocks noGrp="1"/>
          </p:cNvSpPr>
          <p:nvPr>
            <p:ph type="dt" sz="half" idx="10"/>
          </p:nvPr>
        </p:nvSpPr>
        <p:spPr/>
        <p:txBody>
          <a:bodyPr/>
          <a:lstStyle/>
          <a:p>
            <a:fld id="{C13A2451-CCAC-470A-BF87-B9098A04801C}" type="datetimeFigureOut">
              <a:rPr lang="en-US" smtClean="0"/>
              <a:t>9/12/2026</a:t>
            </a:fld>
            <a:endParaRPr lang="en-US"/>
          </a:p>
        </p:txBody>
      </p:sp>
      <p:sp>
        <p:nvSpPr>
          <p:cNvPr id="5" name="Footer Placeholder 4">
            <a:extLst>
              <a:ext uri="{FF2B5EF4-FFF2-40B4-BE49-F238E27FC236}">
                <a16:creationId xmlns:a16="http://schemas.microsoft.com/office/drawing/2014/main" id="{D4C861A5-9348-018F-E448-33B54355C9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3C3BA2-7B79-6C69-8773-09C748BE2155}"/>
              </a:ext>
            </a:extLst>
          </p:cNvPr>
          <p:cNvSpPr>
            <a:spLocks noGrp="1"/>
          </p:cNvSpPr>
          <p:nvPr>
            <p:ph type="sldNum" sz="quarter" idx="12"/>
          </p:nvPr>
        </p:nvSpPr>
        <p:spPr/>
        <p:txBody>
          <a:bodyPr/>
          <a:lstStyle/>
          <a:p>
            <a:fld id="{8E3C65DA-8F06-443F-B09F-2A308E44B907}" type="slidenum">
              <a:rPr lang="en-US" smtClean="0"/>
              <a:t>‹#›</a:t>
            </a:fld>
            <a:endParaRPr lang="en-US"/>
          </a:p>
        </p:txBody>
      </p:sp>
    </p:spTree>
    <p:extLst>
      <p:ext uri="{BB962C8B-B14F-4D97-AF65-F5344CB8AC3E}">
        <p14:creationId xmlns:p14="http://schemas.microsoft.com/office/powerpoint/2010/main" val="3628702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FA2F2F-1D65-67CB-E472-23787B0EFF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9F927F1-41DD-CA77-2F92-14AA3DF285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AE0EF7-D6BE-A040-3B4C-DD331597DD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3A2451-CCAC-470A-BF87-B9098A04801C}" type="datetimeFigureOut">
              <a:rPr lang="en-US" smtClean="0"/>
              <a:t>9/12/2026</a:t>
            </a:fld>
            <a:endParaRPr lang="en-US"/>
          </a:p>
        </p:txBody>
      </p:sp>
      <p:sp>
        <p:nvSpPr>
          <p:cNvPr id="5" name="Footer Placeholder 4">
            <a:extLst>
              <a:ext uri="{FF2B5EF4-FFF2-40B4-BE49-F238E27FC236}">
                <a16:creationId xmlns:a16="http://schemas.microsoft.com/office/drawing/2014/main" id="{4DED55DF-884F-0A7A-D293-C908AB6581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1F09223-796D-DB07-FFD0-846DE5E581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3C65DA-8F06-443F-B09F-2A308E44B907}" type="slidenum">
              <a:rPr lang="en-US" smtClean="0"/>
              <a:t>‹#›</a:t>
            </a:fld>
            <a:endParaRPr lang="en-US"/>
          </a:p>
        </p:txBody>
      </p:sp>
    </p:spTree>
    <p:extLst>
      <p:ext uri="{BB962C8B-B14F-4D97-AF65-F5344CB8AC3E}">
        <p14:creationId xmlns:p14="http://schemas.microsoft.com/office/powerpoint/2010/main" val="2127610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Background"/>
          <p:cNvSpPr/>
          <p:nvPr/>
        </p:nvSpPr>
        <p:spPr>
          <a:xfrm>
            <a:off x="0" y="0"/>
            <a:ext cx="12192000" cy="6858000"/>
          </a:xfrm>
          <a:prstGeom prst="rect">
            <a:avLst/>
          </a:prstGeom>
          <a:solidFill>
            <a:srgbClr val="FBFAF7"/>
          </a:solidFill>
          <a:ln w="10160">
            <a:solidFill>
              <a:srgbClr val="FBFAF7"/>
            </a:solidFill>
          </a:ln>
        </p:spPr>
        <p:txBody>
          <a:bodyPr/>
          <a:lstStyle/>
          <a:p/>
        </p:txBody>
      </p:sp>
      <p:sp>
        <p:nvSpPr>
          <p:cNvPr id="101" name="Top blue rule"/>
          <p:cNvSpPr/>
          <p:nvPr/>
        </p:nvSpPr>
        <p:spPr>
          <a:xfrm>
            <a:off x="0" y="0"/>
            <a:ext cx="12192000" cy="101600"/>
          </a:xfrm>
          <a:prstGeom prst="rect">
            <a:avLst/>
          </a:prstGeom>
          <a:solidFill>
            <a:srgbClr val="1565D8"/>
          </a:solidFill>
          <a:ln w="10160">
            <a:solidFill>
              <a:srgbClr val="1565D8"/>
            </a:solidFill>
          </a:ln>
        </p:spPr>
        <p:txBody>
          <a:bodyPr/>
          <a:lstStyle/>
          <a:p/>
        </p:txBody>
      </p:sp>
      <p:sp>
        <p:nvSpPr>
          <p:cNvPr id="102" name="Section"/>
          <p:cNvSpPr txBox="1"/>
          <p:nvPr/>
        </p:nvSpPr>
        <p:spPr>
          <a:xfrm>
            <a:off x="609600" y="342900"/>
            <a:ext cx="6350000" cy="228600"/>
          </a:xfrm>
          <a:prstGeom prst="rect">
            <a:avLst/>
          </a:prstGeom>
          <a:noFill/>
        </p:spPr>
        <p:txBody>
          <a:bodyPr vert="horz" wrap="square" lIns="0" tIns="0" rIns="0" bIns="0" rtlCol="0">
            <a:spAutoFit/>
          </a:bodyPr>
          <a:lstStyle/>
          <a:p>
            <a:pPr algn="l"/>
            <a:r>
              <a:rPr lang="en-US" sz="900" b="1">
                <a:solidFill>
                  <a:srgbClr val="A64B2A"/>
                </a:solidFill>
                <a:latin typeface="Aptos"/>
              </a:rPr>
              <a:t>COST ESTIMATION AND CONTROL</a:t>
            </a:r>
          </a:p>
        </p:txBody>
      </p:sp>
      <p:sp>
        <p:nvSpPr>
          <p:cNvPr id="103" name="Title"/>
          <p:cNvSpPr txBox="1"/>
          <p:nvPr/>
        </p:nvSpPr>
        <p:spPr>
          <a:xfrm>
            <a:off x="609600" y="635000"/>
            <a:ext cx="10414000" cy="546100"/>
          </a:xfrm>
          <a:prstGeom prst="rect">
            <a:avLst/>
          </a:prstGeom>
          <a:noFill/>
        </p:spPr>
        <p:txBody>
          <a:bodyPr vert="horz" wrap="square" lIns="0" tIns="0" rIns="0" bIns="0" rtlCol="0">
            <a:spAutoFit/>
          </a:bodyPr>
          <a:lstStyle/>
          <a:p>
            <a:pPr algn="l"/>
            <a:r>
              <a:rPr lang="en-US" sz="2700" b="1">
                <a:solidFill>
                  <a:srgbClr val="0B1F49"/>
                </a:solidFill>
                <a:latin typeface="Aptos Display"/>
              </a:rPr>
              <a:t>Cost control today, sustainable scaling tomorrow</a:t>
            </a:r>
          </a:p>
        </p:txBody>
      </p:sp>
      <p:sp>
        <p:nvSpPr>
          <p:cNvPr id="104" name="Subtitle"/>
          <p:cNvSpPr txBox="1"/>
          <p:nvPr/>
        </p:nvSpPr>
        <p:spPr>
          <a:xfrm>
            <a:off x="609600" y="1219200"/>
            <a:ext cx="10541000" cy="355600"/>
          </a:xfrm>
          <a:prstGeom prst="rect">
            <a:avLst/>
          </a:prstGeom>
          <a:noFill/>
        </p:spPr>
        <p:txBody>
          <a:bodyPr vert="horz" wrap="square" lIns="0" tIns="0" rIns="0" bIns="0" rtlCol="0">
            <a:spAutoFit/>
          </a:bodyPr>
          <a:lstStyle/>
          <a:p>
            <a:pPr algn="l"/>
            <a:r>
              <a:rPr lang="en-US" sz="1020">
                <a:solidFill>
                  <a:srgbClr val="5D6B80"/>
                </a:solidFill>
                <a:latin typeface="Aptos"/>
              </a:rPr>
              <a:t>Paid AI is optional and bounded; essential recruitment workflows remain available without it.</a:t>
            </a:r>
          </a:p>
        </p:txBody>
      </p:sp>
      <p:pic>
        <p:nvPicPr>
          <p:cNvPr id="7" name="Picture 6" descr="Universite Saint-Joseph and ESIB mark">
            <a:extLst>
              <a:ext uri="{FF2B5EF4-FFF2-40B4-BE49-F238E27FC236}">
                <a16:creationId xmlns:a16="http://schemas.microsoft.com/office/drawing/2014/main" id="{17039D3D-5FA3-0010-80B2-973B521ED10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896600" y="279400"/>
            <a:ext cx="711200" cy="317500"/>
          </a:xfrm>
          <a:prstGeom prst="rect">
            <a:avLst/>
          </a:prstGeom>
          <a:ln w="10160">
            <a:noFill/>
          </a:ln>
          <a:extLst>
            <a:ext uri="{91240B29-F687-4F45-9708-019B960494DF}">
              <a14:hiddenLine xmlns:a14="http://schemas.microsoft.com/office/drawing/2010/main" w="10160">
                <a:solidFill>
                  <a:srgbClr val="CBD5E1"/>
                </a:solidFill>
              </a14:hiddenLine>
            </a:ext>
          </a:extLst>
        </p:spPr>
      </p:pic>
      <p:sp>
        <p:nvSpPr>
          <p:cNvPr id="110" name="Card 1"/>
          <p:cNvSpPr/>
          <p:nvPr/>
        </p:nvSpPr>
        <p:spPr>
          <a:xfrm>
            <a:off x="609600" y="1905000"/>
            <a:ext cx="3429000" cy="3276600"/>
          </a:xfrm>
          <a:prstGeom prst="roundRect">
            <a:avLst/>
          </a:prstGeom>
          <a:solidFill>
            <a:srgbClr val="FFFFFF"/>
          </a:solidFill>
          <a:ln w="10160">
            <a:solidFill>
              <a:srgbClr val="CBD5E1"/>
            </a:solidFill>
          </a:ln>
        </p:spPr>
        <p:txBody>
          <a:bodyPr/>
          <a:lstStyle/>
          <a:p/>
        </p:txBody>
      </p:sp>
      <p:sp>
        <p:nvSpPr>
          <p:cNvPr id="111" name="Card accent 1"/>
          <p:cNvSpPr/>
          <p:nvPr/>
        </p:nvSpPr>
        <p:spPr>
          <a:xfrm>
            <a:off x="609600" y="1905000"/>
            <a:ext cx="88900" cy="3276600"/>
          </a:xfrm>
          <a:prstGeom prst="rect">
            <a:avLst/>
          </a:prstGeom>
          <a:solidFill>
            <a:srgbClr val="157A55"/>
          </a:solidFill>
          <a:ln w="10160">
            <a:solidFill>
              <a:srgbClr val="157A55"/>
            </a:solidFill>
          </a:ln>
        </p:spPr>
        <p:txBody>
          <a:bodyPr/>
          <a:lstStyle/>
          <a:p/>
        </p:txBody>
      </p:sp>
      <p:sp>
        <p:nvSpPr>
          <p:cNvPr id="112" name="Card title 1"/>
          <p:cNvSpPr txBox="1"/>
          <p:nvPr/>
        </p:nvSpPr>
        <p:spPr>
          <a:xfrm>
            <a:off x="914400" y="2247900"/>
            <a:ext cx="2794000" cy="431800"/>
          </a:xfrm>
          <a:prstGeom prst="rect">
            <a:avLst/>
          </a:prstGeom>
          <a:noFill/>
        </p:spPr>
        <p:txBody>
          <a:bodyPr vert="horz" wrap="square" lIns="0" tIns="0" rIns="0" bIns="0" rtlCol="0">
            <a:spAutoFit/>
          </a:bodyPr>
          <a:lstStyle/>
          <a:p>
            <a:pPr algn="l"/>
            <a:r>
              <a:rPr lang="en-US" sz="1550" b="1">
                <a:solidFill>
                  <a:srgbClr val="157A55"/>
                </a:solidFill>
                <a:latin typeface="Aptos Display"/>
              </a:rPr>
              <a:t>Where cost comes from</a:t>
            </a:r>
          </a:p>
        </p:txBody>
      </p:sp>
      <p:sp>
        <p:nvSpPr>
          <p:cNvPr id="113" name="Card content 1"/>
          <p:cNvSpPr txBox="1"/>
          <p:nvPr/>
        </p:nvSpPr>
        <p:spPr>
          <a:xfrm>
            <a:off x="914400" y="2984500"/>
            <a:ext cx="2794000" cy="1841500"/>
          </a:xfrm>
          <a:prstGeom prst="rect">
            <a:avLst/>
          </a:prstGeom>
          <a:noFill/>
        </p:spPr>
        <p:txBody>
          <a:bodyPr vert="horz" wrap="square" lIns="0" tIns="0" rIns="0" bIns="0" rtlCol="0">
            <a:spAutoFit/>
          </a:bodyPr>
          <a:lstStyle/>
          <a:p>
            <a:pPr algn="l"/>
            <a:r>
              <a:rPr lang="en-US" sz="1010">
                <a:solidFill>
                  <a:srgbClr val="17243A"/>
                </a:solidFill>
                <a:latin typeface="Aptos"/>
              </a:rPr>
              <a:t>+ Fixed: compute, database and storage</a:t>
            </a:r>
          </a:p>
          <a:p>
            <a:pPr algn="l"/>
            <a:r>
              <a:rPr lang="en-US" sz="1010">
                <a:solidFill>
                  <a:srgbClr val="17243A"/>
                </a:solidFill>
                <a:latin typeface="Aptos"/>
              </a:rPr>
              <a:t>+ Variable: transcription and AI suggestions</a:t>
            </a:r>
          </a:p>
          <a:p>
            <a:pPr algn="l"/>
            <a:r>
              <a:rPr lang="en-US" sz="1010">
                <a:solidFill>
                  <a:srgbClr val="17243A"/>
                </a:solidFill>
                <a:latin typeface="Aptos"/>
              </a:rPr>
              <a:t>+ Ongoing: email, monitoring and backups</a:t>
            </a:r>
          </a:p>
          <a:p>
            <a:pPr algn="l"/>
            <a:r>
              <a:rPr lang="en-US" sz="1010">
                <a:solidFill>
                  <a:srgbClr val="17243A"/>
                </a:solidFill>
                <a:latin typeface="Aptos"/>
              </a:rPr>
              <a:t>+ Continuous: accessibility, security and maintenance</a:t>
            </a:r>
          </a:p>
        </p:txBody>
      </p:sp>
      <p:sp>
        <p:nvSpPr>
          <p:cNvPr id="120" name="Card 2"/>
          <p:cNvSpPr/>
          <p:nvPr/>
        </p:nvSpPr>
        <p:spPr>
          <a:xfrm>
            <a:off x="4381500" y="1905000"/>
            <a:ext cx="3429000" cy="3276600"/>
          </a:xfrm>
          <a:prstGeom prst="roundRect">
            <a:avLst/>
          </a:prstGeom>
          <a:solidFill>
            <a:srgbClr val="FFFFFF"/>
          </a:solidFill>
          <a:ln w="10160">
            <a:solidFill>
              <a:srgbClr val="CBD5E1"/>
            </a:solidFill>
          </a:ln>
        </p:spPr>
        <p:txBody>
          <a:bodyPr/>
          <a:lstStyle/>
          <a:p/>
        </p:txBody>
      </p:sp>
      <p:sp>
        <p:nvSpPr>
          <p:cNvPr id="121" name="Card accent 2"/>
          <p:cNvSpPr/>
          <p:nvPr/>
        </p:nvSpPr>
        <p:spPr>
          <a:xfrm>
            <a:off x="4381500" y="1905000"/>
            <a:ext cx="88900" cy="3276600"/>
          </a:xfrm>
          <a:prstGeom prst="rect">
            <a:avLst/>
          </a:prstGeom>
          <a:solidFill>
            <a:srgbClr val="1565D8"/>
          </a:solidFill>
          <a:ln w="10160">
            <a:solidFill>
              <a:srgbClr val="1565D8"/>
            </a:solidFill>
          </a:ln>
        </p:spPr>
        <p:txBody>
          <a:bodyPr/>
          <a:lstStyle/>
          <a:p/>
        </p:txBody>
      </p:sp>
      <p:sp>
        <p:nvSpPr>
          <p:cNvPr id="122" name="Card title 2"/>
          <p:cNvSpPr txBox="1"/>
          <p:nvPr/>
        </p:nvSpPr>
        <p:spPr>
          <a:xfrm>
            <a:off x="4686300" y="2247900"/>
            <a:ext cx="2794000" cy="431800"/>
          </a:xfrm>
          <a:prstGeom prst="rect">
            <a:avLst/>
          </a:prstGeom>
          <a:noFill/>
        </p:spPr>
        <p:txBody>
          <a:bodyPr vert="horz" wrap="square" lIns="0" tIns="0" rIns="0" bIns="0" rtlCol="0">
            <a:spAutoFit/>
          </a:bodyPr>
          <a:lstStyle/>
          <a:p>
            <a:pPr algn="l"/>
            <a:r>
              <a:rPr lang="en-US" sz="1550" b="1">
                <a:solidFill>
                  <a:srgbClr val="1565D8"/>
                </a:solidFill>
                <a:latin typeface="Aptos Display"/>
              </a:rPr>
              <a:t>How cost is controlled</a:t>
            </a:r>
          </a:p>
        </p:txBody>
      </p:sp>
      <p:sp>
        <p:nvSpPr>
          <p:cNvPr id="123" name="Card content 2"/>
          <p:cNvSpPr txBox="1"/>
          <p:nvPr/>
        </p:nvSpPr>
        <p:spPr>
          <a:xfrm>
            <a:off x="4686300" y="2984500"/>
            <a:ext cx="2794000" cy="1841500"/>
          </a:xfrm>
          <a:prstGeom prst="rect">
            <a:avLst/>
          </a:prstGeom>
          <a:noFill/>
        </p:spPr>
        <p:txBody>
          <a:bodyPr vert="horz" wrap="square" lIns="0" tIns="0" rIns="0" bIns="0" rtlCol="0">
            <a:spAutoFit/>
          </a:bodyPr>
          <a:lstStyle/>
          <a:p>
            <a:pPr algn="l"/>
            <a:r>
              <a:rPr lang="en-US" sz="1010">
                <a:solidFill>
                  <a:srgbClr val="17243A"/>
                </a:solidFill>
                <a:latin typeface="Aptos"/>
              </a:rPr>
              <a:t>+ Deterministic rules before AI</a:t>
            </a:r>
          </a:p>
          <a:p>
            <a:pPr algn="l"/>
            <a:r>
              <a:rPr lang="en-US" sz="1010">
                <a:solidFill>
                  <a:srgbClr val="17243A"/>
                </a:solidFill>
                <a:latin typeface="Aptos"/>
              </a:rPr>
              <a:t>+ Daily quotas and request-size limits</a:t>
            </a:r>
          </a:p>
          <a:p>
            <a:pPr algn="l"/>
            <a:r>
              <a:rPr lang="en-US" sz="1010">
                <a:solidFill>
                  <a:srgbClr val="17243A"/>
                </a:solidFill>
                <a:latin typeface="Aptos"/>
              </a:rPr>
              <a:t>+ Lower-cost model routing</a:t>
            </a:r>
          </a:p>
          <a:p>
            <a:pPr algn="l"/>
            <a:r>
              <a:rPr lang="en-US" sz="1010">
                <a:solidFill>
                  <a:srgbClr val="17243A"/>
                </a:solidFill>
                <a:latin typeface="Aptos"/>
              </a:rPr>
              <a:t>+ Browser speech synthesis first</a:t>
            </a:r>
          </a:p>
          <a:p>
            <a:pPr algn="l"/>
            <a:r>
              <a:rPr lang="en-US" sz="1010">
                <a:solidFill>
                  <a:srgbClr val="17243A"/>
                </a:solidFill>
                <a:latin typeface="Aptos"/>
              </a:rPr>
              <a:t>+ Usage records, alerts and manual fallback</a:t>
            </a:r>
          </a:p>
        </p:txBody>
      </p:sp>
      <p:sp>
        <p:nvSpPr>
          <p:cNvPr id="130" name="Card 3"/>
          <p:cNvSpPr/>
          <p:nvPr/>
        </p:nvSpPr>
        <p:spPr>
          <a:xfrm>
            <a:off x="8153400" y="1905000"/>
            <a:ext cx="3429000" cy="3276600"/>
          </a:xfrm>
          <a:prstGeom prst="roundRect">
            <a:avLst/>
          </a:prstGeom>
          <a:solidFill>
            <a:srgbClr val="FFFFFF"/>
          </a:solidFill>
          <a:ln w="10160">
            <a:solidFill>
              <a:srgbClr val="CBD5E1"/>
            </a:solidFill>
          </a:ln>
        </p:spPr>
        <p:txBody>
          <a:bodyPr/>
          <a:lstStyle/>
          <a:p/>
        </p:txBody>
      </p:sp>
      <p:sp>
        <p:nvSpPr>
          <p:cNvPr id="131" name="Card accent 3"/>
          <p:cNvSpPr/>
          <p:nvPr/>
        </p:nvSpPr>
        <p:spPr>
          <a:xfrm>
            <a:off x="8153400" y="1905000"/>
            <a:ext cx="88900" cy="3276600"/>
          </a:xfrm>
          <a:prstGeom prst="rect">
            <a:avLst/>
          </a:prstGeom>
          <a:solidFill>
            <a:srgbClr val="A64B2A"/>
          </a:solidFill>
          <a:ln w="10160">
            <a:solidFill>
              <a:srgbClr val="A64B2A"/>
            </a:solidFill>
          </a:ln>
        </p:spPr>
        <p:txBody>
          <a:bodyPr/>
          <a:lstStyle/>
          <a:p/>
        </p:txBody>
      </p:sp>
      <p:sp>
        <p:nvSpPr>
          <p:cNvPr id="132" name="Card title 3"/>
          <p:cNvSpPr txBox="1"/>
          <p:nvPr/>
        </p:nvSpPr>
        <p:spPr>
          <a:xfrm>
            <a:off x="8458200" y="2247900"/>
            <a:ext cx="2794000" cy="431800"/>
          </a:xfrm>
          <a:prstGeom prst="rect">
            <a:avLst/>
          </a:prstGeom>
          <a:noFill/>
        </p:spPr>
        <p:txBody>
          <a:bodyPr vert="horz" wrap="square" lIns="0" tIns="0" rIns="0" bIns="0" rtlCol="0">
            <a:spAutoFit/>
          </a:bodyPr>
          <a:lstStyle/>
          <a:p>
            <a:pPr algn="l"/>
            <a:r>
              <a:rPr lang="en-US" sz="1550" b="1">
                <a:solidFill>
                  <a:srgbClr val="A64B2A"/>
                </a:solidFill>
                <a:latin typeface="Aptos Display"/>
              </a:rPr>
              <a:t>Future solution</a:t>
            </a:r>
          </a:p>
        </p:txBody>
      </p:sp>
      <p:sp>
        <p:nvSpPr>
          <p:cNvPr id="133" name="Card content 3"/>
          <p:cNvSpPr txBox="1"/>
          <p:nvPr/>
        </p:nvSpPr>
        <p:spPr>
          <a:xfrm>
            <a:off x="8458200" y="2984500"/>
            <a:ext cx="2794000" cy="1841500"/>
          </a:xfrm>
          <a:prstGeom prst="rect">
            <a:avLst/>
          </a:prstGeom>
          <a:noFill/>
        </p:spPr>
        <p:txBody>
          <a:bodyPr vert="horz" wrap="square" lIns="0" tIns="0" rIns="0" bIns="0" rtlCol="0">
            <a:spAutoFit/>
          </a:bodyPr>
          <a:lstStyle/>
          <a:p>
            <a:pPr algn="l"/>
            <a:r>
              <a:rPr lang="en-US" sz="1010">
                <a:solidFill>
                  <a:srgbClr val="17243A"/>
                </a:solidFill>
                <a:latin typeface="Aptos"/>
              </a:rPr>
              <a:t>+ Prefilter 20-40 relevant catalogue tasks</a:t>
            </a:r>
          </a:p>
          <a:p>
            <a:pPr algn="l"/>
            <a:r>
              <a:rPr lang="en-US" sz="1010">
                <a:solidFill>
                  <a:srgbClr val="17243A"/>
                </a:solidFill>
                <a:latin typeface="Aptos"/>
              </a:rPr>
              <a:t>+ Optimize queries, then selectively cache</a:t>
            </a:r>
          </a:p>
          <a:p>
            <a:pPr algn="l"/>
            <a:r>
              <a:rPr lang="en-US" sz="1010">
                <a:solidFill>
                  <a:srgbClr val="17243A"/>
                </a:solidFill>
                <a:latin typeface="Aptos"/>
              </a:rPr>
              <a:t>+ Separate staging and production budgets</a:t>
            </a:r>
          </a:p>
          <a:p>
            <a:pPr algn="l"/>
            <a:r>
              <a:rPr lang="en-US" sz="1010">
                <a:solidFill>
                  <a:srgbClr val="17243A"/>
                </a:solidFill>
                <a:latin typeface="Aptos"/>
              </a:rPr>
              <a:t>+ Emergency AI circuit breaker</a:t>
            </a:r>
          </a:p>
          <a:p>
            <a:pPr algn="l"/>
            <a:r>
              <a:rPr lang="en-US" sz="1010">
                <a:solidFill>
                  <a:srgbClr val="17243A"/>
                </a:solidFill>
                <a:latin typeface="Aptos"/>
              </a:rPr>
              <a:t>+ Evaluate self-hosted options at higher scale</a:t>
            </a:r>
          </a:p>
        </p:txBody>
      </p:sp>
      <p:sp>
        <p:nvSpPr>
          <p:cNvPr id="150" name="Pilot guardrails"/>
          <p:cNvSpPr/>
          <p:nvPr/>
        </p:nvSpPr>
        <p:spPr>
          <a:xfrm>
            <a:off x="1016000" y="5461000"/>
            <a:ext cx="10160000" cy="711200"/>
          </a:xfrm>
          <a:prstGeom prst="roundRect">
            <a:avLst/>
          </a:prstGeom>
          <a:solidFill>
            <a:srgbClr val="0B1F49"/>
          </a:solidFill>
          <a:ln w="10160">
            <a:solidFill>
              <a:srgbClr val="0B1F49"/>
            </a:solidFill>
          </a:ln>
        </p:spPr>
        <p:txBody>
          <a:bodyPr/>
          <a:lstStyle/>
          <a:p/>
        </p:txBody>
      </p:sp>
      <p:sp>
        <p:nvSpPr>
          <p:cNvPr id="151" name="Pilot label"/>
          <p:cNvSpPr txBox="1"/>
          <p:nvPr/>
        </p:nvSpPr>
        <p:spPr>
          <a:xfrm>
            <a:off x="1320800" y="5638800"/>
            <a:ext cx="1524000" cy="228600"/>
          </a:xfrm>
          <a:prstGeom prst="rect">
            <a:avLst/>
          </a:prstGeom>
          <a:noFill/>
        </p:spPr>
        <p:txBody>
          <a:bodyPr vert="horz" wrap="square" lIns="0" tIns="0" rIns="0" bIns="0" rtlCol="0">
            <a:spAutoFit/>
          </a:bodyPr>
          <a:lstStyle/>
          <a:p>
            <a:pPr algn="l"/>
            <a:r>
              <a:rPr lang="en-US" sz="950" b="1">
                <a:solidFill>
                  <a:srgbClr val="157A55"/>
                </a:solidFill>
                <a:latin typeface="Aptos"/>
              </a:rPr>
              <a:t>PILOT GUARDRAILS</a:t>
            </a:r>
          </a:p>
        </p:txBody>
      </p:sp>
      <p:sp>
        <p:nvSpPr>
          <p:cNvPr id="152" name="Pilot limits"/>
          <p:cNvSpPr txBox="1"/>
          <p:nvPr/>
        </p:nvSpPr>
        <p:spPr>
          <a:xfrm>
            <a:off x="2857500" y="5600700"/>
            <a:ext cx="7937500" cy="406400"/>
          </a:xfrm>
          <a:prstGeom prst="rect">
            <a:avLst/>
          </a:prstGeom>
          <a:noFill/>
        </p:spPr>
        <p:txBody>
          <a:bodyPr vert="horz" wrap="square" lIns="0" tIns="0" rIns="0" bIns="0" rtlCol="0">
            <a:spAutoFit/>
          </a:bodyPr>
          <a:lstStyle/>
          <a:p>
            <a:pPr algn="ctr"/>
            <a:r>
              <a:rPr lang="en-US" sz="930" b="1">
                <a:solidFill>
                  <a:srgbClr val="FFFFFF"/>
                </a:solidFill>
                <a:latin typeface="Aptos"/>
              </a:rPr>
              <a:t>3 profile suggestions/day | 5 transcriptions/day (max 90 s)</a:t>
            </a:r>
          </a:p>
          <a:p>
            <a:pPr algn="ctr"/>
            <a:r>
              <a:rPr lang="en-US" sz="930" b="1">
                <a:solidFill>
                  <a:srgbClr val="FFFFFF"/>
                </a:solidFill>
                <a:latin typeface="Aptos"/>
              </a:rPr>
              <a:t>60 voice commands/day | 10 page questions/day</a:t>
            </a:r>
          </a:p>
        </p:txBody>
      </p:sp>
      <p:sp>
        <p:nvSpPr>
          <p:cNvPr id="160" name="Footer rule"/>
          <p:cNvSpPr/>
          <p:nvPr/>
        </p:nvSpPr>
        <p:spPr>
          <a:xfrm>
            <a:off x="609600" y="6451600"/>
            <a:ext cx="10972800" cy="10160"/>
          </a:xfrm>
          <a:prstGeom prst="rect">
            <a:avLst/>
          </a:prstGeom>
          <a:solidFill>
            <a:srgbClr val="CBD5E1"/>
          </a:solidFill>
          <a:ln w="10160">
            <a:solidFill>
              <a:srgbClr val="CBD5E1"/>
            </a:solidFill>
          </a:ln>
        </p:spPr>
        <p:txBody>
          <a:bodyPr/>
          <a:lstStyle/>
          <a:p/>
        </p:txBody>
      </p:sp>
      <p:sp>
        <p:nvSpPr>
          <p:cNvPr id="161" name="Footer"/>
          <p:cNvSpPr txBox="1"/>
          <p:nvPr/>
        </p:nvSpPr>
        <p:spPr>
          <a:xfrm>
            <a:off x="609600" y="6540500"/>
            <a:ext cx="9017000" cy="177800"/>
          </a:xfrm>
          <a:prstGeom prst="rect">
            <a:avLst/>
          </a:prstGeom>
          <a:noFill/>
        </p:spPr>
        <p:txBody>
          <a:bodyPr vert="horz" wrap="square" lIns="0" tIns="0" rIns="0" bIns="0" rtlCol="0">
            <a:spAutoFit/>
          </a:bodyPr>
          <a:lstStyle/>
          <a:p>
            <a:pPr algn="l"/>
            <a:r>
              <a:rPr lang="en-US" sz="720">
                <a:solidFill>
                  <a:srgbClr val="5D6B80"/>
                </a:solidFill>
                <a:latin typeface="Aptos"/>
              </a:rPr>
              <a:t>INCLUSIVE WEB PLATFORM | FINAL ENGINEERING PRESENTATION | 14 SEP 2026</a:t>
            </a:r>
          </a:p>
        </p:txBody>
      </p:sp>
      <p:sp>
        <p:nvSpPr>
          <p:cNvPr id="162" name="Slide code"/>
          <p:cNvSpPr txBox="1"/>
          <p:nvPr/>
        </p:nvSpPr>
        <p:spPr>
          <a:xfrm>
            <a:off x="10998200" y="6527800"/>
            <a:ext cx="584200" cy="177800"/>
          </a:xfrm>
          <a:prstGeom prst="rect">
            <a:avLst/>
          </a:prstGeom>
          <a:noFill/>
        </p:spPr>
        <p:txBody>
          <a:bodyPr vert="horz" wrap="square" lIns="0" tIns="0" rIns="0" bIns="0" rtlCol="0">
            <a:spAutoFit/>
          </a:bodyPr>
          <a:lstStyle/>
          <a:p>
            <a:pPr algn="r"/>
            <a:r>
              <a:rPr lang="en-US" sz="800" b="1">
                <a:solidFill>
                  <a:srgbClr val="A64B2A"/>
                </a:solidFill>
                <a:latin typeface="Aptos"/>
              </a:rPr>
              <a:t>COST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216</Words>
  <Application>Microsoft Office PowerPoint</Application>
  <PresentationFormat>Custom</PresentationFormat>
  <Paragraphs>27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Zaidan Mansour</dc:creator>
  <cp:lastModifiedBy>Zaidan Mansour</cp:lastModifiedBy>
  <cp:revision>1</cp:revision>
  <dcterms:created xsi:type="dcterms:W3CDTF">2026-09-12T14:00:29Z</dcterms:created>
  <dcterms:modified xsi:type="dcterms:W3CDTF">2026-09-12T14:00:29Z</dcterms:modified>
</cp:coreProperties>
</file>