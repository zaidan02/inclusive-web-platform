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05135-43AD-4F73-8AA8-6019E401CD6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C0E44-6376-4E44-9AE2-F42C8312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2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Users interact through React. Standard application requests go to Symfony, which owns authentication, authorization, validation, workflow and persistence. Symfony calls the deterministic scoring service and the protected profile-extraction endpoint. For live transcription and navigation, React calls the voice service directly. Only the voice/profile service calls OpenAI. Neither Python service accesses persistence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C0E44-6376-4E44-9AE2-F42C8312E1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2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5378-6ADE-6AA8-F393-BB99A938E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3BDD8-8E31-A26A-FA69-19A2478A0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07C2C-AA9F-8A65-F0DA-AF022999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1FCE0-F198-C1B3-FAC4-57CF1E7B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F8978-7A94-6D8F-C2DF-84AEEDF1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8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9D54-5E50-80A0-59BF-BEB94DF8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A0A9-8CBE-3B0A-F1DC-4C0BFAFFE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F5F31-090C-02CB-4BB4-02FA2434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F187-ACAB-8A4F-E582-C45DD860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34716-A24D-D8AF-4B9D-6F2776FF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32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6B42-2787-250B-1852-C9A691B7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0EEA3-2A48-E301-6F18-C458CD6B3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7B1EB-E2C8-BDD0-F715-440D1B0B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D52C3-147E-C4D9-F85E-8B8BBEB8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0B9A3-9A99-47BD-9F06-F5D67BBD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F006-50FE-A932-136A-6E744460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D009-EE23-BF70-D42B-E274B7495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94EF5-1A09-088A-A416-65FCC17C3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FA966-CD17-3AB4-1CCE-281309551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F5B1F-3A76-C5FA-84C0-4BAA54D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93580-70D3-460A-34AD-8F80C300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1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AA88-88A3-1EAE-087C-1DF9BF5C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85B2E-1030-4B9D-6AB5-BA734A607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F0C0C-6B84-97F9-4634-CF9080424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F3FC2-0364-51F2-1ACC-327AE7E35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55F379-EF8A-97E2-2C1B-80F1A0FCD1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CDA81E-65BA-7FC7-B6CA-7316974B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AE1D1-1C35-44B7-EB04-58279D1C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E89EC-36B6-419B-6783-1C628098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3804-03F6-BC0B-B34A-5D91F098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D3523-45CD-E4B8-0232-3C9F4760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143C0-F43D-C781-FE8E-C7873BD1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B7340-F5B4-54C2-7555-BC68A7AD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35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BD9F0-FADB-E133-E589-D5A0FA07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D73B4-5E6E-8671-2344-73D90EEFB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5F249-7B8E-3732-C09E-29B52A67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8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7CC7-2BD2-1938-AA1E-763DE2E3F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DC81B-AC1F-B750-2158-A99D886DC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C587B-E20C-B8CA-CFB0-694647B7C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8B956-6CE0-C271-C180-DD6C5C7F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48F6C-8BD5-E5F6-3CC7-4626F72F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781E3-C039-08C9-A0D7-D3AB57DA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2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F6AE-6F85-8EAB-44FE-58D9B4D2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B6C5C-F159-AD0D-C0B0-9B67876F8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283BD-A636-292C-5F5E-158B835E8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7E1F0-2675-BB18-D518-047EEA86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5F297-2963-A55E-33ED-5CE262ABD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A99AF-7054-0C5E-32D5-985AE7B6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5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B2BB-A3A7-3B5B-B45A-B89A549F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22DCE-45C5-768C-947D-ECD705E90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E2AE6-4297-C880-7FEA-89C24A99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09BEA-2AC9-5735-3275-57C57C95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41E24-B2CC-3693-3773-AF20ABB2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5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36359-A55D-FE42-09E9-6C05DBC8D3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3D39E-204D-9CAD-4E7F-DC2FA9272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9F198-4C13-632F-7C95-7EABC984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861A5-9348-018F-E448-33B54355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C3BA2-7B79-6C69-8773-09C748BE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0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A2F2F-1D65-67CB-E472-23787B0E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927F1-41DD-CA77-2F92-14AA3DF28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E0EF7-D6BE-A040-3B4C-DD331597D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A2451-CCAC-470A-BF87-B9098A048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D55DF-884F-0A7A-D293-C908AB658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09223-796D-DB07-FFD0-846DE5E58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C65DA-8F06-443F-B09F-2A308E44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5E5A84-E0D9-6388-CF98-0883A4C0890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7ACEE-8502-762C-B02B-69A49DE4D3F9}"/>
              </a:ext>
            </a:extLst>
          </p:cNvPr>
          <p:cNvSpPr txBox="1"/>
          <p:nvPr/>
        </p:nvSpPr>
        <p:spPr>
          <a:xfrm>
            <a:off x="609600" y="3429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ARCHITECTURAL DESIGN | SOFTWARE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E4FE4-CABE-A47B-D303-7EBC36E38978}"/>
              </a:ext>
            </a:extLst>
          </p:cNvPr>
          <p:cNvSpPr txBox="1"/>
          <p:nvPr/>
        </p:nvSpPr>
        <p:spPr>
          <a:xfrm>
            <a:off x="609600" y="6350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0B1F49"/>
                </a:solidFill>
                <a:latin typeface="Aptos Display" panose="020B0004020202020204" pitchFamily="34" charset="0"/>
              </a:rPr>
              <a:t>Implemented logical architecture and trust boundaries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AA02D-BF2C-5865-B021-6649FFFCED0E}"/>
              </a:ext>
            </a:extLst>
          </p:cNvPr>
          <p:cNvSpPr txBox="1"/>
          <p:nvPr/>
        </p:nvSpPr>
        <p:spPr>
          <a:xfrm>
            <a:off x="609600" y="1219200"/>
            <a:ext cx="105410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5D6B80"/>
                </a:solidFill>
                <a:latin typeface="Aptos" panose="020B0004020202020204" pitchFamily="34" charset="0"/>
              </a:rPr>
              <a:t>Provider-neutral view: persistence stays behind Symfony; voice uses one protected backend path and one bounded browser path.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7039D3D-5FA3-0010-80B2-973B521ED1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279400"/>
            <a:ext cx="711200" cy="317500"/>
          </a:xfrm>
          <a:prstGeom prst="rect">
            <a:avLst/>
          </a:prstGeom>
          <a:ln w="10160">
            <a:noFill/>
          </a:ln>
          <a:extLst>
            <a:ext uri="{91240B29-F687-4F45-9708-019B960494DF}">
              <a14:hiddenLine xmlns:a14="http://schemas.microsoft.com/office/drawing/2010/main" w="10160">
                <a:solidFill>
                  <a:srgbClr val="CBD5E1"/>
                </a:solidFill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12BECA-8BAA-94B0-2503-0E5587D839FA}"/>
              </a:ext>
            </a:extLst>
          </p:cNvPr>
          <p:cNvSpPr txBox="1"/>
          <p:nvPr/>
        </p:nvSpPr>
        <p:spPr>
          <a:xfrm>
            <a:off x="330200" y="3378200"/>
            <a:ext cx="736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B1F49"/>
                </a:solidFill>
                <a:latin typeface="Aptos Display" panose="020B0004020202020204" pitchFamily="34" charset="0"/>
              </a:rPr>
              <a:t>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5DB9BD-01FC-F47A-513A-AF9A8B8D967F}"/>
              </a:ext>
            </a:extLst>
          </p:cNvPr>
          <p:cNvSpPr/>
          <p:nvPr/>
        </p:nvSpPr>
        <p:spPr>
          <a:xfrm>
            <a:off x="1206500" y="2222500"/>
            <a:ext cx="2095500" cy="2603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F09116-BBED-EB98-6B37-8391EA4AD9AC}"/>
              </a:ext>
            </a:extLst>
          </p:cNvPr>
          <p:cNvSpPr/>
          <p:nvPr/>
        </p:nvSpPr>
        <p:spPr>
          <a:xfrm>
            <a:off x="1206500" y="2222500"/>
            <a:ext cx="88900" cy="2603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A925E-CF37-D8F8-5DE0-20521CB5D8D6}"/>
              </a:ext>
            </a:extLst>
          </p:cNvPr>
          <p:cNvSpPr txBox="1"/>
          <p:nvPr/>
        </p:nvSpPr>
        <p:spPr>
          <a:xfrm>
            <a:off x="1435100" y="2425700"/>
            <a:ext cx="1663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React / Vite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19671-773A-741E-8CC1-E86F6451258C}"/>
              </a:ext>
            </a:extLst>
          </p:cNvPr>
          <p:cNvSpPr txBox="1"/>
          <p:nvPr/>
        </p:nvSpPr>
        <p:spPr>
          <a:xfrm>
            <a:off x="1435100" y="2959100"/>
            <a:ext cx="16637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Accessible interface
Role workspaces
JWT client
Executes approved voice actions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6013B7-0091-29C1-8F80-8A902843268D}"/>
              </a:ext>
            </a:extLst>
          </p:cNvPr>
          <p:cNvSpPr/>
          <p:nvPr/>
        </p:nvSpPr>
        <p:spPr>
          <a:xfrm>
            <a:off x="4318000" y="1968500"/>
            <a:ext cx="2603500" cy="266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4571E-1792-76B5-5387-9123AA055811}"/>
              </a:ext>
            </a:extLst>
          </p:cNvPr>
          <p:cNvSpPr/>
          <p:nvPr/>
        </p:nvSpPr>
        <p:spPr>
          <a:xfrm>
            <a:off x="4318000" y="1968500"/>
            <a:ext cx="88900" cy="26670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92043E-DB2A-4985-33BE-2F23FB03C49A}"/>
              </a:ext>
            </a:extLst>
          </p:cNvPr>
          <p:cNvSpPr txBox="1"/>
          <p:nvPr/>
        </p:nvSpPr>
        <p:spPr>
          <a:xfrm>
            <a:off x="4546600" y="2171700"/>
            <a:ext cx="2171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Symfony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88C453-9590-749D-421F-33E6C4C9D747}"/>
              </a:ext>
            </a:extLst>
          </p:cNvPr>
          <p:cNvSpPr txBox="1"/>
          <p:nvPr/>
        </p:nvSpPr>
        <p:spPr>
          <a:xfrm>
            <a:off x="4546600" y="2705100"/>
            <a:ext cx="2171700" cy="5909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JWT + RBAC
Validation
Workflow orchestration
Only persistence gateway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BF087A-C6FE-331E-F281-D91ABD02E287}"/>
              </a:ext>
            </a:extLst>
          </p:cNvPr>
          <p:cNvSpPr/>
          <p:nvPr/>
        </p:nvSpPr>
        <p:spPr>
          <a:xfrm>
            <a:off x="8255000" y="1651000"/>
            <a:ext cx="3302000" cy="1333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E2E6AA-76D9-DF2E-8F64-A678570107C4}"/>
              </a:ext>
            </a:extLst>
          </p:cNvPr>
          <p:cNvSpPr/>
          <p:nvPr/>
        </p:nvSpPr>
        <p:spPr>
          <a:xfrm>
            <a:off x="8255000" y="1651000"/>
            <a:ext cx="88900" cy="13335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9661F-BEEA-EFDD-0E6A-154999B8A0A6}"/>
              </a:ext>
            </a:extLst>
          </p:cNvPr>
          <p:cNvSpPr txBox="1"/>
          <p:nvPr/>
        </p:nvSpPr>
        <p:spPr>
          <a:xfrm>
            <a:off x="8509000" y="18288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Persistence Layer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2BA4AC-ECEB-9D83-97F0-94F8B3A9595B}"/>
              </a:ext>
            </a:extLst>
          </p:cNvPr>
          <p:cNvCxnSpPr/>
          <p:nvPr/>
        </p:nvCxnSpPr>
        <p:spPr>
          <a:xfrm>
            <a:off x="9906000" y="2209800"/>
            <a:ext cx="0" cy="59690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F3272D-332B-1CBD-BC8E-2E0AE76A87B2}"/>
              </a:ext>
            </a:extLst>
          </p:cNvPr>
          <p:cNvSpPr txBox="1"/>
          <p:nvPr/>
        </p:nvSpPr>
        <p:spPr>
          <a:xfrm>
            <a:off x="8458200" y="2273300"/>
            <a:ext cx="13208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20">
                <a:solidFill>
                  <a:srgbClr val="17243A"/>
                </a:solidFill>
                <a:latin typeface="Aptos" panose="020B0004020202020204" pitchFamily="34" charset="0"/>
              </a:rPr>
              <a:t>PostgreSQL
Users, profiles, jobs,
applications, catalogue</a:t>
            </a:r>
            <a:endParaRPr lang="en-US" sz="82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B12D56-C309-5048-BC24-1BADD4441094}"/>
              </a:ext>
            </a:extLst>
          </p:cNvPr>
          <p:cNvSpPr txBox="1"/>
          <p:nvPr/>
        </p:nvSpPr>
        <p:spPr>
          <a:xfrm>
            <a:off x="10033000" y="2273300"/>
            <a:ext cx="13208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20">
                <a:solidFill>
                  <a:srgbClr val="17243A"/>
                </a:solidFill>
                <a:latin typeface="Aptos" panose="020B0004020202020204" pitchFamily="34" charset="0"/>
              </a:rPr>
              <a:t>Object storage
Private documents
Public employer logos</a:t>
            </a:r>
            <a:endParaRPr lang="en-US" sz="82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A99AEE1-4081-0FAA-9198-26C6C66728BD}"/>
              </a:ext>
            </a:extLst>
          </p:cNvPr>
          <p:cNvSpPr/>
          <p:nvPr/>
        </p:nvSpPr>
        <p:spPr>
          <a:xfrm>
            <a:off x="8255000" y="3238500"/>
            <a:ext cx="33020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D4D1CB-DE62-B552-F0B9-8C86695ACF7D}"/>
              </a:ext>
            </a:extLst>
          </p:cNvPr>
          <p:cNvSpPr/>
          <p:nvPr/>
        </p:nvSpPr>
        <p:spPr>
          <a:xfrm>
            <a:off x="8255000" y="3238500"/>
            <a:ext cx="88900" cy="13970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9BCD93-B5AE-AB82-CDED-59F07E95FDE6}"/>
              </a:ext>
            </a:extLst>
          </p:cNvPr>
          <p:cNvSpPr txBox="1"/>
          <p:nvPr/>
        </p:nvSpPr>
        <p:spPr>
          <a:xfrm>
            <a:off x="8483600" y="34417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Scoring Service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5C2842-2D2F-DB8C-5C73-72C069CCCD0D}"/>
              </a:ext>
            </a:extLst>
          </p:cNvPr>
          <p:cNvSpPr txBox="1"/>
          <p:nvPr/>
        </p:nvSpPr>
        <p:spPr>
          <a:xfrm>
            <a:off x="8483600" y="3975100"/>
            <a:ext cx="2870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Deterministic, versioned rules
Explainable JSON; no OpenAI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64BE06-D07A-39EA-FB6E-07E27BCF8CED}"/>
              </a:ext>
            </a:extLst>
          </p:cNvPr>
          <p:cNvSpPr/>
          <p:nvPr/>
        </p:nvSpPr>
        <p:spPr>
          <a:xfrm>
            <a:off x="4318000" y="48895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01802A-D525-59A6-0F6F-C7425CE895F1}"/>
              </a:ext>
            </a:extLst>
          </p:cNvPr>
          <p:cNvSpPr/>
          <p:nvPr/>
        </p:nvSpPr>
        <p:spPr>
          <a:xfrm>
            <a:off x="4318000" y="4889500"/>
            <a:ext cx="88900" cy="1270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F9DDE-EBFA-50F2-A47C-2C70DA2D16B1}"/>
              </a:ext>
            </a:extLst>
          </p:cNvPr>
          <p:cNvSpPr txBox="1"/>
          <p:nvPr/>
        </p:nvSpPr>
        <p:spPr>
          <a:xfrm>
            <a:off x="4546600" y="5092700"/>
            <a:ext cx="2171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Voice / Profile Service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C4230-EE80-5406-E406-145C2B7261E4}"/>
              </a:ext>
            </a:extLst>
          </p:cNvPr>
          <p:cNvSpPr txBox="1"/>
          <p:nvPr/>
        </p:nvSpPr>
        <p:spPr>
          <a:xfrm>
            <a:off x="4546600" y="5626100"/>
            <a:ext cx="2171700" cy="4431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Transcription and NLP
Schema-constrained suggestions
Bounded command proposals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FEB278-90D0-6CF7-F7D0-D408A62C41ED}"/>
              </a:ext>
            </a:extLst>
          </p:cNvPr>
          <p:cNvSpPr/>
          <p:nvPr/>
        </p:nvSpPr>
        <p:spPr>
          <a:xfrm>
            <a:off x="8255000" y="4889500"/>
            <a:ext cx="3302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375F72-5DC4-8C25-5E30-0B5939FEFAE3}"/>
              </a:ext>
            </a:extLst>
          </p:cNvPr>
          <p:cNvSpPr/>
          <p:nvPr/>
        </p:nvSpPr>
        <p:spPr>
          <a:xfrm>
            <a:off x="8255000" y="4889500"/>
            <a:ext cx="88900" cy="1270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0B14B1-F68C-2A70-24BB-DB6B0EB31E6B}"/>
              </a:ext>
            </a:extLst>
          </p:cNvPr>
          <p:cNvSpPr txBox="1"/>
          <p:nvPr/>
        </p:nvSpPr>
        <p:spPr>
          <a:xfrm>
            <a:off x="8483600" y="50927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OpenAI API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9633FF-7096-7D31-9FBA-FE40C8EC5C27}"/>
              </a:ext>
            </a:extLst>
          </p:cNvPr>
          <p:cNvSpPr txBox="1"/>
          <p:nvPr/>
        </p:nvSpPr>
        <p:spPr>
          <a:xfrm>
            <a:off x="8483600" y="5626100"/>
            <a:ext cx="2870200" cy="4431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External provider
No database authority
Replaceable adapter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C8F09A-A897-090D-6095-9EC4A9D21FCD}"/>
              </a:ext>
            </a:extLst>
          </p:cNvPr>
          <p:cNvCxnSpPr/>
          <p:nvPr/>
        </p:nvCxnSpPr>
        <p:spPr>
          <a:xfrm>
            <a:off x="990600" y="3505200"/>
            <a:ext cx="2159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50D8C2-D405-4E4C-234E-C214331589F2}"/>
              </a:ext>
            </a:extLst>
          </p:cNvPr>
          <p:cNvCxnSpPr/>
          <p:nvPr/>
        </p:nvCxnSpPr>
        <p:spPr>
          <a:xfrm>
            <a:off x="3302000" y="3175000"/>
            <a:ext cx="1016000" cy="0"/>
          </a:xfrm>
          <a:prstGeom prst="line">
            <a:avLst/>
          </a:prstGeom>
          <a:ln w="29210">
            <a:solidFill>
              <a:srgbClr val="1565D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06BA0BB-4994-95D2-7BE9-A5A335A87A75}"/>
              </a:ext>
            </a:extLst>
          </p:cNvPr>
          <p:cNvSpPr txBox="1"/>
          <p:nvPr/>
        </p:nvSpPr>
        <p:spPr>
          <a:xfrm>
            <a:off x="3505200" y="2933700"/>
            <a:ext cx="609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20" b="1">
                <a:solidFill>
                  <a:srgbClr val="1565D8"/>
                </a:solidFill>
                <a:latin typeface="Aptos" panose="020B0004020202020204" pitchFamily="34" charset="0"/>
              </a:rPr>
              <a:t>JWT API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EEA38B4-90AA-895F-3FBB-F734CCA169C3}"/>
              </a:ext>
            </a:extLst>
          </p:cNvPr>
          <p:cNvCxnSpPr/>
          <p:nvPr/>
        </p:nvCxnSpPr>
        <p:spPr>
          <a:xfrm flipV="1">
            <a:off x="6921500" y="2311400"/>
            <a:ext cx="1333500" cy="38100"/>
          </a:xfrm>
          <a:prstGeom prst="line">
            <a:avLst/>
          </a:prstGeom>
          <a:ln w="29210">
            <a:solidFill>
              <a:srgbClr val="157A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07B0EE-6C79-3F88-D579-2F6BFF6933BD}"/>
              </a:ext>
            </a:extLst>
          </p:cNvPr>
          <p:cNvSpPr txBox="1"/>
          <p:nvPr/>
        </p:nvSpPr>
        <p:spPr>
          <a:xfrm>
            <a:off x="6959600" y="2032000"/>
            <a:ext cx="12446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60" b="1">
                <a:solidFill>
                  <a:srgbClr val="157A55"/>
                </a:solidFill>
                <a:latin typeface="Aptos" panose="020B0004020202020204" pitchFamily="34" charset="0"/>
              </a:rPr>
              <a:t>Doctrine + storage adapter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E318305-E49B-345F-66C1-A991281C7B25}"/>
              </a:ext>
            </a:extLst>
          </p:cNvPr>
          <p:cNvCxnSpPr/>
          <p:nvPr/>
        </p:nvCxnSpPr>
        <p:spPr>
          <a:xfrm>
            <a:off x="6921500" y="3810000"/>
            <a:ext cx="1333500" cy="63500"/>
          </a:xfrm>
          <a:prstGeom prst="line">
            <a:avLst/>
          </a:prstGeom>
          <a:ln w="29210">
            <a:solidFill>
              <a:srgbClr val="C27A1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9019115-0147-8DFC-A323-0294ECBF951B}"/>
              </a:ext>
            </a:extLst>
          </p:cNvPr>
          <p:cNvSpPr txBox="1"/>
          <p:nvPr/>
        </p:nvSpPr>
        <p:spPr>
          <a:xfrm>
            <a:off x="7188200" y="3581400"/>
            <a:ext cx="8509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80" b="1">
                <a:solidFill>
                  <a:srgbClr val="C27A19"/>
                </a:solidFill>
                <a:latin typeface="Aptos" panose="020B0004020202020204" pitchFamily="34" charset="0"/>
              </a:rPr>
              <a:t>Service token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20C0BE-1EEC-4BD4-A96B-516FFE9B8E7E}"/>
              </a:ext>
            </a:extLst>
          </p:cNvPr>
          <p:cNvCxnSpPr/>
          <p:nvPr/>
        </p:nvCxnSpPr>
        <p:spPr>
          <a:xfrm>
            <a:off x="5588000" y="4635500"/>
            <a:ext cx="0" cy="254000"/>
          </a:xfrm>
          <a:prstGeom prst="line">
            <a:avLst/>
          </a:prstGeom>
          <a:ln w="2921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31D5560-E034-EE92-35F6-9A75479DC7F6}"/>
              </a:ext>
            </a:extLst>
          </p:cNvPr>
          <p:cNvSpPr txBox="1"/>
          <p:nvPr/>
        </p:nvSpPr>
        <p:spPr>
          <a:xfrm>
            <a:off x="5689600" y="4699000"/>
            <a:ext cx="15621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50" b="1">
                <a:solidFill>
                  <a:srgbClr val="563A4B"/>
                </a:solidFill>
                <a:latin typeface="Aptos" panose="020B0004020202020204" pitchFamily="34" charset="0"/>
              </a:rPr>
              <a:t>Protected profile suggestions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3AB07F-26A0-9CB8-4D6E-487DBC14637C}"/>
              </a:ext>
            </a:extLst>
          </p:cNvPr>
          <p:cNvCxnSpPr/>
          <p:nvPr/>
        </p:nvCxnSpPr>
        <p:spPr>
          <a:xfrm>
            <a:off x="3302000" y="4445000"/>
            <a:ext cx="1016000" cy="1104900"/>
          </a:xfrm>
          <a:prstGeom prst="line">
            <a:avLst/>
          </a:prstGeom>
          <a:ln w="2921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A52E6E8-D274-AE6D-78F6-3E41FD810140}"/>
              </a:ext>
            </a:extLst>
          </p:cNvPr>
          <p:cNvSpPr txBox="1"/>
          <p:nvPr/>
        </p:nvSpPr>
        <p:spPr>
          <a:xfrm>
            <a:off x="3149600" y="4838700"/>
            <a:ext cx="11684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50" b="1">
                <a:solidFill>
                  <a:srgbClr val="563A4B"/>
                </a:solidFill>
                <a:latin typeface="Aptos" panose="020B0004020202020204" pitchFamily="34" charset="0"/>
              </a:rPr>
              <a:t>Audio + navigation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C1CBE-7368-AEBF-9D0F-C13AF30D09A7}"/>
              </a:ext>
            </a:extLst>
          </p:cNvPr>
          <p:cNvCxnSpPr/>
          <p:nvPr/>
        </p:nvCxnSpPr>
        <p:spPr>
          <a:xfrm flipV="1">
            <a:off x="6921500" y="5549900"/>
            <a:ext cx="1333500" cy="38100"/>
          </a:xfrm>
          <a:prstGeom prst="line">
            <a:avLst/>
          </a:prstGeom>
          <a:ln w="29210">
            <a:solidFill>
              <a:srgbClr val="1565D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7A6AB61-4580-CD28-3702-6781FCE4AE5F}"/>
              </a:ext>
            </a:extLst>
          </p:cNvPr>
          <p:cNvSpPr txBox="1"/>
          <p:nvPr/>
        </p:nvSpPr>
        <p:spPr>
          <a:xfrm>
            <a:off x="7239000" y="5334000"/>
            <a:ext cx="7366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80" b="1">
                <a:solidFill>
                  <a:srgbClr val="1565D8"/>
                </a:solidFill>
                <a:latin typeface="Aptos" panose="020B0004020202020204" pitchFamily="34" charset="0"/>
              </a:rPr>
              <a:t>Provider API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C5C1F06-CE2F-85D3-EB54-38C95FEF2A57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B584C19-7A1D-40D0-B32D-D0F93F42FF2D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F1DC99-661D-1882-84CD-90E861BB41F0}"/>
              </a:ext>
            </a:extLst>
          </p:cNvPr>
          <p:cNvSpPr txBox="1"/>
          <p:nvPr/>
        </p:nvSpPr>
        <p:spPr>
          <a:xfrm>
            <a:off x="10998200" y="6527800"/>
            <a:ext cx="584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ARCH</a:t>
            </a:r>
          </a:p>
        </p:txBody>
      </p:sp>
    </p:spTree>
    <p:extLst>
      <p:ext uri="{BB962C8B-B14F-4D97-AF65-F5344CB8AC3E}">
        <p14:creationId xmlns:p14="http://schemas.microsoft.com/office/powerpoint/2010/main" val="1524690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Custom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Zaidan Mansour</dc:creator>
  <cp:lastModifiedBy>Zaidan Mansour</cp:lastModifiedBy>
  <cp:revision>1</cp:revision>
  <dcterms:created xsi:type="dcterms:W3CDTF">2026-09-12T14:00:29Z</dcterms:created>
  <dcterms:modified xsi:type="dcterms:W3CDTF">2026-09-12T14:00:29Z</dcterms:modified>
</cp:coreProperties>
</file>