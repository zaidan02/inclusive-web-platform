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759" r:id="rId2"/>
    <p:sldMasterId id="2147483888" r:id="rId3"/>
  </p:sldMasterIdLst>
  <p:notesMasterIdLst>
    <p:notesMasterId r:id="rId7"/>
  </p:notesMasterIdLst>
  <p:handoutMasterIdLst>
    <p:handoutMasterId r:id="rId8"/>
  </p:handoutMasterIdLst>
  <p:sldIdLst>
    <p:sldId id="276" r:id="rId4"/>
    <p:sldId id="259" r:id="rId5"/>
    <p:sldId id="277" r:id="rId6"/>
    <p:sldId id="278" r:id="rId13"/>
  </p:sldIdLst>
  <p:sldSz cx="9144000" cy="6858000" type="screen4x3"/>
  <p:notesSz cx="6858000" cy="9144000"/>
  <p:defaultTextStyle>
    <a:defPPr>
      <a:defRPr lang="fr-FR"/>
    </a:defPPr>
    <a:lvl1pPr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C72"/>
    <a:srgbClr val="000099"/>
    <a:srgbClr val="336699"/>
    <a:srgbClr val="AF191D"/>
    <a:srgbClr val="CD28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872"/>
  </p:normalViewPr>
  <p:slideViewPr>
    <p:cSldViewPr snapToGrid="0" snapToObjects="1">
      <p:cViewPr varScale="1">
        <p:scale>
          <a:sx n="95" d="100"/>
          <a:sy n="95" d="100"/>
        </p:scale>
        <p:origin x="1075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6" d="100"/>
          <a:sy n="86" d="100"/>
        </p:scale>
        <p:origin x="3000" y="216"/>
      </p:cViewPr>
      <p:guideLst/>
    </p:cSldViewPr>
  </p:notesViewPr>
  <p:gridSpacing cx="72008" cy="72008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handoutMaster" Target="handoutMasters/handoutMaster1.xml" /><Relationship Id="rId3" Type="http://schemas.openxmlformats.org/officeDocument/2006/relationships/slideMaster" Target="slideMasters/slideMaster3.xml" /><Relationship Id="rId7" Type="http://schemas.openxmlformats.org/officeDocument/2006/relationships/notesMaster" Target="notesMasters/notesMaster1.xml" /><Relationship Id="rId12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3.xml" /><Relationship Id="rId11" Type="http://schemas.openxmlformats.org/officeDocument/2006/relationships/theme" Target="theme/theme1.xml" /><Relationship Id="rId5" Type="http://schemas.openxmlformats.org/officeDocument/2006/relationships/slide" Target="slides/slide2.xml" /><Relationship Id="rId10" Type="http://schemas.openxmlformats.org/officeDocument/2006/relationships/viewProps" Target="viewProps.xml" /><Relationship Id="rId4" Type="http://schemas.openxmlformats.org/officeDocument/2006/relationships/slide" Target="slides/slide1.xml" /><Relationship Id="rId9" Type="http://schemas.openxmlformats.org/officeDocument/2006/relationships/presProps" Target="presProps.xml" /><Relationship Id="rId13" Type="http://schemas.openxmlformats.org/officeDocument/2006/relationships/slide" Target="slides/slide4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7BF234E-1774-E44F-A7B6-1F53193AB75F}" type="datetimeFigureOut">
              <a:rPr lang="fr-FR" altLang="en-US"/>
              <a:pPr/>
              <a:t>12/09/2026</a:t>
            </a:fld>
            <a:endParaRPr lang="fr-FR" alt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5390EA2-975E-C544-87F4-B91F519F4B49}" type="slidenum">
              <a:rPr lang="fr-FR" altLang="en-US"/>
              <a:pPr/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20921701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2DAEDCF-2077-A44B-93BE-F0973E86B481}" type="datetimeFigureOut">
              <a:rPr lang="fr-FR" altLang="en-US"/>
              <a:pPr/>
              <a:t>12/09/2026</a:t>
            </a:fld>
            <a:endParaRPr lang="fr-FR" alt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en-US"/>
              <a:t>Cliquez pour modifier les styles du texte du masque</a:t>
            </a:r>
          </a:p>
          <a:p>
            <a:pPr lvl="1"/>
            <a:r>
              <a:rPr lang="fr-FR" altLang="en-US"/>
              <a:t>Deuxième niveau</a:t>
            </a:r>
          </a:p>
          <a:p>
            <a:pPr lvl="2"/>
            <a:r>
              <a:rPr lang="fr-FR" altLang="en-US"/>
              <a:t>Troisième niveau</a:t>
            </a:r>
          </a:p>
          <a:p>
            <a:pPr lvl="3"/>
            <a:r>
              <a:rPr lang="fr-FR" altLang="en-US"/>
              <a:t>Quatrième niveau</a:t>
            </a:r>
          </a:p>
          <a:p>
            <a:pPr lvl="4"/>
            <a:r>
              <a:rPr lang="fr-FR" altLang="en-US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BDC0431-74D1-2848-9094-DEA74D687A19}" type="slidenum">
              <a:rPr lang="fr-FR" altLang="en-US"/>
              <a:pPr/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295587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DC0431-74D1-2848-9094-DEA74D687A19}" type="slidenum">
              <a:rPr lang="fr-FR" altLang="en-US" smtClean="0"/>
              <a:pPr/>
              <a:t>1</a:t>
            </a:fld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2539094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DC0431-74D1-2848-9094-DEA74D687A19}" type="slidenum">
              <a:rPr lang="fr-FR" altLang="en-US" smtClean="0"/>
              <a:pPr/>
              <a:t>2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673610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406398" y="2095550"/>
            <a:ext cx="6181969" cy="1107440"/>
          </a:xfrm>
          <a:prstGeom prst="rect">
            <a:avLst/>
          </a:prstGeom>
        </p:spPr>
        <p:txBody>
          <a:bodyPr vert="horz"/>
          <a:lstStyle>
            <a:lvl1pPr algn="l">
              <a:defRPr sz="3400" b="1" i="0">
                <a:solidFill>
                  <a:srgbClr val="0A1C72"/>
                </a:solidFill>
                <a:effectLst/>
                <a:latin typeface="+mn-lt"/>
                <a:ea typeface="Linux Libertine" charset="0"/>
                <a:cs typeface="Linux Libertine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0"/>
          </p:nvPr>
        </p:nvSpPr>
        <p:spPr>
          <a:xfrm>
            <a:off x="406400" y="5125184"/>
            <a:ext cx="2870201" cy="372940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1400" b="0" i="0">
                <a:solidFill>
                  <a:schemeClr val="tx1"/>
                </a:solidFill>
                <a:latin typeface="+mn-lt"/>
                <a:ea typeface="Linux Libertine" charset="0"/>
                <a:cs typeface="Linux Libertine" charset="0"/>
              </a:defRPr>
            </a:lvl1pPr>
            <a:lvl2pPr>
              <a:defRPr b="0" i="0">
                <a:latin typeface="Myriad Pro Light"/>
                <a:cs typeface="Myriad Pro Light"/>
              </a:defRPr>
            </a:lvl2pPr>
            <a:lvl3pPr>
              <a:defRPr b="0" i="0">
                <a:latin typeface="Myriad Pro Light"/>
                <a:cs typeface="Myriad Pro Light"/>
              </a:defRPr>
            </a:lvl3pPr>
            <a:lvl4pPr>
              <a:defRPr b="0" i="0">
                <a:latin typeface="Myriad Pro Light"/>
                <a:cs typeface="Myriad Pro Light"/>
              </a:defRPr>
            </a:lvl4pPr>
            <a:lvl5pPr marL="1828800" indent="0">
              <a:buNone/>
              <a:defRPr b="0" i="0">
                <a:latin typeface="Myriad Pro Light"/>
                <a:cs typeface="Myriad Pro Ligh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9" name="Espace réservé du texte 13"/>
          <p:cNvSpPr>
            <a:spLocks noGrp="1"/>
          </p:cNvSpPr>
          <p:nvPr>
            <p:ph type="body" sz="quarter" idx="11"/>
          </p:nvPr>
        </p:nvSpPr>
        <p:spPr>
          <a:xfrm>
            <a:off x="406398" y="3497202"/>
            <a:ext cx="6181969" cy="903605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1800" b="0" i="0">
                <a:solidFill>
                  <a:schemeClr val="tx1"/>
                </a:solidFill>
                <a:latin typeface="+mn-lt"/>
                <a:ea typeface="Linux Libertine" charset="0"/>
                <a:cs typeface="Linux Libertine" charset="0"/>
              </a:defRPr>
            </a:lvl1pPr>
            <a:lvl2pPr>
              <a:defRPr b="0" i="0">
                <a:latin typeface="Myriad Pro Light"/>
                <a:cs typeface="Myriad Pro Light"/>
              </a:defRPr>
            </a:lvl2pPr>
            <a:lvl3pPr>
              <a:defRPr b="0" i="0">
                <a:latin typeface="Myriad Pro Light"/>
                <a:cs typeface="Myriad Pro Light"/>
              </a:defRPr>
            </a:lvl3pPr>
            <a:lvl4pPr>
              <a:defRPr b="0" i="0">
                <a:latin typeface="Myriad Pro Light"/>
                <a:cs typeface="Myriad Pro Light"/>
              </a:defRPr>
            </a:lvl4pPr>
            <a:lvl5pPr marL="1828800" indent="0">
              <a:buNone/>
              <a:defRPr b="0" i="0">
                <a:latin typeface="Myriad Pro Light"/>
                <a:cs typeface="Myriad Pro Ligh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0" name="Espace réservé du texte 13"/>
          <p:cNvSpPr>
            <a:spLocks noGrp="1"/>
          </p:cNvSpPr>
          <p:nvPr>
            <p:ph type="body" sz="quarter" idx="12"/>
          </p:nvPr>
        </p:nvSpPr>
        <p:spPr>
          <a:xfrm>
            <a:off x="406399" y="5711338"/>
            <a:ext cx="2870201" cy="372940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1400" b="0" i="0">
                <a:solidFill>
                  <a:schemeClr val="tx1"/>
                </a:solidFill>
                <a:latin typeface="+mn-lt"/>
                <a:ea typeface="Linux Libertine" charset="0"/>
                <a:cs typeface="Linux Libertine" charset="0"/>
              </a:defRPr>
            </a:lvl1pPr>
            <a:lvl2pPr>
              <a:defRPr b="0" i="0">
                <a:latin typeface="Myriad Pro Light"/>
                <a:cs typeface="Myriad Pro Light"/>
              </a:defRPr>
            </a:lvl2pPr>
            <a:lvl3pPr>
              <a:defRPr b="0" i="0">
                <a:latin typeface="Myriad Pro Light"/>
                <a:cs typeface="Myriad Pro Light"/>
              </a:defRPr>
            </a:lvl3pPr>
            <a:lvl4pPr>
              <a:defRPr b="0" i="0">
                <a:latin typeface="Myriad Pro Light"/>
                <a:cs typeface="Myriad Pro Light"/>
              </a:defRPr>
            </a:lvl4pPr>
            <a:lvl5pPr marL="1828800" indent="0">
              <a:buNone/>
              <a:defRPr b="0" i="0">
                <a:latin typeface="Myriad Pro Light"/>
                <a:cs typeface="Myriad Pro Ligh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5F999C0-1CC3-E84D-A512-387A981824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755" y="304969"/>
            <a:ext cx="2183721" cy="81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85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508000"/>
            <a:ext cx="8229599" cy="747713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400" b="1" i="0">
                <a:effectLst/>
                <a:latin typeface="+mj-lt"/>
                <a:ea typeface="Linux Libertine" charset="0"/>
                <a:cs typeface="Linux Libertine" charset="0"/>
              </a:defRPr>
            </a:lvl1pPr>
          </a:lstStyle>
          <a:p>
            <a:r>
              <a:rPr lang="fr-FR" noProof="0" dirty="0"/>
              <a:t>Cliquez et modifiez le titre</a:t>
            </a:r>
          </a:p>
        </p:txBody>
      </p:sp>
      <p:sp>
        <p:nvSpPr>
          <p:cNvPr id="8" name="Espace réservé du texte 2"/>
          <p:cNvSpPr>
            <a:spLocks noGrp="1"/>
          </p:cNvSpPr>
          <p:nvPr>
            <p:ph idx="1"/>
          </p:nvPr>
        </p:nvSpPr>
        <p:spPr bwMode="auto">
          <a:xfrm>
            <a:off x="457200" y="1358538"/>
            <a:ext cx="8229600" cy="4767626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>
              <a:buClr>
                <a:srgbClr val="0A1C72"/>
              </a:buClr>
              <a:buSzPct val="100000"/>
              <a:buFont typeface="Wingdings" charset="2"/>
              <a:buChar char="§"/>
              <a:defRPr sz="2200" b="1" i="0">
                <a:solidFill>
                  <a:srgbClr val="0A1C72"/>
                </a:solidFill>
                <a:latin typeface="+mn-lt"/>
                <a:ea typeface="Linux Libertine Semibold" charset="0"/>
                <a:cs typeface="Linux Libertine Semibold" charset="0"/>
              </a:defRPr>
            </a:lvl1pPr>
            <a:lvl2pPr>
              <a:buSzPct val="100000"/>
              <a:defRPr sz="2000" b="0" i="0">
                <a:latin typeface="+mn-lt"/>
                <a:ea typeface="Linux Libertine" charset="0"/>
                <a:cs typeface="Linux Libertine" charset="0"/>
              </a:defRPr>
            </a:lvl2pPr>
            <a:lvl3pPr>
              <a:buClr>
                <a:schemeClr val="tx1"/>
              </a:buClr>
              <a:defRPr sz="2000" b="0" i="0">
                <a:latin typeface="+mn-lt"/>
                <a:ea typeface="Linux Libertine" charset="0"/>
                <a:cs typeface="Linux Libertine" charset="0"/>
              </a:defRPr>
            </a:lvl3pPr>
            <a:lvl4pPr>
              <a:defRPr sz="1800" b="0" i="0">
                <a:latin typeface="+mn-lt"/>
                <a:ea typeface="Linux Libertine" charset="0"/>
                <a:cs typeface="Linux Libertine" charset="0"/>
              </a:defRPr>
            </a:lvl4pPr>
            <a:lvl5pPr>
              <a:defRPr sz="1800" b="0" i="0">
                <a:latin typeface="+mn-lt"/>
                <a:ea typeface="Linux Libertine" charset="0"/>
                <a:cs typeface="Linux Libertine" charset="0"/>
              </a:defRPr>
            </a:lvl5pPr>
          </a:lstStyle>
          <a:p>
            <a:pPr lvl="0"/>
            <a:r>
              <a:rPr lang="fr-FR" noProof="0" dirty="0"/>
              <a:t>Cliquez pour modifier les styles du texte du masque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164125" y="6590810"/>
            <a:ext cx="1071153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0" i="0">
                <a:solidFill>
                  <a:schemeClr val="bg1"/>
                </a:solidFill>
                <a:latin typeface="+mn-lt"/>
                <a:ea typeface="Linux Libertine" charset="0"/>
                <a:cs typeface="Linux Libertine" charset="0"/>
              </a:defRPr>
            </a:lvl1pPr>
          </a:lstStyle>
          <a:p>
            <a:r>
              <a:rPr lang="en-US" altLang="en-US" dirty="0"/>
              <a:t>MDP23-xx</a:t>
            </a:r>
            <a:endParaRPr lang="fr-FR" alt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711235" y="6590810"/>
            <a:ext cx="5721532" cy="365125"/>
          </a:xfrm>
          <a:prstGeom prst="rect">
            <a:avLst/>
          </a:prstGeom>
        </p:spPr>
        <p:txBody>
          <a:bodyPr/>
          <a:lstStyle>
            <a:lvl1pPr algn="ctr">
              <a:defRPr sz="1000" b="0" i="0" dirty="0">
                <a:solidFill>
                  <a:schemeClr val="bg1"/>
                </a:solidFill>
                <a:latin typeface="+mn-lt"/>
                <a:ea typeface="Linux Libertine" charset="0"/>
                <a:cs typeface="Linux Libertine" charset="0"/>
              </a:defRPr>
            </a:lvl1pPr>
          </a:lstStyle>
          <a:p>
            <a:pPr>
              <a:defRPr/>
            </a:pPr>
            <a:r>
              <a:rPr lang="fr-FR" dirty="0"/>
              <a:t>Project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7908724" y="6590810"/>
            <a:ext cx="1071152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0" i="0">
                <a:solidFill>
                  <a:schemeClr val="bg1"/>
                </a:solidFill>
                <a:latin typeface="+mn-lt"/>
                <a:ea typeface="Linux Libertine" charset="0"/>
                <a:cs typeface="Linux Libertine" charset="0"/>
              </a:defRPr>
            </a:lvl1pPr>
          </a:lstStyle>
          <a:p>
            <a:fld id="{7F40025E-8A47-7E48-AA2F-82A25E5E3F97}" type="slidenum">
              <a:rPr lang="fr-FR" altLang="en-US" smtClean="0"/>
              <a:pPr/>
              <a:t>‹#›</a:t>
            </a:fld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1640958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>
          <a:xfrm>
            <a:off x="1319349" y="4193177"/>
            <a:ext cx="6254205" cy="1833154"/>
          </a:xfrm>
          <a:prstGeom prst="rect">
            <a:avLst/>
          </a:prstGeom>
        </p:spPr>
        <p:txBody>
          <a:bodyPr vert="horz"/>
          <a:lstStyle>
            <a:lvl1pPr algn="r">
              <a:defRPr lang="fr-FR" sz="3200" b="1" i="0" kern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9548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</p:sldLayoutIdLst>
  <p:hf hdr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latin typeface="Arial"/>
          <a:ea typeface="ＭＳ Ｐゴシック" charset="0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ea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ea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ea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ea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SzPct val="50000"/>
        <a:buFont typeface="Wingdings" charset="2"/>
        <a:buChar char="ü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SzPct val="50000"/>
        <a:buFont typeface="Courier New" charset="0"/>
        <a:buChar char="o"/>
        <a:defRPr sz="20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SzPct val="60000"/>
        <a:buFont typeface="Wingdings" charset="2"/>
        <a:buChar char="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203200" y="346779"/>
            <a:ext cx="8559800" cy="0"/>
          </a:xfrm>
          <a:prstGeom prst="line">
            <a:avLst/>
          </a:prstGeom>
          <a:ln w="28575">
            <a:solidFill>
              <a:srgbClr val="C1B5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>
            <a:spLocks noChangeAspect="1"/>
          </p:cNvSpPr>
          <p:nvPr userDrawn="1"/>
        </p:nvSpPr>
        <p:spPr>
          <a:xfrm>
            <a:off x="6468400" y="202779"/>
            <a:ext cx="288000" cy="288000"/>
          </a:xfrm>
          <a:prstGeom prst="rect">
            <a:avLst/>
          </a:prstGeom>
          <a:solidFill>
            <a:srgbClr val="0A1C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/>
          <p:cNvSpPr>
            <a:spLocks noChangeAspect="1"/>
          </p:cNvSpPr>
          <p:nvPr userDrawn="1"/>
        </p:nvSpPr>
        <p:spPr>
          <a:xfrm>
            <a:off x="6985000" y="202779"/>
            <a:ext cx="152400" cy="288000"/>
          </a:xfrm>
          <a:prstGeom prst="rect">
            <a:avLst/>
          </a:prstGeom>
          <a:solidFill>
            <a:srgbClr val="0A1C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>
            <a:spLocks noChangeAspect="1"/>
          </p:cNvSpPr>
          <p:nvPr userDrawn="1"/>
        </p:nvSpPr>
        <p:spPr>
          <a:xfrm>
            <a:off x="7747000" y="202779"/>
            <a:ext cx="190500" cy="288000"/>
          </a:xfrm>
          <a:prstGeom prst="rect">
            <a:avLst/>
          </a:prstGeom>
          <a:solidFill>
            <a:srgbClr val="0A1C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>
            <a:spLocks noChangeAspect="1"/>
          </p:cNvSpPr>
          <p:nvPr userDrawn="1"/>
        </p:nvSpPr>
        <p:spPr>
          <a:xfrm>
            <a:off x="7366000" y="202779"/>
            <a:ext cx="152400" cy="288000"/>
          </a:xfrm>
          <a:prstGeom prst="rect">
            <a:avLst/>
          </a:prstGeom>
          <a:solidFill>
            <a:srgbClr val="A59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>
            <a:spLocks noChangeAspect="1"/>
          </p:cNvSpPr>
          <p:nvPr userDrawn="1"/>
        </p:nvSpPr>
        <p:spPr>
          <a:xfrm>
            <a:off x="8204200" y="202779"/>
            <a:ext cx="288000" cy="288000"/>
          </a:xfrm>
          <a:prstGeom prst="rect">
            <a:avLst/>
          </a:prstGeom>
          <a:solidFill>
            <a:srgbClr val="A59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>
            <a:spLocks noChangeAspect="1"/>
          </p:cNvSpPr>
          <p:nvPr userDrawn="1"/>
        </p:nvSpPr>
        <p:spPr>
          <a:xfrm>
            <a:off x="6756400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>
            <a:spLocks noChangeAspect="1"/>
          </p:cNvSpPr>
          <p:nvPr userDrawn="1"/>
        </p:nvSpPr>
        <p:spPr>
          <a:xfrm>
            <a:off x="7133951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/>
          <p:cNvSpPr>
            <a:spLocks noChangeAspect="1"/>
          </p:cNvSpPr>
          <p:nvPr userDrawn="1"/>
        </p:nvSpPr>
        <p:spPr>
          <a:xfrm>
            <a:off x="7521716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>
            <a:spLocks noChangeAspect="1"/>
          </p:cNvSpPr>
          <p:nvPr userDrawn="1"/>
        </p:nvSpPr>
        <p:spPr>
          <a:xfrm>
            <a:off x="7968385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>
            <a:spLocks noChangeAspect="1"/>
          </p:cNvSpPr>
          <p:nvPr userDrawn="1"/>
        </p:nvSpPr>
        <p:spPr>
          <a:xfrm>
            <a:off x="8492201" y="6579550"/>
            <a:ext cx="65180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/>
          <p:cNvSpPr>
            <a:spLocks noChangeAspect="1"/>
          </p:cNvSpPr>
          <p:nvPr userDrawn="1"/>
        </p:nvSpPr>
        <p:spPr>
          <a:xfrm>
            <a:off x="0" y="6578600"/>
            <a:ext cx="6468400" cy="2794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F7E4E3D-5B35-1B4B-BDA2-A3E1EEAB3A5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97619" y="90951"/>
            <a:ext cx="511656" cy="51165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</p:sldLayoutIdLst>
  <p:hf hdr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5pPr>
      <a:lvl6pPr marL="10287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6pPr>
      <a:lvl7pPr marL="14859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7pPr>
      <a:lvl8pPr marL="19431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8pPr>
      <a:lvl9pPr marL="24003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charset="2"/>
        <a:buChar char="§"/>
        <a:defRPr sz="2600" b="1" kern="1200">
          <a:solidFill>
            <a:srgbClr val="336699"/>
          </a:solidFill>
          <a:latin typeface="Arial"/>
          <a:ea typeface="ＭＳ Ｐゴシック" charset="0"/>
          <a:cs typeface="Arial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SzPct val="100000"/>
        <a:buFont typeface="Arial" charset="0"/>
        <a:buChar char="•"/>
        <a:defRPr sz="26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SzPct val="80000"/>
        <a:buFont typeface="Arial" charset="0"/>
        <a:buChar char="•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SzPct val="80000"/>
        <a:buFont typeface="Wingdings" charset="2"/>
        <a:buChar char="§"/>
        <a:defRPr sz="22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i="1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203200" y="346779"/>
            <a:ext cx="8559800" cy="0"/>
          </a:xfrm>
          <a:prstGeom prst="line">
            <a:avLst/>
          </a:prstGeom>
          <a:ln w="28575">
            <a:solidFill>
              <a:srgbClr val="C1B5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>
            <a:spLocks noChangeAspect="1"/>
          </p:cNvSpPr>
          <p:nvPr userDrawn="1"/>
        </p:nvSpPr>
        <p:spPr>
          <a:xfrm>
            <a:off x="6468400" y="202779"/>
            <a:ext cx="288000" cy="288000"/>
          </a:xfrm>
          <a:prstGeom prst="rect">
            <a:avLst/>
          </a:prstGeom>
          <a:solidFill>
            <a:srgbClr val="0A1C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/>
          <p:cNvSpPr>
            <a:spLocks noChangeAspect="1"/>
          </p:cNvSpPr>
          <p:nvPr userDrawn="1"/>
        </p:nvSpPr>
        <p:spPr>
          <a:xfrm>
            <a:off x="6985000" y="202779"/>
            <a:ext cx="152400" cy="288000"/>
          </a:xfrm>
          <a:prstGeom prst="rect">
            <a:avLst/>
          </a:prstGeom>
          <a:solidFill>
            <a:srgbClr val="0A1C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>
            <a:spLocks noChangeAspect="1"/>
          </p:cNvSpPr>
          <p:nvPr userDrawn="1"/>
        </p:nvSpPr>
        <p:spPr>
          <a:xfrm>
            <a:off x="7747000" y="202779"/>
            <a:ext cx="190500" cy="288000"/>
          </a:xfrm>
          <a:prstGeom prst="rect">
            <a:avLst/>
          </a:prstGeom>
          <a:solidFill>
            <a:srgbClr val="0A1C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>
            <a:spLocks noChangeAspect="1"/>
          </p:cNvSpPr>
          <p:nvPr userDrawn="1"/>
        </p:nvSpPr>
        <p:spPr>
          <a:xfrm>
            <a:off x="7366000" y="202779"/>
            <a:ext cx="152400" cy="288000"/>
          </a:xfrm>
          <a:prstGeom prst="rect">
            <a:avLst/>
          </a:prstGeom>
          <a:solidFill>
            <a:srgbClr val="A59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>
            <a:spLocks noChangeAspect="1"/>
          </p:cNvSpPr>
          <p:nvPr userDrawn="1"/>
        </p:nvSpPr>
        <p:spPr>
          <a:xfrm>
            <a:off x="8204200" y="202779"/>
            <a:ext cx="288000" cy="288000"/>
          </a:xfrm>
          <a:prstGeom prst="rect">
            <a:avLst/>
          </a:prstGeom>
          <a:solidFill>
            <a:srgbClr val="A59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>
            <a:spLocks noChangeAspect="1"/>
          </p:cNvSpPr>
          <p:nvPr userDrawn="1"/>
        </p:nvSpPr>
        <p:spPr>
          <a:xfrm>
            <a:off x="6756400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>
            <a:spLocks noChangeAspect="1"/>
          </p:cNvSpPr>
          <p:nvPr userDrawn="1"/>
        </p:nvSpPr>
        <p:spPr>
          <a:xfrm>
            <a:off x="7133951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/>
          <p:cNvSpPr>
            <a:spLocks noChangeAspect="1"/>
          </p:cNvSpPr>
          <p:nvPr userDrawn="1"/>
        </p:nvSpPr>
        <p:spPr>
          <a:xfrm>
            <a:off x="7521716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>
            <a:spLocks noChangeAspect="1"/>
          </p:cNvSpPr>
          <p:nvPr userDrawn="1"/>
        </p:nvSpPr>
        <p:spPr>
          <a:xfrm>
            <a:off x="7968385" y="6578300"/>
            <a:ext cx="25767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>
            <a:spLocks noChangeAspect="1"/>
          </p:cNvSpPr>
          <p:nvPr userDrawn="1"/>
        </p:nvSpPr>
        <p:spPr>
          <a:xfrm>
            <a:off x="8492201" y="6579550"/>
            <a:ext cx="651800" cy="2772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/>
          <p:cNvSpPr>
            <a:spLocks noChangeAspect="1"/>
          </p:cNvSpPr>
          <p:nvPr userDrawn="1"/>
        </p:nvSpPr>
        <p:spPr>
          <a:xfrm>
            <a:off x="0" y="6578600"/>
            <a:ext cx="6468400" cy="279400"/>
          </a:xfrm>
          <a:prstGeom prst="rect">
            <a:avLst/>
          </a:prstGeom>
          <a:solidFill>
            <a:srgbClr val="BFB3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TextBox 16"/>
          <p:cNvSpPr txBox="1"/>
          <p:nvPr userDrawn="1"/>
        </p:nvSpPr>
        <p:spPr>
          <a:xfrm>
            <a:off x="9525000" y="812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3"/>
          <a:srcRect l="17857" t="9524" r="11905" b="10714"/>
          <a:stretch/>
        </p:blipFill>
        <p:spPr>
          <a:xfrm>
            <a:off x="8582185" y="18859"/>
            <a:ext cx="577531" cy="65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36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</p:sldLayoutIdLst>
  <p:hf hdr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buClr>
          <a:srgbClr val="17375E"/>
        </a:buClr>
        <a:buFont typeface="Wingdings" charset="2"/>
        <a:defRPr sz="2800">
          <a:solidFill>
            <a:schemeClr val="tx1"/>
          </a:solidFill>
          <a:latin typeface="Arial" charset="0"/>
          <a:ea typeface="ＭＳ Ｐゴシック" charset="0"/>
        </a:defRPr>
      </a:lvl5pPr>
      <a:lvl6pPr marL="10287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6pPr>
      <a:lvl7pPr marL="14859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7pPr>
      <a:lvl8pPr marL="19431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8pPr>
      <a:lvl9pPr marL="2400300" indent="-571500" algn="l" defTabSz="457200" rtl="0" fontAlgn="base">
        <a:spcBef>
          <a:spcPct val="0"/>
        </a:spcBef>
        <a:spcAft>
          <a:spcPct val="0"/>
        </a:spcAft>
        <a:buClr>
          <a:srgbClr val="17375E"/>
        </a:buClr>
        <a:buFont typeface="Wingdings" charset="0"/>
        <a:buChar char=""/>
        <a:defRPr sz="3600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charset="2"/>
        <a:buChar char="§"/>
        <a:defRPr sz="2600" b="1" kern="1200">
          <a:solidFill>
            <a:srgbClr val="336699"/>
          </a:solidFill>
          <a:latin typeface="Arial"/>
          <a:ea typeface="ＭＳ Ｐゴシック" charset="0"/>
          <a:cs typeface="Arial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SzPct val="100000"/>
        <a:buFont typeface="Arial" charset="0"/>
        <a:buChar char="•"/>
        <a:defRPr sz="26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SzPct val="80000"/>
        <a:buFont typeface="Arial" charset="0"/>
        <a:buChar char="•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SzPct val="80000"/>
        <a:buFont typeface="Wingdings" charset="2"/>
        <a:buChar char="§"/>
        <a:defRPr sz="22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i="1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06400" y="4933271"/>
            <a:ext cx="2870201" cy="642598"/>
          </a:xfrm>
        </p:spPr>
        <p:txBody>
          <a:bodyPr/>
          <a:lstStyle/>
          <a:p>
            <a:r>
              <a:rPr lang="en-US" dirty="0"/>
              <a:t>ESIB Multidisciplinary Project</a:t>
            </a:r>
          </a:p>
          <a:p>
            <a:r>
              <a:rPr lang="en-US" dirty="0"/>
              <a:t>May, 2025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06398" y="3081868"/>
            <a:ext cx="6181969" cy="1638190"/>
          </a:xfrm>
        </p:spPr>
        <p:txBody>
          <a:bodyPr/>
          <a:lstStyle/>
          <a:p>
            <a:r>
              <a:rPr lang="en-US" dirty="0"/>
              <a:t>MDP25-xx</a:t>
            </a:r>
          </a:p>
          <a:p>
            <a:r>
              <a:rPr lang="en-US" dirty="0"/>
              <a:t>Student 1</a:t>
            </a:r>
          </a:p>
          <a:p>
            <a:r>
              <a:rPr lang="en-US" dirty="0"/>
              <a:t>Student 2</a:t>
            </a:r>
          </a:p>
          <a:p>
            <a:r>
              <a:rPr lang="en-US" dirty="0"/>
              <a:t>Student 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06399" y="5575869"/>
            <a:ext cx="2870201" cy="881375"/>
          </a:xfrm>
        </p:spPr>
        <p:txBody>
          <a:bodyPr/>
          <a:lstStyle/>
          <a:p>
            <a:r>
              <a:rPr lang="en-US" dirty="0"/>
              <a:t>Supervised by:</a:t>
            </a:r>
          </a:p>
          <a:p>
            <a:r>
              <a:rPr lang="en-US" dirty="0"/>
              <a:t>Supervisor 1</a:t>
            </a:r>
          </a:p>
          <a:p>
            <a:r>
              <a:rPr lang="en-US" dirty="0"/>
              <a:t>Supervisor 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86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Introduction</a:t>
            </a:r>
            <a:endParaRPr lang="fr-FR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 the project members and their disciplines</a:t>
            </a:r>
          </a:p>
          <a:p>
            <a:r>
              <a:rPr lang="en-US" dirty="0"/>
              <a:t>Introduce the main subject of your project </a:t>
            </a:r>
          </a:p>
          <a:p>
            <a:pPr lvl="1"/>
            <a:r>
              <a:rPr lang="en-US" dirty="0"/>
              <a:t>Problem Identification</a:t>
            </a:r>
          </a:p>
          <a:p>
            <a:pPr lvl="2"/>
            <a:r>
              <a:rPr lang="en-US" dirty="0"/>
              <a:t>Context</a:t>
            </a:r>
          </a:p>
          <a:p>
            <a:pPr lvl="2"/>
            <a:r>
              <a:rPr lang="en-US" dirty="0"/>
              <a:t>Characteristics of your complex engineering problem</a:t>
            </a:r>
          </a:p>
          <a:p>
            <a:pPr lvl="2"/>
            <a:r>
              <a:rPr lang="en-US" dirty="0"/>
              <a:t>Need for and engineering design</a:t>
            </a:r>
            <a:endParaRPr lang="en-GB" dirty="0"/>
          </a:p>
          <a:p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Project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025E-8A47-7E48-AA2F-82A25E5E3F97}" type="slidenum">
              <a:rPr lang="fr-FR" altLang="en-US" smtClean="0"/>
              <a:pPr/>
              <a:t>2</a:t>
            </a:fld>
            <a:endParaRPr lang="fr-FR" alt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82E7680-74CB-508E-5EB0-0640F97A01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4125" y="6590810"/>
            <a:ext cx="1071153" cy="365125"/>
          </a:xfrm>
        </p:spPr>
        <p:txBody>
          <a:bodyPr/>
          <a:lstStyle/>
          <a:p>
            <a:r>
              <a:rPr lang="en-US" altLang="en-US" dirty="0"/>
              <a:t>MDP23-xx</a:t>
            </a:r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2685096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002BB-814B-8E60-57A5-2D7C69844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32A70-B1EC-396D-87C5-1FD1CD6B5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D4668-1615-95C2-3DB4-1F2FC36C9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MDP23-xx</a:t>
            </a:r>
            <a:endParaRPr lang="fr-FR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1B9EE-3909-E02B-DBD9-1684766EF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Project Title</a:t>
            </a:r>
            <a:endParaRPr lang="fr-F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023D3-7E27-F7A3-3131-940DE3A9B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025E-8A47-7E48-AA2F-82A25E5E3F97}" type="slidenum">
              <a:rPr lang="fr-FR" altLang="en-US" smtClean="0"/>
              <a:pPr/>
              <a:t>3</a:t>
            </a:fld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1735650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mplemented logical archite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457200" y="256032"/>
            <a:ext cx="66751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800" b="1">
                <a:solidFill>
                  <a:srgbClr val="A64B2A"/>
                </a:solidFill>
                <a:latin typeface="Arial Narrow"/>
              </a:rPr>
              <a:t>ARCHITECTURAL DESIGN | SOFTWARE DESIGN</a:t>
            </a:r>
            <a:endParaRPr lang="en-US" sz="1800"/>
          </a:p>
        </p:txBody>
      </p:sp>
      <p:sp>
        <p:nvSpPr>
          <p:cNvPr id="3" name="Slide title"/>
          <p:cNvSpPr txBox="1"/>
          <p:nvPr/>
        </p:nvSpPr>
        <p:spPr>
          <a:xfrm>
            <a:off x="457200" y="566928"/>
            <a:ext cx="800100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2600" b="1">
                <a:solidFill>
                  <a:srgbClr val="0B1F49"/>
                </a:solidFill>
                <a:latin typeface="Arial Narrow"/>
              </a:rPr>
              <a:t>Implemented architecture and trust boundaries</a:t>
            </a:r>
            <a:endParaRPr lang="en-US" sz="2600"/>
          </a:p>
        </p:txBody>
      </p:sp>
      <p:sp>
        <p:nvSpPr>
          <p:cNvPr id="4" name="Users label"/>
          <p:cNvSpPr txBox="1"/>
          <p:nvPr/>
        </p:nvSpPr>
        <p:spPr>
          <a:xfrm>
            <a:off x="45720" y="2880360"/>
            <a:ext cx="5943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1900" b="1">
                <a:solidFill>
                  <a:srgbClr val="0B1F49"/>
                </a:solidFill>
                <a:latin typeface="Arial Narrow"/>
              </a:rPr>
              <a:t>Users</a:t>
            </a:r>
            <a:endParaRPr lang="en-US" sz="1900"/>
          </a:p>
        </p:txBody>
      </p:sp>
      <p:cxnSp>
        <p:nvCxnSpPr>
          <p:cNvPr id="5" name="Users to React"/>
          <p:cNvCxnSpPr/>
          <p:nvPr/>
        </p:nvCxnSpPr>
        <p:spPr>
          <a:xfrm>
            <a:off x="640080" y="3035808"/>
            <a:ext cx="137160" cy="0"/>
          </a:xfrm>
          <a:prstGeom prst="line">
            <a:avLst/>
          </a:prstGeom>
          <a:ln w="25400">
            <a:solidFill>
              <a:srgbClr val="CBD5E1"/>
            </a:solidFill>
            <a:prstDash val="solid"/>
            <a:tailEnd type="triangle" w="sm" len="sm"/>
          </a:ln>
        </p:spPr>
      </p:cxnSp>
      <p:sp>
        <p:nvSpPr>
          <p:cNvPr id="6" name="React Vite boundary"/>
          <p:cNvSpPr/>
          <p:nvPr/>
        </p:nvSpPr>
        <p:spPr>
          <a:xfrm>
            <a:off x="777240" y="1874520"/>
            <a:ext cx="1700784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65D8"/>
            </a:solidFill>
            <a:prstDash val="solid"/>
          </a:ln>
        </p:spPr>
      </p:sp>
      <p:sp>
        <p:nvSpPr>
          <p:cNvPr id="7" name="React Vite heading"/>
          <p:cNvSpPr txBox="1"/>
          <p:nvPr/>
        </p:nvSpPr>
        <p:spPr>
          <a:xfrm>
            <a:off x="877824" y="2121408"/>
            <a:ext cx="149961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0B1F49"/>
                </a:solidFill>
                <a:latin typeface="Arial Narrow"/>
              </a:rPr>
              <a:t>React / Vite</a:t>
            </a:r>
            <a:endParaRPr lang="en-US" sz="2000"/>
          </a:p>
        </p:txBody>
      </p:sp>
      <p:sp>
        <p:nvSpPr>
          <p:cNvPr id="8" name="React Vite responsibilities"/>
          <p:cNvSpPr txBox="1"/>
          <p:nvPr/>
        </p:nvSpPr>
        <p:spPr>
          <a:xfrm>
            <a:off x="923544" y="2633472"/>
            <a:ext cx="1408176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900" b="0">
                <a:solidFill>
                  <a:srgbClr val="0B1F49"/>
                </a:solidFill>
                <a:latin typeface="Arial Narrow"/>
              </a:rPr>
              <a:t>Accessible UI</a:t>
            </a:r>
            <a:endParaRPr lang="en-US" sz="1900"/>
          </a:p>
          <a:p>
            <a:pPr algn="ctr"/>
            <a:r>
              <a:rPr lang="en-US" sz="1900" b="0">
                <a:solidFill>
                  <a:srgbClr val="0B1F49"/>
                </a:solidFill>
                <a:latin typeface="Arial Narrow"/>
              </a:rPr>
              <a:t>Role workspaces</a:t>
            </a:r>
            <a:endParaRPr lang="en-US" sz="1900"/>
          </a:p>
          <a:p>
            <a:pPr algn="ctr"/>
            <a:r>
              <a:rPr lang="en-US" sz="1900" b="0">
                <a:solidFill>
                  <a:srgbClr val="0B1F49"/>
                </a:solidFill>
                <a:latin typeface="Arial Narrow"/>
              </a:rPr>
              <a:t>JWT client</a:t>
            </a:r>
            <a:endParaRPr lang="en-US" sz="1900"/>
          </a:p>
          <a:p>
            <a:pPr algn="ctr"/>
            <a:r>
              <a:rPr lang="en-US" sz="1900" b="0">
                <a:solidFill>
                  <a:srgbClr val="0B1F49"/>
                </a:solidFill>
                <a:latin typeface="Arial Narrow"/>
              </a:rPr>
              <a:t>Approved actions</a:t>
            </a:r>
            <a:endParaRPr lang="en-US" sz="1900"/>
          </a:p>
        </p:txBody>
      </p:sp>
      <p:cxnSp>
        <p:nvCxnSpPr>
          <p:cNvPr id="9" name="React to Symfony"/>
          <p:cNvCxnSpPr/>
          <p:nvPr/>
        </p:nvCxnSpPr>
        <p:spPr>
          <a:xfrm>
            <a:off x="2478024" y="3035808"/>
            <a:ext cx="676656" cy="0"/>
          </a:xfrm>
          <a:prstGeom prst="line">
            <a:avLst/>
          </a:prstGeom>
          <a:ln w="38100">
            <a:solidFill>
              <a:srgbClr val="1565D8"/>
            </a:solidFill>
            <a:prstDash val="solid"/>
            <a:tailEnd type="triangle" w="sm" len="sm"/>
          </a:ln>
        </p:spPr>
      </p:cxnSp>
      <p:sp>
        <p:nvSpPr>
          <p:cNvPr id="10" name="JWT API label"/>
          <p:cNvSpPr txBox="1"/>
          <p:nvPr/>
        </p:nvSpPr>
        <p:spPr>
          <a:xfrm>
            <a:off x="2578608" y="2715768"/>
            <a:ext cx="47548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900" b="1">
                <a:solidFill>
                  <a:srgbClr val="1565D8"/>
                </a:solidFill>
                <a:latin typeface="Arial Narrow"/>
              </a:rPr>
              <a:t>JWT</a:t>
            </a:r>
            <a:endParaRPr lang="en-US" sz="1900"/>
          </a:p>
        </p:txBody>
      </p:sp>
      <p:sp>
        <p:nvSpPr>
          <p:cNvPr id="11" name="Symfony API boundary"/>
          <p:cNvSpPr/>
          <p:nvPr/>
        </p:nvSpPr>
        <p:spPr>
          <a:xfrm>
            <a:off x="3154680" y="1554480"/>
            <a:ext cx="20116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4B2A"/>
            </a:solidFill>
            <a:prstDash val="solid"/>
          </a:ln>
        </p:spPr>
      </p:sp>
      <p:sp>
        <p:nvSpPr>
          <p:cNvPr id="12" name="Symfony API heading"/>
          <p:cNvSpPr txBox="1"/>
          <p:nvPr/>
        </p:nvSpPr>
        <p:spPr>
          <a:xfrm>
            <a:off x="3364992" y="1847088"/>
            <a:ext cx="159105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0B1F49"/>
                </a:solidFill>
                <a:latin typeface="Arial Narrow"/>
              </a:rPr>
              <a:t>Symfony API</a:t>
            </a:r>
            <a:endParaRPr lang="en-US" sz="2000"/>
          </a:p>
        </p:txBody>
      </p:sp>
      <p:sp>
        <p:nvSpPr>
          <p:cNvPr id="13" name="Symfony API responsibilities"/>
          <p:cNvSpPr txBox="1"/>
          <p:nvPr/>
        </p:nvSpPr>
        <p:spPr>
          <a:xfrm>
            <a:off x="3364992" y="2487168"/>
            <a:ext cx="1591056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900" b="0">
                <a:solidFill>
                  <a:srgbClr val="0B1F49"/>
                </a:solidFill>
                <a:latin typeface="Arial Narrow"/>
              </a:rPr>
              <a:t>JWT + RBAC</a:t>
            </a:r>
            <a:endParaRPr lang="en-US" sz="1900"/>
          </a:p>
          <a:p>
            <a:pPr algn="ctr"/>
            <a:r>
              <a:rPr lang="en-US" sz="1900" b="0">
                <a:solidFill>
                  <a:srgbClr val="0B1F49"/>
                </a:solidFill>
                <a:latin typeface="Arial Narrow"/>
              </a:rPr>
              <a:t>Validation</a:t>
            </a:r>
            <a:endParaRPr lang="en-US" sz="1900"/>
          </a:p>
          <a:p>
            <a:pPr algn="ctr"/>
            <a:r>
              <a:rPr lang="en-US" sz="1900" b="0">
                <a:solidFill>
                  <a:srgbClr val="0B1F49"/>
                </a:solidFill>
                <a:latin typeface="Arial Narrow"/>
              </a:rPr>
              <a:t>Workflow control</a:t>
            </a:r>
            <a:endParaRPr lang="en-US" sz="1900"/>
          </a:p>
          <a:p>
            <a:pPr algn="ctr"/>
            <a:r>
              <a:rPr lang="en-US" sz="1900" b="0">
                <a:solidFill>
                  <a:srgbClr val="0B1F49"/>
                </a:solidFill>
                <a:latin typeface="Arial Narrow"/>
              </a:rPr>
              <a:t>Persistence gateway</a:t>
            </a:r>
            <a:endParaRPr lang="en-US" sz="1900"/>
          </a:p>
        </p:txBody>
      </p:sp>
      <p:cxnSp>
        <p:nvCxnSpPr>
          <p:cNvPr id="14" name="Symfony to persistence"/>
          <p:cNvCxnSpPr/>
          <p:nvPr/>
        </p:nvCxnSpPr>
        <p:spPr>
          <a:xfrm flipV="1">
            <a:off x="5166360" y="1984248"/>
            <a:ext cx="914400" cy="347472"/>
          </a:xfrm>
          <a:prstGeom prst="line">
            <a:avLst/>
          </a:prstGeom>
          <a:ln w="38100">
            <a:solidFill>
              <a:srgbClr val="157A55"/>
            </a:solidFill>
            <a:prstDash val="solid"/>
            <a:tailEnd type="triangle" w="sm" len="sm"/>
          </a:ln>
        </p:spPr>
      </p:cxnSp>
      <p:sp>
        <p:nvSpPr>
          <p:cNvPr id="15" name="Persistence adapter label"/>
          <p:cNvSpPr txBox="1"/>
          <p:nvPr/>
        </p:nvSpPr>
        <p:spPr>
          <a:xfrm>
            <a:off x="5084064" y="173736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900" b="1">
                <a:solidFill>
                  <a:srgbClr val="157A55"/>
                </a:solidFill>
                <a:latin typeface="Arial Narrow"/>
              </a:rPr>
              <a:t>Doctrine</a:t>
            </a:r>
            <a:endParaRPr lang="en-US" sz="1900"/>
          </a:p>
        </p:txBody>
      </p:sp>
      <p:sp>
        <p:nvSpPr>
          <p:cNvPr id="16" name="Persistence layer boundary"/>
          <p:cNvSpPr/>
          <p:nvPr/>
        </p:nvSpPr>
        <p:spPr>
          <a:xfrm>
            <a:off x="6080760" y="1353312"/>
            <a:ext cx="26060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7A55"/>
            </a:solidFill>
            <a:prstDash val="solid"/>
          </a:ln>
        </p:spPr>
      </p:sp>
      <p:sp>
        <p:nvSpPr>
          <p:cNvPr id="17" name="Persistence heading"/>
          <p:cNvSpPr txBox="1"/>
          <p:nvPr/>
        </p:nvSpPr>
        <p:spPr>
          <a:xfrm>
            <a:off x="6309360" y="1527048"/>
            <a:ext cx="21488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0B1F49"/>
                </a:solidFill>
                <a:latin typeface="Arial Narrow"/>
              </a:rPr>
              <a:t>Persistence Layer</a:t>
            </a:r>
            <a:endParaRPr lang="en-US" sz="2000"/>
          </a:p>
        </p:txBody>
      </p:sp>
      <p:sp>
        <p:nvSpPr>
          <p:cNvPr id="18" name="Persistence responsibilities"/>
          <p:cNvSpPr txBox="1"/>
          <p:nvPr/>
        </p:nvSpPr>
        <p:spPr>
          <a:xfrm>
            <a:off x="6254496" y="1920240"/>
            <a:ext cx="2258568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900" b="0">
                <a:solidFill>
                  <a:srgbClr val="0B1F49"/>
                </a:solidFill>
                <a:latin typeface="Arial Narrow"/>
              </a:rPr>
              <a:t>PostgreSQL: domain data</a:t>
            </a:r>
            <a:endParaRPr lang="en-US" sz="1900"/>
          </a:p>
          <a:p>
            <a:pPr algn="ctr"/>
            <a:r>
              <a:rPr lang="en-US" sz="1900" b="0">
                <a:solidFill>
                  <a:srgbClr val="0B1F49"/>
                </a:solidFill>
                <a:latin typeface="Arial Narrow"/>
              </a:rPr>
              <a:t>Object store: files / logos</a:t>
            </a:r>
            <a:endParaRPr lang="en-US" sz="1900"/>
          </a:p>
        </p:txBody>
      </p:sp>
      <p:cxnSp>
        <p:nvCxnSpPr>
          <p:cNvPr id="19" name="Symfony to scoring"/>
          <p:cNvCxnSpPr/>
          <p:nvPr/>
        </p:nvCxnSpPr>
        <p:spPr>
          <a:xfrm>
            <a:off x="5166360" y="3200400"/>
            <a:ext cx="914400" cy="0"/>
          </a:xfrm>
          <a:prstGeom prst="line">
            <a:avLst/>
          </a:prstGeom>
          <a:ln w="38100">
            <a:solidFill>
              <a:srgbClr val="C27A19"/>
            </a:solidFill>
            <a:prstDash val="solid"/>
            <a:tailEnd type="triangle" w="sm" len="sm"/>
          </a:ln>
        </p:spPr>
      </p:cxnSp>
      <p:sp>
        <p:nvSpPr>
          <p:cNvPr id="20" name="Scoring token label"/>
          <p:cNvSpPr txBox="1"/>
          <p:nvPr/>
        </p:nvSpPr>
        <p:spPr>
          <a:xfrm>
            <a:off x="5010912" y="2807208"/>
            <a:ext cx="117043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900" b="1">
                <a:solidFill>
                  <a:srgbClr val="C27A19"/>
                </a:solidFill>
                <a:latin typeface="Arial Narrow"/>
              </a:rPr>
              <a:t>Service token</a:t>
            </a:r>
            <a:endParaRPr lang="en-US" sz="1900"/>
          </a:p>
        </p:txBody>
      </p:sp>
      <p:sp>
        <p:nvSpPr>
          <p:cNvPr id="21" name="Scoring service boundary"/>
          <p:cNvSpPr/>
          <p:nvPr/>
        </p:nvSpPr>
        <p:spPr>
          <a:xfrm>
            <a:off x="6080760" y="2743200"/>
            <a:ext cx="26060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7A19"/>
            </a:solidFill>
            <a:prstDash val="solid"/>
          </a:ln>
        </p:spPr>
      </p:sp>
      <p:sp>
        <p:nvSpPr>
          <p:cNvPr id="22" name="Scoring service heading"/>
          <p:cNvSpPr txBox="1"/>
          <p:nvPr/>
        </p:nvSpPr>
        <p:spPr>
          <a:xfrm>
            <a:off x="6327648" y="2907792"/>
            <a:ext cx="211226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0B1F49"/>
                </a:solidFill>
                <a:latin typeface="Arial Narrow"/>
              </a:rPr>
              <a:t>Scoring Service</a:t>
            </a:r>
            <a:endParaRPr lang="en-US" sz="2000"/>
          </a:p>
        </p:txBody>
      </p:sp>
      <p:sp>
        <p:nvSpPr>
          <p:cNvPr id="23" name="Scoring responsibilities"/>
          <p:cNvSpPr txBox="1"/>
          <p:nvPr/>
        </p:nvSpPr>
        <p:spPr>
          <a:xfrm>
            <a:off x="6254496" y="3310128"/>
            <a:ext cx="2258568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900" b="0">
                <a:solidFill>
                  <a:srgbClr val="0B1F49"/>
                </a:solidFill>
                <a:latin typeface="Arial Narrow"/>
              </a:rPr>
              <a:t>Deterministic + versioned</a:t>
            </a:r>
            <a:endParaRPr lang="en-US" sz="1900"/>
          </a:p>
          <a:p>
            <a:pPr algn="ctr"/>
            <a:r>
              <a:rPr lang="en-US" sz="1900" b="0">
                <a:solidFill>
                  <a:srgbClr val="0B1F49"/>
                </a:solidFill>
                <a:latin typeface="Arial Narrow"/>
              </a:rPr>
              <a:t>Explainable | no OpenAI</a:t>
            </a:r>
            <a:endParaRPr lang="en-US" sz="1900"/>
          </a:p>
        </p:txBody>
      </p:sp>
      <p:cxnSp>
        <p:nvCxnSpPr>
          <p:cNvPr id="24" name="React to voice service"/>
          <p:cNvCxnSpPr/>
          <p:nvPr/>
        </p:nvCxnSpPr>
        <p:spPr>
          <a:xfrm>
            <a:off x="2478024" y="3913632"/>
            <a:ext cx="676656" cy="1280160"/>
          </a:xfrm>
          <a:prstGeom prst="line">
            <a:avLst/>
          </a:prstGeom>
          <a:ln w="38100">
            <a:solidFill>
              <a:srgbClr val="563A4B"/>
            </a:solidFill>
            <a:prstDash val="solid"/>
            <a:tailEnd type="triangle" w="sm" len="sm"/>
          </a:ln>
        </p:spPr>
      </p:cxnSp>
      <p:sp>
        <p:nvSpPr>
          <p:cNvPr id="25" name="Audio navigation label"/>
          <p:cNvSpPr txBox="1"/>
          <p:nvPr/>
        </p:nvSpPr>
        <p:spPr>
          <a:xfrm>
            <a:off x="2139696" y="416052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900" b="1">
                <a:solidFill>
                  <a:srgbClr val="563A4B"/>
                </a:solidFill>
                <a:latin typeface="Arial Narrow"/>
              </a:rPr>
              <a:t>Audio / nav</a:t>
            </a:r>
            <a:endParaRPr lang="en-US" sz="1900"/>
          </a:p>
        </p:txBody>
      </p:sp>
      <p:cxnSp>
        <p:nvCxnSpPr>
          <p:cNvPr id="26" name="Symfony to voice service"/>
          <p:cNvCxnSpPr/>
          <p:nvPr/>
        </p:nvCxnSpPr>
        <p:spPr>
          <a:xfrm>
            <a:off x="4160520" y="4297680"/>
            <a:ext cx="0" cy="137160"/>
          </a:xfrm>
          <a:prstGeom prst="line">
            <a:avLst/>
          </a:prstGeom>
          <a:ln w="38100">
            <a:solidFill>
              <a:srgbClr val="563A4B"/>
            </a:solidFill>
            <a:prstDash val="solid"/>
            <a:tailEnd type="triangle" w="sm" len="sm"/>
          </a:ln>
        </p:spPr>
      </p:cxnSp>
      <p:sp>
        <p:nvSpPr>
          <p:cNvPr id="27" name="Protected suggestions label"/>
          <p:cNvSpPr txBox="1"/>
          <p:nvPr/>
        </p:nvSpPr>
        <p:spPr>
          <a:xfrm>
            <a:off x="4251960" y="4050792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900" b="1">
                <a:solidFill>
                  <a:srgbClr val="563A4B"/>
                </a:solidFill>
                <a:latin typeface="Arial Narrow"/>
              </a:rPr>
              <a:t>Protected</a:t>
            </a:r>
            <a:endParaRPr lang="en-US" sz="1900"/>
          </a:p>
        </p:txBody>
      </p:sp>
      <p:sp>
        <p:nvSpPr>
          <p:cNvPr id="28" name="Voice profile service boundary"/>
          <p:cNvSpPr/>
          <p:nvPr/>
        </p:nvSpPr>
        <p:spPr>
          <a:xfrm>
            <a:off x="3154680" y="4434840"/>
            <a:ext cx="20116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63A4B"/>
            </a:solidFill>
            <a:prstDash val="solid"/>
          </a:ln>
        </p:spPr>
      </p:sp>
      <p:sp>
        <p:nvSpPr>
          <p:cNvPr id="29" name="Voice profile service heading"/>
          <p:cNvSpPr txBox="1"/>
          <p:nvPr/>
        </p:nvSpPr>
        <p:spPr>
          <a:xfrm>
            <a:off x="3291840" y="4645152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0B1F49"/>
                </a:solidFill>
                <a:latin typeface="Arial Narrow"/>
              </a:rPr>
              <a:t>Voice / Profile</a:t>
            </a:r>
            <a:endParaRPr lang="en-US" sz="2000"/>
          </a:p>
        </p:txBody>
      </p:sp>
      <p:sp>
        <p:nvSpPr>
          <p:cNvPr id="30" name="Voice profile responsibilities"/>
          <p:cNvSpPr txBox="1"/>
          <p:nvPr/>
        </p:nvSpPr>
        <p:spPr>
          <a:xfrm>
            <a:off x="3346704" y="5074920"/>
            <a:ext cx="1627632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900" b="0">
                <a:solidFill>
                  <a:srgbClr val="0B1F49"/>
                </a:solidFill>
                <a:latin typeface="Arial Narrow"/>
              </a:rPr>
              <a:t>NLP transcription</a:t>
            </a:r>
            <a:endParaRPr lang="en-US" sz="1900"/>
          </a:p>
          <a:p>
            <a:pPr algn="ctr"/>
            <a:r>
              <a:rPr lang="en-US" sz="1900" b="0">
                <a:solidFill>
                  <a:srgbClr val="0B1F49"/>
                </a:solidFill>
                <a:latin typeface="Arial Narrow"/>
              </a:rPr>
              <a:t>Schema-bounded</a:t>
            </a:r>
            <a:endParaRPr lang="en-US" sz="1900"/>
          </a:p>
          <a:p>
            <a:pPr algn="ctr"/>
            <a:r>
              <a:rPr lang="en-US" sz="1900" b="0">
                <a:solidFill>
                  <a:srgbClr val="0B1F49"/>
                </a:solidFill>
                <a:latin typeface="Arial Narrow"/>
              </a:rPr>
              <a:t>Bounded commands</a:t>
            </a:r>
            <a:endParaRPr lang="en-US" sz="1900"/>
          </a:p>
        </p:txBody>
      </p:sp>
      <p:cxnSp>
        <p:nvCxnSpPr>
          <p:cNvPr id="31" name="Voice service to OpenAI"/>
          <p:cNvCxnSpPr/>
          <p:nvPr/>
        </p:nvCxnSpPr>
        <p:spPr>
          <a:xfrm>
            <a:off x="5166360" y="5230368"/>
            <a:ext cx="914400" cy="0"/>
          </a:xfrm>
          <a:prstGeom prst="line">
            <a:avLst/>
          </a:prstGeom>
          <a:ln w="38100">
            <a:solidFill>
              <a:srgbClr val="1565D8"/>
            </a:solidFill>
            <a:prstDash val="solid"/>
            <a:tailEnd type="triangle" w="sm" len="sm"/>
          </a:ln>
        </p:spPr>
      </p:cxnSp>
      <p:sp>
        <p:nvSpPr>
          <p:cNvPr id="32" name="Provider API label"/>
          <p:cNvSpPr txBox="1"/>
          <p:nvPr/>
        </p:nvSpPr>
        <p:spPr>
          <a:xfrm>
            <a:off x="4956048" y="4846320"/>
            <a:ext cx="112471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900" b="1">
                <a:solidFill>
                  <a:srgbClr val="1565D8"/>
                </a:solidFill>
                <a:latin typeface="Arial Narrow"/>
              </a:rPr>
              <a:t>Provider</a:t>
            </a:r>
            <a:endParaRPr lang="en-US" sz="1900"/>
          </a:p>
        </p:txBody>
      </p:sp>
      <p:sp>
        <p:nvSpPr>
          <p:cNvPr id="33" name="OpenAI API boundary"/>
          <p:cNvSpPr/>
          <p:nvPr/>
        </p:nvSpPr>
        <p:spPr>
          <a:xfrm>
            <a:off x="6080760" y="4434840"/>
            <a:ext cx="26060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565D8"/>
            </a:solidFill>
            <a:prstDash val="solid"/>
          </a:ln>
        </p:spPr>
      </p:sp>
      <p:sp>
        <p:nvSpPr>
          <p:cNvPr id="34" name="OpenAI API heading"/>
          <p:cNvSpPr txBox="1"/>
          <p:nvPr/>
        </p:nvSpPr>
        <p:spPr>
          <a:xfrm>
            <a:off x="6601968" y="4645152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0B1F49"/>
                </a:solidFill>
                <a:latin typeface="Arial Narrow"/>
              </a:rPr>
              <a:t>OpenAI API</a:t>
            </a:r>
            <a:endParaRPr lang="en-US" sz="2000"/>
          </a:p>
        </p:txBody>
      </p:sp>
      <p:sp>
        <p:nvSpPr>
          <p:cNvPr id="35" name="OpenAI responsibilities"/>
          <p:cNvSpPr txBox="1"/>
          <p:nvPr/>
        </p:nvSpPr>
        <p:spPr>
          <a:xfrm>
            <a:off x="6345936" y="5074920"/>
            <a:ext cx="2075688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900" b="0">
                <a:solidFill>
                  <a:srgbClr val="0B1F49"/>
                </a:solidFill>
                <a:latin typeface="Arial Narrow"/>
              </a:rPr>
              <a:t>External provider</a:t>
            </a:r>
            <a:endParaRPr lang="en-US" sz="1900"/>
          </a:p>
          <a:p>
            <a:pPr algn="ctr"/>
            <a:r>
              <a:rPr lang="en-US" sz="1900" b="0">
                <a:solidFill>
                  <a:srgbClr val="0B1F49"/>
                </a:solidFill>
                <a:latin typeface="Arial Narrow"/>
              </a:rPr>
              <a:t>No DB authority</a:t>
            </a:r>
            <a:endParaRPr lang="en-US" sz="1900"/>
          </a:p>
          <a:p>
            <a:pPr algn="ctr"/>
            <a:r>
              <a:rPr lang="en-US" sz="1900" b="0">
                <a:solidFill>
                  <a:srgbClr val="0B1F49"/>
                </a:solidFill>
                <a:latin typeface="Arial Narrow"/>
              </a:rPr>
              <a:t>Replaceable adapter</a:t>
            </a:r>
            <a:endParaRPr lang="en-US" sz="1900"/>
          </a:p>
        </p:txBody>
      </p:sp>
      <p:sp>
        <p:nvSpPr>
          <p:cNvPr id="36" name="Footer left"/>
          <p:cNvSpPr txBox="1"/>
          <p:nvPr/>
        </p:nvSpPr>
        <p:spPr>
          <a:xfrm>
            <a:off x="164592" y="651052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b="0">
                <a:solidFill>
                  <a:srgbClr val="FFFFFF"/>
                </a:solidFill>
                <a:latin typeface="Arial Narrow"/>
              </a:rPr>
              <a:t>MDP25-xx</a:t>
            </a:r>
            <a:endParaRPr lang="en-US" sz="1000"/>
          </a:p>
        </p:txBody>
      </p:sp>
      <p:sp>
        <p:nvSpPr>
          <p:cNvPr id="37" name="Footer center"/>
          <p:cNvSpPr txBox="1"/>
          <p:nvPr/>
        </p:nvSpPr>
        <p:spPr>
          <a:xfrm>
            <a:off x="3063240" y="6510528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000" b="0">
                <a:solidFill>
                  <a:srgbClr val="FFFFFF"/>
                </a:solidFill>
                <a:latin typeface="Arial Narrow"/>
              </a:rPr>
              <a:t>Inclusive Web Platform</a:t>
            </a:r>
            <a:endParaRPr lang="en-US" sz="1000"/>
          </a:p>
        </p:txBody>
      </p:sp>
      <p:sp>
        <p:nvSpPr>
          <p:cNvPr id="38" name="Footer number"/>
          <p:cNvSpPr txBox="1"/>
          <p:nvPr/>
        </p:nvSpPr>
        <p:spPr>
          <a:xfrm>
            <a:off x="8439912" y="6510528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sz="1000" b="0">
                <a:solidFill>
                  <a:srgbClr val="FFFFFF"/>
                </a:solidFill>
                <a:latin typeface="Arial Narrow"/>
              </a:rPr>
              <a:t>4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teDiaporamaIRISA-2016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chnique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6CAB8970-251B-EF4F-A843-A0A9B55A2F08}" vid="{D267E1DF-F52E-864C-B975-AD389E50AD0D}"/>
    </a:ext>
  </a:extLst>
</a:theme>
</file>

<file path=ppt/theme/theme2.xml><?xml version="1.0" encoding="utf-8"?>
<a:theme xmlns:a="http://schemas.openxmlformats.org/drawingml/2006/main" name="3.page de contenu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6CAB8970-251B-EF4F-A843-A0A9B55A2F08}" vid="{39F98AB3-B756-0948-8617-7882C5E0CBEA}"/>
    </a:ext>
  </a:extLst>
</a:theme>
</file>

<file path=ppt/theme/theme3.xml><?xml version="1.0" encoding="utf-8"?>
<a:theme xmlns:a="http://schemas.openxmlformats.org/drawingml/2006/main" name="1_3.page de contenu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6CAB8970-251B-EF4F-A843-A0A9B55A2F08}" vid="{04512780-95F0-6B48-83B2-3E88901B3141}"/>
    </a:ext>
  </a:extLst>
</a:theme>
</file>

<file path=ppt/theme/theme4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TemplateDiaporamaIRISA-2016</Template>
  <TotalTime>385</TotalTime>
  <Words>61</Words>
  <Application>Microsoft Office PowerPoint</Application>
  <PresentationFormat>On-screen Show (4:3)</PresentationFormat>
  <Paragraphs>25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Arial</vt:lpstr>
      <vt:lpstr>Calibri</vt:lpstr>
      <vt:lpstr>Courier New</vt:lpstr>
      <vt:lpstr>Myriad Pro Light</vt:lpstr>
      <vt:lpstr>Wingdings</vt:lpstr>
      <vt:lpstr>TemplateDiaporamaIRISA-2016</vt:lpstr>
      <vt:lpstr>3.page de contenu</vt:lpstr>
      <vt:lpstr>1_3.page de contenu</vt:lpstr>
      <vt:lpstr>Project Title</vt:lpstr>
      <vt:lpstr>Introduction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Samer Lahoud</dc:creator>
  <cp:lastModifiedBy>Zaidan Mansour</cp:lastModifiedBy>
  <cp:revision>7</cp:revision>
  <cp:lastPrinted>2016-08-01T06:28:00Z</cp:lastPrinted>
  <dcterms:created xsi:type="dcterms:W3CDTF">2019-05-04T08:15:08Z</dcterms:created>
  <dcterms:modified xsi:type="dcterms:W3CDTF">2026-09-12T20:55:32Z</dcterms:modified>
</cp:coreProperties>
</file>